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ags/tag2.xml" ContentType="application/vnd.openxmlformats-officedocument.presentationml.tags+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notesSlides/notesSlide4.xml" ContentType="application/vnd.openxmlformats-officedocument.presentationml.notesSlide+xml"/>
  <Override PartName="/ppt/tags/tag10.xml" ContentType="application/vnd.openxmlformats-officedocument.presentationml.tags+xml"/>
  <Override PartName="/ppt/notesSlides/notesSlide5.xml" ContentType="application/vnd.openxmlformats-officedocument.presentationml.notesSlide+xml"/>
  <Override PartName="/ppt/comments/modernComment_7FFFFFC1_FC75DCA0.xml" ContentType="application/vnd.ms-powerpoint.comments+xml"/>
  <Override PartName="/ppt/tags/tag11.xml" ContentType="application/vnd.openxmlformats-officedocument.presentationml.tags+xml"/>
  <Override PartName="/ppt/notesSlides/notesSlide6.xml" ContentType="application/vnd.openxmlformats-officedocument.presentationml.notesSlide+xml"/>
  <Override PartName="/ppt/tags/tag12.xml" ContentType="application/vnd.openxmlformats-officedocument.presentationml.tags+xml"/>
  <Override PartName="/ppt/notesSlides/notesSlide7.xml" ContentType="application/vnd.openxmlformats-officedocument.presentationml.notesSlide+xml"/>
  <Override PartName="/ppt/tags/tag13.xml" ContentType="application/vnd.openxmlformats-officedocument.presentationml.tags+xml"/>
  <Override PartName="/ppt/notesSlides/notesSlide8.xml" ContentType="application/vnd.openxmlformats-officedocument.presentationml.notesSlide+xml"/>
  <Override PartName="/ppt/comments/modernComment_7FFFFFC3_A595B63F.xml" ContentType="application/vnd.ms-powerpoint.comments+xml"/>
  <Override PartName="/ppt/tags/tag14.xml" ContentType="application/vnd.openxmlformats-officedocument.presentationml.tags+xml"/>
  <Override PartName="/ppt/tags/tag15.xml" ContentType="application/vnd.openxmlformats-officedocument.presentationml.tags+xml"/>
  <Override PartName="/ppt/notesSlides/notesSlide9.xml" ContentType="application/vnd.openxmlformats-officedocument.presentationml.notesSlide+xml"/>
  <Override PartName="/ppt/comments/modernComment_7FFFFFF3_5FCDB176.xml" ContentType="application/vnd.ms-powerpoint.comments+xml"/>
  <Override PartName="/ppt/charts/chart1.xml" ContentType="application/vnd.openxmlformats-officedocument.drawingml.chart+xml"/>
  <Override PartName="/ppt/tags/tag16.xml" ContentType="application/vnd.openxmlformats-officedocument.presentationml.tags+xml"/>
  <Override PartName="/ppt/notesSlides/notesSlide10.xml" ContentType="application/vnd.openxmlformats-officedocument.presentationml.notesSlide+xml"/>
  <Override PartName="/ppt/comments/modernComment_7FFFFFEE_7E4C581B.xml" ContentType="application/vnd.ms-powerpoint.comments+xml"/>
  <Override PartName="/ppt/tags/tag17.xml" ContentType="application/vnd.openxmlformats-officedocument.presentationml.tags+xml"/>
  <Override PartName="/ppt/notesSlides/notesSlide11.xml" ContentType="application/vnd.openxmlformats-officedocument.presentationml.notesSlide+xml"/>
  <Override PartName="/ppt/tags/tag18.xml" ContentType="application/vnd.openxmlformats-officedocument.presentationml.tags+xml"/>
  <Override PartName="/ppt/notesSlides/notesSlide12.xml" ContentType="application/vnd.openxmlformats-officedocument.presentationml.notesSlide+xml"/>
  <Override PartName="/ppt/comments/modernComment_144_F95872FB.xml" ContentType="application/vnd.ms-powerpoint.comments+xml"/>
  <Override PartName="/ppt/tags/tag19.xml" ContentType="application/vnd.openxmlformats-officedocument.presentationml.tags+xml"/>
  <Override PartName="/ppt/notesSlides/notesSlide13.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14.xml" ContentType="application/vnd.openxmlformats-officedocument.presentationml.notesSlide+xml"/>
  <Override PartName="/ppt/tags/tag25.xml" ContentType="application/vnd.openxmlformats-officedocument.presentationml.tags+xml"/>
  <Override PartName="/ppt/notesSlides/notesSlide15.xml" ContentType="application/vnd.openxmlformats-officedocument.presentationml.notesSlide+xml"/>
  <Override PartName="/ppt/comments/modernComment_122_6361C41E.xml" ContentType="application/vnd.ms-powerpoint.comments+xml"/>
  <Override PartName="/ppt/tags/tag26.xml" ContentType="application/vnd.openxmlformats-officedocument.presentationml.tags+xml"/>
  <Override PartName="/ppt/notesSlides/notesSlide16.xml" ContentType="application/vnd.openxmlformats-officedocument.presentationml.notesSlide+xml"/>
  <Override PartName="/ppt/tags/tag27.xml" ContentType="application/vnd.openxmlformats-officedocument.presentationml.tags+xml"/>
  <Override PartName="/ppt/notesSlides/notesSlide17.xml" ContentType="application/vnd.openxmlformats-officedocument.presentationml.notesSlide+xml"/>
  <Override PartName="/ppt/comments/modernComment_12F_A28CCB15.xml" ContentType="application/vnd.ms-powerpoint.comments+xml"/>
  <Override PartName="/ppt/tags/tag28.xml" ContentType="application/vnd.openxmlformats-officedocument.presentationml.tags+xml"/>
  <Override PartName="/ppt/notesSlides/notesSlide18.xml" ContentType="application/vnd.openxmlformats-officedocument.presentationml.notesSlide+xml"/>
  <Override PartName="/ppt/comments/modernComment_135_E4160855.xml" ContentType="application/vnd.ms-powerpoint.comments+xml"/>
  <Override PartName="/ppt/tags/tag29.xml" ContentType="application/vnd.openxmlformats-officedocument.presentationml.tags+xml"/>
  <Override PartName="/ppt/notesSlides/notesSlide19.xml" ContentType="application/vnd.openxmlformats-officedocument.presentationml.notesSlide+xml"/>
  <Override PartName="/ppt/tags/tag30.xml" ContentType="application/vnd.openxmlformats-officedocument.presentationml.tags+xml"/>
  <Override PartName="/ppt/notesSlides/notesSlide20.xml" ContentType="application/vnd.openxmlformats-officedocument.presentationml.notesSlide+xml"/>
  <Override PartName="/ppt/comments/modernComment_7FFFFF2B_797849DE.xml" ContentType="application/vnd.ms-powerpoint.comments+xml"/>
  <Override PartName="/ppt/tags/tag31.xml" ContentType="application/vnd.openxmlformats-officedocument.presentationml.tags+xml"/>
  <Override PartName="/ppt/notesSlides/notesSlide21.xml" ContentType="application/vnd.openxmlformats-officedocument.presentationml.notesSlide+xml"/>
  <Override PartName="/ppt/comments/modernComment_133_2157FE01.xml" ContentType="application/vnd.ms-powerpoint.comments+xml"/>
  <Override PartName="/ppt/tags/tag32.xml" ContentType="application/vnd.openxmlformats-officedocument.presentationml.tags+xml"/>
  <Override PartName="/ppt/notesSlides/notesSlide22.xml" ContentType="application/vnd.openxmlformats-officedocument.presentationml.notesSlide+xml"/>
  <Override PartName="/ppt/tags/tag33.xml" ContentType="application/vnd.openxmlformats-officedocument.presentationml.tags+xml"/>
  <Override PartName="/ppt/notesSlides/notesSlide23.xml" ContentType="application/vnd.openxmlformats-officedocument.presentationml.notesSlide+xml"/>
  <Override PartName="/ppt/tags/tag34.xml" ContentType="application/vnd.openxmlformats-officedocument.presentationml.tags+xml"/>
  <Override PartName="/ppt/notesSlides/notesSlide24.xml" ContentType="application/vnd.openxmlformats-officedocument.presentationml.notesSlide+xml"/>
  <Override PartName="/ppt/tags/tag35.xml" ContentType="application/vnd.openxmlformats-officedocument.presentationml.tags+xml"/>
  <Override PartName="/ppt/notesSlides/notesSlide25.xml" ContentType="application/vnd.openxmlformats-officedocument.presentationml.notesSlide+xml"/>
  <Override PartName="/ppt/comments/modernComment_139_41C68260.xml" ContentType="application/vnd.ms-powerpoint.comments+xml"/>
  <Override PartName="/ppt/tags/tag36.xml" ContentType="application/vnd.openxmlformats-officedocument.presentationml.tags+xml"/>
  <Override PartName="/ppt/notesSlides/notesSlide26.xml" ContentType="application/vnd.openxmlformats-officedocument.presentationml.notesSlide+xml"/>
  <Override PartName="/ppt/tags/tag37.xml" ContentType="application/vnd.openxmlformats-officedocument.presentationml.tags+xml"/>
  <Override PartName="/ppt/notesSlides/notesSlide27.xml" ContentType="application/vnd.openxmlformats-officedocument.presentationml.notesSlide+xml"/>
  <Override PartName="/ppt/comments/modernComment_100_4439AAD4.xml" ContentType="application/vnd.ms-powerpoint.comments+xml"/>
  <Override PartName="/ppt/tags/tag38.xml" ContentType="application/vnd.openxmlformats-officedocument.presentationml.tags+xml"/>
  <Override PartName="/ppt/notesSlides/notesSlide28.xml" ContentType="application/vnd.openxmlformats-officedocument.presentationml.notesSlide+xml"/>
  <Override PartName="/ppt/tags/tag39.xml" ContentType="application/vnd.openxmlformats-officedocument.presentationml.tags+xml"/>
  <Override PartName="/ppt/notesSlides/notesSlide29.xml" ContentType="application/vnd.openxmlformats-officedocument.presentationml.notesSlide+xml"/>
  <Override PartName="/ppt/tags/tag40.xml" ContentType="application/vnd.openxmlformats-officedocument.presentationml.tags+xml"/>
  <Override PartName="/ppt/notesSlides/notesSlide30.xml" ContentType="application/vnd.openxmlformats-officedocument.presentationml.notesSlide+xml"/>
  <Override PartName="/ppt/tags/tag41.xml" ContentType="application/vnd.openxmlformats-officedocument.presentationml.tags+xml"/>
  <Override PartName="/ppt/notesSlides/notesSlide31.xml" ContentType="application/vnd.openxmlformats-officedocument.presentationml.notesSlide+xml"/>
  <Override PartName="/ppt/tags/tag42.xml" ContentType="application/vnd.openxmlformats-officedocument.presentationml.tags+xml"/>
  <Override PartName="/ppt/notesSlides/notesSlide32.xml" ContentType="application/vnd.openxmlformats-officedocument.presentationml.notesSlide+xml"/>
  <Override PartName="/ppt/tags/tag43.xml" ContentType="application/vnd.openxmlformats-officedocument.presentationml.tags+xml"/>
  <Override PartName="/ppt/notesSlides/notesSlide33.xml" ContentType="application/vnd.openxmlformats-officedocument.presentationml.notesSlide+xml"/>
  <Override PartName="/ppt/tags/tag44.xml" ContentType="application/vnd.openxmlformats-officedocument.presentationml.tags+xml"/>
  <Override PartName="/ppt/notesSlides/notesSlide34.xml" ContentType="application/vnd.openxmlformats-officedocument.presentationml.notesSlide+xml"/>
  <Override PartName="/ppt/tags/tag45.xml" ContentType="application/vnd.openxmlformats-officedocument.presentationml.tags+xml"/>
  <Override PartName="/ppt/notesSlides/notesSlide35.xml" ContentType="application/vnd.openxmlformats-officedocument.presentationml.notesSlide+xml"/>
  <Override PartName="/ppt/tags/tag46.xml" ContentType="application/vnd.openxmlformats-officedocument.presentationml.tags+xml"/>
  <Override PartName="/ppt/notesSlides/notesSlide36.xml" ContentType="application/vnd.openxmlformats-officedocument.presentationml.notesSlide+xml"/>
  <Override PartName="/ppt/tags/tag47.xml" ContentType="application/vnd.openxmlformats-officedocument.presentationml.tags+xml"/>
  <Override PartName="/ppt/notesSlides/notesSlide37.xml" ContentType="application/vnd.openxmlformats-officedocument.presentationml.notesSlide+xml"/>
  <Override PartName="/ppt/tags/tag48.xml" ContentType="application/vnd.openxmlformats-officedocument.presentationml.tags+xml"/>
  <Override PartName="/ppt/notesSlides/notesSlide38.xml" ContentType="application/vnd.openxmlformats-officedocument.presentationml.notesSlide+xml"/>
  <Override PartName="/ppt/tags/tag49.xml" ContentType="application/vnd.openxmlformats-officedocument.presentationml.tags+xml"/>
  <Override PartName="/ppt/notesSlides/notesSlide39.xml" ContentType="application/vnd.openxmlformats-officedocument.presentationml.notesSlide+xml"/>
  <Override PartName="/ppt/tags/tag50.xml" ContentType="application/vnd.openxmlformats-officedocument.presentationml.tags+xml"/>
  <Override PartName="/ppt/notesSlides/notesSlide40.xml" ContentType="application/vnd.openxmlformats-officedocument.presentationml.notesSlide+xml"/>
  <Override PartName="/ppt/tags/tag51.xml" ContentType="application/vnd.openxmlformats-officedocument.presentationml.tags+xml"/>
  <Override PartName="/ppt/notesSlides/notesSlide41.xml" ContentType="application/vnd.openxmlformats-officedocument.presentationml.notesSlide+xml"/>
  <Override PartName="/ppt/tags/tag52.xml" ContentType="application/vnd.openxmlformats-officedocument.presentationml.tags+xml"/>
  <Override PartName="/ppt/notesSlides/notesSlide42.xml" ContentType="application/vnd.openxmlformats-officedocument.presentationml.notesSlide+xml"/>
  <Override PartName="/ppt/tags/tag53.xml" ContentType="application/vnd.openxmlformats-officedocument.presentationml.tags+xml"/>
  <Override PartName="/ppt/notesSlides/notesSlide43.xml" ContentType="application/vnd.openxmlformats-officedocument.presentationml.notesSlide+xml"/>
  <Override PartName="/ppt/tags/tag54.xml" ContentType="application/vnd.openxmlformats-officedocument.presentationml.tags+xml"/>
  <Override PartName="/ppt/notesSlides/notesSlide44.xml" ContentType="application/vnd.openxmlformats-officedocument.presentationml.notesSlide+xml"/>
  <Override PartName="/ppt/tags/tag55.xml" ContentType="application/vnd.openxmlformats-officedocument.presentationml.tags+xml"/>
  <Override PartName="/ppt/notesSlides/notesSlide45.xml" ContentType="application/vnd.openxmlformats-officedocument.presentationml.notesSlide+xml"/>
  <Override PartName="/ppt/tags/tag56.xml" ContentType="application/vnd.openxmlformats-officedocument.presentationml.tags+xml"/>
  <Override PartName="/ppt/notesSlides/notesSlide46.xml" ContentType="application/vnd.openxmlformats-officedocument.presentationml.notesSlide+xml"/>
  <Override PartName="/ppt/tags/tag57.xml" ContentType="application/vnd.openxmlformats-officedocument.presentationml.tags+xml"/>
  <Override PartName="/ppt/notesSlides/notesSlide47.xml" ContentType="application/vnd.openxmlformats-officedocument.presentationml.notesSlide+xml"/>
  <Override PartName="/ppt/tags/tag58.xml" ContentType="application/vnd.openxmlformats-officedocument.presentationml.tags+xml"/>
  <Override PartName="/ppt/notesSlides/notesSlide48.xml" ContentType="application/vnd.openxmlformats-officedocument.presentationml.notesSlide+xml"/>
  <Override PartName="/ppt/tags/tag59.xml" ContentType="application/vnd.openxmlformats-officedocument.presentationml.tags+xml"/>
  <Override PartName="/ppt/notesSlides/notesSlide49.xml" ContentType="application/vnd.openxmlformats-officedocument.presentationml.notesSlide+xml"/>
  <Override PartName="/ppt/tags/tag60.xml" ContentType="application/vnd.openxmlformats-officedocument.presentationml.tags+xml"/>
  <Override PartName="/ppt/notesSlides/notesSlide50.xml" ContentType="application/vnd.openxmlformats-officedocument.presentationml.notesSlide+xml"/>
  <Override PartName="/ppt/comments/modernComment_7FFFFFF9_43B89F50.xml" ContentType="application/vnd.ms-powerpoint.comments+xml"/>
  <Override PartName="/ppt/tags/tag61.xml" ContentType="application/vnd.openxmlformats-officedocument.presentationml.tags+xml"/>
  <Override PartName="/ppt/notesSlides/notesSlide51.xml" ContentType="application/vnd.openxmlformats-officedocument.presentationml.notesSlide+xml"/>
  <Override PartName="/ppt/tags/tag62.xml" ContentType="application/vnd.openxmlformats-officedocument.presentationml.tags+xml"/>
  <Override PartName="/ppt/notesSlides/notesSlide52.xml" ContentType="application/vnd.openxmlformats-officedocument.presentationml.notesSlide+xml"/>
  <Override PartName="/ppt/tags/tag63.xml" ContentType="application/vnd.openxmlformats-officedocument.presentationml.tags+xml"/>
  <Override PartName="/ppt/notesSlides/notesSlide53.xml" ContentType="application/vnd.openxmlformats-officedocument.presentationml.notesSlide+xml"/>
  <Override PartName="/ppt/comments/modernComment_174_316FB24B.xml" ContentType="application/vnd.ms-powerpoint.comments+xml"/>
  <Override PartName="/ppt/tags/tag64.xml" ContentType="application/vnd.openxmlformats-officedocument.presentationml.tags+xml"/>
  <Override PartName="/ppt/notesSlides/notesSlide54.xml" ContentType="application/vnd.openxmlformats-officedocument.presentationml.notesSlide+xml"/>
  <Override PartName="/ppt/tags/tag65.xml" ContentType="application/vnd.openxmlformats-officedocument.presentationml.tags+xml"/>
  <Override PartName="/ppt/notesSlides/notesSlide55.xml" ContentType="application/vnd.openxmlformats-officedocument.presentationml.notesSlide+xml"/>
  <Override PartName="/ppt/tags/tag66.xml" ContentType="application/vnd.openxmlformats-officedocument.presentationml.tags+xml"/>
  <Override PartName="/ppt/notesSlides/notesSlide5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16" r:id="rId4"/>
    <p:sldMasterId id="2147483899" r:id="rId5"/>
  </p:sldMasterIdLst>
  <p:notesMasterIdLst>
    <p:notesMasterId r:id="rId63"/>
  </p:notesMasterIdLst>
  <p:handoutMasterIdLst>
    <p:handoutMasterId r:id="rId64"/>
  </p:handoutMasterIdLst>
  <p:sldIdLst>
    <p:sldId id="274" r:id="rId6"/>
    <p:sldId id="280" r:id="rId7"/>
    <p:sldId id="2147483637" r:id="rId8"/>
    <p:sldId id="259" r:id="rId9"/>
    <p:sldId id="267" r:id="rId10"/>
    <p:sldId id="2147483585" r:id="rId11"/>
    <p:sldId id="2147483584" r:id="rId12"/>
    <p:sldId id="2147483600" r:id="rId13"/>
    <p:sldId id="2147483587" r:id="rId14"/>
    <p:sldId id="2147483635" r:id="rId15"/>
    <p:sldId id="2147483630" r:id="rId16"/>
    <p:sldId id="265" r:id="rId17"/>
    <p:sldId id="324" r:id="rId18"/>
    <p:sldId id="270" r:id="rId19"/>
    <p:sldId id="2147483594" r:id="rId20"/>
    <p:sldId id="290" r:id="rId21"/>
    <p:sldId id="294" r:id="rId22"/>
    <p:sldId id="303" r:id="rId23"/>
    <p:sldId id="309" r:id="rId24"/>
    <p:sldId id="2147483427" r:id="rId25"/>
    <p:sldId id="2147483435" r:id="rId26"/>
    <p:sldId id="307" r:id="rId27"/>
    <p:sldId id="300" r:id="rId28"/>
    <p:sldId id="304" r:id="rId29"/>
    <p:sldId id="331" r:id="rId30"/>
    <p:sldId id="313" r:id="rId31"/>
    <p:sldId id="2147483601" r:id="rId32"/>
    <p:sldId id="256" r:id="rId33"/>
    <p:sldId id="297" r:id="rId34"/>
    <p:sldId id="332" r:id="rId35"/>
    <p:sldId id="2147483606" r:id="rId36"/>
    <p:sldId id="367" r:id="rId37"/>
    <p:sldId id="321" r:id="rId38"/>
    <p:sldId id="322" r:id="rId39"/>
    <p:sldId id="366" r:id="rId40"/>
    <p:sldId id="2147483611" r:id="rId41"/>
    <p:sldId id="2147483616" r:id="rId42"/>
    <p:sldId id="312" r:id="rId43"/>
    <p:sldId id="2147483617" r:id="rId44"/>
    <p:sldId id="335" r:id="rId45"/>
    <p:sldId id="2147483620" r:id="rId46"/>
    <p:sldId id="2147483621" r:id="rId47"/>
    <p:sldId id="2147483622" r:id="rId48"/>
    <p:sldId id="2147483623" r:id="rId49"/>
    <p:sldId id="362" r:id="rId50"/>
    <p:sldId id="299" r:id="rId51"/>
    <p:sldId id="354" r:id="rId52"/>
    <p:sldId id="2147483596" r:id="rId53"/>
    <p:sldId id="319" r:id="rId54"/>
    <p:sldId id="373" r:id="rId55"/>
    <p:sldId id="2147483641" r:id="rId56"/>
    <p:sldId id="359" r:id="rId57"/>
    <p:sldId id="2147483590" r:id="rId58"/>
    <p:sldId id="372" r:id="rId59"/>
    <p:sldId id="2147483591" r:id="rId60"/>
    <p:sldId id="2147483597" r:id="rId61"/>
    <p:sldId id="295" r:id="rId62"/>
  </p:sldIdLst>
  <p:sldSz cx="12192000" cy="6858000"/>
  <p:notesSz cx="6858000" cy="9144000"/>
  <p:custDataLst>
    <p:tags r:id="rId6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GB-58067 IEP Report" id="{1967D51A-F1E8-401A-837D-9B3FD9B56688}">
          <p14:sldIdLst>
            <p14:sldId id="274"/>
            <p14:sldId id="280"/>
            <p14:sldId id="2147483637"/>
            <p14:sldId id="259"/>
            <p14:sldId id="267"/>
            <p14:sldId id="2147483585"/>
            <p14:sldId id="2147483584"/>
            <p14:sldId id="2147483600"/>
            <p14:sldId id="2147483587"/>
            <p14:sldId id="2147483635"/>
            <p14:sldId id="2147483630"/>
          </p14:sldIdLst>
        </p14:section>
        <p14:section name="Strategic context" id="{8731AC3B-1D48-4A72-9330-D8BFC3E3E899}">
          <p14:sldIdLst>
            <p14:sldId id="265"/>
            <p14:sldId id="324"/>
            <p14:sldId id="270"/>
            <p14:sldId id="2147483594"/>
            <p14:sldId id="290"/>
          </p14:sldIdLst>
        </p14:section>
        <p14:section name="Prioritized gaps" id="{9FE9ACEE-BBBB-4117-8730-218C8506A168}">
          <p14:sldIdLst>
            <p14:sldId id="294"/>
            <p14:sldId id="303"/>
            <p14:sldId id="309"/>
            <p14:sldId id="2147483427"/>
            <p14:sldId id="2147483435"/>
            <p14:sldId id="307"/>
            <p14:sldId id="300"/>
            <p14:sldId id="304"/>
            <p14:sldId id="331"/>
            <p14:sldId id="313"/>
            <p14:sldId id="2147483601"/>
            <p14:sldId id="256"/>
          </p14:sldIdLst>
        </p14:section>
        <p14:section name="Tactics" id="{A2588456-D3E2-4A4D-9292-C381B3AB5F7C}">
          <p14:sldIdLst>
            <p14:sldId id="297"/>
            <p14:sldId id="332"/>
            <p14:sldId id="2147483606"/>
            <p14:sldId id="367"/>
            <p14:sldId id="321"/>
            <p14:sldId id="322"/>
            <p14:sldId id="366"/>
            <p14:sldId id="2147483611"/>
            <p14:sldId id="2147483616"/>
            <p14:sldId id="312"/>
            <p14:sldId id="2147483617"/>
            <p14:sldId id="335"/>
            <p14:sldId id="2147483620"/>
            <p14:sldId id="2147483621"/>
            <p14:sldId id="2147483622"/>
            <p14:sldId id="2147483623"/>
            <p14:sldId id="362"/>
          </p14:sldIdLst>
        </p14:section>
        <p14:section name="Gated Gaps" id="{250BF8FB-D1CA-42D1-BCC5-02B8B9253E2E}">
          <p14:sldIdLst>
            <p14:sldId id="299"/>
            <p14:sldId id="354"/>
            <p14:sldId id="2147483596"/>
            <p14:sldId id="319"/>
            <p14:sldId id="373"/>
            <p14:sldId id="2147483641"/>
          </p14:sldIdLst>
        </p14:section>
        <p14:section name="Planned / Addressed Tactics" id="{DC5D3BAC-C450-48DA-B860-D14A0391704B}">
          <p14:sldIdLst>
            <p14:sldId id="359"/>
            <p14:sldId id="2147483590"/>
            <p14:sldId id="372"/>
            <p14:sldId id="2147483591"/>
            <p14:sldId id="2147483597"/>
            <p14:sldId id="295"/>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E9A4DE92-A53D-C928-3EA2-18AE1A5F56D7}" name="Hanna Wurdack" initials="HW" userId="S::Hwurdack@prescienthg.com::cef56cae-1a22-4326-98f2-23d5ec7ba004" providerId="AD"/>
  <p188:author id="{3706879C-237C-E233-769D-CC176EC5EA07}" name="Nadeem Ghali" initials="NG" userId="S::nadeem.ghali@beigene.com::ee52956d-a9c9-46bf-93d1-b9ce97c919aa" providerId="AD"/>
  <p188:author id="{8A79AAA6-615B-FD77-4BF9-76EEF6F96719}" name="Prash Gopalakrishna" initials="PG" userId="S::p.gopalakrishna@beigene.com::8bc57e5b-71fe-4b5d-87b9-861f57a9c975" providerId="AD"/>
  <p188:author id="{75B507B7-FA19-0D2B-2405-68B75B43F9D9}" name="Jennifer Hall" initials="JH" userId="S::Jhall@prescienthg.com::b71bebe1-7981-4da3-be5c-c90fb5f5a379" providerId="AD"/>
  <p188:author id="{5848C2BB-AD7A-A723-26C7-AA4044B41393}" name="Karolina Minda" initials="KM" userId="S::karolina.minda@beigene.com::d61dadc7-d0f5-43c8-ad4d-2b29000d341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C0C0"/>
    <a:srgbClr val="7CB0BE"/>
    <a:srgbClr val="D4C0E2"/>
    <a:srgbClr val="E4AAAE"/>
    <a:srgbClr val="98A8C7"/>
    <a:srgbClr val="F2F2F2"/>
    <a:srgbClr val="FCE0DA"/>
    <a:srgbClr val="FFC891"/>
    <a:srgbClr val="A87EC4"/>
    <a:srgbClr val="5599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693308-E19C-4075-8EE9-131CBAA5DF7E}" v="776" dt="2026-08-21T16:06:57.772"/>
    <p1510:client id="{FC9E473C-CEF5-4E7F-A54A-D4E269F85EB5}" v="79" dt="2026-08-21T18:15:05.4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notesMaster" Target="notesMasters/notesMaster1.xml"/><Relationship Id="rId68" Type="http://schemas.openxmlformats.org/officeDocument/2006/relationships/viewProps" Target="viewProps.xml"/><Relationship Id="rId7" Type="http://schemas.openxmlformats.org/officeDocument/2006/relationships/slide" Target="slides/slide2.xml"/><Relationship Id="rId71"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commentAuthors" Target="commentAuthors.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handoutMaster" Target="handoutMasters/handoutMaster1.xml"/><Relationship Id="rId69"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72"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7FFFFFF3_5FCDB176.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7310924369747899E-2"/>
          <c:y val="2.7310924369747899E-2"/>
          <c:w val="0.94537815126050417"/>
          <c:h val="0.94537815126050417"/>
        </c:manualLayout>
      </c:layout>
      <c:doughnutChart>
        <c:varyColors val="0"/>
        <c:ser>
          <c:idx val="0"/>
          <c:order val="0"/>
          <c:dPt>
            <c:idx val="0"/>
            <c:bubble3D val="0"/>
            <c:spPr>
              <a:solidFill>
                <a:srgbClr val="FFC891"/>
              </a:solidFill>
              <a:ln>
                <a:noFill/>
              </a:ln>
            </c:spPr>
            <c:extLst>
              <c:ext xmlns:c16="http://schemas.microsoft.com/office/drawing/2014/chart" uri="{C3380CC4-5D6E-409C-BE32-E72D297353CC}">
                <c16:uniqueId val="{00000000-E09C-451D-9181-5C2A19C369A7}"/>
              </c:ext>
            </c:extLst>
          </c:dPt>
          <c:dPt>
            <c:idx val="1"/>
            <c:bubble3D val="0"/>
            <c:spPr>
              <a:solidFill>
                <a:srgbClr val="7CB0BE"/>
              </a:solidFill>
              <a:ln>
                <a:noFill/>
              </a:ln>
            </c:spPr>
            <c:extLst>
              <c:ext xmlns:c16="http://schemas.microsoft.com/office/drawing/2014/chart" uri="{C3380CC4-5D6E-409C-BE32-E72D297353CC}">
                <c16:uniqueId val="{00000001-E09C-451D-9181-5C2A19C369A7}"/>
              </c:ext>
            </c:extLst>
          </c:dPt>
          <c:dPt>
            <c:idx val="2"/>
            <c:bubble3D val="0"/>
            <c:spPr>
              <a:solidFill>
                <a:srgbClr val="98A8C7"/>
              </a:solidFill>
              <a:ln>
                <a:noFill/>
              </a:ln>
            </c:spPr>
            <c:extLst>
              <c:ext xmlns:c16="http://schemas.microsoft.com/office/drawing/2014/chart" uri="{C3380CC4-5D6E-409C-BE32-E72D297353CC}">
                <c16:uniqueId val="{00000002-E09C-451D-9181-5C2A19C369A7}"/>
              </c:ext>
            </c:extLst>
          </c:dPt>
          <c:dPt>
            <c:idx val="3"/>
            <c:bubble3D val="0"/>
            <c:spPr>
              <a:solidFill>
                <a:srgbClr val="D4C0E2"/>
              </a:solidFill>
              <a:ln>
                <a:noFill/>
              </a:ln>
            </c:spPr>
            <c:extLst>
              <c:ext xmlns:c16="http://schemas.microsoft.com/office/drawing/2014/chart" uri="{C3380CC4-5D6E-409C-BE32-E72D297353CC}">
                <c16:uniqueId val="{00000003-E09C-451D-9181-5C2A19C369A7}"/>
              </c:ext>
            </c:extLst>
          </c:dPt>
          <c:dPt>
            <c:idx val="4"/>
            <c:bubble3D val="0"/>
            <c:spPr>
              <a:solidFill>
                <a:srgbClr val="C0C0C0"/>
              </a:solidFill>
              <a:ln>
                <a:noFill/>
              </a:ln>
            </c:spPr>
            <c:extLst>
              <c:ext xmlns:c16="http://schemas.microsoft.com/office/drawing/2014/chart" uri="{C3380CC4-5D6E-409C-BE32-E72D297353CC}">
                <c16:uniqueId val="{00000004-E09C-451D-9181-5C2A19C369A7}"/>
              </c:ext>
            </c:extLst>
          </c:dPt>
          <c:dPt>
            <c:idx val="5"/>
            <c:bubble3D val="0"/>
            <c:spPr>
              <a:solidFill>
                <a:srgbClr val="E3A5A9"/>
              </a:solidFill>
              <a:ln>
                <a:noFill/>
              </a:ln>
            </c:spPr>
            <c:extLst>
              <c:ext xmlns:c16="http://schemas.microsoft.com/office/drawing/2014/chart" uri="{C3380CC4-5D6E-409C-BE32-E72D297353CC}">
                <c16:uniqueId val="{00000005-E09C-451D-9181-5C2A19C369A7}"/>
              </c:ext>
            </c:extLst>
          </c:dPt>
          <c:dPt>
            <c:idx val="6"/>
            <c:bubble3D val="0"/>
            <c:spPr>
              <a:solidFill>
                <a:srgbClr val="66E0FF"/>
              </a:solidFill>
              <a:ln>
                <a:noFill/>
              </a:ln>
            </c:spPr>
            <c:extLst>
              <c:ext xmlns:c16="http://schemas.microsoft.com/office/drawing/2014/chart" uri="{C3380CC4-5D6E-409C-BE32-E72D297353CC}">
                <c16:uniqueId val="{00000006-E09C-451D-9181-5C2A19C369A7}"/>
              </c:ext>
            </c:extLst>
          </c:dPt>
          <c:val>
            <c:numRef>
              <c:f>Sheet1!$A$1:$A$7</c:f>
              <c:numCache>
                <c:formatCode>General</c:formatCode>
                <c:ptCount val="7"/>
                <c:pt idx="0">
                  <c:v>14.299999999999999</c:v>
                </c:pt>
                <c:pt idx="1">
                  <c:v>14.299999999999999</c:v>
                </c:pt>
                <c:pt idx="2">
                  <c:v>14.299999999999999</c:v>
                </c:pt>
                <c:pt idx="3">
                  <c:v>14.299999999999999</c:v>
                </c:pt>
                <c:pt idx="4">
                  <c:v>14.299999999999999</c:v>
                </c:pt>
                <c:pt idx="5">
                  <c:v>14.299999999999999</c:v>
                </c:pt>
                <c:pt idx="6">
                  <c:v>14.299999999999999</c:v>
                </c:pt>
              </c:numCache>
            </c:numRef>
          </c:val>
          <c:extLst>
            <c:ext xmlns:c16="http://schemas.microsoft.com/office/drawing/2014/chart" uri="{C3380CC4-5D6E-409C-BE32-E72D297353CC}">
              <c16:uniqueId val="{00000007-E09C-451D-9181-5C2A19C369A7}"/>
            </c:ext>
          </c:extLst>
        </c:ser>
        <c:dLbls>
          <c:showLegendKey val="0"/>
          <c:showVal val="0"/>
          <c:showCatName val="0"/>
          <c:showSerName val="0"/>
          <c:showPercent val="0"/>
          <c:showBubbleSize val="0"/>
          <c:showLeaderLines val="0"/>
        </c:dLbls>
        <c:firstSliceAng val="0"/>
        <c:holeSize val="85"/>
      </c:doughnutChart>
    </c:plotArea>
    <c:plotVisOnly val="0"/>
    <c:dispBlanksAs val="gap"/>
    <c:showDLblsOverMax val="1"/>
  </c:chart>
  <c:externalData r:id="rId1">
    <c:autoUpdate val="0"/>
  </c:externalData>
</c:chartSpace>
</file>

<file path=ppt/comments/modernComment_7FFFFF2B_797849DE.xml><?xml version="1.0" encoding="utf-8"?>
<p188:cmLst xmlns:a="http://schemas.openxmlformats.org/drawingml/2006/main" xmlns:r="http://schemas.openxmlformats.org/officeDocument/2006/relationships" xmlns:p188="http://schemas.microsoft.com/office/powerpoint/2018/8/main">
  <p188:cm id="{CFEAD5BE-353F-4ECE-BEBF-8EB735D26920}" authorId="{8A79AAA6-615B-FD77-4BF9-76EEF6F96719}" created="2026-08-04T15:01:36.936">
    <ac:txMkLst xmlns:ac="http://schemas.microsoft.com/office/drawing/2013/main/command">
      <pc:docMk xmlns:pc="http://schemas.microsoft.com/office/powerpoint/2013/main/command"/>
      <pc:sldMk xmlns:pc="http://schemas.microsoft.com/office/powerpoint/2013/main/command" cId="2037926366" sldId="2147483435"/>
      <ac:spMk id="5" creationId="{36AF0227-BCD5-30FF-625B-9D8AF19D6958}"/>
      <ac:txMk cp="0" len="77">
        <ac:context len="78" hash="1586081507"/>
      </ac:txMk>
    </ac:txMkLst>
    <p188:pos x="10064539" y="257312"/>
    <p188:replyLst>
      <p188:reply id="{0F6545D0-07FA-42E2-BED8-2C090023E7D8}" authorId="{75B507B7-FA19-0D2B-2405-68B75B43F9D9}" created="2026-08-21T16:19:30.048">
        <p188:txBody>
          <a:bodyPr/>
          <a:lstStyle/>
          <a:p>
            <a:r>
              <a:rPr lang="en-US"/>
              <a:t>Thanks for the suggestion. Given pivotal data are still pending, we have kept the positioning broad across lines of therapy, with the opportunity to refine 1L vs. later-line positioning as data emerge.</a:t>
            </a:r>
          </a:p>
        </p188:txBody>
      </p188:reply>
    </p188:replyLst>
    <p188:txBody>
      <a:bodyPr/>
      <a:lstStyle/>
      <a:p>
        <a:r>
          <a:rPr lang="en-CH"/>
          <a:t>Suggest adding treat now (1L) vs treat later question</a:t>
        </a:r>
      </a:p>
    </p188:txBody>
  </p188:cm>
</p188:cmLst>
</file>

<file path=ppt/comments/modernComment_7FFFFFC1_FC75DCA0.xml><?xml version="1.0" encoding="utf-8"?>
<p188:cmLst xmlns:a="http://schemas.openxmlformats.org/drawingml/2006/main" xmlns:r="http://schemas.openxmlformats.org/officeDocument/2006/relationships" xmlns:p188="http://schemas.microsoft.com/office/powerpoint/2018/8/main">
  <p188:cm id="{CA599CB1-450C-480A-B548-C823C7160D10}" authorId="{8A79AAA6-615B-FD77-4BF9-76EEF6F96719}" created="2026-08-04T14:25:39.068">
    <ac:txMkLst xmlns:ac="http://schemas.microsoft.com/office/drawing/2013/main/command">
      <pc:docMk xmlns:pc="http://schemas.microsoft.com/office/powerpoint/2013/main/command"/>
      <pc:sldMk xmlns:pc="http://schemas.microsoft.com/office/powerpoint/2013/main/command" cId="4235582624" sldId="2147483585"/>
      <ac:spMk id="2" creationId="{A695965A-504C-A073-5C7F-7E8DCACF3482}"/>
      <ac:txMk cp="0" len="121">
        <ac:context len="122" hash="60199565"/>
      </ac:txMk>
    </ac:txMkLst>
    <p188:pos x="11314118" y="167363"/>
    <p188:replyLst>
      <p188:reply id="{B03E6E67-6DD9-4C35-B2B7-EBC93EFF85BF}" authorId="{75B507B7-FA19-0D2B-2405-68B75B43F9D9}" created="2026-08-21T15:57:12.126">
        <p188:txBody>
          <a:bodyPr/>
          <a:lstStyle/>
          <a:p>
            <a:r>
              <a:rPr lang="en-GB"/>
              <a:t>We’re aligned and acknowledge the need to establish the role and value of MTAP testing in supporting appropriate PRMT5i use. The IEP includes testing-related evidence gaps aligned with the current GMA strategy, with further evolution anticipated as the broader strategy develops.</a:t>
            </a:r>
          </a:p>
        </p188:txBody>
      </p188:reply>
    </p188:replyLst>
    <p188:txBody>
      <a:bodyPr/>
      <a:lstStyle/>
      <a:p>
        <a:r>
          <a:rPr lang="en-CH"/>
          <a:t>While differentiating vs competition is key, the need to establish the value of MTAP testing and subsequently PRMTi is critical for success. I am missing this currently. Theres value if IEP can focus on how we convince prescribers the need to test/use PRMT5i</a:t>
        </a:r>
      </a:p>
    </p188:txBody>
  </p188:cm>
</p188:cmLst>
</file>

<file path=ppt/comments/modernComment_7FFFFFC3_A595B63F.xml><?xml version="1.0" encoding="utf-8"?>
<p188:cmLst xmlns:a="http://schemas.openxmlformats.org/drawingml/2006/main" xmlns:r="http://schemas.openxmlformats.org/officeDocument/2006/relationships" xmlns:p188="http://schemas.microsoft.com/office/powerpoint/2018/8/main">
  <p188:cm id="{087D8043-9531-4F1C-ACED-6428F7404B15}" authorId="{8A79AAA6-615B-FD77-4BF9-76EEF6F96719}" created="2026-08-04T14:45:31.863">
    <ac:txMkLst xmlns:ac="http://schemas.microsoft.com/office/drawing/2013/main/command">
      <pc:docMk xmlns:pc="http://schemas.microsoft.com/office/powerpoint/2013/main/command"/>
      <pc:sldMk xmlns:pc="http://schemas.microsoft.com/office/powerpoint/2013/main/command" cId="2778052159" sldId="2147483587"/>
      <ac:spMk id="2" creationId="{B15B355C-FAAB-B43D-C753-09372045ED2B}"/>
      <ac:txMk cp="0" len="142">
        <ac:context len="143" hash="3349145496"/>
      </ac:txMk>
    </ac:txMkLst>
    <p188:pos x="10753008" y="166704"/>
    <p188:replyLst>
      <p188:reply id="{1D7D14EC-A6F8-47CB-B0D6-80872793D90F}" authorId="{75B507B7-FA19-0D2B-2405-68B75B43F9D9}" created="2026-08-21T16:00:24.243">
        <p188:txBody>
          <a:bodyPr/>
          <a:lstStyle/>
          <a:p>
            <a:r>
              <a:rPr lang="en-GB"/>
              <a:t>Thank you for these suggestions.
1. In line with the current GMA strategy, we have retained the existing strategic imperative structure, with relevant evidence gaps addressing the role and value of MTAP testing and PRMT5i use.
2. The rationale for the respective combination evidence gaps is detailed in the subsequent gap summaries (slide 28).
3. In line with LT feedback and the IEP standardization framework, resistance-related gaps have been moved to the gated section for reconsideration as the strategy and evidence evolve.</a:t>
            </a:r>
          </a:p>
        </p188:txBody>
      </p188:reply>
    </p188:replyLst>
    <p188:txBody>
      <a:bodyPr/>
      <a:lstStyle/>
      <a:p>
        <a:r>
          <a:rPr lang="en-CH"/>
          <a:t>Suggestions:
1 - prioritise establishing the need/value of PRMT5i and MTAP deletion as a predictive BM ( or is it prognostic??) and then the differentiation
2 -  on Pillar 3, I am not clear what is the rationale we are trying to establish. PRMT should be added to treatment X BECAUSE……. 1 - can be easily combined, 2 - it creates therapeutic synergy, 3 - creates tumor vulnerability, optimizing combo partners effect, 4 - addresses CNS activity which may not be covered by combo. This may be addressed later in the deck (if then, ignore)
3 - deprioritise resistance pillar 4 unless we end giving up concurrent plans. Struggle to see the need at this stage</a:t>
        </a:r>
      </a:p>
    </p188:txBody>
  </p188:cm>
</p188:cmLst>
</file>

<file path=ppt/comments/modernComment_7FFFFFEE_7E4C581B.xml><?xml version="1.0" encoding="utf-8"?>
<p188:cmLst xmlns:a="http://schemas.openxmlformats.org/drawingml/2006/main" xmlns:r="http://schemas.openxmlformats.org/officeDocument/2006/relationships" xmlns:p188="http://schemas.microsoft.com/office/powerpoint/2018/8/main">
  <p188:cm id="{2F432B44-A18E-4F6C-8E96-9209856F1B66}" authorId="{5848C2BB-AD7A-A723-26C7-AA4044B41393}" created="2026-08-07T12:46:23.189">
    <ac:txMkLst xmlns:ac="http://schemas.microsoft.com/office/drawing/2013/main/command">
      <pc:docMk xmlns:pc="http://schemas.microsoft.com/office/powerpoint/2013/main/command"/>
      <pc:sldMk xmlns:pc="http://schemas.microsoft.com/office/powerpoint/2013/main/command" cId="2118932507" sldId="2147483630"/>
      <ac:spMk id="2" creationId="{4135821C-ECAE-6B1B-66FE-F64451B5DA09}"/>
      <ac:txMk cp="26">
        <ac:context len="102" hash="3538399738"/>
      </ac:txMk>
    </ac:txMkLst>
    <p188:pos x="6337738" y="233172"/>
    <p188:replyLst>
      <p188:reply id="{A20DEB3C-D670-4606-99E4-2AD1746D0689}" authorId="{75B507B7-FA19-0D2B-2405-68B75B43F9D9}" created="2026-08-21T16:08:48.106">
        <p188:txBody>
          <a:bodyPr/>
          <a:lstStyle/>
          <a:p>
            <a:r>
              <a:rPr lang="en-US"/>
              <a:t>Removed</a:t>
            </a:r>
          </a:p>
        </p188:txBody>
      </p188:reply>
    </p188:replyLst>
    <p188:txBody>
      <a:bodyPr/>
      <a:lstStyle/>
      <a:p>
        <a:r>
          <a:rPr lang="en-GB"/>
          <a:t>Why outstanding? Can this be removed? Is it to differentiate vs already planned evidence activities? Even so, I would just say tactics</a:t>
        </a:r>
      </a:p>
    </p188:txBody>
  </p188:cm>
</p188:cmLst>
</file>

<file path=ppt/comments/modernComment_7FFFFFF3_5FCDB176.xml><?xml version="1.0" encoding="utf-8"?>
<p188:cmLst xmlns:a="http://schemas.openxmlformats.org/drawingml/2006/main" xmlns:r="http://schemas.openxmlformats.org/officeDocument/2006/relationships" xmlns:p188="http://schemas.microsoft.com/office/powerpoint/2018/8/main">
  <p188:cm id="{FE982610-5AD8-4504-BD99-7B602842401B}" authorId="{8A79AAA6-615B-FD77-4BF9-76EEF6F96719}" created="2026-08-04T14:47:06.576">
    <ac:txMkLst xmlns:ac="http://schemas.microsoft.com/office/drawing/2013/main/command">
      <pc:docMk xmlns:pc="http://schemas.microsoft.com/office/powerpoint/2013/main/command"/>
      <pc:sldMk xmlns:pc="http://schemas.microsoft.com/office/powerpoint/2013/main/command" cId="1607315830" sldId="2147483635"/>
      <ac:spMk id="1056" creationId="{DCE58587-A4E9-0C81-D643-056192FD514C}"/>
      <ac:txMk cp="118" len="12">
        <ac:context len="247" hash="1926102926"/>
      </ac:txMk>
    </ac:txMkLst>
    <p188:pos x="1316633" y="763155"/>
    <p188:replyLst>
      <p188:reply id="{DD822A2D-C551-430C-AD61-9B9BE24E97F6}" authorId="{75B507B7-FA19-0D2B-2405-68B75B43F9D9}" created="2026-08-21T16:05:27.469">
        <p188:txBody>
          <a:bodyPr/>
          <a:lstStyle/>
          <a:p>
            <a:r>
              <a:rPr lang="en-US"/>
              <a:t>Yes, we agree that CNS activity is an important consideration and address this in subsequent slides. Key remaining questions on CNS activity  requiring additional evidence from the CDP have been captured as gated gaps for reassessment as the pivotal program evolves.</a:t>
            </a:r>
          </a:p>
        </p188:txBody>
      </p188:reply>
    </p188:replyLst>
    <p188:txBody>
      <a:bodyPr/>
      <a:lstStyle/>
      <a:p>
        <a:r>
          <a:rPr lang="en-CH"/>
          <a:t>Hopefully this is front and centre and not post hoc in our pivotal NSCLC studies</a:t>
        </a:r>
      </a:p>
    </p188:txBody>
  </p188:cm>
  <p188:cm id="{105EF702-0313-4F66-A811-288ED5E7085A}" authorId="{5848C2BB-AD7A-A723-26C7-AA4044B41393}" created="2026-08-07T12:45:09.271">
    <ac:txMkLst xmlns:ac="http://schemas.microsoft.com/office/drawing/2013/main/command">
      <pc:docMk xmlns:pc="http://schemas.microsoft.com/office/powerpoint/2013/main/command"/>
      <pc:sldMk xmlns:pc="http://schemas.microsoft.com/office/powerpoint/2013/main/command" cId="1607315830" sldId="2147483635"/>
      <ac:spMk id="1056" creationId="{DCE58587-A4E9-0C81-D643-056192FD514C}"/>
      <ac:txMk cp="12" len="7">
        <ac:context len="247" hash="1926102926"/>
      </ac:txMk>
    </ac:txMkLst>
    <p188:pos x="1813665" y="273050"/>
    <p188:replyLst>
      <p188:reply id="{8565A1EE-3A0B-4A42-96A0-B4C8F698E953}" authorId="{75B507B7-FA19-0D2B-2405-68B75B43F9D9}" created="2026-08-21T16:07:49.961">
        <p188:txBody>
          <a:bodyPr/>
          <a:lstStyle/>
          <a:p>
            <a:r>
              <a:rPr lang="en-US"/>
              <a:t>Aligned- we’ve updated with your suggested edits here.</a:t>
            </a:r>
          </a:p>
        </p188:txBody>
      </p188:reply>
    </p188:replyLst>
    <p188:txBody>
      <a:bodyPr/>
      <a:lstStyle/>
      <a:p>
        <a:r>
          <a:rPr lang="en-GB"/>
          <a:t>Could we add “planned and post-hoc…” fir completeness (even if pivotal/ registrational trials are out of scope for this particular plan, we do refer to gaps being addressed by those)</a:t>
        </a:r>
      </a:p>
    </p188:txBody>
  </p188:cm>
  <p188:cm id="{54F47B1A-FB52-4FB3-A06A-906B949B6A55}" authorId="{75B507B7-FA19-0D2B-2405-68B75B43F9D9}" created="2026-08-21T16:06:57.732">
    <ac:txMkLst xmlns:ac="http://schemas.microsoft.com/office/drawing/2013/main/command">
      <pc:docMk xmlns:pc="http://schemas.microsoft.com/office/powerpoint/2013/main/command"/>
      <pc:sldMk xmlns:pc="http://schemas.microsoft.com/office/powerpoint/2013/main/command" cId="1607315830" sldId="2147483635"/>
      <ac:spMk id="1052" creationId="{8647E4C2-0F40-D877-CD4D-8B4E460ADDA9}"/>
      <ac:txMk cp="99" len="198">
        <ac:context len="298" hash="3325747880"/>
      </ac:txMk>
    </ac:txMkLst>
    <p188:pos x="3651990" y="715962"/>
    <p188:txBody>
      <a:bodyPr/>
      <a:lstStyle/>
      <a:p>
        <a:r>
          <a:rPr lang="en-US"/>
          <a:t>In light of Rhys’s feedback, we have specified the types of RWE studies included in this IEP. </a:t>
        </a:r>
      </a:p>
    </p188:txBody>
  </p188:cm>
</p188:cmLst>
</file>

<file path=ppt/comments/modernComment_7FFFFFF9_43B89F50.xml><?xml version="1.0" encoding="utf-8"?>
<p188:cmLst xmlns:a="http://schemas.openxmlformats.org/drawingml/2006/main" xmlns:r="http://schemas.openxmlformats.org/officeDocument/2006/relationships" xmlns:p188="http://schemas.microsoft.com/office/powerpoint/2018/8/main">
  <p188:cm id="{81349DC0-FF91-4E3C-9B20-9251E5CA5D86}" authorId="{8A79AAA6-615B-FD77-4BF9-76EEF6F96719}" created="2026-08-04T15:04:35.260">
    <ac:txMkLst xmlns:ac="http://schemas.microsoft.com/office/drawing/2013/main/command">
      <pc:docMk xmlns:pc="http://schemas.microsoft.com/office/powerpoint/2013/main/command"/>
      <pc:sldMk xmlns:pc="http://schemas.microsoft.com/office/powerpoint/2013/main/command" cId="1136172880" sldId="2147483641"/>
      <ac:graphicFrameMk id="3" creationId="{CF0738CF-F102-518C-3A7F-6DC5D6022575}"/>
      <ac:tblMk/>
      <ac:tcMk rowId="2569997677" colId="320023064"/>
      <ac:txMk cp="0" len="116">
        <ac:context len="117" hash="244034689"/>
      </ac:txMk>
    </ac:txMkLst>
    <p188:replyLst>
      <p188:reply id="{53845296-F3F1-4377-BCB1-A3B87E7AC4D1}" authorId="{75B507B7-FA19-0D2B-2405-68B75B43F9D9}" created="2026-08-21T16:36:08.629">
        <p188:txBody>
          <a:bodyPr/>
          <a:lstStyle/>
          <a:p>
            <a:r>
              <a:rPr lang="en-US"/>
              <a:t>Aligned- we’ve moved NSCLC_GA_12 to gated, pending pivotal trial data to inform its need and priority</a:t>
            </a:r>
          </a:p>
        </p188:txBody>
      </p188:reply>
    </p188:replyLst>
    <p188:txBody>
      <a:bodyPr/>
      <a:lstStyle/>
      <a:p>
        <a:r>
          <a:rPr lang="en-CH"/>
          <a:t>High risk to us if data shows something different to our pivotal reads. We should assess if this should be done</a:t>
        </a:r>
      </a:p>
    </p188:txBody>
  </p188:cm>
  <p188:cm id="{434F25AD-BACD-49D7-ACDC-27280F03B24D}" authorId="{3706879C-237C-E233-769D-CC176EC5EA07}" created="2026-08-18T00:02:31.887">
    <pc:sldMkLst xmlns:pc="http://schemas.microsoft.com/office/powerpoint/2013/main/command">
      <pc:docMk/>
      <pc:sldMk cId="53447543" sldId="310"/>
    </pc:sldMkLst>
    <p188:replyLst>
      <p188:reply id="{EB12D1FE-437D-49E8-9909-41300998B95C}" authorId="{75B507B7-FA19-0D2B-2405-68B75B43F9D9}" created="2026-08-21T16:36:30.489">
        <p188:txBody>
          <a:bodyPr/>
          <a:lstStyle/>
          <a:p>
            <a:r>
              <a:rPr lang="en-US"/>
              <a:t>Aligned- we’ve moved NSCLC_GA_12 to gated, pending pivotal trial data to inform its need and priority</a:t>
            </a:r>
          </a:p>
        </p188:txBody>
      </p188:reply>
    </p188:replyLst>
    <p188:txBody>
      <a:bodyPr/>
      <a:lstStyle/>
      <a:p>
        <a:r>
          <a:rPr lang="en-US"/>
          <a:t>Agree with Prash.  I wouldn't prioritize this since we need to first have the data from our pivotal program and align as a team if this is a priority.  Not sure I would place this as high priority </a:t>
        </a:r>
      </a:p>
    </p188:txBody>
  </p188:cm>
</p188:cmLst>
</file>

<file path=ppt/comments/modernComment_12F_A28CCB15.xml><?xml version="1.0" encoding="utf-8"?>
<p188:cmLst xmlns:a="http://schemas.openxmlformats.org/drawingml/2006/main" xmlns:r="http://schemas.openxmlformats.org/officeDocument/2006/relationships" xmlns:p188="http://schemas.microsoft.com/office/powerpoint/2018/8/main">
  <p188:cm id="{50EF5048-2CA3-4C9A-9079-AC072B171F8D}" authorId="{5848C2BB-AD7A-A723-26C7-AA4044B41393}" created="2026-08-10T10:51:39.756">
    <ac:txMkLst xmlns:ac="http://schemas.microsoft.com/office/drawing/2013/main/command">
      <pc:docMk xmlns:pc="http://schemas.microsoft.com/office/powerpoint/2013/main/command"/>
      <pc:sldMk xmlns:pc="http://schemas.microsoft.com/office/powerpoint/2013/main/command" cId="2727136021" sldId="303"/>
      <ac:spMk id="21" creationId="{2D0578C7-1B7E-9B52-161A-4DA782CEB13C}"/>
      <ac:txMk cp="55" len="17">
        <ac:context len="74" hash="2241433548"/>
      </ac:txMk>
    </ac:txMkLst>
    <p188:pos x="1650421" y="1284416"/>
    <p188:replyLst>
      <p188:reply id="{6203C4D4-86A1-41A2-9E79-3CE623355A5F}" authorId="{E9A4DE92-A53D-C928-3EA2-18AE1A5F56D7}" created="2026-08-19T20:35:27.113">
        <p188:txBody>
          <a:bodyPr/>
          <a:lstStyle/>
          <a:p>
            <a:r>
              <a:rPr lang="en-US"/>
              <a:t>Thanks for the suggestion. We have updated the text accordingly.</a:t>
            </a:r>
          </a:p>
        </p188:txBody>
      </p188:reply>
    </p188:replyLst>
    <p188:txBody>
      <a:bodyPr/>
      <a:lstStyle/>
      <a:p>
        <a:r>
          <a:rPr lang="en-GB"/>
          <a:t>Suggest we specify the timeframe (e.g. by end of YEAR) to avoid confusion if slide is presented on its own etc. I appreciate it’s from the Guidance Document but in this deck and context, it is specific to this IEGP</a:t>
        </a:r>
      </a:p>
    </p188:txBody>
  </p188:cm>
</p188:cmLst>
</file>

<file path=ppt/comments/modernComment_100_4439AAD4.xml><?xml version="1.0" encoding="utf-8"?>
<p188:cmLst xmlns:a="http://schemas.openxmlformats.org/drawingml/2006/main" xmlns:r="http://schemas.openxmlformats.org/officeDocument/2006/relationships" xmlns:p188="http://schemas.microsoft.com/office/powerpoint/2018/8/main">
  <p188:cm id="{55ACE912-CC5D-4E06-8D8C-12425EA61F4B}" authorId="{3706879C-237C-E233-769D-CC176EC5EA07}" created="2026-08-18T00:03:53.281">
    <ac:deMkLst xmlns:ac="http://schemas.microsoft.com/office/drawing/2013/main/command">
      <pc:docMk xmlns:pc="http://schemas.microsoft.com/office/powerpoint/2013/main/command"/>
      <pc:sldMk xmlns:pc="http://schemas.microsoft.com/office/powerpoint/2013/main/command" cId="1144629972" sldId="256"/>
      <ac:graphicFrameMk id="3" creationId="{4DED03EE-7937-6543-3149-70C01D5C380C}"/>
    </ac:deMkLst>
    <p188:replyLst>
      <p188:reply id="{B79B0D55-34DE-439A-8A6F-7FD74161E5A3}" authorId="{75B507B7-FA19-0D2B-2405-68B75B43F9D9}" created="2026-08-21T16:26:13.441">
        <p188:txBody>
          <a:bodyPr/>
          <a:lstStyle/>
          <a:p>
            <a:r>
              <a:rPr lang="en-US"/>
              <a:t>This gap was elevated in priority following KOL validation during the EU Ad boards in April, in alignment with Mesha.
We agree with your point around the timing and have updated the timing to be post-DRO (slides 11, 41).</a:t>
            </a:r>
          </a:p>
        </p188:txBody>
      </p188:reply>
    </p188:replyLst>
    <p188:txBody>
      <a:bodyPr/>
      <a:lstStyle/>
      <a:p>
        <a:r>
          <a:rPr lang="en-US"/>
          <a:t>Not sure how critical this is unless we are worried about overlapping toxicities.  Would also ensure timing is after pivotal program read out. </a:t>
        </a:r>
      </a:p>
    </p188:txBody>
  </p188:cm>
</p188:cmLst>
</file>

<file path=ppt/comments/modernComment_122_6361C41E.xml><?xml version="1.0" encoding="utf-8"?>
<p188:cmLst xmlns:a="http://schemas.openxmlformats.org/drawingml/2006/main" xmlns:r="http://schemas.openxmlformats.org/officeDocument/2006/relationships" xmlns:p188="http://schemas.microsoft.com/office/powerpoint/2018/8/main">
  <p188:cm id="{7CEB9CA0-B184-4C67-9DD9-EB45A7433B3C}" authorId="{8A79AAA6-615B-FD77-4BF9-76EEF6F96719}" created="2026-08-04T14:54:44.392" startDate="2026-08-10T10:49:23.775" dueDate="2026-08-10T10:49:23.775" assignedTo="{8A79AAA6-615B-FD77-4BF9-76EEF6F96719}" title="@Prash to make sure I understand: even if BMS’s PRMT5 launches first? ">
    <ac:txMkLst xmlns:ac="http://schemas.microsoft.com/office/drawing/2013/main/command">
      <pc:docMk xmlns:pc="http://schemas.microsoft.com/office/powerpoint/2013/main/command"/>
      <pc:sldMk xmlns:pc="http://schemas.microsoft.com/office/powerpoint/2013/main/command" cId="1667351582" sldId="290"/>
      <ac:spMk id="2" creationId="{FF3151D0-46A9-04BD-3EA0-0D5343DD9DA0}"/>
      <ac:txMk cp="0" len="148">
        <ac:context len="149" hash="2781957260"/>
      </ac:txMk>
    </ac:txMkLst>
    <p188:pos x="11489020" y="174290"/>
    <p188:replyLst>
      <p188:reply id="{05576DB6-960C-44A5-BF92-8126A4E136AB}" authorId="{5848C2BB-AD7A-A723-26C7-AA4044B41393}" created="2026-08-10T10:49:23.775">
        <p188:txBody>
          <a:bodyPr/>
          <a:lstStyle/>
          <a:p>
            <a:r>
              <a:rPr lang="en-GB"/>
              <a:t>[@Prash] to make sure I understand: even if BMS’s PRMT5 launches first? </a:t>
            </a:r>
          </a:p>
        </p188:txBody>
      </p188:reply>
      <p188:reply id="{EEE783A9-8E13-482D-B594-7993D26918EC}" authorId="{8A79AAA6-615B-FD77-4BF9-76EEF6F96719}" created="2026-08-10T10:54:59.232">
        <p188:txBody>
          <a:bodyPr/>
          <a:lstStyle/>
          <a:p>
            <a:r>
              <a:rPr lang="en-CH"/>
              <a:t>[@Karolina Minda] yes because this is still not certain (BMS study enrolling badly + only 1L in play). I believe there is strong near time value in establishing the class properly which could help us position as market leaders in this space and may also help with our operations. I am not saying differentiation is less important; I am saying lets prioritize establishing class first and then other goals
</a:t>
            </a:r>
          </a:p>
        </p188:txBody>
        <p188:extLst>
          <p:ext xmlns:p="http://schemas.openxmlformats.org/presentationml/2006/main" uri="{57CB4572-C831-44C2-8A1C-0ADB6CCDFE69}">
            <p223:reactions xmlns:p223="http://schemas.microsoft.com/office/powerpoint/2022/03/main">
              <p223:rxn type="👍">
                <p223:instance time="2026-08-11T13:51:21.505" authorId="{5848C2BB-AD7A-A723-26C7-AA4044B41393}"/>
              </p223:rxn>
            </p223:reactions>
          </p:ext>
        </p188:extLst>
      </p188:reply>
      <p188:reply id="{E9FFA3C4-1DCC-4033-A038-56B4BEC7023D}" authorId="{75B507B7-FA19-0D2B-2405-68B75B43F9D9}" created="2026-08-21T16:15:15.390">
        <p188:txBody>
          <a:bodyPr/>
          <a:lstStyle/>
          <a:p>
            <a:r>
              <a:rPr lang="en-GB"/>
              <a:t>We acknowledge the importance of establishing the value of MTAPd and PRMT5i. As mentioned on slide 9, the IEP reflects the current GMA strategy and associated SIs, with relevant evidence gaps addressing this important need.</a:t>
            </a:r>
          </a:p>
        </p188:txBody>
      </p188:reply>
    </p188:replyLst>
    <p188:txBody>
      <a:bodyPr/>
      <a:lstStyle/>
      <a:p>
        <a:r>
          <a:rPr lang="en-CH"/>
          <a:t>SI should also prioritize establishing value of MTAPd and PRMT5i over differentiation within class. </a:t>
        </a:r>
      </a:p>
    </p188:txBody>
    <p188:extLst>
      <p:ext xmlns:p="http://schemas.openxmlformats.org/presentationml/2006/main" uri="{5BB2D875-25FF-4072-B9AC-8F64D62656EB}">
        <p228:taskDetails xmlns:p228="http://schemas.microsoft.com/office/powerpoint/2022/08/main">
          <p228:history>
            <p228:event time="2026-08-10T10:49:23.776" id="{B4DE98F9-7C0C-4649-9EB7-35D7FFF85C0C}">
              <p228:atrbtn authorId="{5848C2BB-AD7A-A723-26C7-AA4044B41393}"/>
              <p228:anchr>
                <p228:comment id="{05576DB6-960C-44A5-BF92-8126A4E136AB}"/>
              </p228:anchr>
              <p228:add/>
            </p228:event>
            <p228:event time="2026-08-10T10:49:23.776" id="{161A19DA-CD8A-40DE-9440-4C2B5D531764}">
              <p228:atrbtn authorId="{5848C2BB-AD7A-A723-26C7-AA4044B41393}"/>
              <p228:anchr>
                <p228:comment id="{05576DB6-960C-44A5-BF92-8126A4E136AB}"/>
              </p228:anchr>
              <p228:asgn authorId="{8A79AAA6-615B-FD77-4BF9-76EEF6F96719}"/>
            </p228:event>
            <p228:event time="2026-08-10T10:49:23.776" id="{8308F371-DE15-4A40-804E-908C86878F1F}">
              <p228:atrbtn authorId="{5848C2BB-AD7A-A723-26C7-AA4044B41393}"/>
              <p228:anchr>
                <p228:comment id="{05576DB6-960C-44A5-BF92-8126A4E136AB}"/>
              </p228:anchr>
              <p228:date stDt="2026-08-10T10:49:23.775" endDt="2026-08-10T10:49:23.775"/>
            </p228:event>
            <p228:event time="2026-08-10T10:49:23.776" id="{54F8F88E-2A89-4BF1-8C78-3C5CA316AE65}">
              <p228:atrbtn authorId="{5848C2BB-AD7A-A723-26C7-AA4044B41393}"/>
              <p228:anchr>
                <p228:comment id="{05576DB6-960C-44A5-BF92-8126A4E136AB}"/>
              </p228:anchr>
              <p228:title val="@Prash to make sure I understand: even if BMS’s PRMT5 launches first? "/>
            </p228:event>
          </p228:history>
        </p228:taskDetails>
      </p:ext>
    </p188:extLst>
  </p188:cm>
</p188:cmLst>
</file>

<file path=ppt/comments/modernComment_133_2157FE01.xml><?xml version="1.0" encoding="utf-8"?>
<p188:cmLst xmlns:a="http://schemas.openxmlformats.org/drawingml/2006/main" xmlns:r="http://schemas.openxmlformats.org/officeDocument/2006/relationships" xmlns:p188="http://schemas.microsoft.com/office/powerpoint/2018/8/main">
  <p188:cm id="{A2502881-9466-488D-B77F-E9CEBC06A286}" authorId="{8A79AAA6-615B-FD77-4BF9-76EEF6F96719}" created="2026-08-04T15:07:01.042">
    <ac:txMkLst xmlns:ac="http://schemas.microsoft.com/office/drawing/2013/main/command">
      <pc:docMk xmlns:pc="http://schemas.microsoft.com/office/powerpoint/2013/main/command"/>
      <pc:sldMk xmlns:pc="http://schemas.microsoft.com/office/powerpoint/2013/main/command" cId="559414785" sldId="307"/>
      <ac:graphicFrameMk id="3" creationId="{C7CF1635-EDAF-0FFF-42F5-CC4EBCB9E845}"/>
      <ac:tblMk/>
      <ac:tcMk rowId="2569997677" colId="320023064"/>
      <ac:txMk cp="0" len="5">
        <ac:context len="145" hash="3406540900"/>
      </ac:txMk>
    </ac:txMkLst>
    <p188:pos x="8427965" y="2594857"/>
    <p188:replyLst>
      <p188:reply id="{CE5929BE-C3FA-4EAB-AA19-73E00D0CA26C}" authorId="{75B507B7-FA19-0D2B-2405-68B75B43F9D9}" created="2026-08-21T16:21:34.254">
        <p188:txBody>
          <a:bodyPr/>
          <a:lstStyle/>
          <a:p>
            <a:r>
              <a:rPr lang="en-US"/>
              <a:t>AOIs for IIT proposals are addressed as part of the broader medical strategy outside of this IEP, with the core team best positioned to provide further context.</a:t>
            </a:r>
          </a:p>
        </p188:txBody>
      </p188:reply>
    </p188:replyLst>
    <p188:txBody>
      <a:bodyPr/>
      <a:lstStyle/>
      <a:p>
        <a:r>
          <a:rPr lang="en-CH"/>
          <a:t>Have we identified areas that could be our ‘Areas of interest’ for IIT proposals. Would be good to compile this by the time of our first pivotal readout.  </a:t>
        </a:r>
      </a:p>
    </p188:txBody>
  </p188:cm>
</p188:cmLst>
</file>

<file path=ppt/comments/modernComment_135_E4160855.xml><?xml version="1.0" encoding="utf-8"?>
<p188:cmLst xmlns:a="http://schemas.openxmlformats.org/drawingml/2006/main" xmlns:r="http://schemas.openxmlformats.org/officeDocument/2006/relationships" xmlns:p188="http://schemas.microsoft.com/office/powerpoint/2018/8/main">
  <p188:cm id="{53F8FAD9-F3CE-4406-BD4A-7DCEF6F3FD87}" authorId="{8A79AAA6-615B-FD77-4BF9-76EEF6F96719}" created="2026-08-04T14:57:13.368">
    <ac:txMkLst xmlns:ac="http://schemas.microsoft.com/office/drawing/2013/main/command">
      <pc:docMk xmlns:pc="http://schemas.microsoft.com/office/powerpoint/2013/main/command"/>
      <pc:sldMk xmlns:pc="http://schemas.microsoft.com/office/powerpoint/2013/main/command" cId="3826649173" sldId="309"/>
      <ac:spMk id="140" creationId="{DC2461CE-9EC4-D6CB-CE8A-D36C76A72CAA}"/>
      <ac:txMk cp="0" len="131">
        <ac:context len="132" hash="3762237243"/>
      </ac:txMk>
    </ac:txMkLst>
    <p188:pos x="3521355" y="222013"/>
    <p188:replyLst>
      <p188:reply id="{4237E4BF-2902-4631-A2CD-AB267515338B}" authorId="{75B507B7-FA19-0D2B-2405-68B75B43F9D9}" created="2026-08-21T16:17:02.079">
        <p188:txBody>
          <a:bodyPr/>
          <a:lstStyle/>
          <a:p>
            <a:r>
              <a:rPr lang="en-GB"/>
              <a:t>We agree that evidence of BGB-58067 intracranial activity is important. As the CDP is still being finalized, this gap remains gated pending final trial design and sufficient enrollment to assess CNS outcomes and determine what additional tactics may be needed to complement data generated through the pivotal program.</a:t>
            </a:r>
          </a:p>
        </p188:txBody>
      </p188:reply>
    </p188:replyLst>
    <p188:txBody>
      <a:bodyPr/>
      <a:lstStyle/>
      <a:p>
        <a:r>
          <a:rPr lang="en-CH"/>
          <a:t>Why gated? This could be the strongest evidence to drive MTAP testing and PRMT use</a:t>
        </a:r>
      </a:p>
    </p188:txBody>
  </p188:cm>
</p188:cmLst>
</file>

<file path=ppt/comments/modernComment_139_41C68260.xml><?xml version="1.0" encoding="utf-8"?>
<p188:cmLst xmlns:a="http://schemas.openxmlformats.org/drawingml/2006/main" xmlns:r="http://schemas.openxmlformats.org/officeDocument/2006/relationships" xmlns:p188="http://schemas.microsoft.com/office/powerpoint/2018/8/main">
  <p188:cm id="{875096A5-E456-4359-9BDA-C0B387658C68}" authorId="{8A79AAA6-615B-FD77-4BF9-76EEF6F96719}" created="2026-08-04T15:03:36.151">
    <ac:txMkLst xmlns:ac="http://schemas.microsoft.com/office/drawing/2013/main/command">
      <pc:docMk xmlns:pc="http://schemas.microsoft.com/office/powerpoint/2013/main/command"/>
      <pc:sldMk xmlns:pc="http://schemas.microsoft.com/office/powerpoint/2013/main/command" cId="1103528544" sldId="313"/>
      <ac:graphicFrameMk id="3" creationId="{1884314C-136C-59B0-BAC0-A02AC87BD262}"/>
      <ac:tblMk/>
      <ac:tcMk rowId="2323510155" colId="320023064"/>
      <ac:txMk cp="0" len="7">
        <ac:context len="8" hash="2680682360"/>
      </ac:txMk>
    </ac:txMkLst>
    <p188:pos x="10035092" y="210991"/>
    <p188:replyLst>
      <p188:reply id="{6CE3A043-AA4C-4B06-96A9-B7F2F479D095}" authorId="{75B507B7-FA19-0D2B-2405-68B75B43F9D9}" created="2026-08-21T16:23:24.949">
        <p188:txBody>
          <a:bodyPr/>
          <a:lstStyle/>
          <a:p>
            <a:r>
              <a:rPr lang="en-US"/>
              <a:t>We agree this is an important pre-launch consideration to facilitate MTAP testing and future adoption. We suggest capturing access/testing programs within the broader Medical/CDx strategy, where implementation planning can be more fully addressed.</a:t>
            </a:r>
          </a:p>
        </p188:txBody>
      </p188:reply>
    </p188:replyLst>
    <p188:txBody>
      <a:bodyPr/>
      <a:lstStyle/>
      <a:p>
        <a:r>
          <a:rPr lang="en-CH"/>
          <a:t>Consider access programs to facilitate testing MTAP. This was a very successful tactic for alpelisib with efforts starting off pre-launch</a:t>
        </a:r>
      </a:p>
    </p188:txBody>
  </p188:cm>
</p188:cmLst>
</file>

<file path=ppt/comments/modernComment_144_F95872FB.xml><?xml version="1.0" encoding="utf-8"?>
<p188:cmLst xmlns:a="http://schemas.openxmlformats.org/drawingml/2006/main" xmlns:r="http://schemas.openxmlformats.org/officeDocument/2006/relationships" xmlns:p188="http://schemas.microsoft.com/office/powerpoint/2018/8/main">
  <p188:cm id="{4C640B3C-F764-4339-A4D9-12082FE35617}" authorId="{8A79AAA6-615B-FD77-4BF9-76EEF6F96719}" created="2026-08-04T14:51:43.169">
    <ac:txMkLst xmlns:ac="http://schemas.microsoft.com/office/drawing/2013/main/command">
      <pc:docMk xmlns:pc="http://schemas.microsoft.com/office/powerpoint/2013/main/command"/>
      <pc:sldMk xmlns:pc="http://schemas.microsoft.com/office/powerpoint/2013/main/command" cId="4183323387" sldId="324"/>
      <ac:spMk id="31" creationId="{684D584D-111A-CCCF-37F5-E05DBBAB5771}"/>
      <ac:txMk cp="51" len="111">
        <ac:context len="163" hash="2020680458"/>
      </ac:txMk>
    </ac:txMkLst>
    <p188:pos x="3906662" y="422633"/>
    <p188:replyLst>
      <p188:reply id="{429BBCEA-C4F6-4F7F-BFDB-90F70F411B28}" authorId="{75B507B7-FA19-0D2B-2405-68B75B43F9D9}" created="2026-08-21T16:11:55.995">
        <p188:txBody>
          <a:bodyPr/>
          <a:lstStyle/>
          <a:p>
            <a:r>
              <a:rPr lang="en-US"/>
              <a:t>We’ve broadened the positioning across lines of therapy, as emerging data will be needed to inform setting-based positioning.</a:t>
            </a:r>
          </a:p>
        </p188:txBody>
      </p188:reply>
    </p188:replyLst>
    <p188:txBody>
      <a:bodyPr/>
      <a:lstStyle/>
      <a:p>
        <a:r>
          <a:rPr lang="en-CH"/>
          <a:t>With our current strategy, assuming both 2L and 1L is successful, we should think about establishing value of using PRMT5 upfront versus reserving in 2L where unmet need is relatively higher. Imagine a time when, HCPs have choice bw 1L and 2L use.. Why 1L?? This should be a focus area</a:t>
        </a:r>
      </a:p>
    </p188:txBody>
  </p188:cm>
</p188:cmLst>
</file>

<file path=ppt/comments/modernComment_174_316FB24B.xml><?xml version="1.0" encoding="utf-8"?>
<p188:cmLst xmlns:a="http://schemas.openxmlformats.org/drawingml/2006/main" xmlns:r="http://schemas.openxmlformats.org/officeDocument/2006/relationships" xmlns:p188="http://schemas.microsoft.com/office/powerpoint/2018/8/main">
  <p188:cm id="{5AABB245-40AC-4886-9556-F9020EB2C9A7}" authorId="{75B507B7-FA19-0D2B-2405-68B75B43F9D9}" created="2026-08-21T16:37:38.274">
    <ac:deMkLst xmlns:ac="http://schemas.microsoft.com/office/drawing/2013/main/command">
      <pc:docMk xmlns:pc="http://schemas.microsoft.com/office/powerpoint/2013/main/command"/>
      <pc:sldMk xmlns:pc="http://schemas.microsoft.com/office/powerpoint/2013/main/command" cId="829403723" sldId="372"/>
      <ac:graphicFrameMk id="3" creationId="{5789F17F-7EE0-D04D-5913-4A8004E1406B}"/>
    </ac:deMkLst>
    <p188:txBody>
      <a:bodyPr/>
      <a:lstStyle/>
      <a:p>
        <a:r>
          <a:rPr lang="en-US"/>
          <a:t>Note to BeOne team: We had a follow-on conversation with the PRO team for which their feedback is captured here.</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2F4643F-7330-6009-FC04-451B2D491A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106C06C-C956-BC1A-995E-75CD9EF47D9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EFD91E-A56F-D243-A3B7-43251B60C921}" type="datetimeFigureOut">
              <a:rPr lang="en-US" smtClean="0"/>
              <a:t>9/23/2026</a:t>
            </a:fld>
            <a:endParaRPr lang="en-US"/>
          </a:p>
        </p:txBody>
      </p:sp>
      <p:sp>
        <p:nvSpPr>
          <p:cNvPr id="4" name="Footer Placeholder 3">
            <a:extLst>
              <a:ext uri="{FF2B5EF4-FFF2-40B4-BE49-F238E27FC236}">
                <a16:creationId xmlns:a16="http://schemas.microsoft.com/office/drawing/2014/main" id="{073487E2-DC75-53EF-C7EB-59D8ABDF89E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BCBEF61-B602-A737-8646-247115641B6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DC68D3-5A8E-F74A-AD17-32C691E5E44F}" type="slidenum">
              <a:rPr lang="en-US" smtClean="0"/>
              <a:t>‹#›</a:t>
            </a:fld>
            <a:endParaRPr lang="en-US"/>
          </a:p>
        </p:txBody>
      </p:sp>
    </p:spTree>
    <p:extLst>
      <p:ext uri="{BB962C8B-B14F-4D97-AF65-F5344CB8AC3E}">
        <p14:creationId xmlns:p14="http://schemas.microsoft.com/office/powerpoint/2010/main" val="15794564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C3B481BD-54FB-5D4D-95C0-F1D99F902784}"/>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a:extLst>
              <a:ext uri="{FF2B5EF4-FFF2-40B4-BE49-F238E27FC236}">
                <a16:creationId xmlns:a16="http://schemas.microsoft.com/office/drawing/2014/main" id="{64545594-0FC2-5D48-B93D-2B9927C9355A}"/>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F7DAC3C8-AFA5-654A-8788-43263FA80C22}"/>
              </a:ext>
            </a:extLst>
          </p:cNvPr>
          <p:cNvSpPr>
            <a:spLocks noGrp="1"/>
          </p:cNvSpPr>
          <p:nvPr>
            <p:ph type="sldNum" sz="quarter" idx="5"/>
          </p:nvPr>
        </p:nvSpPr>
        <p:spPr>
          <a:xfrm>
            <a:off x="5954485" y="8685213"/>
            <a:ext cx="901927"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9B590086-2CEE-6940-8EBE-50F30B7088C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indent="0" algn="l" defTabSz="1219050" rtl="0" eaLnBrk="1" latinLnBrk="0" hangingPunct="1">
      <a:lnSpc>
        <a:spcPct val="90000"/>
      </a:lnSpc>
      <a:spcBef>
        <a:spcPts val="360"/>
      </a:spcBef>
      <a:buFont typeface="Arial" panose="020B0604020202020204" pitchFamily="34" charset="0"/>
      <a:buNone/>
      <a:defRPr sz="1000" b="0" i="0" kern="1200">
        <a:solidFill>
          <a:schemeClr val="tx1"/>
        </a:solidFill>
        <a:latin typeface="Arial" panose="020B0604020202020204" pitchFamily="34" charset="0"/>
        <a:ea typeface="+mn-ea"/>
        <a:cs typeface="+mn-cs"/>
      </a:defRPr>
    </a:lvl1pPr>
    <a:lvl2pPr marL="173736" indent="-171450" algn="l" defTabSz="1219050" rtl="0" eaLnBrk="1" latinLnBrk="0" hangingPunct="1">
      <a:lnSpc>
        <a:spcPct val="90000"/>
      </a:lnSpc>
      <a:spcBef>
        <a:spcPts val="360"/>
      </a:spcBef>
      <a:buFont typeface="Wingdings" pitchFamily="2" charset="2"/>
      <a:buChar char="§"/>
      <a:tabLst/>
      <a:defRPr sz="1000" b="0" i="0" kern="1200">
        <a:solidFill>
          <a:schemeClr val="tx1"/>
        </a:solidFill>
        <a:latin typeface="Arial" panose="020B0604020202020204" pitchFamily="34" charset="0"/>
        <a:ea typeface="+mn-ea"/>
        <a:cs typeface="+mn-cs"/>
      </a:defRPr>
    </a:lvl2pPr>
    <a:lvl3pPr marL="347472" indent="-174625" algn="l" defTabSz="1219050" rtl="0" eaLnBrk="1" latinLnBrk="0" hangingPunct="1">
      <a:lnSpc>
        <a:spcPct val="90000"/>
      </a:lnSpc>
      <a:spcBef>
        <a:spcPts val="360"/>
      </a:spcBef>
      <a:buFont typeface="System Font Regular"/>
      <a:buChar char="–"/>
      <a:tabLst/>
      <a:defRPr sz="1000" b="0" i="0" kern="1200">
        <a:solidFill>
          <a:schemeClr val="tx1"/>
        </a:solidFill>
        <a:latin typeface="Arial" panose="020B0604020202020204" pitchFamily="34" charset="0"/>
        <a:ea typeface="+mn-ea"/>
        <a:cs typeface="+mn-cs"/>
      </a:defRPr>
    </a:lvl3pPr>
    <a:lvl4pPr marL="517525" indent="-173736" algn="l" defTabSz="1219050" rtl="0" eaLnBrk="1" latinLnBrk="0" hangingPunct="1">
      <a:lnSpc>
        <a:spcPct val="90000"/>
      </a:lnSpc>
      <a:spcBef>
        <a:spcPts val="360"/>
      </a:spcBef>
      <a:buFont typeface="Arial" panose="020B0604020202020204" pitchFamily="34" charset="0"/>
      <a:buChar char="•"/>
      <a:tabLst/>
      <a:defRPr sz="1000" b="0" i="0" kern="1200">
        <a:solidFill>
          <a:schemeClr val="tx1"/>
        </a:solidFill>
        <a:latin typeface="Arial" panose="020B0604020202020204" pitchFamily="34" charset="0"/>
        <a:ea typeface="+mn-ea"/>
        <a:cs typeface="+mn-cs"/>
      </a:defRPr>
    </a:lvl4pPr>
    <a:lvl5pPr marL="687388" indent="-173736" algn="l" defTabSz="1219050" rtl="0" eaLnBrk="1" latinLnBrk="0" hangingPunct="1">
      <a:lnSpc>
        <a:spcPct val="90000"/>
      </a:lnSpc>
      <a:spcBef>
        <a:spcPts val="360"/>
      </a:spcBef>
      <a:buFont typeface="System Font Regular"/>
      <a:buChar char="◦"/>
      <a:tabLst/>
      <a:defRPr sz="1000" b="0" i="0" kern="1200">
        <a:solidFill>
          <a:schemeClr val="tx1"/>
        </a:solidFill>
        <a:latin typeface="Arial" panose="020B0604020202020204" pitchFamily="34" charset="0"/>
        <a:ea typeface="+mn-ea"/>
        <a:cs typeface="+mn-cs"/>
      </a:defRPr>
    </a:lvl5pPr>
    <a:lvl6pPr marL="3047620" algn="l" defTabSz="1219050" rtl="0" eaLnBrk="1" latinLnBrk="0" hangingPunct="1">
      <a:defRPr sz="1600" kern="1200">
        <a:solidFill>
          <a:schemeClr val="tx1"/>
        </a:solidFill>
        <a:latin typeface="+mn-lt"/>
        <a:ea typeface="+mn-ea"/>
        <a:cs typeface="+mn-cs"/>
      </a:defRPr>
    </a:lvl6pPr>
    <a:lvl7pPr marL="3657143" algn="l" defTabSz="1219050" rtl="0" eaLnBrk="1" latinLnBrk="0" hangingPunct="1">
      <a:defRPr sz="1600" kern="1200">
        <a:solidFill>
          <a:schemeClr val="tx1"/>
        </a:solidFill>
        <a:latin typeface="+mn-lt"/>
        <a:ea typeface="+mn-ea"/>
        <a:cs typeface="+mn-cs"/>
      </a:defRPr>
    </a:lvl7pPr>
    <a:lvl8pPr marL="4266667" algn="l" defTabSz="1219050" rtl="0" eaLnBrk="1" latinLnBrk="0" hangingPunct="1">
      <a:defRPr sz="1600" kern="1200">
        <a:solidFill>
          <a:schemeClr val="tx1"/>
        </a:solidFill>
        <a:latin typeface="+mn-lt"/>
        <a:ea typeface="+mn-ea"/>
        <a:cs typeface="+mn-cs"/>
      </a:defRPr>
    </a:lvl8pPr>
    <a:lvl9pPr marL="4876191" algn="l" defTabSz="121905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573DB-9DFB-95D1-9CF6-15E0F821A50C}"/>
            </a:ext>
          </a:extLst>
        </p:cNvPr>
        <p:cNvGrpSpPr/>
        <p:nvPr/>
      </p:nvGrpSpPr>
      <p:grpSpPr>
        <a:xfrm>
          <a:off x="0" y="0"/>
          <a:ext cx="0" cy="0"/>
          <a:chOff x="0" y="0"/>
          <a:chExt cx="0" cy="0"/>
        </a:xfrm>
      </p:grpSpPr>
      <p:sp>
        <p:nvSpPr>
          <p:cNvPr id="12290" name="Rectangle 7">
            <a:extLst>
              <a:ext uri="{FF2B5EF4-FFF2-40B4-BE49-F238E27FC236}">
                <a16:creationId xmlns:a16="http://schemas.microsoft.com/office/drawing/2014/main" id="{87A4B418-48EC-6F8E-600B-C896CBA75B61}"/>
              </a:ext>
            </a:extLst>
          </p:cNvPr>
          <p:cNvSpPr>
            <a:spLocks noGrp="1" noChangeArrowheads="1"/>
          </p:cNvSpPr>
          <p:nvPr>
            <p:ph type="sldNum" sz="quarter" idx="5"/>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377" rtl="0" eaLnBrk="0" fontAlgn="auto" latinLnBrk="0" hangingPunct="0">
              <a:lnSpc>
                <a:spcPct val="100000"/>
              </a:lnSpc>
              <a:spcBef>
                <a:spcPts val="0"/>
              </a:spcBef>
              <a:spcAft>
                <a:spcPts val="0"/>
              </a:spcAft>
              <a:buClrTx/>
              <a:buSzTx/>
              <a:buFontTx/>
              <a:buNone/>
              <a:tabLst/>
              <a:defRPr/>
            </a:pPr>
            <a:fld id="{DCF035CC-16BD-4DC6-B7DB-AF8B68E176C0}" type="slidenum">
              <a:rPr kumimoji="0" lang="en-US" sz="1200" b="0" i="0" u="none" strike="noStrike" kern="1200" cap="none" spc="0" normalizeH="0" baseline="0" noProof="0" smtClean="0">
                <a:ln>
                  <a:noFill/>
                </a:ln>
                <a:solidFill>
                  <a:prstClr val="black"/>
                </a:solidFill>
                <a:effectLst/>
                <a:uLnTx/>
                <a:uFillTx/>
                <a:latin typeface="Arial" pitchFamily="34" charset="0"/>
                <a:ea typeface="+mn-ea"/>
                <a:cs typeface="+mn-cs"/>
              </a:rPr>
              <a:pPr marL="0" marR="0" lvl="0" indent="0" algn="r" defTabSz="914377" rtl="0" eaLnBrk="0" fontAlgn="auto" latinLnBrk="0" hangingPunct="0">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4" name="Notes Placeholder 3">
            <a:extLst>
              <a:ext uri="{FF2B5EF4-FFF2-40B4-BE49-F238E27FC236}">
                <a16:creationId xmlns:a16="http://schemas.microsoft.com/office/drawing/2014/main" id="{3CA2AB4E-469C-890B-8F0A-515CE1067056}"/>
              </a:ext>
            </a:extLst>
          </p:cNvPr>
          <p:cNvSpPr>
            <a:spLocks noGrp="1"/>
          </p:cNvSpPr>
          <p:nvPr>
            <p:ph type="body" idx="1"/>
          </p:nvPr>
        </p:nvSpPr>
        <p:spPr/>
        <p:txBody>
          <a:bodyPr/>
          <a:lstStyle/>
          <a:p>
            <a:endParaRPr lang="en-US"/>
          </a:p>
        </p:txBody>
      </p:sp>
      <p:sp>
        <p:nvSpPr>
          <p:cNvPr id="6" name="Slide Image Placeholder 5">
            <a:extLst>
              <a:ext uri="{FF2B5EF4-FFF2-40B4-BE49-F238E27FC236}">
                <a16:creationId xmlns:a16="http://schemas.microsoft.com/office/drawing/2014/main" id="{D25AD6EB-353F-0687-43AB-3162ABF91EFE}"/>
              </a:ext>
            </a:extLst>
          </p:cNvPr>
          <p:cNvSpPr>
            <a:spLocks noGrp="1" noRot="1" noChangeAspect="1"/>
          </p:cNvSpPr>
          <p:nvPr>
            <p:ph type="sldImg"/>
          </p:nvPr>
        </p:nvSpPr>
        <p:spPr/>
        <p:txBody>
          <a:bodyPr/>
          <a:lstStyle/>
          <a:p>
            <a:endParaRPr lang="en-GB"/>
          </a:p>
        </p:txBody>
      </p:sp>
      <p:sp>
        <p:nvSpPr>
          <p:cNvPr id="2" name="Text Box 6">
            <a:extLst>
              <a:ext uri="{FF2B5EF4-FFF2-40B4-BE49-F238E27FC236}">
                <a16:creationId xmlns:a16="http://schemas.microsoft.com/office/drawing/2014/main" id="{40B2C0E7-932F-DEDC-F4D9-24D51A3E06F0}"/>
              </a:ext>
            </a:extLst>
          </p:cNvPr>
          <p:cNvSpPr txBox="1">
            <a:spLocks noChangeArrowheads="1"/>
          </p:cNvSpPr>
          <p:nvPr/>
        </p:nvSpPr>
        <p:spPr bwMode="auto">
          <a:xfrm>
            <a:off x="685800" y="8637906"/>
            <a:ext cx="5486400"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91440" anchor="b">
            <a:spAutoFit/>
          </a:bodyPr>
          <a:lstStyle>
            <a:lvl1pPr defTabSz="885825">
              <a:defRPr>
                <a:solidFill>
                  <a:schemeClr val="tx1"/>
                </a:solidFill>
                <a:latin typeface="Arial" charset="0"/>
              </a:defRPr>
            </a:lvl1pPr>
            <a:lvl2pPr marL="946150" indent="-444500" defTabSz="885825">
              <a:defRPr>
                <a:solidFill>
                  <a:schemeClr val="tx1"/>
                </a:solidFill>
                <a:latin typeface="Arial" charset="0"/>
              </a:defRPr>
            </a:lvl2pPr>
            <a:lvl3pPr marL="1500188" indent="-444500" defTabSz="885825">
              <a:defRPr>
                <a:solidFill>
                  <a:schemeClr val="tx1"/>
                </a:solidFill>
                <a:latin typeface="Arial" charset="0"/>
              </a:defRPr>
            </a:lvl3pPr>
            <a:lvl4pPr marL="2054225" indent="-444500" defTabSz="885825">
              <a:defRPr>
                <a:solidFill>
                  <a:schemeClr val="tx1"/>
                </a:solidFill>
                <a:latin typeface="Arial" charset="0"/>
              </a:defRPr>
            </a:lvl4pPr>
            <a:lvl5pPr marL="2608263" indent="-442913" defTabSz="885825">
              <a:defRPr>
                <a:solidFill>
                  <a:schemeClr val="tx1"/>
                </a:solidFill>
                <a:latin typeface="Arial" charset="0"/>
              </a:defRPr>
            </a:lvl5pPr>
            <a:lvl6pPr marL="3065463" indent="-442913" defTabSz="885825" fontAlgn="base">
              <a:spcBef>
                <a:spcPct val="0"/>
              </a:spcBef>
              <a:spcAft>
                <a:spcPct val="0"/>
              </a:spcAft>
              <a:defRPr>
                <a:solidFill>
                  <a:schemeClr val="tx1"/>
                </a:solidFill>
                <a:latin typeface="Arial" charset="0"/>
              </a:defRPr>
            </a:lvl6pPr>
            <a:lvl7pPr marL="3522663" indent="-442913" defTabSz="885825" fontAlgn="base">
              <a:spcBef>
                <a:spcPct val="0"/>
              </a:spcBef>
              <a:spcAft>
                <a:spcPct val="0"/>
              </a:spcAft>
              <a:defRPr>
                <a:solidFill>
                  <a:schemeClr val="tx1"/>
                </a:solidFill>
                <a:latin typeface="Arial" charset="0"/>
              </a:defRPr>
            </a:lvl7pPr>
            <a:lvl8pPr marL="3979863" indent="-442913" defTabSz="885825" fontAlgn="base">
              <a:spcBef>
                <a:spcPct val="0"/>
              </a:spcBef>
              <a:spcAft>
                <a:spcPct val="0"/>
              </a:spcAft>
              <a:defRPr>
                <a:solidFill>
                  <a:schemeClr val="tx1"/>
                </a:solidFill>
                <a:latin typeface="Arial" charset="0"/>
              </a:defRPr>
            </a:lvl8pPr>
            <a:lvl9pPr marL="4437063" indent="-442913" defTabSz="885825" fontAlgn="base">
              <a:spcBef>
                <a:spcPct val="0"/>
              </a:spcBef>
              <a:spcAft>
                <a:spcPct val="0"/>
              </a:spcAft>
              <a:defRPr>
                <a:solidFill>
                  <a:schemeClr val="tx1"/>
                </a:solidFill>
                <a:latin typeface="Arial" charset="0"/>
              </a:defRPr>
            </a:lvl9pPr>
          </a:lstStyle>
          <a:p>
            <a:pPr marL="0" marR="0" lvl="0" indent="0" algn="l" defTabSz="885825" rtl="0" eaLnBrk="0" fontAlgn="auto" latinLnBrk="0" hangingPunct="0">
              <a:lnSpc>
                <a:spcPct val="90000"/>
              </a:lnSpc>
              <a:spcBef>
                <a:spcPct val="30000"/>
              </a:spcBef>
              <a:spcAft>
                <a:spcPts val="0"/>
              </a:spcAft>
              <a:buClr>
                <a:srgbClr val="FF0000"/>
              </a:buClr>
              <a:buSzTx/>
              <a:buFont typeface="Arial" charset="0"/>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Reference boxes on notes pages follow the same order as those on slides, though these references will be longer. This box should be bottom aligned with the page with a .1 boarder at the bottom.</a:t>
            </a:r>
          </a:p>
        </p:txBody>
      </p:sp>
    </p:spTree>
    <p:extLst>
      <p:ext uri="{BB962C8B-B14F-4D97-AF65-F5344CB8AC3E}">
        <p14:creationId xmlns:p14="http://schemas.microsoft.com/office/powerpoint/2010/main" val="4062111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2</a:t>
            </a:fld>
            <a:endParaRPr lang="en-US"/>
          </a:p>
        </p:txBody>
      </p:sp>
    </p:spTree>
    <p:extLst>
      <p:ext uri="{BB962C8B-B14F-4D97-AF65-F5344CB8AC3E}">
        <p14:creationId xmlns:p14="http://schemas.microsoft.com/office/powerpoint/2010/main" val="37488127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4</a:t>
            </a:fld>
            <a:endParaRPr lang="en-US"/>
          </a:p>
        </p:txBody>
      </p:sp>
    </p:spTree>
    <p:extLst>
      <p:ext uri="{BB962C8B-B14F-4D97-AF65-F5344CB8AC3E}">
        <p14:creationId xmlns:p14="http://schemas.microsoft.com/office/powerpoint/2010/main" val="17682352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5</a:t>
            </a:fld>
            <a:endParaRPr lang="en-US"/>
          </a:p>
        </p:txBody>
      </p:sp>
    </p:spTree>
    <p:extLst>
      <p:ext uri="{BB962C8B-B14F-4D97-AF65-F5344CB8AC3E}">
        <p14:creationId xmlns:p14="http://schemas.microsoft.com/office/powerpoint/2010/main" val="20622757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6</a:t>
            </a:fld>
            <a:endParaRPr lang="en-US"/>
          </a:p>
        </p:txBody>
      </p:sp>
    </p:spTree>
    <p:extLst>
      <p:ext uri="{BB962C8B-B14F-4D97-AF65-F5344CB8AC3E}">
        <p14:creationId xmlns:p14="http://schemas.microsoft.com/office/powerpoint/2010/main" val="2534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7</a:t>
            </a:fld>
            <a:endParaRPr lang="en-US"/>
          </a:p>
        </p:txBody>
      </p:sp>
    </p:spTree>
    <p:extLst>
      <p:ext uri="{BB962C8B-B14F-4D97-AF65-F5344CB8AC3E}">
        <p14:creationId xmlns:p14="http://schemas.microsoft.com/office/powerpoint/2010/main" val="37400017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8</a:t>
            </a:fld>
            <a:endParaRPr lang="en-US"/>
          </a:p>
        </p:txBody>
      </p:sp>
    </p:spTree>
    <p:extLst>
      <p:ext uri="{BB962C8B-B14F-4D97-AF65-F5344CB8AC3E}">
        <p14:creationId xmlns:p14="http://schemas.microsoft.com/office/powerpoint/2010/main" val="25684271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9</a:t>
            </a:fld>
            <a:endParaRPr lang="en-US"/>
          </a:p>
        </p:txBody>
      </p:sp>
    </p:spTree>
    <p:extLst>
      <p:ext uri="{BB962C8B-B14F-4D97-AF65-F5344CB8AC3E}">
        <p14:creationId xmlns:p14="http://schemas.microsoft.com/office/powerpoint/2010/main" val="5337183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52ECF-5A04-58A9-9F69-AE8A2C428E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BC7748-C020-34E6-4F16-CF4E37DFABB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AE18337-309B-D509-DC51-96A32C1154C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469771D-ED94-F820-DF5E-2AE951241E23}"/>
              </a:ext>
            </a:extLst>
          </p:cNvPr>
          <p:cNvSpPr>
            <a:spLocks noGrp="1"/>
          </p:cNvSpPr>
          <p:nvPr>
            <p:ph type="sldNum" sz="quarter" idx="5"/>
          </p:nvPr>
        </p:nvSpPr>
        <p:spPr/>
        <p:txBody>
          <a:bodyPr/>
          <a:lstStyle/>
          <a:p>
            <a:fld id="{9B590086-2CEE-6940-8EBE-50F30B7088C4}" type="slidenum">
              <a:rPr lang="en-US" smtClean="0"/>
              <a:pPr/>
              <a:t>10</a:t>
            </a:fld>
            <a:endParaRPr lang="en-US"/>
          </a:p>
        </p:txBody>
      </p:sp>
    </p:spTree>
    <p:extLst>
      <p:ext uri="{BB962C8B-B14F-4D97-AF65-F5344CB8AC3E}">
        <p14:creationId xmlns:p14="http://schemas.microsoft.com/office/powerpoint/2010/main" val="7143456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0A5B8-98BF-149D-02BB-C6740BF971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CDDC5C-F1B9-CC0A-39AB-32742AECDEA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5D286FC-C297-FF83-29D7-AC1F93DD03F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1FC2AB5-F518-F89F-2FBE-EE2A33084AB5}"/>
              </a:ext>
            </a:extLst>
          </p:cNvPr>
          <p:cNvSpPr>
            <a:spLocks noGrp="1"/>
          </p:cNvSpPr>
          <p:nvPr>
            <p:ph type="sldNum" sz="quarter" idx="5"/>
          </p:nvPr>
        </p:nvSpPr>
        <p:spPr/>
        <p:txBody>
          <a:bodyPr/>
          <a:lstStyle/>
          <a:p>
            <a:fld id="{9B590086-2CEE-6940-8EBE-50F30B7088C4}" type="slidenum">
              <a:rPr lang="en-US" smtClean="0"/>
              <a:pPr/>
              <a:t>11</a:t>
            </a:fld>
            <a:endParaRPr lang="en-US"/>
          </a:p>
        </p:txBody>
      </p:sp>
    </p:spTree>
    <p:extLst>
      <p:ext uri="{BB962C8B-B14F-4D97-AF65-F5344CB8AC3E}">
        <p14:creationId xmlns:p14="http://schemas.microsoft.com/office/powerpoint/2010/main" val="38522162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12</a:t>
            </a:fld>
            <a:endParaRPr lang="en-US"/>
          </a:p>
        </p:txBody>
      </p:sp>
    </p:spTree>
    <p:extLst>
      <p:ext uri="{BB962C8B-B14F-4D97-AF65-F5344CB8AC3E}">
        <p14:creationId xmlns:p14="http://schemas.microsoft.com/office/powerpoint/2010/main" val="18442752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45D5A-ED66-ACB3-0316-AAD5F1D9B21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FD670DB-46F0-8C24-922B-03E90860EA2C}"/>
              </a:ext>
            </a:extLst>
          </p:cNvPr>
          <p:cNvSpPr>
            <a:spLocks noGrp="1" noRot="1" noChangeAspect="1"/>
          </p:cNvSpPr>
          <p:nvPr>
            <p:ph type="sldImg"/>
          </p:nvPr>
        </p:nvSpPr>
        <p:spPr/>
        <p:txBody>
          <a:bodyPr/>
          <a:lstStyle/>
          <a:p>
            <a:endParaRPr lang="en-US"/>
          </a:p>
        </p:txBody>
      </p:sp>
      <p:sp>
        <p:nvSpPr>
          <p:cNvPr id="3" name="备注占位符 2">
            <a:extLst>
              <a:ext uri="{FF2B5EF4-FFF2-40B4-BE49-F238E27FC236}">
                <a16:creationId xmlns:a16="http://schemas.microsoft.com/office/drawing/2014/main" id="{017EEF68-DC93-3747-7D43-E7FE98D32B14}"/>
              </a:ext>
            </a:extLst>
          </p:cNvPr>
          <p:cNvSpPr>
            <a:spLocks noGrp="1"/>
          </p:cNvSpPr>
          <p:nvPr>
            <p:ph type="body" idx="1"/>
          </p:nvPr>
        </p:nvSpPr>
        <p:spPr/>
        <p:txBody>
          <a:bodyPr/>
          <a:lstStyle/>
          <a:p>
            <a:endParaRPr lang="en-US"/>
          </a:p>
        </p:txBody>
      </p:sp>
      <p:sp>
        <p:nvSpPr>
          <p:cNvPr id="4" name="灯片编号占位符 3">
            <a:extLst>
              <a:ext uri="{FF2B5EF4-FFF2-40B4-BE49-F238E27FC236}">
                <a16:creationId xmlns:a16="http://schemas.microsoft.com/office/drawing/2014/main" id="{AEE81F27-5D69-0EC9-7CDD-CB4F4D075B1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EE638D-7D1D-4892-8DE5-D20E6A11DB93}" type="slidenum">
              <a:rPr kumimoji="0" lang="en-US" sz="1200" b="0" i="0" u="none" strike="noStrike" kern="1200" cap="none" spc="0" normalizeH="0" baseline="0" noProof="0" smtClean="0">
                <a:ln>
                  <a:noFill/>
                </a:ln>
                <a:solidFill>
                  <a:srgbClr val="D9D8D6"/>
                </a:solidFill>
                <a:effectLst/>
                <a:uLnTx/>
                <a:uFillTx/>
                <a:latin typeface="Poppins" panose="00000500000000000000" pitchFamily="2" charset="0"/>
                <a:ea typeface="+mn-ea"/>
                <a:cs typeface="Poppins" panose="00000500000000000000" pitchFamily="2" charset="0"/>
                <a:sym typeface="Poppins" panose="00000500000000000000"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srgbClr val="D9D8D6"/>
              </a:solidFill>
              <a:effectLst/>
              <a:uLnTx/>
              <a:uFillTx/>
              <a:latin typeface="Poppins" panose="00000500000000000000" pitchFamily="2" charset="0"/>
              <a:ea typeface="+mn-ea"/>
              <a:cs typeface="Poppins" panose="00000500000000000000" pitchFamily="2" charset="0"/>
              <a:sym typeface="Poppins" panose="00000500000000000000" pitchFamily="2" charset="0"/>
            </a:endParaRPr>
          </a:p>
        </p:txBody>
      </p:sp>
    </p:spTree>
    <p:extLst>
      <p:ext uri="{BB962C8B-B14F-4D97-AF65-F5344CB8AC3E}">
        <p14:creationId xmlns:p14="http://schemas.microsoft.com/office/powerpoint/2010/main" val="21826663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D10A4-22F9-7D04-B7F8-75B91AEC03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2EB3CA-28EC-3A5D-C859-F60AA68344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7B906D-C045-2D24-6A45-D79C38A376F9}"/>
              </a:ext>
            </a:extLst>
          </p:cNvPr>
          <p:cNvSpPr>
            <a:spLocks noGrp="1"/>
          </p:cNvSpPr>
          <p:nvPr>
            <p:ph type="body" idx="1"/>
          </p:nvPr>
        </p:nvSpPr>
        <p:spPr/>
        <p:txBody>
          <a:bodyPr/>
          <a:lstStyle/>
          <a:p>
            <a:endParaRPr lang="en-US" altLang="zh-CN"/>
          </a:p>
        </p:txBody>
      </p:sp>
      <p:sp>
        <p:nvSpPr>
          <p:cNvPr id="4" name="Slide Number Placeholder 3">
            <a:extLst>
              <a:ext uri="{FF2B5EF4-FFF2-40B4-BE49-F238E27FC236}">
                <a16:creationId xmlns:a16="http://schemas.microsoft.com/office/drawing/2014/main" id="{45AA8027-D35F-9805-419E-A4C92895432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B3E3A0B-C199-420B-BEEE-B11C60931DE5}" type="slidenum">
              <a:rPr kumimoji="0" lang="en-US" altLang="zh-CN"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altLang="zh-CN"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38834416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15</a:t>
            </a:fld>
            <a:endParaRPr lang="en-US"/>
          </a:p>
        </p:txBody>
      </p:sp>
    </p:spTree>
    <p:extLst>
      <p:ext uri="{BB962C8B-B14F-4D97-AF65-F5344CB8AC3E}">
        <p14:creationId xmlns:p14="http://schemas.microsoft.com/office/powerpoint/2010/main" val="11048097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ACB3C-E736-6EA2-2D7D-9531768768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ED1808-AE37-1E52-35B5-6BFA700C1E5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87A3D2E-A617-EBA2-F26C-9F649887AF9C}"/>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US"/>
          </a:p>
        </p:txBody>
      </p:sp>
      <p:sp>
        <p:nvSpPr>
          <p:cNvPr id="4" name="Slide Number Placeholder 3">
            <a:extLst>
              <a:ext uri="{FF2B5EF4-FFF2-40B4-BE49-F238E27FC236}">
                <a16:creationId xmlns:a16="http://schemas.microsoft.com/office/drawing/2014/main" id="{3EDFEDE8-4278-C010-5221-996E5E832C9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672E453-0CAC-43BF-ABFB-649C8ED05E52}" type="slidenum">
              <a:rPr kumimoji="0" lang="en-US" sz="13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3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3674707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17</a:t>
            </a:fld>
            <a:endParaRPr lang="en-US"/>
          </a:p>
        </p:txBody>
      </p:sp>
    </p:spTree>
    <p:extLst>
      <p:ext uri="{BB962C8B-B14F-4D97-AF65-F5344CB8AC3E}">
        <p14:creationId xmlns:p14="http://schemas.microsoft.com/office/powerpoint/2010/main" val="1248788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18</a:t>
            </a:fld>
            <a:endParaRPr lang="en-US"/>
          </a:p>
        </p:txBody>
      </p:sp>
    </p:spTree>
    <p:extLst>
      <p:ext uri="{BB962C8B-B14F-4D97-AF65-F5344CB8AC3E}">
        <p14:creationId xmlns:p14="http://schemas.microsoft.com/office/powerpoint/2010/main" val="30299837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2CCF1-E6E2-F640-038E-45B73450F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86B974-1DEF-8937-9A25-A717AA9F4EC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C5DD6B6-9BE2-F9F9-D9E9-FB6FB2D842D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3615BDC-3431-F386-D31D-C086C88110A5}"/>
              </a:ext>
            </a:extLst>
          </p:cNvPr>
          <p:cNvSpPr>
            <a:spLocks noGrp="1"/>
          </p:cNvSpPr>
          <p:nvPr>
            <p:ph type="sldNum" sz="quarter" idx="5"/>
          </p:nvPr>
        </p:nvSpPr>
        <p:spPr/>
        <p:txBody>
          <a:bodyPr/>
          <a:lstStyle/>
          <a:p>
            <a:fld id="{9B590086-2CEE-6940-8EBE-50F30B7088C4}" type="slidenum">
              <a:rPr lang="en-US" smtClean="0"/>
              <a:pPr/>
              <a:t>19</a:t>
            </a:fld>
            <a:endParaRPr lang="en-US"/>
          </a:p>
        </p:txBody>
      </p:sp>
    </p:spTree>
    <p:extLst>
      <p:ext uri="{BB962C8B-B14F-4D97-AF65-F5344CB8AC3E}">
        <p14:creationId xmlns:p14="http://schemas.microsoft.com/office/powerpoint/2010/main" val="3640226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E6E0F-2710-FE53-D33F-6EA61B58E0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ECE0E5-C6D7-104D-51B6-76431360DD3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AADA1A7-DD03-5AD4-9E8F-4606F69FD49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D06F204-470A-7CFF-84DD-ECF1264CA315}"/>
              </a:ext>
            </a:extLst>
          </p:cNvPr>
          <p:cNvSpPr>
            <a:spLocks noGrp="1"/>
          </p:cNvSpPr>
          <p:nvPr>
            <p:ph type="sldNum" sz="quarter" idx="5"/>
          </p:nvPr>
        </p:nvSpPr>
        <p:spPr/>
        <p:txBody>
          <a:bodyPr/>
          <a:lstStyle/>
          <a:p>
            <a:fld id="{9B590086-2CEE-6940-8EBE-50F30B7088C4}" type="slidenum">
              <a:rPr lang="en-US" smtClean="0"/>
              <a:pPr/>
              <a:t>20</a:t>
            </a:fld>
            <a:endParaRPr lang="en-US"/>
          </a:p>
        </p:txBody>
      </p:sp>
    </p:spTree>
    <p:extLst>
      <p:ext uri="{BB962C8B-B14F-4D97-AF65-F5344CB8AC3E}">
        <p14:creationId xmlns:p14="http://schemas.microsoft.com/office/powerpoint/2010/main" val="17751171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72AF5-FE79-5E42-CE93-ED6AFE63E5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AD1153-1C37-566D-6C77-D5C213B26F7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F18F01C-1BD0-A350-9618-230C1017C05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2F5119C-5572-6DFB-0583-888CBF24FC7A}"/>
              </a:ext>
            </a:extLst>
          </p:cNvPr>
          <p:cNvSpPr>
            <a:spLocks noGrp="1"/>
          </p:cNvSpPr>
          <p:nvPr>
            <p:ph type="sldNum" sz="quarter" idx="5"/>
          </p:nvPr>
        </p:nvSpPr>
        <p:spPr/>
        <p:txBody>
          <a:bodyPr/>
          <a:lstStyle/>
          <a:p>
            <a:fld id="{9B590086-2CEE-6940-8EBE-50F30B7088C4}" type="slidenum">
              <a:rPr lang="en-US" smtClean="0"/>
              <a:pPr/>
              <a:t>21</a:t>
            </a:fld>
            <a:endParaRPr lang="en-US"/>
          </a:p>
        </p:txBody>
      </p:sp>
    </p:spTree>
    <p:extLst>
      <p:ext uri="{BB962C8B-B14F-4D97-AF65-F5344CB8AC3E}">
        <p14:creationId xmlns:p14="http://schemas.microsoft.com/office/powerpoint/2010/main" val="10039761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598BD-EC44-31A4-DD83-F2D4F7F1F7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643DD3-C23C-F1E3-C447-65235F1B19D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3444292-55EC-9BA3-36B6-C37A974A0EBF}"/>
              </a:ext>
            </a:extLst>
          </p:cNvPr>
          <p:cNvSpPr>
            <a:spLocks noGrp="1"/>
          </p:cNvSpPr>
          <p:nvPr>
            <p:ph type="body" idx="1"/>
          </p:nvPr>
        </p:nvSpPr>
        <p:spPr/>
        <p:txBody>
          <a:bodyPr/>
          <a:lstStyle/>
          <a:p>
            <a:pPr marL="0" marR="0" lvl="0" indent="0" algn="l" defTabSz="1219050" rtl="0" eaLnBrk="1" fontAlgn="auto" latinLnBrk="0" hangingPunct="1">
              <a:lnSpc>
                <a:spcPct val="90000"/>
              </a:lnSpc>
              <a:spcBef>
                <a:spcPts val="360"/>
              </a:spcBef>
              <a:spcAft>
                <a:spcPts val="0"/>
              </a:spcAft>
              <a:buClrTx/>
              <a:buSzTx/>
              <a:buFont typeface="Arial" panose="020B0604020202020204" pitchFamily="34" charset="0"/>
              <a:buNone/>
              <a:tabLst/>
              <a:defRPr/>
            </a:pPr>
            <a:endParaRPr lang="en-US"/>
          </a:p>
        </p:txBody>
      </p:sp>
      <p:sp>
        <p:nvSpPr>
          <p:cNvPr id="4" name="Slide Number Placeholder 3">
            <a:extLst>
              <a:ext uri="{FF2B5EF4-FFF2-40B4-BE49-F238E27FC236}">
                <a16:creationId xmlns:a16="http://schemas.microsoft.com/office/drawing/2014/main" id="{2C2F620D-8686-70E2-632D-32FDDFBA1DB8}"/>
              </a:ext>
            </a:extLst>
          </p:cNvPr>
          <p:cNvSpPr>
            <a:spLocks noGrp="1"/>
          </p:cNvSpPr>
          <p:nvPr>
            <p:ph type="sldNum" sz="quarter" idx="5"/>
          </p:nvPr>
        </p:nvSpPr>
        <p:spPr/>
        <p:txBody>
          <a:bodyPr/>
          <a:lstStyle/>
          <a:p>
            <a:fld id="{9B590086-2CEE-6940-8EBE-50F30B7088C4}" type="slidenum">
              <a:rPr lang="en-US" smtClean="0"/>
              <a:pPr/>
              <a:t>22</a:t>
            </a:fld>
            <a:endParaRPr lang="en-US"/>
          </a:p>
        </p:txBody>
      </p:sp>
    </p:spTree>
    <p:extLst>
      <p:ext uri="{BB962C8B-B14F-4D97-AF65-F5344CB8AC3E}">
        <p14:creationId xmlns:p14="http://schemas.microsoft.com/office/powerpoint/2010/main" val="6368524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C5E96-D5DE-46C4-8644-96F04E5CA1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7CCBC5-0913-DDA5-5862-29C709CBA3E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DC4988C-26E6-D740-2064-2197FCEF0DE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44BE25A-C729-6761-696D-5D026380C252}"/>
              </a:ext>
            </a:extLst>
          </p:cNvPr>
          <p:cNvSpPr>
            <a:spLocks noGrp="1"/>
          </p:cNvSpPr>
          <p:nvPr>
            <p:ph type="sldNum" sz="quarter" idx="5"/>
          </p:nvPr>
        </p:nvSpPr>
        <p:spPr/>
        <p:txBody>
          <a:bodyPr/>
          <a:lstStyle/>
          <a:p>
            <a:fld id="{9B590086-2CEE-6940-8EBE-50F30B7088C4}" type="slidenum">
              <a:rPr lang="en-US" smtClean="0"/>
              <a:pPr/>
              <a:t>23</a:t>
            </a:fld>
            <a:endParaRPr lang="en-US"/>
          </a:p>
        </p:txBody>
      </p:sp>
    </p:spTree>
    <p:extLst>
      <p:ext uri="{BB962C8B-B14F-4D97-AF65-F5344CB8AC3E}">
        <p14:creationId xmlns:p14="http://schemas.microsoft.com/office/powerpoint/2010/main" val="37561719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094E6-6FE2-5B87-7454-3747892BE0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91D9DF-EC2D-21F3-ED19-92BB69E06B8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01EB0A9-8894-6053-E8AC-8B7A648202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AAC4C50-FE2E-3F05-9183-9BDD11611888}"/>
              </a:ext>
            </a:extLst>
          </p:cNvPr>
          <p:cNvSpPr>
            <a:spLocks noGrp="1"/>
          </p:cNvSpPr>
          <p:nvPr>
            <p:ph type="sldNum" sz="quarter" idx="5"/>
          </p:nvPr>
        </p:nvSpPr>
        <p:spPr/>
        <p:txBody>
          <a:bodyPr/>
          <a:lstStyle/>
          <a:p>
            <a:fld id="{9B590086-2CEE-6940-8EBE-50F30B7088C4}" type="slidenum">
              <a:rPr lang="en-US" smtClean="0"/>
              <a:pPr/>
              <a:t>24</a:t>
            </a:fld>
            <a:endParaRPr lang="en-US"/>
          </a:p>
        </p:txBody>
      </p:sp>
    </p:spTree>
    <p:extLst>
      <p:ext uri="{BB962C8B-B14F-4D97-AF65-F5344CB8AC3E}">
        <p14:creationId xmlns:p14="http://schemas.microsoft.com/office/powerpoint/2010/main" val="31296805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CB786-AEB6-1094-93AF-9B9E546B3F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B2500-0F96-099D-C1CD-03334DAEE90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89F89BA-C007-33B5-6C00-9ADC6A46213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3E606A9-9238-077A-55E0-3AB5E59DAEC5}"/>
              </a:ext>
            </a:extLst>
          </p:cNvPr>
          <p:cNvSpPr>
            <a:spLocks noGrp="1"/>
          </p:cNvSpPr>
          <p:nvPr>
            <p:ph type="sldNum" sz="quarter" idx="5"/>
          </p:nvPr>
        </p:nvSpPr>
        <p:spPr/>
        <p:txBody>
          <a:bodyPr/>
          <a:lstStyle/>
          <a:p>
            <a:fld id="{9B590086-2CEE-6940-8EBE-50F30B7088C4}" type="slidenum">
              <a:rPr lang="en-US" smtClean="0"/>
              <a:pPr/>
              <a:t>25</a:t>
            </a:fld>
            <a:endParaRPr lang="en-US"/>
          </a:p>
        </p:txBody>
      </p:sp>
    </p:spTree>
    <p:extLst>
      <p:ext uri="{BB962C8B-B14F-4D97-AF65-F5344CB8AC3E}">
        <p14:creationId xmlns:p14="http://schemas.microsoft.com/office/powerpoint/2010/main" val="2863772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5D3DF-4837-C920-B9D5-91F228118F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955AAA-D988-9644-2396-27107283AF8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85EF1B9-F89E-4F53-7238-080084C913D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E7CDC4B-31C6-E089-271C-CEE4FEB29960}"/>
              </a:ext>
            </a:extLst>
          </p:cNvPr>
          <p:cNvSpPr>
            <a:spLocks noGrp="1"/>
          </p:cNvSpPr>
          <p:nvPr>
            <p:ph type="sldNum" sz="quarter" idx="5"/>
          </p:nvPr>
        </p:nvSpPr>
        <p:spPr/>
        <p:txBody>
          <a:bodyPr/>
          <a:lstStyle/>
          <a:p>
            <a:fld id="{9B590086-2CEE-6940-8EBE-50F30B7088C4}" type="slidenum">
              <a:rPr lang="en-US" smtClean="0"/>
              <a:pPr/>
              <a:t>26</a:t>
            </a:fld>
            <a:endParaRPr lang="en-US"/>
          </a:p>
        </p:txBody>
      </p:sp>
    </p:spTree>
    <p:extLst>
      <p:ext uri="{BB962C8B-B14F-4D97-AF65-F5344CB8AC3E}">
        <p14:creationId xmlns:p14="http://schemas.microsoft.com/office/powerpoint/2010/main" val="6207486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5E24C-430B-0F5C-C43E-1FCECEDAED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8EEBE5-B751-F0F5-F100-E3C9A406A85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3F49E0E-F84E-58C8-E992-DCDF85392DB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717D87C-F5CA-BBAB-B36E-C1330FAE3DDE}"/>
              </a:ext>
            </a:extLst>
          </p:cNvPr>
          <p:cNvSpPr>
            <a:spLocks noGrp="1"/>
          </p:cNvSpPr>
          <p:nvPr>
            <p:ph type="sldNum" sz="quarter" idx="5"/>
          </p:nvPr>
        </p:nvSpPr>
        <p:spPr/>
        <p:txBody>
          <a:bodyPr/>
          <a:lstStyle/>
          <a:p>
            <a:fld id="{9B590086-2CEE-6940-8EBE-50F30B7088C4}" type="slidenum">
              <a:rPr lang="en-US" smtClean="0"/>
              <a:pPr/>
              <a:t>27</a:t>
            </a:fld>
            <a:endParaRPr lang="en-US"/>
          </a:p>
        </p:txBody>
      </p:sp>
    </p:spTree>
    <p:extLst>
      <p:ext uri="{BB962C8B-B14F-4D97-AF65-F5344CB8AC3E}">
        <p14:creationId xmlns:p14="http://schemas.microsoft.com/office/powerpoint/2010/main" val="40007118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17F0E-0D14-EF21-72F1-6C733F618C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C3998-7876-6509-3D35-10D68FA6E00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EA6AC27-35DF-51B8-C430-BE534BBD9AD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18F4C3D-0969-0E3A-75F0-BF32A60C1BFE}"/>
              </a:ext>
            </a:extLst>
          </p:cNvPr>
          <p:cNvSpPr>
            <a:spLocks noGrp="1"/>
          </p:cNvSpPr>
          <p:nvPr>
            <p:ph type="sldNum" sz="quarter" idx="5"/>
          </p:nvPr>
        </p:nvSpPr>
        <p:spPr/>
        <p:txBody>
          <a:bodyPr/>
          <a:lstStyle/>
          <a:p>
            <a:fld id="{9B590086-2CEE-6940-8EBE-50F30B7088C4}" type="slidenum">
              <a:rPr lang="en-US" smtClean="0"/>
              <a:pPr/>
              <a:t>28</a:t>
            </a:fld>
            <a:endParaRPr lang="en-US"/>
          </a:p>
        </p:txBody>
      </p:sp>
    </p:spTree>
    <p:extLst>
      <p:ext uri="{BB962C8B-B14F-4D97-AF65-F5344CB8AC3E}">
        <p14:creationId xmlns:p14="http://schemas.microsoft.com/office/powerpoint/2010/main" val="5757689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29</a:t>
            </a:fld>
            <a:endParaRPr lang="en-US"/>
          </a:p>
        </p:txBody>
      </p:sp>
    </p:spTree>
    <p:extLst>
      <p:ext uri="{BB962C8B-B14F-4D97-AF65-F5344CB8AC3E}">
        <p14:creationId xmlns:p14="http://schemas.microsoft.com/office/powerpoint/2010/main" val="20190338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30</a:t>
            </a:fld>
            <a:endParaRPr lang="en-US"/>
          </a:p>
        </p:txBody>
      </p:sp>
    </p:spTree>
    <p:extLst>
      <p:ext uri="{BB962C8B-B14F-4D97-AF65-F5344CB8AC3E}">
        <p14:creationId xmlns:p14="http://schemas.microsoft.com/office/powerpoint/2010/main" val="1501225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CD33C-7656-4D89-4089-35E207AB9E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792B17-E47C-AD7A-7BC3-B54D8DCC372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F0D16AE-1B2F-5891-10AB-2464632CC60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9983D49-C54C-A01C-64C2-0C7F2A1EADAA}"/>
              </a:ext>
            </a:extLst>
          </p:cNvPr>
          <p:cNvSpPr>
            <a:spLocks noGrp="1"/>
          </p:cNvSpPr>
          <p:nvPr>
            <p:ph type="sldNum" sz="quarter" idx="5"/>
          </p:nvPr>
        </p:nvSpPr>
        <p:spPr/>
        <p:txBody>
          <a:bodyPr/>
          <a:lstStyle/>
          <a:p>
            <a:fld id="{9B590086-2CEE-6940-8EBE-50F30B7088C4}" type="slidenum">
              <a:rPr lang="en-US" smtClean="0"/>
              <a:pPr/>
              <a:t>31</a:t>
            </a:fld>
            <a:endParaRPr lang="en-US"/>
          </a:p>
        </p:txBody>
      </p:sp>
    </p:spTree>
    <p:extLst>
      <p:ext uri="{BB962C8B-B14F-4D97-AF65-F5344CB8AC3E}">
        <p14:creationId xmlns:p14="http://schemas.microsoft.com/office/powerpoint/2010/main" val="33047990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b="1"/>
          </a:p>
        </p:txBody>
      </p:sp>
      <p:sp>
        <p:nvSpPr>
          <p:cNvPr id="4" name="Slide Number Placeholder 3"/>
          <p:cNvSpPr>
            <a:spLocks noGrp="1"/>
          </p:cNvSpPr>
          <p:nvPr>
            <p:ph type="sldNum" sz="quarter" idx="5"/>
          </p:nvPr>
        </p:nvSpPr>
        <p:spPr/>
        <p:txBody>
          <a:bodyPr/>
          <a:lstStyle/>
          <a:p>
            <a:fld id="{9B590086-2CEE-6940-8EBE-50F30B7088C4}" type="slidenum">
              <a:rPr lang="en-US" smtClean="0"/>
              <a:pPr/>
              <a:t>32</a:t>
            </a:fld>
            <a:endParaRPr lang="en-US"/>
          </a:p>
        </p:txBody>
      </p:sp>
    </p:spTree>
    <p:extLst>
      <p:ext uri="{BB962C8B-B14F-4D97-AF65-F5344CB8AC3E}">
        <p14:creationId xmlns:p14="http://schemas.microsoft.com/office/powerpoint/2010/main" val="33711840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33</a:t>
            </a:fld>
            <a:endParaRPr lang="en-US"/>
          </a:p>
        </p:txBody>
      </p:sp>
    </p:spTree>
    <p:extLst>
      <p:ext uri="{BB962C8B-B14F-4D97-AF65-F5344CB8AC3E}">
        <p14:creationId xmlns:p14="http://schemas.microsoft.com/office/powerpoint/2010/main" val="40682806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34</a:t>
            </a:fld>
            <a:endParaRPr lang="en-US"/>
          </a:p>
        </p:txBody>
      </p:sp>
    </p:spTree>
    <p:extLst>
      <p:ext uri="{BB962C8B-B14F-4D97-AF65-F5344CB8AC3E}">
        <p14:creationId xmlns:p14="http://schemas.microsoft.com/office/powerpoint/2010/main" val="20026316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35</a:t>
            </a:fld>
            <a:endParaRPr lang="en-US"/>
          </a:p>
        </p:txBody>
      </p:sp>
    </p:spTree>
    <p:extLst>
      <p:ext uri="{BB962C8B-B14F-4D97-AF65-F5344CB8AC3E}">
        <p14:creationId xmlns:p14="http://schemas.microsoft.com/office/powerpoint/2010/main" val="13407963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A4C7D-6FB4-BFFE-4AB7-1F71E50F60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12F8C5-8A61-3AF5-BD19-79D04DC0229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F110410-339E-6F94-57A9-D608F4F50CB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3C52E71-F2D0-2866-9520-450768D9859D}"/>
              </a:ext>
            </a:extLst>
          </p:cNvPr>
          <p:cNvSpPr>
            <a:spLocks noGrp="1"/>
          </p:cNvSpPr>
          <p:nvPr>
            <p:ph type="sldNum" sz="quarter" idx="5"/>
          </p:nvPr>
        </p:nvSpPr>
        <p:spPr/>
        <p:txBody>
          <a:bodyPr/>
          <a:lstStyle/>
          <a:p>
            <a:fld id="{9B590086-2CEE-6940-8EBE-50F30B7088C4}" type="slidenum">
              <a:rPr lang="en-US" smtClean="0"/>
              <a:pPr/>
              <a:t>36</a:t>
            </a:fld>
            <a:endParaRPr lang="en-US"/>
          </a:p>
        </p:txBody>
      </p:sp>
    </p:spTree>
    <p:extLst>
      <p:ext uri="{BB962C8B-B14F-4D97-AF65-F5344CB8AC3E}">
        <p14:creationId xmlns:p14="http://schemas.microsoft.com/office/powerpoint/2010/main" val="5860228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15042-2307-72C0-9494-7B610CAC89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CCAB1F-9250-959E-89B3-23205FD35E6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730A2D5-FC93-8A8E-4A76-845E5D33676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8BBCCFC-E661-0085-A6DC-6C60FD245C29}"/>
              </a:ext>
            </a:extLst>
          </p:cNvPr>
          <p:cNvSpPr>
            <a:spLocks noGrp="1"/>
          </p:cNvSpPr>
          <p:nvPr>
            <p:ph type="sldNum" sz="quarter" idx="5"/>
          </p:nvPr>
        </p:nvSpPr>
        <p:spPr/>
        <p:txBody>
          <a:bodyPr/>
          <a:lstStyle/>
          <a:p>
            <a:fld id="{9B590086-2CEE-6940-8EBE-50F30B7088C4}" type="slidenum">
              <a:rPr lang="en-US" smtClean="0"/>
              <a:pPr/>
              <a:t>37</a:t>
            </a:fld>
            <a:endParaRPr lang="en-US"/>
          </a:p>
        </p:txBody>
      </p:sp>
    </p:spTree>
    <p:extLst>
      <p:ext uri="{BB962C8B-B14F-4D97-AF65-F5344CB8AC3E}">
        <p14:creationId xmlns:p14="http://schemas.microsoft.com/office/powerpoint/2010/main" val="35742278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effectLst/>
            </a:endParaRPr>
          </a:p>
        </p:txBody>
      </p:sp>
      <p:sp>
        <p:nvSpPr>
          <p:cNvPr id="4" name="Slide Number Placeholder 3"/>
          <p:cNvSpPr>
            <a:spLocks noGrp="1"/>
          </p:cNvSpPr>
          <p:nvPr>
            <p:ph type="sldNum" sz="quarter" idx="5"/>
          </p:nvPr>
        </p:nvSpPr>
        <p:spPr/>
        <p:txBody>
          <a:bodyPr/>
          <a:lstStyle/>
          <a:p>
            <a:fld id="{9B590086-2CEE-6940-8EBE-50F30B7088C4}" type="slidenum">
              <a:rPr lang="en-US" smtClean="0"/>
              <a:pPr/>
              <a:t>38</a:t>
            </a:fld>
            <a:endParaRPr lang="en-US"/>
          </a:p>
        </p:txBody>
      </p:sp>
    </p:spTree>
    <p:extLst>
      <p:ext uri="{BB962C8B-B14F-4D97-AF65-F5344CB8AC3E}">
        <p14:creationId xmlns:p14="http://schemas.microsoft.com/office/powerpoint/2010/main" val="29154208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A5E5C-53C8-F969-512E-BA6BB7A6B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FA5430-8211-D520-8008-D830DC242C7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279D4D4-B8E0-E44C-1425-8EF85E74283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D96DEFD-DBC8-8B61-1226-A9C565831C0B}"/>
              </a:ext>
            </a:extLst>
          </p:cNvPr>
          <p:cNvSpPr>
            <a:spLocks noGrp="1"/>
          </p:cNvSpPr>
          <p:nvPr>
            <p:ph type="sldNum" sz="quarter" idx="5"/>
          </p:nvPr>
        </p:nvSpPr>
        <p:spPr/>
        <p:txBody>
          <a:bodyPr/>
          <a:lstStyle/>
          <a:p>
            <a:fld id="{9B590086-2CEE-6940-8EBE-50F30B7088C4}" type="slidenum">
              <a:rPr lang="en-US" smtClean="0"/>
              <a:pPr/>
              <a:t>39</a:t>
            </a:fld>
            <a:endParaRPr lang="en-US"/>
          </a:p>
        </p:txBody>
      </p:sp>
    </p:spTree>
    <p:extLst>
      <p:ext uri="{BB962C8B-B14F-4D97-AF65-F5344CB8AC3E}">
        <p14:creationId xmlns:p14="http://schemas.microsoft.com/office/powerpoint/2010/main" val="41688814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40</a:t>
            </a:fld>
            <a:endParaRPr lang="en-US"/>
          </a:p>
        </p:txBody>
      </p:sp>
    </p:spTree>
    <p:extLst>
      <p:ext uri="{BB962C8B-B14F-4D97-AF65-F5344CB8AC3E}">
        <p14:creationId xmlns:p14="http://schemas.microsoft.com/office/powerpoint/2010/main" val="34584309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9F2DC-80AD-FEEE-37A7-12087830F0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9F3E7F-EA71-DE16-46E1-99115E7B192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BC0AC4F-61CB-DACC-A2EB-D7E15E3AE70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3D194CE-E276-5369-B568-3C5DDFE4127D}"/>
              </a:ext>
            </a:extLst>
          </p:cNvPr>
          <p:cNvSpPr>
            <a:spLocks noGrp="1"/>
          </p:cNvSpPr>
          <p:nvPr>
            <p:ph type="sldNum" sz="quarter" idx="5"/>
          </p:nvPr>
        </p:nvSpPr>
        <p:spPr/>
        <p:txBody>
          <a:bodyPr/>
          <a:lstStyle/>
          <a:p>
            <a:fld id="{9B590086-2CEE-6940-8EBE-50F30B7088C4}" type="slidenum">
              <a:rPr lang="en-US" smtClean="0"/>
              <a:pPr/>
              <a:t>41</a:t>
            </a:fld>
            <a:endParaRPr lang="en-US"/>
          </a:p>
        </p:txBody>
      </p:sp>
    </p:spTree>
    <p:extLst>
      <p:ext uri="{BB962C8B-B14F-4D97-AF65-F5344CB8AC3E}">
        <p14:creationId xmlns:p14="http://schemas.microsoft.com/office/powerpoint/2010/main" val="23588101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49134-423F-FB92-394E-FFB9038FFC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820C80-409D-E9EC-0778-C4F89B2A946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4C46BAB-6EA5-CF65-52E5-2A96F9AD6A1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AC40358-DD41-E3F0-4D10-154AA7B0EDEB}"/>
              </a:ext>
            </a:extLst>
          </p:cNvPr>
          <p:cNvSpPr>
            <a:spLocks noGrp="1"/>
          </p:cNvSpPr>
          <p:nvPr>
            <p:ph type="sldNum" sz="quarter" idx="5"/>
          </p:nvPr>
        </p:nvSpPr>
        <p:spPr/>
        <p:txBody>
          <a:bodyPr/>
          <a:lstStyle/>
          <a:p>
            <a:fld id="{9B590086-2CEE-6940-8EBE-50F30B7088C4}" type="slidenum">
              <a:rPr lang="en-US" smtClean="0"/>
              <a:pPr/>
              <a:t>42</a:t>
            </a:fld>
            <a:endParaRPr lang="en-US"/>
          </a:p>
        </p:txBody>
      </p:sp>
    </p:spTree>
    <p:extLst>
      <p:ext uri="{BB962C8B-B14F-4D97-AF65-F5344CB8AC3E}">
        <p14:creationId xmlns:p14="http://schemas.microsoft.com/office/powerpoint/2010/main" val="22043881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1EEBF-333D-E198-5823-5DBD170E22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E21179-39BB-92C5-C8DE-A071E276E59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C2060DB-591B-E7DF-9A9F-FA6E7F32189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D1E2E0D-4875-CD2F-AA41-DB3A6FF06AAD}"/>
              </a:ext>
            </a:extLst>
          </p:cNvPr>
          <p:cNvSpPr>
            <a:spLocks noGrp="1"/>
          </p:cNvSpPr>
          <p:nvPr>
            <p:ph type="sldNum" sz="quarter" idx="5"/>
          </p:nvPr>
        </p:nvSpPr>
        <p:spPr/>
        <p:txBody>
          <a:bodyPr/>
          <a:lstStyle/>
          <a:p>
            <a:fld id="{9B590086-2CEE-6940-8EBE-50F30B7088C4}" type="slidenum">
              <a:rPr lang="en-US" smtClean="0"/>
              <a:pPr/>
              <a:t>43</a:t>
            </a:fld>
            <a:endParaRPr lang="en-US"/>
          </a:p>
        </p:txBody>
      </p:sp>
    </p:spTree>
    <p:extLst>
      <p:ext uri="{BB962C8B-B14F-4D97-AF65-F5344CB8AC3E}">
        <p14:creationId xmlns:p14="http://schemas.microsoft.com/office/powerpoint/2010/main" val="18165888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E2505-EA47-498C-AF3E-AE8A447AC5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0CD9F-1486-CB66-2469-7AFA254722A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354F9FF-FDE7-B2FC-8943-E032F29D8B0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F34C022-9DCA-DC98-9D87-8364866465EE}"/>
              </a:ext>
            </a:extLst>
          </p:cNvPr>
          <p:cNvSpPr>
            <a:spLocks noGrp="1"/>
          </p:cNvSpPr>
          <p:nvPr>
            <p:ph type="sldNum" sz="quarter" idx="5"/>
          </p:nvPr>
        </p:nvSpPr>
        <p:spPr/>
        <p:txBody>
          <a:bodyPr/>
          <a:lstStyle/>
          <a:p>
            <a:fld id="{9B590086-2CEE-6940-8EBE-50F30B7088C4}" type="slidenum">
              <a:rPr lang="en-US" smtClean="0"/>
              <a:pPr/>
              <a:t>44</a:t>
            </a:fld>
            <a:endParaRPr lang="en-US"/>
          </a:p>
        </p:txBody>
      </p:sp>
    </p:spTree>
    <p:extLst>
      <p:ext uri="{BB962C8B-B14F-4D97-AF65-F5344CB8AC3E}">
        <p14:creationId xmlns:p14="http://schemas.microsoft.com/office/powerpoint/2010/main" val="13635125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45</a:t>
            </a:fld>
            <a:endParaRPr lang="en-US"/>
          </a:p>
        </p:txBody>
      </p:sp>
    </p:spTree>
    <p:extLst>
      <p:ext uri="{BB962C8B-B14F-4D97-AF65-F5344CB8AC3E}">
        <p14:creationId xmlns:p14="http://schemas.microsoft.com/office/powerpoint/2010/main" val="164307285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46</a:t>
            </a:fld>
            <a:endParaRPr lang="en-US"/>
          </a:p>
        </p:txBody>
      </p:sp>
    </p:spTree>
    <p:extLst>
      <p:ext uri="{BB962C8B-B14F-4D97-AF65-F5344CB8AC3E}">
        <p14:creationId xmlns:p14="http://schemas.microsoft.com/office/powerpoint/2010/main" val="6612984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4DC2B-699B-89EA-47A2-B3CBB91B7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7E186-A067-373D-E544-6C7DCCD8E3F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CF22F28-527F-20F9-C1F0-B1CC7CA0820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8C41ABE-025B-30AE-F078-72965E810219}"/>
              </a:ext>
            </a:extLst>
          </p:cNvPr>
          <p:cNvSpPr>
            <a:spLocks noGrp="1"/>
          </p:cNvSpPr>
          <p:nvPr>
            <p:ph type="sldNum" sz="quarter" idx="5"/>
          </p:nvPr>
        </p:nvSpPr>
        <p:spPr/>
        <p:txBody>
          <a:bodyPr/>
          <a:lstStyle/>
          <a:p>
            <a:fld id="{9B590086-2CEE-6940-8EBE-50F30B7088C4}" type="slidenum">
              <a:rPr lang="en-US" smtClean="0"/>
              <a:pPr/>
              <a:t>47</a:t>
            </a:fld>
            <a:endParaRPr lang="en-US"/>
          </a:p>
        </p:txBody>
      </p:sp>
    </p:spTree>
    <p:extLst>
      <p:ext uri="{BB962C8B-B14F-4D97-AF65-F5344CB8AC3E}">
        <p14:creationId xmlns:p14="http://schemas.microsoft.com/office/powerpoint/2010/main" val="39895114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3A292-A7C9-5E6B-9E31-18FC8C75F0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73246E-E118-CB9B-FBEB-EFCD0EFB3AB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A67C4F2-FE8D-6C52-5D12-B7855E0FF48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FFDDFBA-D189-22F2-7889-8310B2E48CC3}"/>
              </a:ext>
            </a:extLst>
          </p:cNvPr>
          <p:cNvSpPr>
            <a:spLocks noGrp="1"/>
          </p:cNvSpPr>
          <p:nvPr>
            <p:ph type="sldNum" sz="quarter" idx="5"/>
          </p:nvPr>
        </p:nvSpPr>
        <p:spPr/>
        <p:txBody>
          <a:bodyPr/>
          <a:lstStyle/>
          <a:p>
            <a:fld id="{9B590086-2CEE-6940-8EBE-50F30B7088C4}" type="slidenum">
              <a:rPr lang="en-US" smtClean="0"/>
              <a:pPr/>
              <a:t>48</a:t>
            </a:fld>
            <a:endParaRPr lang="en-US"/>
          </a:p>
        </p:txBody>
      </p:sp>
    </p:spTree>
    <p:extLst>
      <p:ext uri="{BB962C8B-B14F-4D97-AF65-F5344CB8AC3E}">
        <p14:creationId xmlns:p14="http://schemas.microsoft.com/office/powerpoint/2010/main" val="28346882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FCE89-8E02-BDCA-2BEF-09149A9C0E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114C37-E16E-937A-0972-56C608D59F2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CB53DFE-B543-8B55-7D16-997BFE7AD0D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A8AF7DC-4601-B97A-E0B4-368BE151DAED}"/>
              </a:ext>
            </a:extLst>
          </p:cNvPr>
          <p:cNvSpPr>
            <a:spLocks noGrp="1"/>
          </p:cNvSpPr>
          <p:nvPr>
            <p:ph type="sldNum" sz="quarter" idx="5"/>
          </p:nvPr>
        </p:nvSpPr>
        <p:spPr/>
        <p:txBody>
          <a:bodyPr/>
          <a:lstStyle/>
          <a:p>
            <a:fld id="{9B590086-2CEE-6940-8EBE-50F30B7088C4}" type="slidenum">
              <a:rPr lang="en-US" smtClean="0"/>
              <a:pPr/>
              <a:t>49</a:t>
            </a:fld>
            <a:endParaRPr lang="en-US"/>
          </a:p>
        </p:txBody>
      </p:sp>
    </p:spTree>
    <p:extLst>
      <p:ext uri="{BB962C8B-B14F-4D97-AF65-F5344CB8AC3E}">
        <p14:creationId xmlns:p14="http://schemas.microsoft.com/office/powerpoint/2010/main" val="27405382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F3A5B-2A4F-ACFF-9341-1F5E97CBE1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9AD6F9-F3F5-566D-1924-49C1F5DBB3D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69BBD41-B3E6-8A58-418C-FDEA5E538DF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9F587A2-E522-7824-6B00-9503D1196867}"/>
              </a:ext>
            </a:extLst>
          </p:cNvPr>
          <p:cNvSpPr>
            <a:spLocks noGrp="1"/>
          </p:cNvSpPr>
          <p:nvPr>
            <p:ph type="sldNum" sz="quarter" idx="5"/>
          </p:nvPr>
        </p:nvSpPr>
        <p:spPr/>
        <p:txBody>
          <a:bodyPr/>
          <a:lstStyle/>
          <a:p>
            <a:fld id="{9B590086-2CEE-6940-8EBE-50F30B7088C4}" type="slidenum">
              <a:rPr lang="en-US" smtClean="0"/>
              <a:pPr/>
              <a:t>50</a:t>
            </a:fld>
            <a:endParaRPr lang="en-US"/>
          </a:p>
        </p:txBody>
      </p:sp>
    </p:spTree>
    <p:extLst>
      <p:ext uri="{BB962C8B-B14F-4D97-AF65-F5344CB8AC3E}">
        <p14:creationId xmlns:p14="http://schemas.microsoft.com/office/powerpoint/2010/main" val="326936804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DCA78-C806-714C-1D9F-5CF3B00E0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856111-8329-2232-97AE-3499B60CE13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F868BD8-BB3C-4FFA-CFB6-157D64D9EE9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D53FEE2-1937-E649-835F-08C700C97F45}"/>
              </a:ext>
            </a:extLst>
          </p:cNvPr>
          <p:cNvSpPr>
            <a:spLocks noGrp="1"/>
          </p:cNvSpPr>
          <p:nvPr>
            <p:ph type="sldNum" sz="quarter" idx="5"/>
          </p:nvPr>
        </p:nvSpPr>
        <p:spPr/>
        <p:txBody>
          <a:bodyPr/>
          <a:lstStyle/>
          <a:p>
            <a:fld id="{9B590086-2CEE-6940-8EBE-50F30B7088C4}" type="slidenum">
              <a:rPr lang="en-US" smtClean="0"/>
              <a:pPr/>
              <a:t>51</a:t>
            </a:fld>
            <a:endParaRPr lang="en-US"/>
          </a:p>
        </p:txBody>
      </p:sp>
    </p:spTree>
    <p:extLst>
      <p:ext uri="{BB962C8B-B14F-4D97-AF65-F5344CB8AC3E}">
        <p14:creationId xmlns:p14="http://schemas.microsoft.com/office/powerpoint/2010/main" val="36945207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52</a:t>
            </a:fld>
            <a:endParaRPr lang="en-US"/>
          </a:p>
        </p:txBody>
      </p:sp>
    </p:spTree>
    <p:extLst>
      <p:ext uri="{BB962C8B-B14F-4D97-AF65-F5344CB8AC3E}">
        <p14:creationId xmlns:p14="http://schemas.microsoft.com/office/powerpoint/2010/main" val="40670896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733D6-005C-536B-C9F9-37D02AAD1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22A335-8C9B-CEF2-5AF0-B6315494587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F3B09A8-A89A-2DDE-E0B0-C9890C212DF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48AC5AD-9D1A-060C-5CD5-4CFC32981737}"/>
              </a:ext>
            </a:extLst>
          </p:cNvPr>
          <p:cNvSpPr>
            <a:spLocks noGrp="1"/>
          </p:cNvSpPr>
          <p:nvPr>
            <p:ph type="sldNum" sz="quarter" idx="5"/>
          </p:nvPr>
        </p:nvSpPr>
        <p:spPr/>
        <p:txBody>
          <a:bodyPr/>
          <a:lstStyle/>
          <a:p>
            <a:fld id="{9B590086-2CEE-6940-8EBE-50F30B7088C4}" type="slidenum">
              <a:rPr lang="en-US" smtClean="0"/>
              <a:pPr/>
              <a:t>53</a:t>
            </a:fld>
            <a:endParaRPr lang="en-US"/>
          </a:p>
        </p:txBody>
      </p:sp>
    </p:spTree>
    <p:extLst>
      <p:ext uri="{BB962C8B-B14F-4D97-AF65-F5344CB8AC3E}">
        <p14:creationId xmlns:p14="http://schemas.microsoft.com/office/powerpoint/2010/main" val="392464076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82567-0C24-EE85-FAE1-16F963DF2A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4B49E7-010F-8D02-794A-FB57E4F2BE3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9A1AFAB-01C2-C02A-45FD-60D3F11B274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0DE5050-2087-2593-B68C-7596F3A1B632}"/>
              </a:ext>
            </a:extLst>
          </p:cNvPr>
          <p:cNvSpPr>
            <a:spLocks noGrp="1"/>
          </p:cNvSpPr>
          <p:nvPr>
            <p:ph type="sldNum" sz="quarter" idx="5"/>
          </p:nvPr>
        </p:nvSpPr>
        <p:spPr/>
        <p:txBody>
          <a:bodyPr/>
          <a:lstStyle/>
          <a:p>
            <a:fld id="{9B590086-2CEE-6940-8EBE-50F30B7088C4}" type="slidenum">
              <a:rPr lang="en-US" smtClean="0"/>
              <a:pPr/>
              <a:t>54</a:t>
            </a:fld>
            <a:endParaRPr lang="en-US"/>
          </a:p>
        </p:txBody>
      </p:sp>
    </p:spTree>
    <p:extLst>
      <p:ext uri="{BB962C8B-B14F-4D97-AF65-F5344CB8AC3E}">
        <p14:creationId xmlns:p14="http://schemas.microsoft.com/office/powerpoint/2010/main" val="16179323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06E5B-4034-ACDD-2A6D-3DCDF095F2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F19CA-3B50-6724-435B-DA7611F25C6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1BEE58F-2BF1-7D62-B6C0-EB8F42D1451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4221410-5A1F-3B10-C9D4-689553F9AE02}"/>
              </a:ext>
            </a:extLst>
          </p:cNvPr>
          <p:cNvSpPr>
            <a:spLocks noGrp="1"/>
          </p:cNvSpPr>
          <p:nvPr>
            <p:ph type="sldNum" sz="quarter" idx="5"/>
          </p:nvPr>
        </p:nvSpPr>
        <p:spPr/>
        <p:txBody>
          <a:bodyPr/>
          <a:lstStyle/>
          <a:p>
            <a:fld id="{9B590086-2CEE-6940-8EBE-50F30B7088C4}" type="slidenum">
              <a:rPr lang="en-US" smtClean="0"/>
              <a:pPr/>
              <a:t>55</a:t>
            </a:fld>
            <a:endParaRPr lang="en-US"/>
          </a:p>
        </p:txBody>
      </p:sp>
    </p:spTree>
    <p:extLst>
      <p:ext uri="{BB962C8B-B14F-4D97-AF65-F5344CB8AC3E}">
        <p14:creationId xmlns:p14="http://schemas.microsoft.com/office/powerpoint/2010/main" val="143596808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0803-2D23-362D-F290-63DBDBDF12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7E475-D281-9FC6-7063-95B5F8A4E6E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AC964DB-9A46-5333-0B5E-29BFDAE1B1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24E9E7-29A3-A906-231A-342C6C69CBA4}"/>
              </a:ext>
            </a:extLst>
          </p:cNvPr>
          <p:cNvSpPr>
            <a:spLocks noGrp="1"/>
          </p:cNvSpPr>
          <p:nvPr>
            <p:ph type="sldNum" sz="quarter" idx="5"/>
          </p:nvPr>
        </p:nvSpPr>
        <p:spPr/>
        <p:txBody>
          <a:bodyPr/>
          <a:lstStyle/>
          <a:p>
            <a:fld id="{9B590086-2CEE-6940-8EBE-50F30B7088C4}" type="slidenum">
              <a:rPr lang="en-US" smtClean="0"/>
              <a:pPr/>
              <a:t>56</a:t>
            </a:fld>
            <a:endParaRPr lang="en-US"/>
          </a:p>
        </p:txBody>
      </p:sp>
    </p:spTree>
    <p:extLst>
      <p:ext uri="{BB962C8B-B14F-4D97-AF65-F5344CB8AC3E}">
        <p14:creationId xmlns:p14="http://schemas.microsoft.com/office/powerpoint/2010/main" val="291837700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57</a:t>
            </a:fld>
            <a:endParaRPr lang="en-US"/>
          </a:p>
        </p:txBody>
      </p:sp>
    </p:spTree>
    <p:extLst>
      <p:ext uri="{BB962C8B-B14F-4D97-AF65-F5344CB8AC3E}">
        <p14:creationId xmlns:p14="http://schemas.microsoft.com/office/powerpoint/2010/main" val="13366103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2.sv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3.sv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Opt 1">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311B3D8A-5618-EA48-7E64-8B1AD4661464}"/>
              </a:ext>
            </a:extLst>
          </p:cNvPr>
          <p:cNvSpPr>
            <a:spLocks noGrp="1"/>
          </p:cNvSpPr>
          <p:nvPr>
            <p:ph type="pic" sz="quarter" idx="10" hasCustomPrompt="1"/>
          </p:nvPr>
        </p:nvSpPr>
        <p:spPr>
          <a:xfrm>
            <a:off x="2799026" y="1083758"/>
            <a:ext cx="6572677" cy="4666120"/>
          </a:xfrm>
          <a:prstGeom prst="roundRect">
            <a:avLst>
              <a:gd name="adj" fmla="val 25050"/>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 / Please ensure that the picture has a light top and left edge to allow for enough contrast with the title.</a:t>
            </a:r>
          </a:p>
        </p:txBody>
      </p:sp>
      <p:sp>
        <p:nvSpPr>
          <p:cNvPr id="2" name="Title 1">
            <a:extLst>
              <a:ext uri="{FF2B5EF4-FFF2-40B4-BE49-F238E27FC236}">
                <a16:creationId xmlns:a16="http://schemas.microsoft.com/office/drawing/2014/main" id="{F115DEA2-8A41-98FC-D70B-A6D8B4C58DB6}"/>
              </a:ext>
            </a:extLst>
          </p:cNvPr>
          <p:cNvSpPr>
            <a:spLocks noGrp="1"/>
          </p:cNvSpPr>
          <p:nvPr>
            <p:ph type="ctrTitle"/>
          </p:nvPr>
        </p:nvSpPr>
        <p:spPr>
          <a:xfrm>
            <a:off x="347472" y="384048"/>
            <a:ext cx="11480991" cy="2022092"/>
          </a:xfrm>
          <a:prstGeom prst="rect">
            <a:avLst/>
          </a:prstGeom>
        </p:spPr>
        <p:txBody>
          <a:bodyPr wrap="square" anchor="t" anchorCtr="0">
            <a:spAutoFit/>
          </a:bodyPr>
          <a:lstStyle>
            <a:lvl1pPr algn="l">
              <a:lnSpc>
                <a:spcPct val="90000"/>
              </a:lnSpc>
              <a:defRPr sz="7200"/>
            </a:lvl1pPr>
          </a:lstStyle>
          <a:p>
            <a:r>
              <a:rPr lang="en-US"/>
              <a:t>Click to edit Master title style</a:t>
            </a:r>
          </a:p>
        </p:txBody>
      </p:sp>
      <p:pic>
        <p:nvPicPr>
          <p:cNvPr id="7" name="Graphic 6">
            <a:extLst>
              <a:ext uri="{FF2B5EF4-FFF2-40B4-BE49-F238E27FC236}">
                <a16:creationId xmlns:a16="http://schemas.microsoft.com/office/drawing/2014/main" id="{9560BEB5-E012-AA36-11BA-77C093678C8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62769" y="6315912"/>
            <a:ext cx="1365460" cy="274320"/>
          </a:xfrm>
          <a:prstGeom prst="rect">
            <a:avLst/>
          </a:prstGeom>
        </p:spPr>
      </p:pic>
      <p:sp>
        <p:nvSpPr>
          <p:cNvPr id="10" name="Text Placeholder 2">
            <a:extLst>
              <a:ext uri="{FF2B5EF4-FFF2-40B4-BE49-F238E27FC236}">
                <a16:creationId xmlns:a16="http://schemas.microsoft.com/office/drawing/2014/main" id="{EA0819B7-9A43-4B60-0A7E-50685BE88D1D}"/>
              </a:ext>
            </a:extLst>
          </p:cNvPr>
          <p:cNvSpPr>
            <a:spLocks noGrp="1"/>
          </p:cNvSpPr>
          <p:nvPr>
            <p:ph type="body" idx="11" hasCustomPrompt="1"/>
          </p:nvPr>
        </p:nvSpPr>
        <p:spPr>
          <a:xfrm>
            <a:off x="6263640" y="6236208"/>
            <a:ext cx="5577840" cy="369332"/>
          </a:xfrm>
          <a:prstGeom prst="rect">
            <a:avLst/>
          </a:prstGeom>
        </p:spPr>
        <p:txBody>
          <a:bodyPr wrap="square" anchor="b" anchorCtr="0">
            <a:spAutoFit/>
          </a:bodyPr>
          <a:lstStyle>
            <a:lvl1pPr marL="0" indent="0" algn="r">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First/Last Name</a:t>
            </a:r>
            <a:br>
              <a:rPr lang="en-US"/>
            </a:br>
            <a:r>
              <a:rPr lang="en-US"/>
              <a:t>Role</a:t>
            </a:r>
          </a:p>
        </p:txBody>
      </p:sp>
    </p:spTree>
    <p:extLst>
      <p:ext uri="{BB962C8B-B14F-4D97-AF65-F5344CB8AC3E}">
        <p14:creationId xmlns:p14="http://schemas.microsoft.com/office/powerpoint/2010/main" val="2944329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Opt 2">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F3D9174-7AA4-BB53-C02C-DC9F2F9FB602}"/>
              </a:ext>
            </a:extLst>
          </p:cNvPr>
          <p:cNvSpPr>
            <a:spLocks noGrp="1"/>
          </p:cNvSpPr>
          <p:nvPr>
            <p:ph type="body" idx="13" hasCustomPrompt="1"/>
          </p:nvPr>
        </p:nvSpPr>
        <p:spPr>
          <a:xfrm>
            <a:off x="357341" y="4672584"/>
            <a:ext cx="4480560" cy="184666"/>
          </a:xfrm>
          <a:prstGeom prst="rect">
            <a:avLst/>
          </a:prstGeom>
        </p:spPr>
        <p:txBody>
          <a:bodyPr wrap="square" anchor="t" anchorCtr="0">
            <a:spAutoFit/>
          </a:bodyPr>
          <a:lstStyle>
            <a:lvl1pPr marL="0" indent="0" algn="l">
              <a:spcBef>
                <a:spcPts val="0"/>
              </a:spcBef>
              <a:buNone/>
              <a:defRPr sz="1200" b="0" i="0" cap="all"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Month day, year</a:t>
            </a:r>
          </a:p>
        </p:txBody>
      </p:sp>
      <p:sp>
        <p:nvSpPr>
          <p:cNvPr id="9" name="Text Placeholder 2">
            <a:extLst>
              <a:ext uri="{FF2B5EF4-FFF2-40B4-BE49-F238E27FC236}">
                <a16:creationId xmlns:a16="http://schemas.microsoft.com/office/drawing/2014/main" id="{3DDBD6DD-6A4C-EB9D-584C-1AA76A17A9E6}"/>
              </a:ext>
            </a:extLst>
          </p:cNvPr>
          <p:cNvSpPr>
            <a:spLocks noGrp="1"/>
          </p:cNvSpPr>
          <p:nvPr>
            <p:ph type="body" idx="14" hasCustomPrompt="1"/>
          </p:nvPr>
        </p:nvSpPr>
        <p:spPr>
          <a:xfrm>
            <a:off x="357341" y="4133088"/>
            <a:ext cx="4480560" cy="369332"/>
          </a:xfrm>
          <a:prstGeom prst="rect">
            <a:avLst/>
          </a:prstGeom>
        </p:spPr>
        <p:txBody>
          <a:bodyPr wrap="square" anchor="b" anchorCtr="0">
            <a:spAutoFit/>
          </a:bodyPr>
          <a:lstStyle>
            <a:lvl1pPr marL="0" indent="0" algn="l">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First/Last Name</a:t>
            </a:r>
            <a:br>
              <a:rPr lang="en-US"/>
            </a:br>
            <a:r>
              <a:rPr lang="en-US"/>
              <a:t>Role</a:t>
            </a:r>
          </a:p>
        </p:txBody>
      </p:sp>
      <p:sp>
        <p:nvSpPr>
          <p:cNvPr id="15" name="Picture Placeholder 19">
            <a:extLst>
              <a:ext uri="{FF2B5EF4-FFF2-40B4-BE49-F238E27FC236}">
                <a16:creationId xmlns:a16="http://schemas.microsoft.com/office/drawing/2014/main" id="{FFEA2CDB-599F-8F24-F98D-D4E56DD17A80}"/>
              </a:ext>
            </a:extLst>
          </p:cNvPr>
          <p:cNvSpPr>
            <a:spLocks noGrp="1"/>
          </p:cNvSpPr>
          <p:nvPr>
            <p:ph type="pic" sz="quarter" idx="10" hasCustomPrompt="1"/>
          </p:nvPr>
        </p:nvSpPr>
        <p:spPr>
          <a:xfrm>
            <a:off x="4891197" y="2962656"/>
            <a:ext cx="6949440" cy="3602736"/>
          </a:xfrm>
          <a:prstGeom prst="roundRect">
            <a:avLst>
              <a:gd name="adj" fmla="val 27451"/>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 / Please ensure that the picture has a light top and left edge to allow for enough contrast with the title.</a:t>
            </a:r>
          </a:p>
        </p:txBody>
      </p:sp>
      <p:sp>
        <p:nvSpPr>
          <p:cNvPr id="2" name="Title 1">
            <a:extLst>
              <a:ext uri="{FF2B5EF4-FFF2-40B4-BE49-F238E27FC236}">
                <a16:creationId xmlns:a16="http://schemas.microsoft.com/office/drawing/2014/main" id="{F115DEA2-8A41-98FC-D70B-A6D8B4C58DB6}"/>
              </a:ext>
            </a:extLst>
          </p:cNvPr>
          <p:cNvSpPr>
            <a:spLocks noGrp="1"/>
          </p:cNvSpPr>
          <p:nvPr>
            <p:ph type="ctrTitle"/>
          </p:nvPr>
        </p:nvSpPr>
        <p:spPr>
          <a:xfrm>
            <a:off x="348010" y="382200"/>
            <a:ext cx="11480453" cy="2022092"/>
          </a:xfrm>
          <a:prstGeom prst="rect">
            <a:avLst/>
          </a:prstGeom>
        </p:spPr>
        <p:txBody>
          <a:bodyPr anchor="t" anchorCtr="0"/>
          <a:lstStyle>
            <a:lvl1pPr algn="l">
              <a:lnSpc>
                <a:spcPct val="90000"/>
              </a:lnSpc>
              <a:defRPr sz="7200"/>
            </a:lvl1pPr>
          </a:lstStyle>
          <a:p>
            <a:r>
              <a:rPr lang="en-US"/>
              <a:t>Click to edit Master title style</a:t>
            </a:r>
          </a:p>
        </p:txBody>
      </p:sp>
      <p:pic>
        <p:nvPicPr>
          <p:cNvPr id="7" name="Graphic 6">
            <a:extLst>
              <a:ext uri="{FF2B5EF4-FFF2-40B4-BE49-F238E27FC236}">
                <a16:creationId xmlns:a16="http://schemas.microsoft.com/office/drawing/2014/main" id="{27156274-B1ED-5EA2-BDD1-A4E2F252084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62769" y="6315912"/>
            <a:ext cx="1365460" cy="274320"/>
          </a:xfrm>
          <a:prstGeom prst="rect">
            <a:avLst/>
          </a:prstGeom>
        </p:spPr>
      </p:pic>
    </p:spTree>
    <p:extLst>
      <p:ext uri="{BB962C8B-B14F-4D97-AF65-F5344CB8AC3E}">
        <p14:creationId xmlns:p14="http://schemas.microsoft.com/office/powerpoint/2010/main" val="1734582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Op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5DEA2-8A41-98FC-D70B-A6D8B4C58DB6}"/>
              </a:ext>
            </a:extLst>
          </p:cNvPr>
          <p:cNvSpPr>
            <a:spLocks noGrp="1"/>
          </p:cNvSpPr>
          <p:nvPr>
            <p:ph type="ctrTitle"/>
          </p:nvPr>
        </p:nvSpPr>
        <p:spPr>
          <a:xfrm>
            <a:off x="357701" y="3989146"/>
            <a:ext cx="8275320" cy="987552"/>
          </a:xfrm>
          <a:prstGeom prst="rect">
            <a:avLst/>
          </a:prstGeom>
        </p:spPr>
        <p:txBody>
          <a:bodyPr anchor="t" anchorCtr="0"/>
          <a:lstStyle>
            <a:lvl1pPr algn="l">
              <a:lnSpc>
                <a:spcPct val="100000"/>
              </a:lnSpc>
              <a:defRPr sz="3200"/>
            </a:lvl1pPr>
          </a:lstStyle>
          <a:p>
            <a:r>
              <a:rPr lang="en-US"/>
              <a:t>Click to edit Master title style</a:t>
            </a:r>
          </a:p>
        </p:txBody>
      </p:sp>
      <p:sp>
        <p:nvSpPr>
          <p:cNvPr id="13" name="Picture Placeholder 19">
            <a:extLst>
              <a:ext uri="{FF2B5EF4-FFF2-40B4-BE49-F238E27FC236}">
                <a16:creationId xmlns:a16="http://schemas.microsoft.com/office/drawing/2014/main" id="{66D3E027-B383-515C-29D6-FD3E101002F5}"/>
              </a:ext>
            </a:extLst>
          </p:cNvPr>
          <p:cNvSpPr>
            <a:spLocks noGrp="1"/>
          </p:cNvSpPr>
          <p:nvPr>
            <p:ph type="pic" sz="quarter" idx="10" hasCustomPrompt="1"/>
          </p:nvPr>
        </p:nvSpPr>
        <p:spPr>
          <a:xfrm>
            <a:off x="375989" y="377091"/>
            <a:ext cx="11433024" cy="3427088"/>
          </a:xfrm>
          <a:prstGeom prst="roundRect">
            <a:avLst>
              <a:gd name="adj" fmla="val 21581"/>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pic>
        <p:nvPicPr>
          <p:cNvPr id="7" name="Graphic 6">
            <a:extLst>
              <a:ext uri="{FF2B5EF4-FFF2-40B4-BE49-F238E27FC236}">
                <a16:creationId xmlns:a16="http://schemas.microsoft.com/office/drawing/2014/main" id="{39E8A2D9-E465-F3C1-A0F9-C041B67045F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62769" y="6315912"/>
            <a:ext cx="1365460" cy="274320"/>
          </a:xfrm>
          <a:prstGeom prst="rect">
            <a:avLst/>
          </a:prstGeom>
        </p:spPr>
      </p:pic>
      <p:sp>
        <p:nvSpPr>
          <p:cNvPr id="3" name="Text Placeholder 2">
            <a:extLst>
              <a:ext uri="{FF2B5EF4-FFF2-40B4-BE49-F238E27FC236}">
                <a16:creationId xmlns:a16="http://schemas.microsoft.com/office/drawing/2014/main" id="{B58E6C10-8FB0-184C-8BB9-78D4F77A9F35}"/>
              </a:ext>
            </a:extLst>
          </p:cNvPr>
          <p:cNvSpPr>
            <a:spLocks noGrp="1"/>
          </p:cNvSpPr>
          <p:nvPr>
            <p:ph type="body" idx="14" hasCustomPrompt="1"/>
          </p:nvPr>
        </p:nvSpPr>
        <p:spPr>
          <a:xfrm>
            <a:off x="357701" y="5431536"/>
            <a:ext cx="6217920" cy="369332"/>
          </a:xfrm>
          <a:prstGeom prst="rect">
            <a:avLst/>
          </a:prstGeom>
        </p:spPr>
        <p:txBody>
          <a:bodyPr wrap="square" anchor="t" anchorCtr="0">
            <a:spAutoFit/>
          </a:bodyPr>
          <a:lstStyle>
            <a:lvl1pPr marL="0" indent="0" algn="l">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First/Last Name</a:t>
            </a:r>
            <a:br>
              <a:rPr lang="en-US"/>
            </a:br>
            <a:r>
              <a:rPr lang="en-US"/>
              <a:t>Role</a:t>
            </a:r>
          </a:p>
        </p:txBody>
      </p:sp>
      <p:sp>
        <p:nvSpPr>
          <p:cNvPr id="4" name="Text Placeholder 2">
            <a:extLst>
              <a:ext uri="{FF2B5EF4-FFF2-40B4-BE49-F238E27FC236}">
                <a16:creationId xmlns:a16="http://schemas.microsoft.com/office/drawing/2014/main" id="{0D832AC4-6070-5355-C616-331ED01B3E8F}"/>
              </a:ext>
            </a:extLst>
          </p:cNvPr>
          <p:cNvSpPr>
            <a:spLocks noGrp="1"/>
          </p:cNvSpPr>
          <p:nvPr>
            <p:ph type="body" idx="16" hasCustomPrompt="1"/>
          </p:nvPr>
        </p:nvSpPr>
        <p:spPr>
          <a:xfrm>
            <a:off x="6210300" y="6428232"/>
            <a:ext cx="5622690" cy="184666"/>
          </a:xfrm>
          <a:prstGeom prst="rect">
            <a:avLst/>
          </a:prstGeom>
        </p:spPr>
        <p:txBody>
          <a:bodyPr wrap="square" anchor="t" anchorCtr="0">
            <a:spAutoFit/>
          </a:bodyPr>
          <a:lstStyle>
            <a:lvl1pPr marL="0" indent="0" algn="r">
              <a:spcBef>
                <a:spcPts val="0"/>
              </a:spcBef>
              <a:buNone/>
              <a:defRPr sz="1200" b="0" i="0" cap="all"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Month day, year</a:t>
            </a:r>
          </a:p>
        </p:txBody>
      </p:sp>
    </p:spTree>
    <p:extLst>
      <p:ext uri="{BB962C8B-B14F-4D97-AF65-F5344CB8AC3E}">
        <p14:creationId xmlns:p14="http://schemas.microsoft.com/office/powerpoint/2010/main" val="3125422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Op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5DEA2-8A41-98FC-D70B-A6D8B4C58DB6}"/>
              </a:ext>
            </a:extLst>
          </p:cNvPr>
          <p:cNvSpPr>
            <a:spLocks noGrp="1"/>
          </p:cNvSpPr>
          <p:nvPr>
            <p:ph type="ctrTitle"/>
          </p:nvPr>
        </p:nvSpPr>
        <p:spPr>
          <a:xfrm>
            <a:off x="357701" y="1328548"/>
            <a:ext cx="6217920" cy="1461362"/>
          </a:xfrm>
          <a:prstGeom prst="rect">
            <a:avLst/>
          </a:prstGeom>
        </p:spPr>
        <p:txBody>
          <a:bodyPr anchor="t" anchorCtr="0"/>
          <a:lstStyle>
            <a:lvl1pPr algn="l">
              <a:lnSpc>
                <a:spcPct val="100000"/>
              </a:lnSpc>
              <a:defRPr sz="2900"/>
            </a:lvl1pPr>
          </a:lstStyle>
          <a:p>
            <a:r>
              <a:rPr lang="en-US"/>
              <a:t>Click to edit Master title style</a:t>
            </a:r>
          </a:p>
        </p:txBody>
      </p:sp>
      <p:pic>
        <p:nvPicPr>
          <p:cNvPr id="6" name="Graphic 5">
            <a:extLst>
              <a:ext uri="{FF2B5EF4-FFF2-40B4-BE49-F238E27FC236}">
                <a16:creationId xmlns:a16="http://schemas.microsoft.com/office/drawing/2014/main" id="{12D8AAA0-1AF3-1EC0-604E-0B63EA80EEB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65244" y="398265"/>
            <a:ext cx="1365460" cy="274320"/>
          </a:xfrm>
          <a:prstGeom prst="rect">
            <a:avLst/>
          </a:prstGeom>
        </p:spPr>
      </p:pic>
      <p:sp>
        <p:nvSpPr>
          <p:cNvPr id="10" name="Picture Placeholder 19">
            <a:extLst>
              <a:ext uri="{FF2B5EF4-FFF2-40B4-BE49-F238E27FC236}">
                <a16:creationId xmlns:a16="http://schemas.microsoft.com/office/drawing/2014/main" id="{3CCFCB42-4E0C-861D-E892-A901CB3F493C}"/>
              </a:ext>
            </a:extLst>
          </p:cNvPr>
          <p:cNvSpPr>
            <a:spLocks noGrp="1"/>
          </p:cNvSpPr>
          <p:nvPr>
            <p:ph type="pic" sz="quarter" idx="10" hasCustomPrompt="1"/>
          </p:nvPr>
        </p:nvSpPr>
        <p:spPr>
          <a:xfrm>
            <a:off x="375989" y="3040043"/>
            <a:ext cx="11433024" cy="3427088"/>
          </a:xfrm>
          <a:prstGeom prst="roundRect">
            <a:avLst>
              <a:gd name="adj" fmla="val 21581"/>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3" name="Text Placeholder 2">
            <a:extLst>
              <a:ext uri="{FF2B5EF4-FFF2-40B4-BE49-F238E27FC236}">
                <a16:creationId xmlns:a16="http://schemas.microsoft.com/office/drawing/2014/main" id="{1D075570-D4CE-41D5-41A0-78431ABDE4C9}"/>
              </a:ext>
            </a:extLst>
          </p:cNvPr>
          <p:cNvSpPr>
            <a:spLocks noGrp="1"/>
          </p:cNvSpPr>
          <p:nvPr>
            <p:ph type="body" idx="11" hasCustomPrompt="1"/>
          </p:nvPr>
        </p:nvSpPr>
        <p:spPr>
          <a:xfrm>
            <a:off x="6260333" y="338328"/>
            <a:ext cx="5577840" cy="369332"/>
          </a:xfrm>
          <a:prstGeom prst="rect">
            <a:avLst/>
          </a:prstGeom>
        </p:spPr>
        <p:txBody>
          <a:bodyPr wrap="square" anchor="ctr" anchorCtr="0">
            <a:spAutoFit/>
          </a:bodyPr>
          <a:lstStyle>
            <a:lvl1pPr marL="0" indent="0" algn="r">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First/Name</a:t>
            </a:r>
          </a:p>
          <a:p>
            <a:pPr lvl="0"/>
            <a:r>
              <a:rPr lang="en-US"/>
              <a:t>Role</a:t>
            </a:r>
          </a:p>
        </p:txBody>
      </p:sp>
    </p:spTree>
    <p:extLst>
      <p:ext uri="{BB962C8B-B14F-4D97-AF65-F5344CB8AC3E}">
        <p14:creationId xmlns:p14="http://schemas.microsoft.com/office/powerpoint/2010/main" val="1889019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Op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5DEA2-8A41-98FC-D70B-A6D8B4C58DB6}"/>
              </a:ext>
            </a:extLst>
          </p:cNvPr>
          <p:cNvSpPr>
            <a:spLocks noGrp="1"/>
          </p:cNvSpPr>
          <p:nvPr>
            <p:ph type="ctrTitle"/>
          </p:nvPr>
        </p:nvSpPr>
        <p:spPr>
          <a:xfrm>
            <a:off x="357701" y="3419856"/>
            <a:ext cx="5509699" cy="984885"/>
          </a:xfrm>
          <a:prstGeom prst="rect">
            <a:avLst/>
          </a:prstGeom>
        </p:spPr>
        <p:txBody>
          <a:bodyPr wrap="square" anchor="b" anchorCtr="0">
            <a:noAutofit/>
          </a:bodyPr>
          <a:lstStyle>
            <a:lvl1pPr algn="l">
              <a:lnSpc>
                <a:spcPct val="100000"/>
              </a:lnSpc>
              <a:defRPr sz="3200"/>
            </a:lvl1pPr>
          </a:lstStyle>
          <a:p>
            <a:r>
              <a:rPr lang="en-US"/>
              <a:t>Click to edit Master title style</a:t>
            </a:r>
          </a:p>
        </p:txBody>
      </p:sp>
      <p:pic>
        <p:nvPicPr>
          <p:cNvPr id="4" name="Graphic 3">
            <a:extLst>
              <a:ext uri="{FF2B5EF4-FFF2-40B4-BE49-F238E27FC236}">
                <a16:creationId xmlns:a16="http://schemas.microsoft.com/office/drawing/2014/main" id="{BFBC07C9-9EC4-FD37-485B-2ACCCB747D1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65244" y="398265"/>
            <a:ext cx="1365460" cy="274320"/>
          </a:xfrm>
          <a:prstGeom prst="rect">
            <a:avLst/>
          </a:prstGeom>
        </p:spPr>
      </p:pic>
      <p:sp>
        <p:nvSpPr>
          <p:cNvPr id="9" name="Text Placeholder 2">
            <a:extLst>
              <a:ext uri="{FF2B5EF4-FFF2-40B4-BE49-F238E27FC236}">
                <a16:creationId xmlns:a16="http://schemas.microsoft.com/office/drawing/2014/main" id="{A891DCC4-C3F9-2AE6-BAD6-6C334DC4E1A4}"/>
              </a:ext>
            </a:extLst>
          </p:cNvPr>
          <p:cNvSpPr>
            <a:spLocks noGrp="1"/>
          </p:cNvSpPr>
          <p:nvPr>
            <p:ph type="body" idx="17" hasCustomPrompt="1"/>
          </p:nvPr>
        </p:nvSpPr>
        <p:spPr>
          <a:xfrm>
            <a:off x="357701" y="6428232"/>
            <a:ext cx="5513832" cy="184666"/>
          </a:xfrm>
          <a:prstGeom prst="rect">
            <a:avLst/>
          </a:prstGeom>
        </p:spPr>
        <p:txBody>
          <a:bodyPr wrap="square" anchor="t" anchorCtr="0">
            <a:spAutoFit/>
          </a:bodyPr>
          <a:lstStyle>
            <a:lvl1pPr marL="0" indent="0" algn="l">
              <a:spcBef>
                <a:spcPts val="0"/>
              </a:spcBef>
              <a:buNone/>
              <a:defRPr sz="1200" b="0" i="0" cap="all"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Month day, year</a:t>
            </a:r>
          </a:p>
        </p:txBody>
      </p:sp>
      <p:sp>
        <p:nvSpPr>
          <p:cNvPr id="10" name="Text Placeholder 2">
            <a:extLst>
              <a:ext uri="{FF2B5EF4-FFF2-40B4-BE49-F238E27FC236}">
                <a16:creationId xmlns:a16="http://schemas.microsoft.com/office/drawing/2014/main" id="{F1CE25C0-49F7-F51E-D41F-6966DB9F7A0C}"/>
              </a:ext>
            </a:extLst>
          </p:cNvPr>
          <p:cNvSpPr>
            <a:spLocks noGrp="1"/>
          </p:cNvSpPr>
          <p:nvPr>
            <p:ph type="body" idx="18" hasCustomPrompt="1"/>
          </p:nvPr>
        </p:nvSpPr>
        <p:spPr>
          <a:xfrm>
            <a:off x="357701" y="4988650"/>
            <a:ext cx="5513832" cy="369332"/>
          </a:xfrm>
          <a:prstGeom prst="rect">
            <a:avLst/>
          </a:prstGeom>
        </p:spPr>
        <p:txBody>
          <a:bodyPr wrap="square" anchor="t" anchorCtr="0">
            <a:spAutoFit/>
          </a:bodyPr>
          <a:lstStyle>
            <a:lvl1pPr marL="0" indent="0" algn="l">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First/Last Name</a:t>
            </a:r>
            <a:br>
              <a:rPr lang="en-US"/>
            </a:br>
            <a:r>
              <a:rPr lang="en-US"/>
              <a:t>Role</a:t>
            </a:r>
          </a:p>
        </p:txBody>
      </p:sp>
      <p:sp>
        <p:nvSpPr>
          <p:cNvPr id="5" name="Picture Placeholder 19">
            <a:extLst>
              <a:ext uri="{FF2B5EF4-FFF2-40B4-BE49-F238E27FC236}">
                <a16:creationId xmlns:a16="http://schemas.microsoft.com/office/drawing/2014/main" id="{CEE8AD99-B024-8416-9EAC-29D034050B4E}"/>
              </a:ext>
            </a:extLst>
          </p:cNvPr>
          <p:cNvSpPr>
            <a:spLocks noGrp="1"/>
          </p:cNvSpPr>
          <p:nvPr>
            <p:ph type="pic" sz="quarter" idx="10" hasCustomPrompt="1"/>
          </p:nvPr>
        </p:nvSpPr>
        <p:spPr>
          <a:xfrm>
            <a:off x="6324602" y="382438"/>
            <a:ext cx="5506019" cy="6181344"/>
          </a:xfrm>
          <a:prstGeom prst="roundRect">
            <a:avLst>
              <a:gd name="adj" fmla="val 13633"/>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Tree>
    <p:extLst>
      <p:ext uri="{BB962C8B-B14F-4D97-AF65-F5344CB8AC3E}">
        <p14:creationId xmlns:p14="http://schemas.microsoft.com/office/powerpoint/2010/main" val="3902612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 Opt 6">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D8AAA0-1AF3-1EC0-604E-0B63EA80EEB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323290" y="398265"/>
            <a:ext cx="1365460" cy="274320"/>
          </a:xfrm>
          <a:prstGeom prst="rect">
            <a:avLst/>
          </a:prstGeom>
        </p:spPr>
      </p:pic>
      <p:sp>
        <p:nvSpPr>
          <p:cNvPr id="13" name="Picture Placeholder 19">
            <a:extLst>
              <a:ext uri="{FF2B5EF4-FFF2-40B4-BE49-F238E27FC236}">
                <a16:creationId xmlns:a16="http://schemas.microsoft.com/office/drawing/2014/main" id="{0EDBA81F-94D2-2591-1C3B-E027AB9132AD}"/>
              </a:ext>
            </a:extLst>
          </p:cNvPr>
          <p:cNvSpPr>
            <a:spLocks noGrp="1"/>
          </p:cNvSpPr>
          <p:nvPr>
            <p:ph type="pic" sz="quarter" idx="10" hasCustomPrompt="1"/>
          </p:nvPr>
        </p:nvSpPr>
        <p:spPr>
          <a:xfrm>
            <a:off x="373884" y="382440"/>
            <a:ext cx="5504688" cy="6181344"/>
          </a:xfrm>
          <a:prstGeom prst="roundRect">
            <a:avLst>
              <a:gd name="adj" fmla="val 13633"/>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4" name="Text Placeholder 2">
            <a:extLst>
              <a:ext uri="{FF2B5EF4-FFF2-40B4-BE49-F238E27FC236}">
                <a16:creationId xmlns:a16="http://schemas.microsoft.com/office/drawing/2014/main" id="{ED189E61-FAAF-8F78-70F5-8B93F992AE12}"/>
              </a:ext>
            </a:extLst>
          </p:cNvPr>
          <p:cNvSpPr>
            <a:spLocks noGrp="1"/>
          </p:cNvSpPr>
          <p:nvPr>
            <p:ph type="body" idx="16" hasCustomPrompt="1"/>
          </p:nvPr>
        </p:nvSpPr>
        <p:spPr>
          <a:xfrm>
            <a:off x="6323290" y="6428232"/>
            <a:ext cx="5513832" cy="184666"/>
          </a:xfrm>
          <a:prstGeom prst="rect">
            <a:avLst/>
          </a:prstGeom>
        </p:spPr>
        <p:txBody>
          <a:bodyPr wrap="square" anchor="t" anchorCtr="0">
            <a:spAutoFit/>
          </a:bodyPr>
          <a:lstStyle>
            <a:lvl1pPr marL="0" indent="0" algn="l">
              <a:spcBef>
                <a:spcPts val="0"/>
              </a:spcBef>
              <a:buNone/>
              <a:defRPr sz="1200" b="0" i="0" cap="all"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Month day, year</a:t>
            </a:r>
          </a:p>
        </p:txBody>
      </p:sp>
      <p:sp>
        <p:nvSpPr>
          <p:cNvPr id="7" name="Text Placeholder 2">
            <a:extLst>
              <a:ext uri="{FF2B5EF4-FFF2-40B4-BE49-F238E27FC236}">
                <a16:creationId xmlns:a16="http://schemas.microsoft.com/office/drawing/2014/main" id="{DCF77A57-8A59-F693-8FA6-516533C40E14}"/>
              </a:ext>
            </a:extLst>
          </p:cNvPr>
          <p:cNvSpPr>
            <a:spLocks noGrp="1"/>
          </p:cNvSpPr>
          <p:nvPr>
            <p:ph type="body" idx="15" hasCustomPrompt="1"/>
          </p:nvPr>
        </p:nvSpPr>
        <p:spPr>
          <a:xfrm>
            <a:off x="6323290" y="4988650"/>
            <a:ext cx="5513832" cy="369332"/>
          </a:xfrm>
          <a:prstGeom prst="rect">
            <a:avLst/>
          </a:prstGeom>
        </p:spPr>
        <p:txBody>
          <a:bodyPr wrap="square" anchor="t" anchorCtr="0">
            <a:spAutoFit/>
          </a:bodyPr>
          <a:lstStyle>
            <a:lvl1pPr marL="0" indent="0" algn="l">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First/Last Name</a:t>
            </a:r>
            <a:br>
              <a:rPr lang="en-US"/>
            </a:br>
            <a:r>
              <a:rPr lang="en-US"/>
              <a:t>Role</a:t>
            </a:r>
          </a:p>
        </p:txBody>
      </p:sp>
      <p:sp>
        <p:nvSpPr>
          <p:cNvPr id="3" name="Title 1">
            <a:extLst>
              <a:ext uri="{FF2B5EF4-FFF2-40B4-BE49-F238E27FC236}">
                <a16:creationId xmlns:a16="http://schemas.microsoft.com/office/drawing/2014/main" id="{59A5831F-EB68-3E7A-AFAA-8AB72A36BD38}"/>
              </a:ext>
            </a:extLst>
          </p:cNvPr>
          <p:cNvSpPr>
            <a:spLocks noGrp="1"/>
          </p:cNvSpPr>
          <p:nvPr>
            <p:ph type="ctrTitle"/>
          </p:nvPr>
        </p:nvSpPr>
        <p:spPr>
          <a:xfrm>
            <a:off x="6323290" y="3419856"/>
            <a:ext cx="5513832" cy="984885"/>
          </a:xfrm>
          <a:prstGeom prst="rect">
            <a:avLst/>
          </a:prstGeom>
        </p:spPr>
        <p:txBody>
          <a:bodyPr wrap="square" anchor="b" anchorCtr="0">
            <a:spAutoFit/>
          </a:bodyPr>
          <a:lstStyle>
            <a:lvl1pPr algn="l">
              <a:lnSpc>
                <a:spcPct val="100000"/>
              </a:lnSpc>
              <a:defRPr sz="3200"/>
            </a:lvl1pPr>
          </a:lstStyle>
          <a:p>
            <a:r>
              <a:rPr lang="en-US"/>
              <a:t>Click to edit Master title style</a:t>
            </a:r>
          </a:p>
        </p:txBody>
      </p:sp>
    </p:spTree>
    <p:extLst>
      <p:ext uri="{BB962C8B-B14F-4D97-AF65-F5344CB8AC3E}">
        <p14:creationId xmlns:p14="http://schemas.microsoft.com/office/powerpoint/2010/main" val="163037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sclosures">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89B011-6F43-3AC5-F16F-20EDE6F9AAFC}"/>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4119BD35-056A-16A4-53A8-0EE2E6A35598}"/>
              </a:ext>
            </a:extLst>
          </p:cNvPr>
          <p:cNvSpPr txBox="1">
            <a:spLocks/>
          </p:cNvSpPr>
          <p:nvPr userDrawn="1"/>
        </p:nvSpPr>
        <p:spPr>
          <a:xfrm>
            <a:off x="346126" y="311961"/>
            <a:ext cx="5623999" cy="738664"/>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a:t>Disclosures</a:t>
            </a:r>
          </a:p>
        </p:txBody>
      </p:sp>
      <p:sp>
        <p:nvSpPr>
          <p:cNvPr id="3" name="Content Placeholder 2">
            <a:extLst>
              <a:ext uri="{FF2B5EF4-FFF2-40B4-BE49-F238E27FC236}">
                <a16:creationId xmlns:a16="http://schemas.microsoft.com/office/drawing/2014/main" id="{0C690803-8E9F-15AC-21E8-6118205AE425}"/>
              </a:ext>
            </a:extLst>
          </p:cNvPr>
          <p:cNvSpPr>
            <a:spLocks noGrp="1"/>
          </p:cNvSpPr>
          <p:nvPr>
            <p:ph idx="1"/>
          </p:nvPr>
        </p:nvSpPr>
        <p:spPr>
          <a:xfrm>
            <a:off x="358337" y="1459884"/>
            <a:ext cx="11470125"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128C3B29-4062-9FE5-49D4-9AE8FDD03E94}"/>
              </a:ext>
            </a:extLst>
          </p:cNvPr>
          <p:cNvSpPr>
            <a:spLocks noGrp="1"/>
          </p:cNvSpPr>
          <p:nvPr>
            <p:ph type="ftr" sz="quarter" idx="10"/>
          </p:nvPr>
        </p:nvSpPr>
        <p:spPr/>
        <p:txBody>
          <a:bodyPr/>
          <a:lstStyle/>
          <a:p>
            <a:r>
              <a:rPr lang="en-US"/>
              <a:t>Abbreviations</a:t>
            </a:r>
          </a:p>
        </p:txBody>
      </p:sp>
    </p:spTree>
    <p:extLst>
      <p:ext uri="{BB962C8B-B14F-4D97-AF65-F5344CB8AC3E}">
        <p14:creationId xmlns:p14="http://schemas.microsoft.com/office/powerpoint/2010/main" val="3145722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s - Opt 1">
    <p:spTree>
      <p:nvGrpSpPr>
        <p:cNvPr id="1" name=""/>
        <p:cNvGrpSpPr/>
        <p:nvPr/>
      </p:nvGrpSpPr>
      <p:grpSpPr>
        <a:xfrm>
          <a:off x="0" y="0"/>
          <a:ext cx="0" cy="0"/>
          <a:chOff x="0" y="0"/>
          <a:chExt cx="0" cy="0"/>
        </a:xfrm>
      </p:grpSpPr>
      <p:sp>
        <p:nvSpPr>
          <p:cNvPr id="4" name="Text Placeholder 17">
            <a:extLst>
              <a:ext uri="{FF2B5EF4-FFF2-40B4-BE49-F238E27FC236}">
                <a16:creationId xmlns:a16="http://schemas.microsoft.com/office/drawing/2014/main" id="{3FA1A732-50FE-F5CD-D04C-B2FD7997D746}"/>
              </a:ext>
            </a:extLst>
          </p:cNvPr>
          <p:cNvSpPr>
            <a:spLocks noGrp="1"/>
          </p:cNvSpPr>
          <p:nvPr>
            <p:ph type="body" sz="quarter" idx="46"/>
          </p:nvPr>
        </p:nvSpPr>
        <p:spPr>
          <a:xfrm>
            <a:off x="1875332" y="1579076"/>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5" name="Text Placeholder 17">
            <a:extLst>
              <a:ext uri="{FF2B5EF4-FFF2-40B4-BE49-F238E27FC236}">
                <a16:creationId xmlns:a16="http://schemas.microsoft.com/office/drawing/2014/main" id="{3EE7D864-EADC-5116-D541-B1E0F0628259}"/>
              </a:ext>
            </a:extLst>
          </p:cNvPr>
          <p:cNvSpPr>
            <a:spLocks noGrp="1"/>
          </p:cNvSpPr>
          <p:nvPr>
            <p:ph type="body" sz="quarter" idx="47" hasCustomPrompt="1"/>
          </p:nvPr>
        </p:nvSpPr>
        <p:spPr>
          <a:xfrm>
            <a:off x="366916" y="1487736"/>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23" name="Text Placeholder 17">
            <a:extLst>
              <a:ext uri="{FF2B5EF4-FFF2-40B4-BE49-F238E27FC236}">
                <a16:creationId xmlns:a16="http://schemas.microsoft.com/office/drawing/2014/main" id="{12E62E8D-0B31-488B-FA40-17664346132A}"/>
              </a:ext>
            </a:extLst>
          </p:cNvPr>
          <p:cNvSpPr>
            <a:spLocks noGrp="1"/>
          </p:cNvSpPr>
          <p:nvPr>
            <p:ph type="body" sz="quarter" idx="48"/>
          </p:nvPr>
        </p:nvSpPr>
        <p:spPr>
          <a:xfrm>
            <a:off x="6350747" y="1616779"/>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sp>
        <p:nvSpPr>
          <p:cNvPr id="27" name="Title 1">
            <a:extLst>
              <a:ext uri="{FF2B5EF4-FFF2-40B4-BE49-F238E27FC236}">
                <a16:creationId xmlns:a16="http://schemas.microsoft.com/office/drawing/2014/main" id="{68EAFC20-B735-1DA2-D854-385FA28A0EF8}"/>
              </a:ext>
            </a:extLst>
          </p:cNvPr>
          <p:cNvSpPr txBox="1">
            <a:spLocks/>
          </p:cNvSpPr>
          <p:nvPr userDrawn="1"/>
        </p:nvSpPr>
        <p:spPr>
          <a:xfrm>
            <a:off x="346126" y="311961"/>
            <a:ext cx="5623999" cy="738664"/>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a:t>Contents</a:t>
            </a:r>
          </a:p>
        </p:txBody>
      </p:sp>
      <p:cxnSp>
        <p:nvCxnSpPr>
          <p:cNvPr id="30" name="Straight Connector 29">
            <a:extLst>
              <a:ext uri="{FF2B5EF4-FFF2-40B4-BE49-F238E27FC236}">
                <a16:creationId xmlns:a16="http://schemas.microsoft.com/office/drawing/2014/main" id="{20387077-38D9-348E-AB71-325DB3DB9F17}"/>
              </a:ext>
            </a:extLst>
          </p:cNvPr>
          <p:cNvCxnSpPr>
            <a:cxnSpLocks/>
          </p:cNvCxnSpPr>
          <p:nvPr userDrawn="1"/>
        </p:nvCxnSpPr>
        <p:spPr>
          <a:xfrm>
            <a:off x="366916" y="220553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1" name="Text Placeholder 17">
            <a:extLst>
              <a:ext uri="{FF2B5EF4-FFF2-40B4-BE49-F238E27FC236}">
                <a16:creationId xmlns:a16="http://schemas.microsoft.com/office/drawing/2014/main" id="{B1CF0F32-8635-F82C-3ADC-3AFE15C2F30B}"/>
              </a:ext>
            </a:extLst>
          </p:cNvPr>
          <p:cNvSpPr>
            <a:spLocks noGrp="1"/>
          </p:cNvSpPr>
          <p:nvPr>
            <p:ph type="body" sz="quarter" idx="49"/>
          </p:nvPr>
        </p:nvSpPr>
        <p:spPr>
          <a:xfrm>
            <a:off x="1875332" y="2542197"/>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32" name="Text Placeholder 17">
            <a:extLst>
              <a:ext uri="{FF2B5EF4-FFF2-40B4-BE49-F238E27FC236}">
                <a16:creationId xmlns:a16="http://schemas.microsoft.com/office/drawing/2014/main" id="{5BF28A7E-2E68-B970-0464-DE422C9ADD88}"/>
              </a:ext>
            </a:extLst>
          </p:cNvPr>
          <p:cNvSpPr>
            <a:spLocks noGrp="1"/>
          </p:cNvSpPr>
          <p:nvPr>
            <p:ph type="body" sz="quarter" idx="50" hasCustomPrompt="1"/>
          </p:nvPr>
        </p:nvSpPr>
        <p:spPr>
          <a:xfrm>
            <a:off x="366916" y="2450857"/>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33" name="Text Placeholder 17">
            <a:extLst>
              <a:ext uri="{FF2B5EF4-FFF2-40B4-BE49-F238E27FC236}">
                <a16:creationId xmlns:a16="http://schemas.microsoft.com/office/drawing/2014/main" id="{BD5444B5-E4C3-1B61-8909-FDE74EDD711E}"/>
              </a:ext>
            </a:extLst>
          </p:cNvPr>
          <p:cNvSpPr>
            <a:spLocks noGrp="1"/>
          </p:cNvSpPr>
          <p:nvPr>
            <p:ph type="body" sz="quarter" idx="51"/>
          </p:nvPr>
        </p:nvSpPr>
        <p:spPr>
          <a:xfrm>
            <a:off x="6350747" y="2579901"/>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34" name="Straight Connector 33">
            <a:extLst>
              <a:ext uri="{FF2B5EF4-FFF2-40B4-BE49-F238E27FC236}">
                <a16:creationId xmlns:a16="http://schemas.microsoft.com/office/drawing/2014/main" id="{0F6EDBF8-B0E5-B27B-A21E-10D034A21363}"/>
              </a:ext>
            </a:extLst>
          </p:cNvPr>
          <p:cNvCxnSpPr>
            <a:cxnSpLocks/>
          </p:cNvCxnSpPr>
          <p:nvPr userDrawn="1"/>
        </p:nvCxnSpPr>
        <p:spPr>
          <a:xfrm>
            <a:off x="366916" y="31672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17">
            <a:extLst>
              <a:ext uri="{FF2B5EF4-FFF2-40B4-BE49-F238E27FC236}">
                <a16:creationId xmlns:a16="http://schemas.microsoft.com/office/drawing/2014/main" id="{3299F940-9F9D-F540-CCC8-3AF495D73951}"/>
              </a:ext>
            </a:extLst>
          </p:cNvPr>
          <p:cNvSpPr>
            <a:spLocks noGrp="1"/>
          </p:cNvSpPr>
          <p:nvPr>
            <p:ph type="body" sz="quarter" idx="52"/>
          </p:nvPr>
        </p:nvSpPr>
        <p:spPr>
          <a:xfrm>
            <a:off x="1875332" y="3505318"/>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36" name="Text Placeholder 17">
            <a:extLst>
              <a:ext uri="{FF2B5EF4-FFF2-40B4-BE49-F238E27FC236}">
                <a16:creationId xmlns:a16="http://schemas.microsoft.com/office/drawing/2014/main" id="{BE4CC3D0-82B2-289A-6E62-30DA74F00D26}"/>
              </a:ext>
            </a:extLst>
          </p:cNvPr>
          <p:cNvSpPr>
            <a:spLocks noGrp="1"/>
          </p:cNvSpPr>
          <p:nvPr>
            <p:ph type="body" sz="quarter" idx="53" hasCustomPrompt="1"/>
          </p:nvPr>
        </p:nvSpPr>
        <p:spPr>
          <a:xfrm>
            <a:off x="366916" y="3413978"/>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37" name="Text Placeholder 17">
            <a:extLst>
              <a:ext uri="{FF2B5EF4-FFF2-40B4-BE49-F238E27FC236}">
                <a16:creationId xmlns:a16="http://schemas.microsoft.com/office/drawing/2014/main" id="{A005B7D7-E400-6CF3-0ADB-B35012DDDAAF}"/>
              </a:ext>
            </a:extLst>
          </p:cNvPr>
          <p:cNvSpPr>
            <a:spLocks noGrp="1"/>
          </p:cNvSpPr>
          <p:nvPr>
            <p:ph type="body" sz="quarter" idx="54"/>
          </p:nvPr>
        </p:nvSpPr>
        <p:spPr>
          <a:xfrm>
            <a:off x="6350747" y="3543023"/>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38" name="Straight Connector 37">
            <a:extLst>
              <a:ext uri="{FF2B5EF4-FFF2-40B4-BE49-F238E27FC236}">
                <a16:creationId xmlns:a16="http://schemas.microsoft.com/office/drawing/2014/main" id="{E42D2B37-F728-4FC9-7846-83F5FE1CF63F}"/>
              </a:ext>
            </a:extLst>
          </p:cNvPr>
          <p:cNvCxnSpPr>
            <a:cxnSpLocks/>
          </p:cNvCxnSpPr>
          <p:nvPr userDrawn="1"/>
        </p:nvCxnSpPr>
        <p:spPr>
          <a:xfrm>
            <a:off x="366916" y="412903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9" name="Text Placeholder 17">
            <a:extLst>
              <a:ext uri="{FF2B5EF4-FFF2-40B4-BE49-F238E27FC236}">
                <a16:creationId xmlns:a16="http://schemas.microsoft.com/office/drawing/2014/main" id="{D1FAB0D6-CA3D-8610-A357-667AE7A9CE7C}"/>
              </a:ext>
            </a:extLst>
          </p:cNvPr>
          <p:cNvSpPr>
            <a:spLocks noGrp="1"/>
          </p:cNvSpPr>
          <p:nvPr>
            <p:ph type="body" sz="quarter" idx="55"/>
          </p:nvPr>
        </p:nvSpPr>
        <p:spPr>
          <a:xfrm>
            <a:off x="1875332" y="4468439"/>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40" name="Text Placeholder 17">
            <a:extLst>
              <a:ext uri="{FF2B5EF4-FFF2-40B4-BE49-F238E27FC236}">
                <a16:creationId xmlns:a16="http://schemas.microsoft.com/office/drawing/2014/main" id="{BA8DA334-873C-770C-6392-13E574ABB633}"/>
              </a:ext>
            </a:extLst>
          </p:cNvPr>
          <p:cNvSpPr>
            <a:spLocks noGrp="1"/>
          </p:cNvSpPr>
          <p:nvPr>
            <p:ph type="body" sz="quarter" idx="56" hasCustomPrompt="1"/>
          </p:nvPr>
        </p:nvSpPr>
        <p:spPr>
          <a:xfrm>
            <a:off x="366916" y="4377099"/>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41" name="Text Placeholder 17">
            <a:extLst>
              <a:ext uri="{FF2B5EF4-FFF2-40B4-BE49-F238E27FC236}">
                <a16:creationId xmlns:a16="http://schemas.microsoft.com/office/drawing/2014/main" id="{DBB75980-D6A0-AF8A-C5D4-101518001B06}"/>
              </a:ext>
            </a:extLst>
          </p:cNvPr>
          <p:cNvSpPr>
            <a:spLocks noGrp="1"/>
          </p:cNvSpPr>
          <p:nvPr>
            <p:ph type="body" sz="quarter" idx="57"/>
          </p:nvPr>
        </p:nvSpPr>
        <p:spPr>
          <a:xfrm>
            <a:off x="6350747" y="4506145"/>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42" name="Straight Connector 41">
            <a:extLst>
              <a:ext uri="{FF2B5EF4-FFF2-40B4-BE49-F238E27FC236}">
                <a16:creationId xmlns:a16="http://schemas.microsoft.com/office/drawing/2014/main" id="{066CFAE1-AAA2-B534-DEBC-695ABB08F7A8}"/>
              </a:ext>
            </a:extLst>
          </p:cNvPr>
          <p:cNvCxnSpPr>
            <a:cxnSpLocks/>
          </p:cNvCxnSpPr>
          <p:nvPr userDrawn="1"/>
        </p:nvCxnSpPr>
        <p:spPr>
          <a:xfrm>
            <a:off x="366916" y="5090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43" name="Text Placeholder 17">
            <a:extLst>
              <a:ext uri="{FF2B5EF4-FFF2-40B4-BE49-F238E27FC236}">
                <a16:creationId xmlns:a16="http://schemas.microsoft.com/office/drawing/2014/main" id="{8708D808-B03A-6AFD-9CD9-F809C9CB5887}"/>
              </a:ext>
            </a:extLst>
          </p:cNvPr>
          <p:cNvSpPr>
            <a:spLocks noGrp="1"/>
          </p:cNvSpPr>
          <p:nvPr>
            <p:ph type="body" sz="quarter" idx="58"/>
          </p:nvPr>
        </p:nvSpPr>
        <p:spPr>
          <a:xfrm>
            <a:off x="1875332" y="5431562"/>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44" name="Text Placeholder 17">
            <a:extLst>
              <a:ext uri="{FF2B5EF4-FFF2-40B4-BE49-F238E27FC236}">
                <a16:creationId xmlns:a16="http://schemas.microsoft.com/office/drawing/2014/main" id="{6AC676E0-4705-9A05-BE82-C7773DC04410}"/>
              </a:ext>
            </a:extLst>
          </p:cNvPr>
          <p:cNvSpPr>
            <a:spLocks noGrp="1"/>
          </p:cNvSpPr>
          <p:nvPr>
            <p:ph type="body" sz="quarter" idx="59" hasCustomPrompt="1"/>
          </p:nvPr>
        </p:nvSpPr>
        <p:spPr>
          <a:xfrm>
            <a:off x="366916" y="5340222"/>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45" name="Text Placeholder 17">
            <a:extLst>
              <a:ext uri="{FF2B5EF4-FFF2-40B4-BE49-F238E27FC236}">
                <a16:creationId xmlns:a16="http://schemas.microsoft.com/office/drawing/2014/main" id="{44F1224D-28F5-CFA6-80C9-028594B71928}"/>
              </a:ext>
            </a:extLst>
          </p:cNvPr>
          <p:cNvSpPr>
            <a:spLocks noGrp="1"/>
          </p:cNvSpPr>
          <p:nvPr>
            <p:ph type="body" sz="quarter" idx="60"/>
          </p:nvPr>
        </p:nvSpPr>
        <p:spPr>
          <a:xfrm>
            <a:off x="6350747" y="5469269"/>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46" name="Straight Connector 45">
            <a:extLst>
              <a:ext uri="{FF2B5EF4-FFF2-40B4-BE49-F238E27FC236}">
                <a16:creationId xmlns:a16="http://schemas.microsoft.com/office/drawing/2014/main" id="{AFDBC548-3501-DC1E-E554-DB69DF9706EB}"/>
              </a:ext>
            </a:extLst>
          </p:cNvPr>
          <p:cNvCxnSpPr>
            <a:cxnSpLocks/>
          </p:cNvCxnSpPr>
          <p:nvPr userDrawn="1"/>
        </p:nvCxnSpPr>
        <p:spPr>
          <a:xfrm>
            <a:off x="366916" y="6052535"/>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4D7DE34D-55B7-4DB9-E042-C2773A37B456}"/>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505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s - Opt 2">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68EAFC20-B735-1DA2-D854-385FA28A0EF8}"/>
              </a:ext>
            </a:extLst>
          </p:cNvPr>
          <p:cNvSpPr txBox="1">
            <a:spLocks/>
          </p:cNvSpPr>
          <p:nvPr userDrawn="1"/>
        </p:nvSpPr>
        <p:spPr>
          <a:xfrm>
            <a:off x="346126" y="311961"/>
            <a:ext cx="5623999" cy="738664"/>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a:t>Contents</a:t>
            </a:r>
          </a:p>
        </p:txBody>
      </p:sp>
      <p:sp>
        <p:nvSpPr>
          <p:cNvPr id="4" name="Text Placeholder 17">
            <a:extLst>
              <a:ext uri="{FF2B5EF4-FFF2-40B4-BE49-F238E27FC236}">
                <a16:creationId xmlns:a16="http://schemas.microsoft.com/office/drawing/2014/main" id="{432C49D9-4F6F-EDE7-972B-7AC955CE677A}"/>
              </a:ext>
            </a:extLst>
          </p:cNvPr>
          <p:cNvSpPr>
            <a:spLocks noGrp="1"/>
          </p:cNvSpPr>
          <p:nvPr>
            <p:ph type="body" sz="quarter" idx="46"/>
          </p:nvPr>
        </p:nvSpPr>
        <p:spPr>
          <a:xfrm>
            <a:off x="1875332" y="1579076"/>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5" name="Text Placeholder 17">
            <a:extLst>
              <a:ext uri="{FF2B5EF4-FFF2-40B4-BE49-F238E27FC236}">
                <a16:creationId xmlns:a16="http://schemas.microsoft.com/office/drawing/2014/main" id="{8E80D400-447C-A28E-F3CD-3C0EAB6E3735}"/>
              </a:ext>
            </a:extLst>
          </p:cNvPr>
          <p:cNvSpPr>
            <a:spLocks noGrp="1"/>
          </p:cNvSpPr>
          <p:nvPr>
            <p:ph type="body" sz="quarter" idx="47" hasCustomPrompt="1"/>
          </p:nvPr>
        </p:nvSpPr>
        <p:spPr>
          <a:xfrm>
            <a:off x="366916" y="1487736"/>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8" name="Text Placeholder 17">
            <a:extLst>
              <a:ext uri="{FF2B5EF4-FFF2-40B4-BE49-F238E27FC236}">
                <a16:creationId xmlns:a16="http://schemas.microsoft.com/office/drawing/2014/main" id="{87B52608-EDC9-FBEA-351F-9D1FB164774C}"/>
              </a:ext>
            </a:extLst>
          </p:cNvPr>
          <p:cNvSpPr>
            <a:spLocks noGrp="1"/>
          </p:cNvSpPr>
          <p:nvPr>
            <p:ph type="body" sz="quarter" idx="48"/>
          </p:nvPr>
        </p:nvSpPr>
        <p:spPr>
          <a:xfrm>
            <a:off x="6350747" y="1616779"/>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9" name="Straight Connector 8">
            <a:extLst>
              <a:ext uri="{FF2B5EF4-FFF2-40B4-BE49-F238E27FC236}">
                <a16:creationId xmlns:a16="http://schemas.microsoft.com/office/drawing/2014/main" id="{FA51BA71-843F-E604-8460-D6B56CB4D8DF}"/>
              </a:ext>
            </a:extLst>
          </p:cNvPr>
          <p:cNvCxnSpPr>
            <a:cxnSpLocks/>
          </p:cNvCxnSpPr>
          <p:nvPr userDrawn="1"/>
        </p:nvCxnSpPr>
        <p:spPr>
          <a:xfrm>
            <a:off x="366916" y="220553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 Placeholder 17">
            <a:extLst>
              <a:ext uri="{FF2B5EF4-FFF2-40B4-BE49-F238E27FC236}">
                <a16:creationId xmlns:a16="http://schemas.microsoft.com/office/drawing/2014/main" id="{FD1D5107-127F-CB2B-FA4D-E92CCE59C599}"/>
              </a:ext>
            </a:extLst>
          </p:cNvPr>
          <p:cNvSpPr>
            <a:spLocks noGrp="1"/>
          </p:cNvSpPr>
          <p:nvPr>
            <p:ph type="body" sz="quarter" idx="49"/>
          </p:nvPr>
        </p:nvSpPr>
        <p:spPr>
          <a:xfrm>
            <a:off x="1875332" y="2542197"/>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11" name="Text Placeholder 17">
            <a:extLst>
              <a:ext uri="{FF2B5EF4-FFF2-40B4-BE49-F238E27FC236}">
                <a16:creationId xmlns:a16="http://schemas.microsoft.com/office/drawing/2014/main" id="{DAB91E73-56C2-824D-62D2-31C94C612557}"/>
              </a:ext>
            </a:extLst>
          </p:cNvPr>
          <p:cNvSpPr>
            <a:spLocks noGrp="1"/>
          </p:cNvSpPr>
          <p:nvPr>
            <p:ph type="body" sz="quarter" idx="50" hasCustomPrompt="1"/>
          </p:nvPr>
        </p:nvSpPr>
        <p:spPr>
          <a:xfrm>
            <a:off x="366916" y="2450857"/>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12" name="Text Placeholder 17">
            <a:extLst>
              <a:ext uri="{FF2B5EF4-FFF2-40B4-BE49-F238E27FC236}">
                <a16:creationId xmlns:a16="http://schemas.microsoft.com/office/drawing/2014/main" id="{4D0F0D18-4DF1-8062-C278-F4B7611FDA80}"/>
              </a:ext>
            </a:extLst>
          </p:cNvPr>
          <p:cNvSpPr>
            <a:spLocks noGrp="1"/>
          </p:cNvSpPr>
          <p:nvPr>
            <p:ph type="body" sz="quarter" idx="51"/>
          </p:nvPr>
        </p:nvSpPr>
        <p:spPr>
          <a:xfrm>
            <a:off x="6350747" y="2579901"/>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13" name="Straight Connector 12">
            <a:extLst>
              <a:ext uri="{FF2B5EF4-FFF2-40B4-BE49-F238E27FC236}">
                <a16:creationId xmlns:a16="http://schemas.microsoft.com/office/drawing/2014/main" id="{C201F849-E6DC-5807-9769-30FADE8BA63F}"/>
              </a:ext>
            </a:extLst>
          </p:cNvPr>
          <p:cNvCxnSpPr>
            <a:cxnSpLocks/>
          </p:cNvCxnSpPr>
          <p:nvPr userDrawn="1"/>
        </p:nvCxnSpPr>
        <p:spPr>
          <a:xfrm>
            <a:off x="366916" y="31672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Text Placeholder 17">
            <a:extLst>
              <a:ext uri="{FF2B5EF4-FFF2-40B4-BE49-F238E27FC236}">
                <a16:creationId xmlns:a16="http://schemas.microsoft.com/office/drawing/2014/main" id="{26DA4313-F18A-1AC9-B916-1E809948FDEE}"/>
              </a:ext>
            </a:extLst>
          </p:cNvPr>
          <p:cNvSpPr>
            <a:spLocks noGrp="1"/>
          </p:cNvSpPr>
          <p:nvPr>
            <p:ph type="body" sz="quarter" idx="52"/>
          </p:nvPr>
        </p:nvSpPr>
        <p:spPr>
          <a:xfrm>
            <a:off x="1875332" y="3505318"/>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15" name="Text Placeholder 17">
            <a:extLst>
              <a:ext uri="{FF2B5EF4-FFF2-40B4-BE49-F238E27FC236}">
                <a16:creationId xmlns:a16="http://schemas.microsoft.com/office/drawing/2014/main" id="{98A45697-678E-48DC-974C-CA3CC9108C55}"/>
              </a:ext>
            </a:extLst>
          </p:cNvPr>
          <p:cNvSpPr>
            <a:spLocks noGrp="1"/>
          </p:cNvSpPr>
          <p:nvPr>
            <p:ph type="body" sz="quarter" idx="53" hasCustomPrompt="1"/>
          </p:nvPr>
        </p:nvSpPr>
        <p:spPr>
          <a:xfrm>
            <a:off x="366916" y="3413978"/>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16" name="Text Placeholder 17">
            <a:extLst>
              <a:ext uri="{FF2B5EF4-FFF2-40B4-BE49-F238E27FC236}">
                <a16:creationId xmlns:a16="http://schemas.microsoft.com/office/drawing/2014/main" id="{6DA8F463-2FA7-DA84-EF93-71EDC296BAF9}"/>
              </a:ext>
            </a:extLst>
          </p:cNvPr>
          <p:cNvSpPr>
            <a:spLocks noGrp="1"/>
          </p:cNvSpPr>
          <p:nvPr>
            <p:ph type="body" sz="quarter" idx="54"/>
          </p:nvPr>
        </p:nvSpPr>
        <p:spPr>
          <a:xfrm>
            <a:off x="6350747" y="3543023"/>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17" name="Straight Connector 16">
            <a:extLst>
              <a:ext uri="{FF2B5EF4-FFF2-40B4-BE49-F238E27FC236}">
                <a16:creationId xmlns:a16="http://schemas.microsoft.com/office/drawing/2014/main" id="{607C3289-04BC-9554-CF59-57EC3951BF0E}"/>
              </a:ext>
            </a:extLst>
          </p:cNvPr>
          <p:cNvCxnSpPr>
            <a:cxnSpLocks/>
          </p:cNvCxnSpPr>
          <p:nvPr userDrawn="1"/>
        </p:nvCxnSpPr>
        <p:spPr>
          <a:xfrm>
            <a:off x="366916" y="412903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Text Placeholder 17">
            <a:extLst>
              <a:ext uri="{FF2B5EF4-FFF2-40B4-BE49-F238E27FC236}">
                <a16:creationId xmlns:a16="http://schemas.microsoft.com/office/drawing/2014/main" id="{EBF3DDD0-22E7-000D-146A-B231BEDF576D}"/>
              </a:ext>
            </a:extLst>
          </p:cNvPr>
          <p:cNvSpPr>
            <a:spLocks noGrp="1"/>
          </p:cNvSpPr>
          <p:nvPr>
            <p:ph type="body" sz="quarter" idx="55"/>
          </p:nvPr>
        </p:nvSpPr>
        <p:spPr>
          <a:xfrm>
            <a:off x="1875332" y="4468439"/>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19" name="Text Placeholder 17">
            <a:extLst>
              <a:ext uri="{FF2B5EF4-FFF2-40B4-BE49-F238E27FC236}">
                <a16:creationId xmlns:a16="http://schemas.microsoft.com/office/drawing/2014/main" id="{5C7DE4FB-42D0-E28E-C9C8-B420E09AD531}"/>
              </a:ext>
            </a:extLst>
          </p:cNvPr>
          <p:cNvSpPr>
            <a:spLocks noGrp="1"/>
          </p:cNvSpPr>
          <p:nvPr>
            <p:ph type="body" sz="quarter" idx="56" hasCustomPrompt="1"/>
          </p:nvPr>
        </p:nvSpPr>
        <p:spPr>
          <a:xfrm>
            <a:off x="366916" y="4377099"/>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20" name="Text Placeholder 17">
            <a:extLst>
              <a:ext uri="{FF2B5EF4-FFF2-40B4-BE49-F238E27FC236}">
                <a16:creationId xmlns:a16="http://schemas.microsoft.com/office/drawing/2014/main" id="{95604432-9AD7-598E-641C-06C67FA485BC}"/>
              </a:ext>
            </a:extLst>
          </p:cNvPr>
          <p:cNvSpPr>
            <a:spLocks noGrp="1"/>
          </p:cNvSpPr>
          <p:nvPr>
            <p:ph type="body" sz="quarter" idx="57"/>
          </p:nvPr>
        </p:nvSpPr>
        <p:spPr>
          <a:xfrm>
            <a:off x="6350747" y="4506145"/>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21" name="Straight Connector 20">
            <a:extLst>
              <a:ext uri="{FF2B5EF4-FFF2-40B4-BE49-F238E27FC236}">
                <a16:creationId xmlns:a16="http://schemas.microsoft.com/office/drawing/2014/main" id="{4A4C4002-E92D-B339-D5CC-C6A8DA24332D}"/>
              </a:ext>
            </a:extLst>
          </p:cNvPr>
          <p:cNvCxnSpPr>
            <a:cxnSpLocks/>
          </p:cNvCxnSpPr>
          <p:nvPr userDrawn="1"/>
        </p:nvCxnSpPr>
        <p:spPr>
          <a:xfrm>
            <a:off x="366916" y="5090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05BFD8F-D692-F5DE-2FFF-FDD2E0E58721}"/>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9182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s - Opt 3">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042E741-CAC6-664C-84CD-3BAC08B9D53D}"/>
              </a:ext>
            </a:extLst>
          </p:cNvPr>
          <p:cNvSpPr txBox="1">
            <a:spLocks/>
          </p:cNvSpPr>
          <p:nvPr userDrawn="1"/>
        </p:nvSpPr>
        <p:spPr>
          <a:xfrm>
            <a:off x="346126" y="311961"/>
            <a:ext cx="5623999" cy="738664"/>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a:t>Contents</a:t>
            </a:r>
          </a:p>
        </p:txBody>
      </p:sp>
      <p:cxnSp>
        <p:nvCxnSpPr>
          <p:cNvPr id="2" name="Straight Connector 1">
            <a:extLst>
              <a:ext uri="{FF2B5EF4-FFF2-40B4-BE49-F238E27FC236}">
                <a16:creationId xmlns:a16="http://schemas.microsoft.com/office/drawing/2014/main" id="{17C4735F-FDD2-2FC4-5E83-F12C4B873202}"/>
              </a:ext>
            </a:extLst>
          </p:cNvPr>
          <p:cNvCxnSpPr>
            <a:cxnSpLocks/>
          </p:cNvCxnSpPr>
          <p:nvPr userDrawn="1"/>
        </p:nvCxnSpPr>
        <p:spPr>
          <a:xfrm>
            <a:off x="366916" y="31672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Text Placeholder 17">
            <a:extLst>
              <a:ext uri="{FF2B5EF4-FFF2-40B4-BE49-F238E27FC236}">
                <a16:creationId xmlns:a16="http://schemas.microsoft.com/office/drawing/2014/main" id="{D4913A53-AC18-CE35-83F6-1FEB00B226D8}"/>
              </a:ext>
            </a:extLst>
          </p:cNvPr>
          <p:cNvSpPr>
            <a:spLocks noGrp="1"/>
          </p:cNvSpPr>
          <p:nvPr>
            <p:ph type="body" sz="quarter" idx="52"/>
          </p:nvPr>
        </p:nvSpPr>
        <p:spPr>
          <a:xfrm>
            <a:off x="1875332" y="3505318"/>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4" name="Text Placeholder 17">
            <a:extLst>
              <a:ext uri="{FF2B5EF4-FFF2-40B4-BE49-F238E27FC236}">
                <a16:creationId xmlns:a16="http://schemas.microsoft.com/office/drawing/2014/main" id="{C2728A09-D888-A28E-36E6-CC138B24DEBF}"/>
              </a:ext>
            </a:extLst>
          </p:cNvPr>
          <p:cNvSpPr>
            <a:spLocks noGrp="1"/>
          </p:cNvSpPr>
          <p:nvPr>
            <p:ph type="body" sz="quarter" idx="53" hasCustomPrompt="1"/>
          </p:nvPr>
        </p:nvSpPr>
        <p:spPr>
          <a:xfrm>
            <a:off x="366916" y="3413978"/>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5" name="Text Placeholder 17">
            <a:extLst>
              <a:ext uri="{FF2B5EF4-FFF2-40B4-BE49-F238E27FC236}">
                <a16:creationId xmlns:a16="http://schemas.microsoft.com/office/drawing/2014/main" id="{6B3D9EAA-1CD5-3071-3473-B50CDA37D719}"/>
              </a:ext>
            </a:extLst>
          </p:cNvPr>
          <p:cNvSpPr>
            <a:spLocks noGrp="1"/>
          </p:cNvSpPr>
          <p:nvPr>
            <p:ph type="body" sz="quarter" idx="54"/>
          </p:nvPr>
        </p:nvSpPr>
        <p:spPr>
          <a:xfrm>
            <a:off x="6350747" y="3543023"/>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7" name="Straight Connector 6">
            <a:extLst>
              <a:ext uri="{FF2B5EF4-FFF2-40B4-BE49-F238E27FC236}">
                <a16:creationId xmlns:a16="http://schemas.microsoft.com/office/drawing/2014/main" id="{0FBBF35B-B312-CA0B-B7BD-E68201CDA4B4}"/>
              </a:ext>
            </a:extLst>
          </p:cNvPr>
          <p:cNvCxnSpPr>
            <a:cxnSpLocks/>
          </p:cNvCxnSpPr>
          <p:nvPr userDrawn="1"/>
        </p:nvCxnSpPr>
        <p:spPr>
          <a:xfrm>
            <a:off x="366916" y="412903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Text Placeholder 17">
            <a:extLst>
              <a:ext uri="{FF2B5EF4-FFF2-40B4-BE49-F238E27FC236}">
                <a16:creationId xmlns:a16="http://schemas.microsoft.com/office/drawing/2014/main" id="{3E88F02B-21A9-7B35-5208-960EC6B3724F}"/>
              </a:ext>
            </a:extLst>
          </p:cNvPr>
          <p:cNvSpPr>
            <a:spLocks noGrp="1"/>
          </p:cNvSpPr>
          <p:nvPr>
            <p:ph type="body" sz="quarter" idx="55"/>
          </p:nvPr>
        </p:nvSpPr>
        <p:spPr>
          <a:xfrm>
            <a:off x="1875332" y="4468439"/>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9" name="Text Placeholder 17">
            <a:extLst>
              <a:ext uri="{FF2B5EF4-FFF2-40B4-BE49-F238E27FC236}">
                <a16:creationId xmlns:a16="http://schemas.microsoft.com/office/drawing/2014/main" id="{3CB83662-9F5B-969E-B37A-1899DC8C0FAC}"/>
              </a:ext>
            </a:extLst>
          </p:cNvPr>
          <p:cNvSpPr>
            <a:spLocks noGrp="1"/>
          </p:cNvSpPr>
          <p:nvPr>
            <p:ph type="body" sz="quarter" idx="56" hasCustomPrompt="1"/>
          </p:nvPr>
        </p:nvSpPr>
        <p:spPr>
          <a:xfrm>
            <a:off x="366916" y="4377099"/>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10" name="Text Placeholder 17">
            <a:extLst>
              <a:ext uri="{FF2B5EF4-FFF2-40B4-BE49-F238E27FC236}">
                <a16:creationId xmlns:a16="http://schemas.microsoft.com/office/drawing/2014/main" id="{528A1D9E-4D5B-5036-BC8A-39F3BDB4747C}"/>
              </a:ext>
            </a:extLst>
          </p:cNvPr>
          <p:cNvSpPr>
            <a:spLocks noGrp="1"/>
          </p:cNvSpPr>
          <p:nvPr>
            <p:ph type="body" sz="quarter" idx="57"/>
          </p:nvPr>
        </p:nvSpPr>
        <p:spPr>
          <a:xfrm>
            <a:off x="6350747" y="4506145"/>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11" name="Straight Connector 10">
            <a:extLst>
              <a:ext uri="{FF2B5EF4-FFF2-40B4-BE49-F238E27FC236}">
                <a16:creationId xmlns:a16="http://schemas.microsoft.com/office/drawing/2014/main" id="{88CED963-9E28-BA19-70A0-A1367F1BFC11}"/>
              </a:ext>
            </a:extLst>
          </p:cNvPr>
          <p:cNvCxnSpPr>
            <a:cxnSpLocks/>
          </p:cNvCxnSpPr>
          <p:nvPr userDrawn="1"/>
        </p:nvCxnSpPr>
        <p:spPr>
          <a:xfrm>
            <a:off x="366916" y="5090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2" name="Text Placeholder 17">
            <a:extLst>
              <a:ext uri="{FF2B5EF4-FFF2-40B4-BE49-F238E27FC236}">
                <a16:creationId xmlns:a16="http://schemas.microsoft.com/office/drawing/2014/main" id="{8A44C202-F0DA-26D8-5BEB-0346D848675C}"/>
              </a:ext>
            </a:extLst>
          </p:cNvPr>
          <p:cNvSpPr>
            <a:spLocks noGrp="1"/>
          </p:cNvSpPr>
          <p:nvPr>
            <p:ph type="body" sz="quarter" idx="58"/>
          </p:nvPr>
        </p:nvSpPr>
        <p:spPr>
          <a:xfrm>
            <a:off x="1875332" y="5431562"/>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13" name="Text Placeholder 17">
            <a:extLst>
              <a:ext uri="{FF2B5EF4-FFF2-40B4-BE49-F238E27FC236}">
                <a16:creationId xmlns:a16="http://schemas.microsoft.com/office/drawing/2014/main" id="{D9D0BA97-6FE1-79B9-A17A-5B7E00FF9EA2}"/>
              </a:ext>
            </a:extLst>
          </p:cNvPr>
          <p:cNvSpPr>
            <a:spLocks noGrp="1"/>
          </p:cNvSpPr>
          <p:nvPr>
            <p:ph type="body" sz="quarter" idx="59" hasCustomPrompt="1"/>
          </p:nvPr>
        </p:nvSpPr>
        <p:spPr>
          <a:xfrm>
            <a:off x="366916" y="5340222"/>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14" name="Text Placeholder 17">
            <a:extLst>
              <a:ext uri="{FF2B5EF4-FFF2-40B4-BE49-F238E27FC236}">
                <a16:creationId xmlns:a16="http://schemas.microsoft.com/office/drawing/2014/main" id="{FB90C277-F5F8-BA5F-E1FC-4620DA2D6923}"/>
              </a:ext>
            </a:extLst>
          </p:cNvPr>
          <p:cNvSpPr>
            <a:spLocks noGrp="1"/>
          </p:cNvSpPr>
          <p:nvPr>
            <p:ph type="body" sz="quarter" idx="60"/>
          </p:nvPr>
        </p:nvSpPr>
        <p:spPr>
          <a:xfrm>
            <a:off x="6350747" y="5469269"/>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15" name="Straight Connector 14">
            <a:extLst>
              <a:ext uri="{FF2B5EF4-FFF2-40B4-BE49-F238E27FC236}">
                <a16:creationId xmlns:a16="http://schemas.microsoft.com/office/drawing/2014/main" id="{82874A42-88EC-4E10-038E-D236C7872F61}"/>
              </a:ext>
            </a:extLst>
          </p:cNvPr>
          <p:cNvCxnSpPr>
            <a:cxnSpLocks/>
          </p:cNvCxnSpPr>
          <p:nvPr userDrawn="1"/>
        </p:nvCxnSpPr>
        <p:spPr>
          <a:xfrm>
            <a:off x="366916" y="6052535"/>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2531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D63143A7-05D1-3997-E3D4-C010D81A4611}"/>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sp>
        <p:nvSpPr>
          <p:cNvPr id="2" name="Footer Placeholder 1">
            <a:extLst>
              <a:ext uri="{FF2B5EF4-FFF2-40B4-BE49-F238E27FC236}">
                <a16:creationId xmlns:a16="http://schemas.microsoft.com/office/drawing/2014/main" id="{C30CD785-0CEF-A5E3-AF23-EC8F19AFD558}"/>
              </a:ext>
            </a:extLst>
          </p:cNvPr>
          <p:cNvSpPr>
            <a:spLocks noGrp="1"/>
          </p:cNvSpPr>
          <p:nvPr>
            <p:ph type="ftr" sz="quarter" idx="10"/>
          </p:nvPr>
        </p:nvSpPr>
        <p:spPr/>
        <p:txBody>
          <a:bodyPr/>
          <a:lstStyle/>
          <a:p>
            <a:r>
              <a:rPr lang="en-US"/>
              <a:t>Abbreviations</a:t>
            </a:r>
          </a:p>
        </p:txBody>
      </p:sp>
      <p:cxnSp>
        <p:nvCxnSpPr>
          <p:cNvPr id="4" name="Straight Connector 3">
            <a:extLst>
              <a:ext uri="{FF2B5EF4-FFF2-40B4-BE49-F238E27FC236}">
                <a16:creationId xmlns:a16="http://schemas.microsoft.com/office/drawing/2014/main" id="{29BEBA64-D2E4-8A2C-80E8-D3C7433BA4BB}"/>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7974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Content Col 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67ADF7-45CB-3998-769C-3E30A60AA65F}"/>
              </a:ext>
            </a:extLst>
          </p:cNvPr>
          <p:cNvSpPr>
            <a:spLocks noGrp="1"/>
          </p:cNvSpPr>
          <p:nvPr>
            <p:ph idx="1"/>
          </p:nvPr>
        </p:nvSpPr>
        <p:spPr>
          <a:xfrm>
            <a:off x="358337" y="1459884"/>
            <a:ext cx="11470125"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BD558EAA-3243-0037-3BFF-C297B998FCF7}"/>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itle Placeholder 1">
            <a:extLst>
              <a:ext uri="{FF2B5EF4-FFF2-40B4-BE49-F238E27FC236}">
                <a16:creationId xmlns:a16="http://schemas.microsoft.com/office/drawing/2014/main" id="{01062856-4A49-5C09-163B-65AC1B2255EC}"/>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sp>
        <p:nvSpPr>
          <p:cNvPr id="5" name="Footer Placeholder 4">
            <a:extLst>
              <a:ext uri="{FF2B5EF4-FFF2-40B4-BE49-F238E27FC236}">
                <a16:creationId xmlns:a16="http://schemas.microsoft.com/office/drawing/2014/main" id="{593F4E7E-ACEE-5CA0-F83B-0FD72C48D8EC}"/>
              </a:ext>
            </a:extLst>
          </p:cNvPr>
          <p:cNvSpPr>
            <a:spLocks noGrp="1"/>
          </p:cNvSpPr>
          <p:nvPr>
            <p:ph type="ftr" sz="quarter" idx="10"/>
          </p:nvPr>
        </p:nvSpPr>
        <p:spPr/>
        <p:txBody>
          <a:bodyPr/>
          <a:lstStyle>
            <a:lvl1pPr>
              <a:defRPr>
                <a:solidFill>
                  <a:schemeClr val="tx1">
                    <a:lumMod val="65000"/>
                    <a:lumOff val="35000"/>
                  </a:schemeClr>
                </a:solidFill>
              </a:defRPr>
            </a:lvl1pPr>
          </a:lstStyle>
          <a:p>
            <a:r>
              <a:rPr lang="en-US"/>
              <a:t>Abbreviations</a:t>
            </a:r>
          </a:p>
        </p:txBody>
      </p:sp>
    </p:spTree>
    <p:extLst>
      <p:ext uri="{BB962C8B-B14F-4D97-AF65-F5344CB8AC3E}">
        <p14:creationId xmlns:p14="http://schemas.microsoft.com/office/powerpoint/2010/main" val="2265709560"/>
      </p:ext>
    </p:extLst>
  </p:cSld>
  <p:clrMapOvr>
    <a:masterClrMapping/>
  </p:clrMapOvr>
  <p:extLst>
    <p:ext uri="{DCECCB84-F9BA-43D5-87BE-67443E8EF086}">
      <p15:sldGuideLst xmlns:p15="http://schemas.microsoft.com/office/powerpoint/2012/main">
        <p15:guide id="1" orient="horz" pos="92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Content Col 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67ADF7-45CB-3998-769C-3E30A60AA65F}"/>
              </a:ext>
            </a:extLst>
          </p:cNvPr>
          <p:cNvSpPr>
            <a:spLocks noGrp="1"/>
          </p:cNvSpPr>
          <p:nvPr>
            <p:ph idx="1"/>
          </p:nvPr>
        </p:nvSpPr>
        <p:spPr>
          <a:xfrm>
            <a:off x="358337" y="1459884"/>
            <a:ext cx="5495544"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BD558EAA-3243-0037-3BFF-C297B998FCF7}"/>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itle Placeholder 1">
            <a:extLst>
              <a:ext uri="{FF2B5EF4-FFF2-40B4-BE49-F238E27FC236}">
                <a16:creationId xmlns:a16="http://schemas.microsoft.com/office/drawing/2014/main" id="{01062856-4A49-5C09-163B-65AC1B2255EC}"/>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sp>
        <p:nvSpPr>
          <p:cNvPr id="5" name="Footer Placeholder 4">
            <a:extLst>
              <a:ext uri="{FF2B5EF4-FFF2-40B4-BE49-F238E27FC236}">
                <a16:creationId xmlns:a16="http://schemas.microsoft.com/office/drawing/2014/main" id="{593F4E7E-ACEE-5CA0-F83B-0FD72C48D8EC}"/>
              </a:ext>
            </a:extLst>
          </p:cNvPr>
          <p:cNvSpPr>
            <a:spLocks noGrp="1"/>
          </p:cNvSpPr>
          <p:nvPr>
            <p:ph type="ftr" sz="quarter" idx="10"/>
          </p:nvPr>
        </p:nvSpPr>
        <p:spPr/>
        <p:txBody>
          <a:bodyPr/>
          <a:lstStyle>
            <a:lvl1pPr>
              <a:defRPr>
                <a:solidFill>
                  <a:schemeClr val="tx1">
                    <a:lumMod val="65000"/>
                    <a:lumOff val="35000"/>
                  </a:schemeClr>
                </a:solidFill>
              </a:defRPr>
            </a:lvl1pPr>
          </a:lstStyle>
          <a:p>
            <a:r>
              <a:rPr lang="en-US"/>
              <a:t>Abbreviations</a:t>
            </a:r>
          </a:p>
        </p:txBody>
      </p:sp>
      <p:sp>
        <p:nvSpPr>
          <p:cNvPr id="2" name="Content Placeholder 2">
            <a:extLst>
              <a:ext uri="{FF2B5EF4-FFF2-40B4-BE49-F238E27FC236}">
                <a16:creationId xmlns:a16="http://schemas.microsoft.com/office/drawing/2014/main" id="{85271A2D-93F3-0E1C-FE8D-9DBE638DCEB4}"/>
              </a:ext>
            </a:extLst>
          </p:cNvPr>
          <p:cNvSpPr>
            <a:spLocks noGrp="1"/>
          </p:cNvSpPr>
          <p:nvPr>
            <p:ph idx="11"/>
          </p:nvPr>
        </p:nvSpPr>
        <p:spPr>
          <a:xfrm>
            <a:off x="6332918" y="1459884"/>
            <a:ext cx="5495544"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5433225"/>
      </p:ext>
    </p:extLst>
  </p:cSld>
  <p:clrMapOvr>
    <a:masterClrMapping/>
  </p:clrMapOvr>
  <p:extLst>
    <p:ext uri="{DCECCB84-F9BA-43D5-87BE-67443E8EF086}">
      <p15:sldGuideLst xmlns:p15="http://schemas.microsoft.com/office/powerpoint/2012/main">
        <p15:guide id="1" orient="horz" pos="92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Content Col 3">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67ADF7-45CB-3998-769C-3E30A60AA65F}"/>
              </a:ext>
            </a:extLst>
          </p:cNvPr>
          <p:cNvSpPr>
            <a:spLocks noGrp="1"/>
          </p:cNvSpPr>
          <p:nvPr>
            <p:ph idx="1"/>
          </p:nvPr>
        </p:nvSpPr>
        <p:spPr>
          <a:xfrm>
            <a:off x="358337" y="1459884"/>
            <a:ext cx="3502152"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BD558EAA-3243-0037-3BFF-C297B998FCF7}"/>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itle Placeholder 1">
            <a:extLst>
              <a:ext uri="{FF2B5EF4-FFF2-40B4-BE49-F238E27FC236}">
                <a16:creationId xmlns:a16="http://schemas.microsoft.com/office/drawing/2014/main" id="{01062856-4A49-5C09-163B-65AC1B2255EC}"/>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sp>
        <p:nvSpPr>
          <p:cNvPr id="5" name="Footer Placeholder 4">
            <a:extLst>
              <a:ext uri="{FF2B5EF4-FFF2-40B4-BE49-F238E27FC236}">
                <a16:creationId xmlns:a16="http://schemas.microsoft.com/office/drawing/2014/main" id="{593F4E7E-ACEE-5CA0-F83B-0FD72C48D8EC}"/>
              </a:ext>
            </a:extLst>
          </p:cNvPr>
          <p:cNvSpPr>
            <a:spLocks noGrp="1"/>
          </p:cNvSpPr>
          <p:nvPr>
            <p:ph type="ftr" sz="quarter" idx="10"/>
          </p:nvPr>
        </p:nvSpPr>
        <p:spPr/>
        <p:txBody>
          <a:bodyPr/>
          <a:lstStyle>
            <a:lvl1pPr>
              <a:defRPr>
                <a:solidFill>
                  <a:schemeClr val="tx1">
                    <a:lumMod val="65000"/>
                    <a:lumOff val="35000"/>
                  </a:schemeClr>
                </a:solidFill>
              </a:defRPr>
            </a:lvl1pPr>
          </a:lstStyle>
          <a:p>
            <a:r>
              <a:rPr lang="en-US"/>
              <a:t>Abbreviations</a:t>
            </a:r>
          </a:p>
        </p:txBody>
      </p:sp>
      <p:sp>
        <p:nvSpPr>
          <p:cNvPr id="2" name="Content Placeholder 2">
            <a:extLst>
              <a:ext uri="{FF2B5EF4-FFF2-40B4-BE49-F238E27FC236}">
                <a16:creationId xmlns:a16="http://schemas.microsoft.com/office/drawing/2014/main" id="{85271A2D-93F3-0E1C-FE8D-9DBE638DCEB4}"/>
              </a:ext>
            </a:extLst>
          </p:cNvPr>
          <p:cNvSpPr>
            <a:spLocks noGrp="1"/>
          </p:cNvSpPr>
          <p:nvPr>
            <p:ph idx="11"/>
          </p:nvPr>
        </p:nvSpPr>
        <p:spPr>
          <a:xfrm>
            <a:off x="4342324" y="1459884"/>
            <a:ext cx="3502152"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69665941-19D2-FBD8-540C-16A6854AA8CB}"/>
              </a:ext>
            </a:extLst>
          </p:cNvPr>
          <p:cNvSpPr>
            <a:spLocks noGrp="1"/>
          </p:cNvSpPr>
          <p:nvPr>
            <p:ph idx="12"/>
          </p:nvPr>
        </p:nvSpPr>
        <p:spPr>
          <a:xfrm>
            <a:off x="8326310" y="1459884"/>
            <a:ext cx="3502152"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52860516"/>
      </p:ext>
    </p:extLst>
  </p:cSld>
  <p:clrMapOvr>
    <a:masterClrMapping/>
  </p:clrMapOvr>
  <p:extLst>
    <p:ext uri="{DCECCB84-F9BA-43D5-87BE-67443E8EF086}">
      <p15:sldGuideLst xmlns:p15="http://schemas.microsoft.com/office/powerpoint/2012/main">
        <p15:guide id="1" orient="horz" pos="92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Subtitle + Content Col 2">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24ADF22-3763-B092-AB79-75841181CECE}"/>
              </a:ext>
            </a:extLst>
          </p:cNvPr>
          <p:cNvSpPr>
            <a:spLocks noGrp="1"/>
          </p:cNvSpPr>
          <p:nvPr>
            <p:ph type="body" idx="1"/>
          </p:nvPr>
        </p:nvSpPr>
        <p:spPr>
          <a:xfrm>
            <a:off x="364300" y="1444590"/>
            <a:ext cx="5495544" cy="246221"/>
          </a:xfrm>
          <a:prstGeom prst="rect">
            <a:avLst/>
          </a:prstGeom>
        </p:spPr>
        <p:txBody>
          <a:bodyPr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300" y="2130861"/>
            <a:ext cx="5495544" cy="1538883"/>
          </a:xfrm>
          <a:prstGeom prst="rect">
            <a:avLst/>
          </a:prstGeo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A370B3BE-11C7-C6D1-137B-D87948576C5C}"/>
              </a:ext>
            </a:extLst>
          </p:cNvPr>
          <p:cNvSpPr>
            <a:spLocks noGrp="1"/>
          </p:cNvSpPr>
          <p:nvPr>
            <p:ph type="body" idx="10"/>
          </p:nvPr>
        </p:nvSpPr>
        <p:spPr>
          <a:xfrm>
            <a:off x="6332918" y="1434965"/>
            <a:ext cx="5495544" cy="246221"/>
          </a:xfrm>
          <a:prstGeom prst="rect">
            <a:avLst/>
          </a:prstGeom>
        </p:spPr>
        <p:txBody>
          <a:bodyPr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3">
            <a:extLst>
              <a:ext uri="{FF2B5EF4-FFF2-40B4-BE49-F238E27FC236}">
                <a16:creationId xmlns:a16="http://schemas.microsoft.com/office/drawing/2014/main" id="{6B84C3AF-B98F-D4FA-FE57-5457BCE9DCF8}"/>
              </a:ext>
            </a:extLst>
          </p:cNvPr>
          <p:cNvSpPr>
            <a:spLocks noGrp="1"/>
          </p:cNvSpPr>
          <p:nvPr>
            <p:ph sz="half" idx="11"/>
          </p:nvPr>
        </p:nvSpPr>
        <p:spPr>
          <a:xfrm>
            <a:off x="6332918" y="2130861"/>
            <a:ext cx="5495544" cy="1538883"/>
          </a:xfrm>
          <a:prstGeom prst="rect">
            <a:avLst/>
          </a:prstGeo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0216F187-BD10-0F81-5A6A-A6C1827014CF}"/>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7" name="Straight Connector 6">
            <a:extLst>
              <a:ext uri="{FF2B5EF4-FFF2-40B4-BE49-F238E27FC236}">
                <a16:creationId xmlns:a16="http://schemas.microsoft.com/office/drawing/2014/main" id="{3A3D2B01-CD3B-A5FF-3978-9502CFBFEF0C}"/>
              </a:ext>
            </a:extLst>
          </p:cNvPr>
          <p:cNvCxnSpPr>
            <a:cxnSpLocks/>
          </p:cNvCxnSpPr>
          <p:nvPr userDrawn="1"/>
        </p:nvCxnSpPr>
        <p:spPr>
          <a:xfrm>
            <a:off x="364300" y="1243783"/>
            <a:ext cx="54955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C0B1103-140E-0566-C5B6-64EDA438FE61}"/>
              </a:ext>
            </a:extLst>
          </p:cNvPr>
          <p:cNvCxnSpPr>
            <a:cxnSpLocks/>
          </p:cNvCxnSpPr>
          <p:nvPr userDrawn="1"/>
        </p:nvCxnSpPr>
        <p:spPr>
          <a:xfrm>
            <a:off x="6332918" y="1243783"/>
            <a:ext cx="54955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106C5980-CF33-76A9-15C2-1648AC1BA0DB}"/>
              </a:ext>
            </a:extLst>
          </p:cNvPr>
          <p:cNvSpPr>
            <a:spLocks noGrp="1"/>
          </p:cNvSpPr>
          <p:nvPr>
            <p:ph type="ftr" sz="quarter" idx="12"/>
          </p:nvPr>
        </p:nvSpPr>
        <p:spPr/>
        <p:txBody>
          <a:bodyPr/>
          <a:lstStyle/>
          <a:p>
            <a:r>
              <a:rPr lang="en-US"/>
              <a:t>Abbreviations</a:t>
            </a:r>
          </a:p>
        </p:txBody>
      </p:sp>
    </p:spTree>
    <p:extLst>
      <p:ext uri="{BB962C8B-B14F-4D97-AF65-F5344CB8AC3E}">
        <p14:creationId xmlns:p14="http://schemas.microsoft.com/office/powerpoint/2010/main" val="14986056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Subtitle + Content Col 3">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24ADF22-3763-B092-AB79-75841181CECE}"/>
              </a:ext>
            </a:extLst>
          </p:cNvPr>
          <p:cNvSpPr>
            <a:spLocks noGrp="1"/>
          </p:cNvSpPr>
          <p:nvPr>
            <p:ph type="body" idx="1"/>
          </p:nvPr>
        </p:nvSpPr>
        <p:spPr>
          <a:xfrm>
            <a:off x="364300" y="1444590"/>
            <a:ext cx="3502152" cy="246221"/>
          </a:xfrm>
          <a:prstGeom prst="rect">
            <a:avLst/>
          </a:prstGeom>
        </p:spPr>
        <p:txBody>
          <a:bodyPr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300" y="2130861"/>
            <a:ext cx="3502152" cy="1538883"/>
          </a:xfrm>
          <a:prstGeom prst="rect">
            <a:avLst/>
          </a:prstGeo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2">
            <a:extLst>
              <a:ext uri="{FF2B5EF4-FFF2-40B4-BE49-F238E27FC236}">
                <a16:creationId xmlns:a16="http://schemas.microsoft.com/office/drawing/2014/main" id="{50C94F9D-BC47-9469-2129-B2638B1165AB}"/>
              </a:ext>
            </a:extLst>
          </p:cNvPr>
          <p:cNvSpPr>
            <a:spLocks noGrp="1"/>
          </p:cNvSpPr>
          <p:nvPr>
            <p:ph type="body" idx="10"/>
          </p:nvPr>
        </p:nvSpPr>
        <p:spPr>
          <a:xfrm>
            <a:off x="4345305" y="1444590"/>
            <a:ext cx="3502152" cy="246221"/>
          </a:xfrm>
          <a:prstGeom prst="rect">
            <a:avLst/>
          </a:prstGeom>
        </p:spPr>
        <p:txBody>
          <a:bodyPr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Content Placeholder 3">
            <a:extLst>
              <a:ext uri="{FF2B5EF4-FFF2-40B4-BE49-F238E27FC236}">
                <a16:creationId xmlns:a16="http://schemas.microsoft.com/office/drawing/2014/main" id="{7C6A7793-55BE-EF41-5B2C-4C84C7F04572}"/>
              </a:ext>
            </a:extLst>
          </p:cNvPr>
          <p:cNvSpPr>
            <a:spLocks noGrp="1"/>
          </p:cNvSpPr>
          <p:nvPr>
            <p:ph sz="half" idx="11"/>
          </p:nvPr>
        </p:nvSpPr>
        <p:spPr>
          <a:xfrm>
            <a:off x="4345305" y="2130861"/>
            <a:ext cx="3502152" cy="1538883"/>
          </a:xfrm>
          <a:prstGeom prst="rect">
            <a:avLst/>
          </a:prstGeo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4356D6D3-F794-2D15-C509-A1DCF57FA7EB}"/>
              </a:ext>
            </a:extLst>
          </p:cNvPr>
          <p:cNvSpPr>
            <a:spLocks noGrp="1"/>
          </p:cNvSpPr>
          <p:nvPr>
            <p:ph type="body" idx="12"/>
          </p:nvPr>
        </p:nvSpPr>
        <p:spPr>
          <a:xfrm>
            <a:off x="8326310" y="1444590"/>
            <a:ext cx="3502152" cy="246221"/>
          </a:xfrm>
          <a:prstGeom prst="rect">
            <a:avLst/>
          </a:prstGeom>
        </p:spPr>
        <p:txBody>
          <a:bodyPr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a:extLst>
              <a:ext uri="{FF2B5EF4-FFF2-40B4-BE49-F238E27FC236}">
                <a16:creationId xmlns:a16="http://schemas.microsoft.com/office/drawing/2014/main" id="{ADF927A1-454B-ACE6-4FDF-D003AC770C92}"/>
              </a:ext>
            </a:extLst>
          </p:cNvPr>
          <p:cNvSpPr>
            <a:spLocks noGrp="1"/>
          </p:cNvSpPr>
          <p:nvPr>
            <p:ph sz="half" idx="13"/>
          </p:nvPr>
        </p:nvSpPr>
        <p:spPr>
          <a:xfrm>
            <a:off x="8326310" y="2130861"/>
            <a:ext cx="3502152" cy="1538883"/>
          </a:xfrm>
          <a:prstGeom prst="rect">
            <a:avLst/>
          </a:prstGeo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Placeholder 1">
            <a:extLst>
              <a:ext uri="{FF2B5EF4-FFF2-40B4-BE49-F238E27FC236}">
                <a16:creationId xmlns:a16="http://schemas.microsoft.com/office/drawing/2014/main" id="{CE396B71-6A7A-4CFE-8F5A-69D6FC28D165}"/>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15" name="Straight Connector 14">
            <a:extLst>
              <a:ext uri="{FF2B5EF4-FFF2-40B4-BE49-F238E27FC236}">
                <a16:creationId xmlns:a16="http://schemas.microsoft.com/office/drawing/2014/main" id="{B8A790AF-BBD1-A959-C789-84CA7E2A91A0}"/>
              </a:ext>
            </a:extLst>
          </p:cNvPr>
          <p:cNvCxnSpPr>
            <a:cxnSpLocks/>
          </p:cNvCxnSpPr>
          <p:nvPr userDrawn="1"/>
        </p:nvCxnSpPr>
        <p:spPr>
          <a:xfrm>
            <a:off x="364300"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359A254-6BC2-9859-F7C1-F96C7976F9C6}"/>
              </a:ext>
            </a:extLst>
          </p:cNvPr>
          <p:cNvCxnSpPr>
            <a:cxnSpLocks/>
          </p:cNvCxnSpPr>
          <p:nvPr userDrawn="1"/>
        </p:nvCxnSpPr>
        <p:spPr>
          <a:xfrm>
            <a:off x="4344924"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815C251-E9CA-DC31-4739-8D6692D91D7A}"/>
              </a:ext>
            </a:extLst>
          </p:cNvPr>
          <p:cNvCxnSpPr>
            <a:cxnSpLocks/>
          </p:cNvCxnSpPr>
          <p:nvPr userDrawn="1"/>
        </p:nvCxnSpPr>
        <p:spPr>
          <a:xfrm>
            <a:off x="8326310"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DEB14AFD-28FB-E067-E146-4E25F13C68E3}"/>
              </a:ext>
            </a:extLst>
          </p:cNvPr>
          <p:cNvSpPr>
            <a:spLocks noGrp="1"/>
          </p:cNvSpPr>
          <p:nvPr>
            <p:ph type="ftr" sz="quarter" idx="14"/>
          </p:nvPr>
        </p:nvSpPr>
        <p:spPr/>
        <p:txBody>
          <a:bodyPr/>
          <a:lstStyle/>
          <a:p>
            <a:r>
              <a:rPr lang="en-US"/>
              <a:t>Abbreviations</a:t>
            </a:r>
          </a:p>
        </p:txBody>
      </p:sp>
    </p:spTree>
    <p:extLst>
      <p:ext uri="{BB962C8B-B14F-4D97-AF65-F5344CB8AC3E}">
        <p14:creationId xmlns:p14="http://schemas.microsoft.com/office/powerpoint/2010/main" val="7105975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Subtitle + Content Col 4">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24ADF22-3763-B092-AB79-75841181CECE}"/>
              </a:ext>
            </a:extLst>
          </p:cNvPr>
          <p:cNvSpPr>
            <a:spLocks noGrp="1"/>
          </p:cNvSpPr>
          <p:nvPr>
            <p:ph type="body" idx="1"/>
          </p:nvPr>
        </p:nvSpPr>
        <p:spPr>
          <a:xfrm>
            <a:off x="358524" y="1444590"/>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58524" y="2140486"/>
            <a:ext cx="2514600" cy="1536192"/>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4356D6D3-F794-2D15-C509-A1DCF57FA7EB}"/>
              </a:ext>
            </a:extLst>
          </p:cNvPr>
          <p:cNvSpPr>
            <a:spLocks noGrp="1"/>
          </p:cNvSpPr>
          <p:nvPr>
            <p:ph type="body" idx="12"/>
          </p:nvPr>
        </p:nvSpPr>
        <p:spPr>
          <a:xfrm>
            <a:off x="9313862" y="1444590"/>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a:extLst>
              <a:ext uri="{FF2B5EF4-FFF2-40B4-BE49-F238E27FC236}">
                <a16:creationId xmlns:a16="http://schemas.microsoft.com/office/drawing/2014/main" id="{ADF927A1-454B-ACE6-4FDF-D003AC770C92}"/>
              </a:ext>
            </a:extLst>
          </p:cNvPr>
          <p:cNvSpPr>
            <a:spLocks noGrp="1"/>
          </p:cNvSpPr>
          <p:nvPr>
            <p:ph sz="half" idx="13"/>
          </p:nvPr>
        </p:nvSpPr>
        <p:spPr>
          <a:xfrm>
            <a:off x="9313862" y="2140486"/>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2">
            <a:extLst>
              <a:ext uri="{FF2B5EF4-FFF2-40B4-BE49-F238E27FC236}">
                <a16:creationId xmlns:a16="http://schemas.microsoft.com/office/drawing/2014/main" id="{C076A34B-8A94-9109-1698-2C9D5B57BAB0}"/>
              </a:ext>
            </a:extLst>
          </p:cNvPr>
          <p:cNvSpPr>
            <a:spLocks noGrp="1"/>
          </p:cNvSpPr>
          <p:nvPr>
            <p:ph type="body" idx="14"/>
          </p:nvPr>
        </p:nvSpPr>
        <p:spPr>
          <a:xfrm>
            <a:off x="3343637" y="1444590"/>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E5DA31FC-3C33-59C2-46E0-6EC87A24B571}"/>
              </a:ext>
            </a:extLst>
          </p:cNvPr>
          <p:cNvSpPr>
            <a:spLocks noGrp="1"/>
          </p:cNvSpPr>
          <p:nvPr>
            <p:ph sz="half" idx="15"/>
          </p:nvPr>
        </p:nvSpPr>
        <p:spPr>
          <a:xfrm>
            <a:off x="3343637" y="2140486"/>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
            <a:extLst>
              <a:ext uri="{FF2B5EF4-FFF2-40B4-BE49-F238E27FC236}">
                <a16:creationId xmlns:a16="http://schemas.microsoft.com/office/drawing/2014/main" id="{2C8351CF-C267-E5DC-D96C-947B004B6997}"/>
              </a:ext>
            </a:extLst>
          </p:cNvPr>
          <p:cNvSpPr>
            <a:spLocks noGrp="1"/>
          </p:cNvSpPr>
          <p:nvPr>
            <p:ph type="body" idx="16"/>
          </p:nvPr>
        </p:nvSpPr>
        <p:spPr>
          <a:xfrm>
            <a:off x="6328750" y="1444590"/>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Content Placeholder 3">
            <a:extLst>
              <a:ext uri="{FF2B5EF4-FFF2-40B4-BE49-F238E27FC236}">
                <a16:creationId xmlns:a16="http://schemas.microsoft.com/office/drawing/2014/main" id="{39FD7B36-D576-B611-6B8C-E9CF2F352FEE}"/>
              </a:ext>
            </a:extLst>
          </p:cNvPr>
          <p:cNvSpPr>
            <a:spLocks noGrp="1"/>
          </p:cNvSpPr>
          <p:nvPr>
            <p:ph sz="half" idx="17"/>
          </p:nvPr>
        </p:nvSpPr>
        <p:spPr>
          <a:xfrm>
            <a:off x="6328750" y="2140486"/>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CD26280C-5599-1A9C-5B12-5011ED66B31C}"/>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5" name="Straight Connector 4">
            <a:extLst>
              <a:ext uri="{FF2B5EF4-FFF2-40B4-BE49-F238E27FC236}">
                <a16:creationId xmlns:a16="http://schemas.microsoft.com/office/drawing/2014/main" id="{589BAF7E-4A85-430C-CD95-B6BDEF8DD9D3}"/>
              </a:ext>
            </a:extLst>
          </p:cNvPr>
          <p:cNvCxnSpPr>
            <a:cxnSpLocks/>
          </p:cNvCxnSpPr>
          <p:nvPr userDrawn="1"/>
        </p:nvCxnSpPr>
        <p:spPr>
          <a:xfrm>
            <a:off x="364300"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DDD6599-C39C-1A80-998A-9E7067533548}"/>
              </a:ext>
            </a:extLst>
          </p:cNvPr>
          <p:cNvCxnSpPr>
            <a:cxnSpLocks/>
          </p:cNvCxnSpPr>
          <p:nvPr userDrawn="1"/>
        </p:nvCxnSpPr>
        <p:spPr>
          <a:xfrm>
            <a:off x="3349413"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0A0C43-186D-AA6D-33E1-017B83D2233F}"/>
              </a:ext>
            </a:extLst>
          </p:cNvPr>
          <p:cNvCxnSpPr>
            <a:cxnSpLocks/>
          </p:cNvCxnSpPr>
          <p:nvPr userDrawn="1"/>
        </p:nvCxnSpPr>
        <p:spPr>
          <a:xfrm>
            <a:off x="6334526"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943BD98-E355-4B29-6906-C75F756344B6}"/>
              </a:ext>
            </a:extLst>
          </p:cNvPr>
          <p:cNvCxnSpPr>
            <a:cxnSpLocks/>
          </p:cNvCxnSpPr>
          <p:nvPr userDrawn="1"/>
        </p:nvCxnSpPr>
        <p:spPr>
          <a:xfrm>
            <a:off x="9319638"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EBCC81EF-BABB-A6C5-1D8B-2A9F981D26D8}"/>
              </a:ext>
            </a:extLst>
          </p:cNvPr>
          <p:cNvSpPr>
            <a:spLocks noGrp="1"/>
          </p:cNvSpPr>
          <p:nvPr>
            <p:ph type="ftr" sz="quarter" idx="18"/>
          </p:nvPr>
        </p:nvSpPr>
        <p:spPr/>
        <p:txBody>
          <a:bodyPr/>
          <a:lstStyle/>
          <a:p>
            <a:r>
              <a:rPr lang="en-US"/>
              <a:t>Abbreviations</a:t>
            </a:r>
          </a:p>
        </p:txBody>
      </p:sp>
    </p:spTree>
    <p:extLst>
      <p:ext uri="{BB962C8B-B14F-4D97-AF65-F5344CB8AC3E}">
        <p14:creationId xmlns:p14="http://schemas.microsoft.com/office/powerpoint/2010/main" val="33758485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 Icon + 4 Colum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24ADF22-3763-B092-AB79-75841181CECE}"/>
              </a:ext>
            </a:extLst>
          </p:cNvPr>
          <p:cNvSpPr>
            <a:spLocks noGrp="1"/>
          </p:cNvSpPr>
          <p:nvPr>
            <p:ph type="body" idx="1"/>
          </p:nvPr>
        </p:nvSpPr>
        <p:spPr>
          <a:xfrm>
            <a:off x="358524" y="2136571"/>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58524" y="2832467"/>
            <a:ext cx="2514600" cy="1536192"/>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4356D6D3-F794-2D15-C509-A1DCF57FA7EB}"/>
              </a:ext>
            </a:extLst>
          </p:cNvPr>
          <p:cNvSpPr>
            <a:spLocks noGrp="1"/>
          </p:cNvSpPr>
          <p:nvPr>
            <p:ph type="body" idx="12"/>
          </p:nvPr>
        </p:nvSpPr>
        <p:spPr>
          <a:xfrm>
            <a:off x="9313862" y="2136571"/>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a:extLst>
              <a:ext uri="{FF2B5EF4-FFF2-40B4-BE49-F238E27FC236}">
                <a16:creationId xmlns:a16="http://schemas.microsoft.com/office/drawing/2014/main" id="{ADF927A1-454B-ACE6-4FDF-D003AC770C92}"/>
              </a:ext>
            </a:extLst>
          </p:cNvPr>
          <p:cNvSpPr>
            <a:spLocks noGrp="1"/>
          </p:cNvSpPr>
          <p:nvPr>
            <p:ph sz="half" idx="13"/>
          </p:nvPr>
        </p:nvSpPr>
        <p:spPr>
          <a:xfrm>
            <a:off x="9313862" y="2832467"/>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2">
            <a:extLst>
              <a:ext uri="{FF2B5EF4-FFF2-40B4-BE49-F238E27FC236}">
                <a16:creationId xmlns:a16="http://schemas.microsoft.com/office/drawing/2014/main" id="{C076A34B-8A94-9109-1698-2C9D5B57BAB0}"/>
              </a:ext>
            </a:extLst>
          </p:cNvPr>
          <p:cNvSpPr>
            <a:spLocks noGrp="1"/>
          </p:cNvSpPr>
          <p:nvPr>
            <p:ph type="body" idx="14"/>
          </p:nvPr>
        </p:nvSpPr>
        <p:spPr>
          <a:xfrm>
            <a:off x="3343637" y="2136571"/>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E5DA31FC-3C33-59C2-46E0-6EC87A24B571}"/>
              </a:ext>
            </a:extLst>
          </p:cNvPr>
          <p:cNvSpPr>
            <a:spLocks noGrp="1"/>
          </p:cNvSpPr>
          <p:nvPr>
            <p:ph sz="half" idx="15"/>
          </p:nvPr>
        </p:nvSpPr>
        <p:spPr>
          <a:xfrm>
            <a:off x="3343637" y="2832467"/>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
            <a:extLst>
              <a:ext uri="{FF2B5EF4-FFF2-40B4-BE49-F238E27FC236}">
                <a16:creationId xmlns:a16="http://schemas.microsoft.com/office/drawing/2014/main" id="{2C8351CF-C267-E5DC-D96C-947B004B6997}"/>
              </a:ext>
            </a:extLst>
          </p:cNvPr>
          <p:cNvSpPr>
            <a:spLocks noGrp="1"/>
          </p:cNvSpPr>
          <p:nvPr>
            <p:ph type="body" idx="16"/>
          </p:nvPr>
        </p:nvSpPr>
        <p:spPr>
          <a:xfrm>
            <a:off x="6328750" y="2136571"/>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Content Placeholder 3">
            <a:extLst>
              <a:ext uri="{FF2B5EF4-FFF2-40B4-BE49-F238E27FC236}">
                <a16:creationId xmlns:a16="http://schemas.microsoft.com/office/drawing/2014/main" id="{39FD7B36-D576-B611-6B8C-E9CF2F352FEE}"/>
              </a:ext>
            </a:extLst>
          </p:cNvPr>
          <p:cNvSpPr>
            <a:spLocks noGrp="1"/>
          </p:cNvSpPr>
          <p:nvPr>
            <p:ph sz="half" idx="17"/>
          </p:nvPr>
        </p:nvSpPr>
        <p:spPr>
          <a:xfrm>
            <a:off x="6328750" y="2832467"/>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CD26280C-5599-1A9C-5B12-5011ED66B31C}"/>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5" name="Straight Connector 4">
            <a:extLst>
              <a:ext uri="{FF2B5EF4-FFF2-40B4-BE49-F238E27FC236}">
                <a16:creationId xmlns:a16="http://schemas.microsoft.com/office/drawing/2014/main" id="{589BAF7E-4A85-430C-CD95-B6BDEF8DD9D3}"/>
              </a:ext>
            </a:extLst>
          </p:cNvPr>
          <p:cNvCxnSpPr>
            <a:cxnSpLocks/>
          </p:cNvCxnSpPr>
          <p:nvPr userDrawn="1"/>
        </p:nvCxnSpPr>
        <p:spPr>
          <a:xfrm>
            <a:off x="364300"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DDD6599-C39C-1A80-998A-9E7067533548}"/>
              </a:ext>
            </a:extLst>
          </p:cNvPr>
          <p:cNvCxnSpPr>
            <a:cxnSpLocks/>
          </p:cNvCxnSpPr>
          <p:nvPr userDrawn="1"/>
        </p:nvCxnSpPr>
        <p:spPr>
          <a:xfrm>
            <a:off x="3349413"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0A0C43-186D-AA6D-33E1-017B83D2233F}"/>
              </a:ext>
            </a:extLst>
          </p:cNvPr>
          <p:cNvCxnSpPr>
            <a:cxnSpLocks/>
          </p:cNvCxnSpPr>
          <p:nvPr userDrawn="1"/>
        </p:nvCxnSpPr>
        <p:spPr>
          <a:xfrm>
            <a:off x="6334526"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943BD98-E355-4B29-6906-C75F756344B6}"/>
              </a:ext>
            </a:extLst>
          </p:cNvPr>
          <p:cNvCxnSpPr>
            <a:cxnSpLocks/>
          </p:cNvCxnSpPr>
          <p:nvPr userDrawn="1"/>
        </p:nvCxnSpPr>
        <p:spPr>
          <a:xfrm>
            <a:off x="9319638"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EBCC81EF-BABB-A6C5-1D8B-2A9F981D26D8}"/>
              </a:ext>
            </a:extLst>
          </p:cNvPr>
          <p:cNvSpPr>
            <a:spLocks noGrp="1"/>
          </p:cNvSpPr>
          <p:nvPr>
            <p:ph type="ftr" sz="quarter" idx="18"/>
          </p:nvPr>
        </p:nvSpPr>
        <p:spPr/>
        <p:txBody>
          <a:bodyPr/>
          <a:lstStyle/>
          <a:p>
            <a:r>
              <a:rPr lang="en-US"/>
              <a:t>Abbreviations</a:t>
            </a:r>
          </a:p>
        </p:txBody>
      </p:sp>
      <p:sp>
        <p:nvSpPr>
          <p:cNvPr id="22" name="Picture Placeholder 21">
            <a:extLst>
              <a:ext uri="{FF2B5EF4-FFF2-40B4-BE49-F238E27FC236}">
                <a16:creationId xmlns:a16="http://schemas.microsoft.com/office/drawing/2014/main" id="{F4662C97-8F2C-64B2-F026-ACD96847176B}"/>
              </a:ext>
            </a:extLst>
          </p:cNvPr>
          <p:cNvSpPr>
            <a:spLocks noGrp="1" noChangeAspect="1"/>
          </p:cNvSpPr>
          <p:nvPr>
            <p:ph type="pic" sz="quarter" idx="55"/>
          </p:nvPr>
        </p:nvSpPr>
        <p:spPr>
          <a:xfrm>
            <a:off x="358524" y="1429220"/>
            <a:ext cx="457200" cy="457200"/>
          </a:xfrm>
        </p:spPr>
        <p:txBody>
          <a:bodyPr wrap="square">
            <a:noAutofit/>
          </a:bodyPr>
          <a:lstStyle>
            <a:lvl1pPr>
              <a:defRPr sz="600"/>
            </a:lvl1pPr>
          </a:lstStyle>
          <a:p>
            <a:endParaRPr lang="en-US"/>
          </a:p>
        </p:txBody>
      </p:sp>
      <p:sp>
        <p:nvSpPr>
          <p:cNvPr id="24" name="Picture Placeholder 21">
            <a:extLst>
              <a:ext uri="{FF2B5EF4-FFF2-40B4-BE49-F238E27FC236}">
                <a16:creationId xmlns:a16="http://schemas.microsoft.com/office/drawing/2014/main" id="{15A18B4E-15F7-EA00-C6CA-A246BCE804B6}"/>
              </a:ext>
            </a:extLst>
          </p:cNvPr>
          <p:cNvSpPr>
            <a:spLocks noGrp="1" noChangeAspect="1"/>
          </p:cNvSpPr>
          <p:nvPr>
            <p:ph type="pic" sz="quarter" idx="56"/>
          </p:nvPr>
        </p:nvSpPr>
        <p:spPr>
          <a:xfrm>
            <a:off x="3343637" y="1429220"/>
            <a:ext cx="457200" cy="457200"/>
          </a:xfrm>
        </p:spPr>
        <p:txBody>
          <a:bodyPr wrap="square">
            <a:noAutofit/>
          </a:bodyPr>
          <a:lstStyle>
            <a:lvl1pPr>
              <a:defRPr sz="600"/>
            </a:lvl1pPr>
          </a:lstStyle>
          <a:p>
            <a:endParaRPr lang="en-US"/>
          </a:p>
        </p:txBody>
      </p:sp>
      <p:sp>
        <p:nvSpPr>
          <p:cNvPr id="25" name="Picture Placeholder 21">
            <a:extLst>
              <a:ext uri="{FF2B5EF4-FFF2-40B4-BE49-F238E27FC236}">
                <a16:creationId xmlns:a16="http://schemas.microsoft.com/office/drawing/2014/main" id="{63820E14-78A0-0B3A-8D48-E5DB901D8646}"/>
              </a:ext>
            </a:extLst>
          </p:cNvPr>
          <p:cNvSpPr>
            <a:spLocks noGrp="1" noChangeAspect="1"/>
          </p:cNvSpPr>
          <p:nvPr>
            <p:ph type="pic" sz="quarter" idx="57"/>
          </p:nvPr>
        </p:nvSpPr>
        <p:spPr>
          <a:xfrm>
            <a:off x="6328750" y="1429220"/>
            <a:ext cx="457200" cy="457200"/>
          </a:xfrm>
        </p:spPr>
        <p:txBody>
          <a:bodyPr wrap="square">
            <a:noAutofit/>
          </a:bodyPr>
          <a:lstStyle>
            <a:lvl1pPr>
              <a:defRPr sz="600"/>
            </a:lvl1pPr>
          </a:lstStyle>
          <a:p>
            <a:endParaRPr lang="en-US"/>
          </a:p>
        </p:txBody>
      </p:sp>
      <p:sp>
        <p:nvSpPr>
          <p:cNvPr id="26" name="Picture Placeholder 21">
            <a:extLst>
              <a:ext uri="{FF2B5EF4-FFF2-40B4-BE49-F238E27FC236}">
                <a16:creationId xmlns:a16="http://schemas.microsoft.com/office/drawing/2014/main" id="{4DB234A8-087D-A43D-4509-0CBA12779075}"/>
              </a:ext>
            </a:extLst>
          </p:cNvPr>
          <p:cNvSpPr>
            <a:spLocks noGrp="1" noChangeAspect="1"/>
          </p:cNvSpPr>
          <p:nvPr>
            <p:ph type="pic" sz="quarter" idx="58"/>
          </p:nvPr>
        </p:nvSpPr>
        <p:spPr>
          <a:xfrm>
            <a:off x="9313862" y="1429220"/>
            <a:ext cx="457200" cy="457200"/>
          </a:xfrm>
        </p:spPr>
        <p:txBody>
          <a:bodyPr wrap="square">
            <a:noAutofit/>
          </a:bodyPr>
          <a:lstStyle>
            <a:lvl1pPr>
              <a:defRPr sz="600"/>
            </a:lvl1pPr>
          </a:lstStyle>
          <a:p>
            <a:endParaRPr lang="en-US"/>
          </a:p>
        </p:txBody>
      </p:sp>
    </p:spTree>
    <p:extLst>
      <p:ext uri="{BB962C8B-B14F-4D97-AF65-F5344CB8AC3E}">
        <p14:creationId xmlns:p14="http://schemas.microsoft.com/office/powerpoint/2010/main" val="36537911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Divider - Red">
    <p:bg>
      <p:bgPr>
        <a:solidFill>
          <a:srgbClr val="A3333B"/>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5756A1EE-6F7F-2700-1886-5A254A86C604}"/>
              </a:ext>
            </a:extLst>
          </p:cNvPr>
          <p:cNvSpPr>
            <a:spLocks noGrp="1"/>
          </p:cNvSpPr>
          <p:nvPr>
            <p:ph type="ctrTitle" hasCustomPrompt="1"/>
          </p:nvPr>
        </p:nvSpPr>
        <p:spPr>
          <a:xfrm>
            <a:off x="336165" y="3000232"/>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pic>
        <p:nvPicPr>
          <p:cNvPr id="4" name="Graphic 3">
            <a:extLst>
              <a:ext uri="{FF2B5EF4-FFF2-40B4-BE49-F238E27FC236}">
                <a16:creationId xmlns:a16="http://schemas.microsoft.com/office/drawing/2014/main" id="{C266C33E-267D-2B6B-B896-3F1049DB1A3F}"/>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 y="369234"/>
            <a:ext cx="11832336" cy="5665949"/>
          </a:xfrm>
          <a:prstGeom prst="rect">
            <a:avLst/>
          </a:prstGeom>
        </p:spPr>
      </p:pic>
      <p:sp>
        <p:nvSpPr>
          <p:cNvPr id="2" name="Slide Number Placeholder 5">
            <a:extLst>
              <a:ext uri="{FF2B5EF4-FFF2-40B4-BE49-F238E27FC236}">
                <a16:creationId xmlns:a16="http://schemas.microsoft.com/office/drawing/2014/main" id="{AC7408C9-F530-FCD6-6AE8-206FBD06EACC}"/>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3" name="TextBox 2">
            <a:extLst>
              <a:ext uri="{FF2B5EF4-FFF2-40B4-BE49-F238E27FC236}">
                <a16:creationId xmlns:a16="http://schemas.microsoft.com/office/drawing/2014/main" id="{D69B62A4-B69B-BABA-6FD6-3A955DF5E1AC}"/>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5" name="Graphic 4">
            <a:extLst>
              <a:ext uri="{FF2B5EF4-FFF2-40B4-BE49-F238E27FC236}">
                <a16:creationId xmlns:a16="http://schemas.microsoft.com/office/drawing/2014/main" id="{34542FB0-0A8D-7956-286D-D2878D0C6C1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Tree>
    <p:extLst>
      <p:ext uri="{BB962C8B-B14F-4D97-AF65-F5344CB8AC3E}">
        <p14:creationId xmlns:p14="http://schemas.microsoft.com/office/powerpoint/2010/main" val="27170671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ubsection Slide - Re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4399EDB8-FAC4-B10C-C681-E82C004ED1F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 y="369234"/>
            <a:ext cx="11832336" cy="5665949"/>
          </a:xfrm>
          <a:prstGeom prst="rect">
            <a:avLst/>
          </a:prstGeom>
        </p:spPr>
      </p:pic>
      <p:sp>
        <p:nvSpPr>
          <p:cNvPr id="4" name="Slide Number Placeholder 5">
            <a:extLst>
              <a:ext uri="{FF2B5EF4-FFF2-40B4-BE49-F238E27FC236}">
                <a16:creationId xmlns:a16="http://schemas.microsoft.com/office/drawing/2014/main" id="{A7E6F121-54BB-B51D-BBBE-EB6B961382C1}"/>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accent5"/>
                </a:solidFill>
                <a:latin typeface="+mj-lt"/>
              </a:rPr>
              <a:pPr>
                <a:defRPr/>
              </a:pPr>
              <a:t>‹#›</a:t>
            </a:fld>
            <a:endParaRPr lang="en-US" sz="900" b="0">
              <a:solidFill>
                <a:schemeClr val="accent5"/>
              </a:solidFill>
              <a:latin typeface="+mj-lt"/>
            </a:endParaRPr>
          </a:p>
        </p:txBody>
      </p:sp>
      <p:sp>
        <p:nvSpPr>
          <p:cNvPr id="6" name="TextBox 5">
            <a:extLst>
              <a:ext uri="{FF2B5EF4-FFF2-40B4-BE49-F238E27FC236}">
                <a16:creationId xmlns:a16="http://schemas.microsoft.com/office/drawing/2014/main" id="{1D7EF867-490E-CC8D-7416-073290280B2D}"/>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accent5"/>
                </a:solidFill>
                <a:latin typeface="+mj-lt"/>
              </a:rPr>
              <a:t>Confidential. For internal use only.</a:t>
            </a:r>
          </a:p>
        </p:txBody>
      </p:sp>
      <p:pic>
        <p:nvPicPr>
          <p:cNvPr id="7" name="Graphic 6">
            <a:extLst>
              <a:ext uri="{FF2B5EF4-FFF2-40B4-BE49-F238E27FC236}">
                <a16:creationId xmlns:a16="http://schemas.microsoft.com/office/drawing/2014/main" id="{686B9C51-E87D-7FB8-6D29-FD3C98B80EA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
        <p:nvSpPr>
          <p:cNvPr id="8" name="Title 1">
            <a:extLst>
              <a:ext uri="{FF2B5EF4-FFF2-40B4-BE49-F238E27FC236}">
                <a16:creationId xmlns:a16="http://schemas.microsoft.com/office/drawing/2014/main" id="{7F30AAFD-7DE3-02BC-AE7F-5E4EF92B3417}"/>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accent5"/>
                </a:solidFill>
              </a:defRPr>
            </a:lvl1pPr>
          </a:lstStyle>
          <a:p>
            <a:r>
              <a:rPr lang="en-US"/>
              <a:t>Section name</a:t>
            </a:r>
          </a:p>
        </p:txBody>
      </p:sp>
    </p:spTree>
    <p:extLst>
      <p:ext uri="{BB962C8B-B14F-4D97-AF65-F5344CB8AC3E}">
        <p14:creationId xmlns:p14="http://schemas.microsoft.com/office/powerpoint/2010/main" val="31185850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ection Divider -  Midnight Blue">
    <p:bg>
      <p:bgPr>
        <a:solidFill>
          <a:schemeClr val="accent3"/>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64B2753-283B-E853-6760-753B2B19B726}"/>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92FECB00-AC7C-C060-3DF3-2A6C33A35F46}"/>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5" name="TextBox 4">
            <a:extLst>
              <a:ext uri="{FF2B5EF4-FFF2-40B4-BE49-F238E27FC236}">
                <a16:creationId xmlns:a16="http://schemas.microsoft.com/office/drawing/2014/main" id="{63B8BDDC-612D-5EC4-07A7-A46BE934CB39}"/>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6" name="Graphic 5">
            <a:extLst>
              <a:ext uri="{FF2B5EF4-FFF2-40B4-BE49-F238E27FC236}">
                <a16:creationId xmlns:a16="http://schemas.microsoft.com/office/drawing/2014/main" id="{45540644-E2DD-6148-7941-C32962A456F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
        <p:nvSpPr>
          <p:cNvPr id="7" name="Title 1">
            <a:extLst>
              <a:ext uri="{FF2B5EF4-FFF2-40B4-BE49-F238E27FC236}">
                <a16:creationId xmlns:a16="http://schemas.microsoft.com/office/drawing/2014/main" id="{45628D6B-2CFA-AB61-B2EA-B2E2FA697945}"/>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spTree>
    <p:extLst>
      <p:ext uri="{BB962C8B-B14F-4D97-AF65-F5344CB8AC3E}">
        <p14:creationId xmlns:p14="http://schemas.microsoft.com/office/powerpoint/2010/main" val="9742739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ubsection Slide - Midnight Blue">
    <p:bg>
      <p:bgPr>
        <a:solidFill>
          <a:schemeClr val="accent3">
            <a:alpha val="21000"/>
          </a:schemeClr>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4399EDB8-FAC4-B10C-C681-E82C004ED1F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CF3A46A4-C5CE-E391-2E95-3891B466474D}"/>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tx2"/>
                </a:solidFill>
                <a:latin typeface="+mj-lt"/>
              </a:rPr>
              <a:pPr>
                <a:defRPr/>
              </a:pPr>
              <a:t>‹#›</a:t>
            </a:fld>
            <a:endParaRPr lang="en-US" sz="900" b="0">
              <a:solidFill>
                <a:schemeClr val="tx2"/>
              </a:solidFill>
              <a:latin typeface="+mj-lt"/>
            </a:endParaRPr>
          </a:p>
        </p:txBody>
      </p:sp>
      <p:sp>
        <p:nvSpPr>
          <p:cNvPr id="5" name="TextBox 4">
            <a:extLst>
              <a:ext uri="{FF2B5EF4-FFF2-40B4-BE49-F238E27FC236}">
                <a16:creationId xmlns:a16="http://schemas.microsoft.com/office/drawing/2014/main" id="{86C854D5-BA19-4AE8-3CF3-55D266ABC584}"/>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tx2"/>
                </a:solidFill>
                <a:latin typeface="+mj-lt"/>
              </a:rPr>
              <a:t>Confidential. For internal use only.</a:t>
            </a:r>
          </a:p>
        </p:txBody>
      </p:sp>
      <p:pic>
        <p:nvPicPr>
          <p:cNvPr id="6" name="Graphic 5">
            <a:extLst>
              <a:ext uri="{FF2B5EF4-FFF2-40B4-BE49-F238E27FC236}">
                <a16:creationId xmlns:a16="http://schemas.microsoft.com/office/drawing/2014/main" id="{A7B1D883-E781-C6FE-8716-9F15742B3FD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
        <p:nvSpPr>
          <p:cNvPr id="4" name="Title 1">
            <a:extLst>
              <a:ext uri="{FF2B5EF4-FFF2-40B4-BE49-F238E27FC236}">
                <a16:creationId xmlns:a16="http://schemas.microsoft.com/office/drawing/2014/main" id="{D6B955C1-69D5-A4BC-61A2-B0653E79618B}"/>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accent3"/>
                </a:solidFill>
              </a:defRPr>
            </a:lvl1pPr>
          </a:lstStyle>
          <a:p>
            <a:r>
              <a:rPr lang="en-US"/>
              <a:t>Section name</a:t>
            </a:r>
          </a:p>
        </p:txBody>
      </p:sp>
    </p:spTree>
    <p:extLst>
      <p:ext uri="{BB962C8B-B14F-4D97-AF65-F5344CB8AC3E}">
        <p14:creationId xmlns:p14="http://schemas.microsoft.com/office/powerpoint/2010/main" val="39551733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ction Divider - Dark Blue">
    <p:bg>
      <p:bgPr>
        <a:solidFill>
          <a:srgbClr val="003A70"/>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706B9D1-6819-D5D0-D37A-538F602ECDE6}"/>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8DF0027C-FD14-0E29-D20C-56E08A5F0BAB}"/>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6" name="TextBox 5">
            <a:extLst>
              <a:ext uri="{FF2B5EF4-FFF2-40B4-BE49-F238E27FC236}">
                <a16:creationId xmlns:a16="http://schemas.microsoft.com/office/drawing/2014/main" id="{A7B52049-7238-9405-ABBF-06388AFC0CF4}"/>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7" name="Graphic 6">
            <a:extLst>
              <a:ext uri="{FF2B5EF4-FFF2-40B4-BE49-F238E27FC236}">
                <a16:creationId xmlns:a16="http://schemas.microsoft.com/office/drawing/2014/main" id="{8D640988-0EBB-4CDC-379D-D1E7C9BE37B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
        <p:nvSpPr>
          <p:cNvPr id="2" name="Title 1">
            <a:extLst>
              <a:ext uri="{FF2B5EF4-FFF2-40B4-BE49-F238E27FC236}">
                <a16:creationId xmlns:a16="http://schemas.microsoft.com/office/drawing/2014/main" id="{69CDB6B9-50A4-BC13-6571-6DC019EBF14F}"/>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spTree>
    <p:extLst>
      <p:ext uri="{BB962C8B-B14F-4D97-AF65-F5344CB8AC3E}">
        <p14:creationId xmlns:p14="http://schemas.microsoft.com/office/powerpoint/2010/main" val="18481888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Subsection Slide - Dark Blue">
    <p:bg>
      <p:bgPr>
        <a:solidFill>
          <a:srgbClr val="C9D8E3"/>
        </a:solidFill>
        <a:effectLst/>
      </p:bgPr>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8DF0027C-FD14-0E29-D20C-56E08A5F0BAB}"/>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tx2"/>
                </a:solidFill>
                <a:latin typeface="+mj-lt"/>
              </a:rPr>
              <a:pPr>
                <a:defRPr/>
              </a:pPr>
              <a:t>‹#›</a:t>
            </a:fld>
            <a:endParaRPr lang="en-US" sz="900" b="0">
              <a:solidFill>
                <a:schemeClr val="tx2"/>
              </a:solidFill>
              <a:latin typeface="+mj-lt"/>
            </a:endParaRPr>
          </a:p>
        </p:txBody>
      </p:sp>
      <p:sp>
        <p:nvSpPr>
          <p:cNvPr id="6" name="TextBox 5">
            <a:extLst>
              <a:ext uri="{FF2B5EF4-FFF2-40B4-BE49-F238E27FC236}">
                <a16:creationId xmlns:a16="http://schemas.microsoft.com/office/drawing/2014/main" id="{A7B52049-7238-9405-ABBF-06388AFC0CF4}"/>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tx2"/>
                </a:solidFill>
                <a:latin typeface="+mj-lt"/>
              </a:rPr>
              <a:t>Confidential. For internal use only.</a:t>
            </a:r>
          </a:p>
        </p:txBody>
      </p:sp>
      <p:pic>
        <p:nvPicPr>
          <p:cNvPr id="7" name="Graphic 6">
            <a:extLst>
              <a:ext uri="{FF2B5EF4-FFF2-40B4-BE49-F238E27FC236}">
                <a16:creationId xmlns:a16="http://schemas.microsoft.com/office/drawing/2014/main" id="{8D640988-0EBB-4CDC-379D-D1E7C9BE37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50145" y="6318107"/>
            <a:ext cx="274320" cy="274320"/>
          </a:xfrm>
          <a:prstGeom prst="rect">
            <a:avLst/>
          </a:prstGeom>
        </p:spPr>
      </p:pic>
      <p:sp>
        <p:nvSpPr>
          <p:cNvPr id="2" name="Title 1">
            <a:extLst>
              <a:ext uri="{FF2B5EF4-FFF2-40B4-BE49-F238E27FC236}">
                <a16:creationId xmlns:a16="http://schemas.microsoft.com/office/drawing/2014/main" id="{69CDB6B9-50A4-BC13-6571-6DC019EBF14F}"/>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tx2"/>
                </a:solidFill>
              </a:defRPr>
            </a:lvl1pPr>
          </a:lstStyle>
          <a:p>
            <a:r>
              <a:rPr lang="en-US"/>
              <a:t>Section name</a:t>
            </a:r>
          </a:p>
        </p:txBody>
      </p:sp>
      <p:pic>
        <p:nvPicPr>
          <p:cNvPr id="4" name="Graphic 3">
            <a:extLst>
              <a:ext uri="{FF2B5EF4-FFF2-40B4-BE49-F238E27FC236}">
                <a16:creationId xmlns:a16="http://schemas.microsoft.com/office/drawing/2014/main" id="{9B9C1CD9-8527-704F-DF7E-BC7EA69184D9}"/>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Tree>
    <p:extLst>
      <p:ext uri="{BB962C8B-B14F-4D97-AF65-F5344CB8AC3E}">
        <p14:creationId xmlns:p14="http://schemas.microsoft.com/office/powerpoint/2010/main" val="19448148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Section Divider - Cerulean Blue">
    <p:bg>
      <p:bgPr>
        <a:solidFill>
          <a:schemeClr val="accent4"/>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09BEDFC-A7C0-7C59-815B-FD73566460FE}"/>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 y="369234"/>
            <a:ext cx="11832336" cy="5665949"/>
          </a:xfrm>
          <a:prstGeom prst="rect">
            <a:avLst/>
          </a:prstGeom>
        </p:spPr>
      </p:pic>
      <p:sp>
        <p:nvSpPr>
          <p:cNvPr id="5" name="Slide Number Placeholder 5">
            <a:extLst>
              <a:ext uri="{FF2B5EF4-FFF2-40B4-BE49-F238E27FC236}">
                <a16:creationId xmlns:a16="http://schemas.microsoft.com/office/drawing/2014/main" id="{5F1050C0-78C5-A8CE-9372-DD480198E64F}"/>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6" name="TextBox 5">
            <a:extLst>
              <a:ext uri="{FF2B5EF4-FFF2-40B4-BE49-F238E27FC236}">
                <a16:creationId xmlns:a16="http://schemas.microsoft.com/office/drawing/2014/main" id="{F4C4CB57-4CBA-0053-E8E3-D458E2C7F321}"/>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7" name="Graphic 6">
            <a:extLst>
              <a:ext uri="{FF2B5EF4-FFF2-40B4-BE49-F238E27FC236}">
                <a16:creationId xmlns:a16="http://schemas.microsoft.com/office/drawing/2014/main" id="{17A30941-74C5-53DE-2701-9B7BDD1E57B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
        <p:nvSpPr>
          <p:cNvPr id="3" name="Title 1">
            <a:extLst>
              <a:ext uri="{FF2B5EF4-FFF2-40B4-BE49-F238E27FC236}">
                <a16:creationId xmlns:a16="http://schemas.microsoft.com/office/drawing/2014/main" id="{99B6EF97-2D8C-0DA3-04A1-D1C1FC5756F8}"/>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spTree>
    <p:extLst>
      <p:ext uri="{BB962C8B-B14F-4D97-AF65-F5344CB8AC3E}">
        <p14:creationId xmlns:p14="http://schemas.microsoft.com/office/powerpoint/2010/main" val="25285603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Subsection Slide - Cerulean Blue">
    <p:bg>
      <p:bgPr>
        <a:solidFill>
          <a:schemeClr val="accent4">
            <a:alpha val="21000"/>
          </a:schemeClr>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4399EDB8-FAC4-B10C-C681-E82C004ED1F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 y="369234"/>
            <a:ext cx="11832336" cy="5665949"/>
          </a:xfrm>
          <a:prstGeom prst="rect">
            <a:avLst/>
          </a:prstGeom>
        </p:spPr>
      </p:pic>
      <p:sp>
        <p:nvSpPr>
          <p:cNvPr id="5" name="Slide Number Placeholder 5">
            <a:extLst>
              <a:ext uri="{FF2B5EF4-FFF2-40B4-BE49-F238E27FC236}">
                <a16:creationId xmlns:a16="http://schemas.microsoft.com/office/drawing/2014/main" id="{8D1B293C-239E-416E-04E2-888E2D77D650}"/>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accent4"/>
                </a:solidFill>
                <a:latin typeface="+mj-lt"/>
              </a:rPr>
              <a:pPr>
                <a:defRPr/>
              </a:pPr>
              <a:t>‹#›</a:t>
            </a:fld>
            <a:endParaRPr lang="en-US" sz="900" b="0">
              <a:solidFill>
                <a:schemeClr val="accent4"/>
              </a:solidFill>
              <a:latin typeface="+mj-lt"/>
            </a:endParaRPr>
          </a:p>
        </p:txBody>
      </p:sp>
      <p:sp>
        <p:nvSpPr>
          <p:cNvPr id="6" name="TextBox 5">
            <a:extLst>
              <a:ext uri="{FF2B5EF4-FFF2-40B4-BE49-F238E27FC236}">
                <a16:creationId xmlns:a16="http://schemas.microsoft.com/office/drawing/2014/main" id="{49D33B24-BB96-42E0-9911-49FE19EF7BE0}"/>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accent4"/>
                </a:solidFill>
                <a:latin typeface="+mj-lt"/>
              </a:rPr>
              <a:t>Confidential. For internal use only.</a:t>
            </a:r>
          </a:p>
        </p:txBody>
      </p:sp>
      <p:pic>
        <p:nvPicPr>
          <p:cNvPr id="7" name="Graphic 6">
            <a:extLst>
              <a:ext uri="{FF2B5EF4-FFF2-40B4-BE49-F238E27FC236}">
                <a16:creationId xmlns:a16="http://schemas.microsoft.com/office/drawing/2014/main" id="{7B238638-02E3-B42A-95A7-8441FAE709E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
        <p:nvSpPr>
          <p:cNvPr id="4" name="Title 1">
            <a:extLst>
              <a:ext uri="{FF2B5EF4-FFF2-40B4-BE49-F238E27FC236}">
                <a16:creationId xmlns:a16="http://schemas.microsoft.com/office/drawing/2014/main" id="{86787D85-7089-5356-E5D2-962648E17116}"/>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accent4"/>
                </a:solidFill>
              </a:defRPr>
            </a:lvl1pPr>
          </a:lstStyle>
          <a:p>
            <a:r>
              <a:rPr lang="en-US"/>
              <a:t>Section name</a:t>
            </a:r>
          </a:p>
        </p:txBody>
      </p:sp>
    </p:spTree>
    <p:extLst>
      <p:ext uri="{BB962C8B-B14F-4D97-AF65-F5344CB8AC3E}">
        <p14:creationId xmlns:p14="http://schemas.microsoft.com/office/powerpoint/2010/main" val="24888663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Section Divider - Greystone">
    <p:bg>
      <p:bgPr>
        <a:solidFill>
          <a:srgbClr val="827870"/>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706B9D1-6819-D5D0-D37A-538F602ECDE6}"/>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8DF0027C-FD14-0E29-D20C-56E08A5F0BAB}"/>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6" name="TextBox 5">
            <a:extLst>
              <a:ext uri="{FF2B5EF4-FFF2-40B4-BE49-F238E27FC236}">
                <a16:creationId xmlns:a16="http://schemas.microsoft.com/office/drawing/2014/main" id="{A7B52049-7238-9405-ABBF-06388AFC0CF4}"/>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7" name="Graphic 6">
            <a:extLst>
              <a:ext uri="{FF2B5EF4-FFF2-40B4-BE49-F238E27FC236}">
                <a16:creationId xmlns:a16="http://schemas.microsoft.com/office/drawing/2014/main" id="{8D640988-0EBB-4CDC-379D-D1E7C9BE37B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
        <p:nvSpPr>
          <p:cNvPr id="2" name="Title 1">
            <a:extLst>
              <a:ext uri="{FF2B5EF4-FFF2-40B4-BE49-F238E27FC236}">
                <a16:creationId xmlns:a16="http://schemas.microsoft.com/office/drawing/2014/main" id="{69CDB6B9-50A4-BC13-6571-6DC019EBF14F}"/>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spTree>
    <p:extLst>
      <p:ext uri="{BB962C8B-B14F-4D97-AF65-F5344CB8AC3E}">
        <p14:creationId xmlns:p14="http://schemas.microsoft.com/office/powerpoint/2010/main" val="36220074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Subsection Slide - Greystone">
    <p:bg>
      <p:bgPr>
        <a:solidFill>
          <a:srgbClr val="E5E3E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706B9D1-6819-D5D0-D37A-538F602ECDE6}"/>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0C0CEB6D-D512-1A50-AB30-C9C4A4A2CACA}"/>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rgbClr val="827870"/>
                </a:solidFill>
                <a:latin typeface="+mj-lt"/>
              </a:rPr>
              <a:pPr>
                <a:defRPr/>
              </a:pPr>
              <a:t>‹#›</a:t>
            </a:fld>
            <a:endParaRPr lang="en-US" sz="900" b="0">
              <a:solidFill>
                <a:srgbClr val="827870"/>
              </a:solidFill>
              <a:latin typeface="+mj-lt"/>
            </a:endParaRPr>
          </a:p>
        </p:txBody>
      </p:sp>
      <p:sp>
        <p:nvSpPr>
          <p:cNvPr id="6" name="TextBox 5">
            <a:extLst>
              <a:ext uri="{FF2B5EF4-FFF2-40B4-BE49-F238E27FC236}">
                <a16:creationId xmlns:a16="http://schemas.microsoft.com/office/drawing/2014/main" id="{F4D87066-1D62-6896-0682-93532C9ACD65}"/>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rgbClr val="827870"/>
                </a:solidFill>
                <a:latin typeface="+mj-lt"/>
              </a:rPr>
              <a:t>Confidential. For internal use only.</a:t>
            </a:r>
          </a:p>
        </p:txBody>
      </p:sp>
      <p:pic>
        <p:nvPicPr>
          <p:cNvPr id="7" name="Graphic 6">
            <a:extLst>
              <a:ext uri="{FF2B5EF4-FFF2-40B4-BE49-F238E27FC236}">
                <a16:creationId xmlns:a16="http://schemas.microsoft.com/office/drawing/2014/main" id="{AC3FA546-CC9B-F864-D491-E17E717072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
        <p:nvSpPr>
          <p:cNvPr id="2" name="Title 1">
            <a:extLst>
              <a:ext uri="{FF2B5EF4-FFF2-40B4-BE49-F238E27FC236}">
                <a16:creationId xmlns:a16="http://schemas.microsoft.com/office/drawing/2014/main" id="{5F846CA5-5975-F475-50ED-B9445351573F}"/>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rgbClr val="827870"/>
                </a:solidFill>
              </a:defRPr>
            </a:lvl1pPr>
          </a:lstStyle>
          <a:p>
            <a:r>
              <a:rPr lang="en-US"/>
              <a:t>Section name</a:t>
            </a:r>
          </a:p>
        </p:txBody>
      </p:sp>
    </p:spTree>
    <p:extLst>
      <p:ext uri="{BB962C8B-B14F-4D97-AF65-F5344CB8AC3E}">
        <p14:creationId xmlns:p14="http://schemas.microsoft.com/office/powerpoint/2010/main" val="4542340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ection Divider - Slate">
    <p:bg>
      <p:bgPr>
        <a:solidFill>
          <a:srgbClr val="96A3AD"/>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E93324EF-6923-5372-6E76-72B1763D4068}"/>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2519E8DD-7108-E906-4ADE-B910107967A7}"/>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6" name="TextBox 5">
            <a:extLst>
              <a:ext uri="{FF2B5EF4-FFF2-40B4-BE49-F238E27FC236}">
                <a16:creationId xmlns:a16="http://schemas.microsoft.com/office/drawing/2014/main" id="{236FE376-17C2-15E7-59F8-5D940B4E07FD}"/>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7" name="Graphic 6">
            <a:extLst>
              <a:ext uri="{FF2B5EF4-FFF2-40B4-BE49-F238E27FC236}">
                <a16:creationId xmlns:a16="http://schemas.microsoft.com/office/drawing/2014/main" id="{712E6497-FD62-AB59-35DF-58A748CFC2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
        <p:nvSpPr>
          <p:cNvPr id="2" name="Title 1">
            <a:extLst>
              <a:ext uri="{FF2B5EF4-FFF2-40B4-BE49-F238E27FC236}">
                <a16:creationId xmlns:a16="http://schemas.microsoft.com/office/drawing/2014/main" id="{903B7FB6-FA1C-3D4D-D2AA-872C45A839F0}"/>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spTree>
    <p:extLst>
      <p:ext uri="{BB962C8B-B14F-4D97-AF65-F5344CB8AC3E}">
        <p14:creationId xmlns:p14="http://schemas.microsoft.com/office/powerpoint/2010/main" val="5713416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Subsection Slide - Slate">
    <p:bg>
      <p:bgPr>
        <a:solidFill>
          <a:srgbClr val="EAECEE"/>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4399EDB8-FAC4-B10C-C681-E82C004ED1F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 y="369234"/>
            <a:ext cx="11832336" cy="5665949"/>
          </a:xfrm>
          <a:prstGeom prst="rect">
            <a:avLst/>
          </a:prstGeom>
        </p:spPr>
      </p:pic>
      <p:sp>
        <p:nvSpPr>
          <p:cNvPr id="4" name="Slide Number Placeholder 5">
            <a:extLst>
              <a:ext uri="{FF2B5EF4-FFF2-40B4-BE49-F238E27FC236}">
                <a16:creationId xmlns:a16="http://schemas.microsoft.com/office/drawing/2014/main" id="{9A55BC30-12F7-920F-B953-D6C3BD71FF06}"/>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rgbClr val="46525B"/>
                </a:solidFill>
                <a:latin typeface="+mj-lt"/>
              </a:rPr>
              <a:pPr>
                <a:defRPr/>
              </a:pPr>
              <a:t>‹#›</a:t>
            </a:fld>
            <a:endParaRPr lang="en-US" sz="900" b="0">
              <a:solidFill>
                <a:srgbClr val="46525B"/>
              </a:solidFill>
              <a:latin typeface="+mj-lt"/>
            </a:endParaRPr>
          </a:p>
        </p:txBody>
      </p:sp>
      <p:sp>
        <p:nvSpPr>
          <p:cNvPr id="6" name="TextBox 5">
            <a:extLst>
              <a:ext uri="{FF2B5EF4-FFF2-40B4-BE49-F238E27FC236}">
                <a16:creationId xmlns:a16="http://schemas.microsoft.com/office/drawing/2014/main" id="{3F798C63-8A75-BFAE-4353-7BD49B517329}"/>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rgbClr val="46525B"/>
                </a:solidFill>
                <a:latin typeface="+mj-lt"/>
              </a:rPr>
              <a:t>Confidential. For internal use only.</a:t>
            </a:r>
          </a:p>
        </p:txBody>
      </p:sp>
      <p:pic>
        <p:nvPicPr>
          <p:cNvPr id="7" name="Graphic 6">
            <a:extLst>
              <a:ext uri="{FF2B5EF4-FFF2-40B4-BE49-F238E27FC236}">
                <a16:creationId xmlns:a16="http://schemas.microsoft.com/office/drawing/2014/main" id="{D24C071D-7DBE-0CEF-6235-5ED884D2C38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
        <p:nvSpPr>
          <p:cNvPr id="3" name="Title 1">
            <a:extLst>
              <a:ext uri="{FF2B5EF4-FFF2-40B4-BE49-F238E27FC236}">
                <a16:creationId xmlns:a16="http://schemas.microsoft.com/office/drawing/2014/main" id="{BF1A651F-537F-A5CA-53BB-F8702406A7C8}"/>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rgbClr val="46525B"/>
                </a:solidFill>
              </a:defRPr>
            </a:lvl1pPr>
          </a:lstStyle>
          <a:p>
            <a:r>
              <a:rPr lang="en-US"/>
              <a:t>Section name</a:t>
            </a:r>
          </a:p>
        </p:txBody>
      </p:sp>
    </p:spTree>
    <p:extLst>
      <p:ext uri="{BB962C8B-B14F-4D97-AF65-F5344CB8AC3E}">
        <p14:creationId xmlns:p14="http://schemas.microsoft.com/office/powerpoint/2010/main" val="172401735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Quote Slid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31ADCFF-5913-3968-36A4-EC52BF575E73}"/>
              </a:ext>
            </a:extLst>
          </p:cNvPr>
          <p:cNvSpPr>
            <a:spLocks noGrp="1"/>
          </p:cNvSpPr>
          <p:nvPr>
            <p:ph type="pic" sz="quarter" idx="10" hasCustomPrompt="1"/>
          </p:nvPr>
        </p:nvSpPr>
        <p:spPr>
          <a:xfrm>
            <a:off x="0" y="0"/>
            <a:ext cx="6094413" cy="6858000"/>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13" name="Title 1">
            <a:extLst>
              <a:ext uri="{FF2B5EF4-FFF2-40B4-BE49-F238E27FC236}">
                <a16:creationId xmlns:a16="http://schemas.microsoft.com/office/drawing/2014/main" id="{DDE57426-48ED-56E2-AACD-B35E3F084552}"/>
              </a:ext>
            </a:extLst>
          </p:cNvPr>
          <p:cNvSpPr>
            <a:spLocks noGrp="1"/>
          </p:cNvSpPr>
          <p:nvPr>
            <p:ph type="ctrTitle"/>
          </p:nvPr>
        </p:nvSpPr>
        <p:spPr>
          <a:xfrm>
            <a:off x="6816392" y="1792224"/>
            <a:ext cx="4709160" cy="861774"/>
          </a:xfrm>
          <a:prstGeom prst="rect">
            <a:avLst/>
          </a:prstGeom>
        </p:spPr>
        <p:txBody>
          <a:bodyPr anchor="t" anchorCtr="0">
            <a:spAutoFit/>
          </a:bodyPr>
          <a:lstStyle>
            <a:lvl1pPr algn="ctr">
              <a:lnSpc>
                <a:spcPct val="100000"/>
              </a:lnSpc>
              <a:defRPr sz="2800"/>
            </a:lvl1pPr>
          </a:lstStyle>
          <a:p>
            <a:r>
              <a:rPr lang="en-US"/>
              <a:t>Click to edit Master title style</a:t>
            </a:r>
          </a:p>
        </p:txBody>
      </p:sp>
      <p:sp>
        <p:nvSpPr>
          <p:cNvPr id="14" name="Text Placeholder 2">
            <a:extLst>
              <a:ext uri="{FF2B5EF4-FFF2-40B4-BE49-F238E27FC236}">
                <a16:creationId xmlns:a16="http://schemas.microsoft.com/office/drawing/2014/main" id="{6EDD81C3-DE7C-6067-908F-CECCBE575E73}"/>
              </a:ext>
            </a:extLst>
          </p:cNvPr>
          <p:cNvSpPr>
            <a:spLocks noGrp="1"/>
          </p:cNvSpPr>
          <p:nvPr>
            <p:ph type="body" idx="1" hasCustomPrompt="1"/>
          </p:nvPr>
        </p:nvSpPr>
        <p:spPr>
          <a:xfrm>
            <a:off x="6816392" y="1334701"/>
            <a:ext cx="4709160" cy="184666"/>
          </a:xfrm>
          <a:prstGeom prst="rect">
            <a:avLst/>
          </a:prstGeom>
        </p:spPr>
        <p:txBody>
          <a:bodyPr>
            <a:spAutoFit/>
          </a:bodyPr>
          <a:lstStyle>
            <a:lvl1pPr marL="0" indent="0" algn="ctr">
              <a:buNone/>
              <a:defRPr sz="1200" b="1" i="0" cap="all" spc="100" baseline="0">
                <a:solidFill>
                  <a:schemeClr val="accent1"/>
                </a:solidFill>
                <a:latin typeface="Poppins SemiBold" pitchFamily="2" charset="77"/>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TITLE</a:t>
            </a:r>
          </a:p>
        </p:txBody>
      </p:sp>
      <p:grpSp>
        <p:nvGrpSpPr>
          <p:cNvPr id="19" name="Group 18">
            <a:extLst>
              <a:ext uri="{FF2B5EF4-FFF2-40B4-BE49-F238E27FC236}">
                <a16:creationId xmlns:a16="http://schemas.microsoft.com/office/drawing/2014/main" id="{7BE8BEBF-768D-008C-1F11-3C7BF5CA69B2}"/>
              </a:ext>
            </a:extLst>
          </p:cNvPr>
          <p:cNvGrpSpPr/>
          <p:nvPr userDrawn="1"/>
        </p:nvGrpSpPr>
        <p:grpSpPr>
          <a:xfrm>
            <a:off x="8938430" y="5041937"/>
            <a:ext cx="465085" cy="128016"/>
            <a:chOff x="8936909" y="5041937"/>
            <a:chExt cx="465085" cy="128016"/>
          </a:xfrm>
        </p:grpSpPr>
        <p:pic>
          <p:nvPicPr>
            <p:cNvPr id="16" name="Graphic 15">
              <a:extLst>
                <a:ext uri="{FF2B5EF4-FFF2-40B4-BE49-F238E27FC236}">
                  <a16:creationId xmlns:a16="http://schemas.microsoft.com/office/drawing/2014/main" id="{80B528C3-7BBC-2EE4-0511-7F9AB4DDFE1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936909" y="5041937"/>
              <a:ext cx="128016" cy="128016"/>
            </a:xfrm>
            <a:prstGeom prst="rect">
              <a:avLst/>
            </a:prstGeom>
          </p:spPr>
        </p:pic>
        <p:pic>
          <p:nvPicPr>
            <p:cNvPr id="17" name="Graphic 16">
              <a:extLst>
                <a:ext uri="{FF2B5EF4-FFF2-40B4-BE49-F238E27FC236}">
                  <a16:creationId xmlns:a16="http://schemas.microsoft.com/office/drawing/2014/main" id="{E636AE99-A618-65FF-210B-72884013A0F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105443" y="5041937"/>
              <a:ext cx="128016" cy="128016"/>
            </a:xfrm>
            <a:prstGeom prst="rect">
              <a:avLst/>
            </a:prstGeom>
          </p:spPr>
        </p:pic>
        <p:pic>
          <p:nvPicPr>
            <p:cNvPr id="18" name="Graphic 17">
              <a:extLst>
                <a:ext uri="{FF2B5EF4-FFF2-40B4-BE49-F238E27FC236}">
                  <a16:creationId xmlns:a16="http://schemas.microsoft.com/office/drawing/2014/main" id="{4DED3061-4650-D6B9-8923-9B5BE7416B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273978" y="5041937"/>
              <a:ext cx="128016" cy="128016"/>
            </a:xfrm>
            <a:prstGeom prst="rect">
              <a:avLst/>
            </a:prstGeom>
          </p:spPr>
        </p:pic>
      </p:grpSp>
      <p:sp>
        <p:nvSpPr>
          <p:cNvPr id="3" name="Slide Number Placeholder 5">
            <a:extLst>
              <a:ext uri="{FF2B5EF4-FFF2-40B4-BE49-F238E27FC236}">
                <a16:creationId xmlns:a16="http://schemas.microsoft.com/office/drawing/2014/main" id="{AC43E156-7952-6DBD-9F32-252B130D3E3B}"/>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tx2"/>
                </a:solidFill>
                <a:latin typeface="+mj-lt"/>
              </a:rPr>
              <a:pPr>
                <a:defRPr/>
              </a:pPr>
              <a:t>‹#›</a:t>
            </a:fld>
            <a:endParaRPr lang="en-US" sz="900" b="0">
              <a:solidFill>
                <a:schemeClr val="tx2"/>
              </a:solidFill>
              <a:latin typeface="+mj-lt"/>
            </a:endParaRPr>
          </a:p>
        </p:txBody>
      </p:sp>
      <p:sp>
        <p:nvSpPr>
          <p:cNvPr id="4" name="TextBox 3">
            <a:extLst>
              <a:ext uri="{FF2B5EF4-FFF2-40B4-BE49-F238E27FC236}">
                <a16:creationId xmlns:a16="http://schemas.microsoft.com/office/drawing/2014/main" id="{B41722FB-74A1-9FF3-29B4-B3E085199D46}"/>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tx2"/>
                </a:solidFill>
                <a:latin typeface="+mj-lt"/>
              </a:rPr>
              <a:t>Confidential. For internal use only.</a:t>
            </a:r>
          </a:p>
        </p:txBody>
      </p:sp>
      <p:pic>
        <p:nvPicPr>
          <p:cNvPr id="5" name="Graphic 4">
            <a:extLst>
              <a:ext uri="{FF2B5EF4-FFF2-40B4-BE49-F238E27FC236}">
                <a16:creationId xmlns:a16="http://schemas.microsoft.com/office/drawing/2014/main" id="{22A3574A-CAA1-E51C-8819-DC53C465327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Tree>
    <p:extLst>
      <p:ext uri="{BB962C8B-B14F-4D97-AF65-F5344CB8AC3E}">
        <p14:creationId xmlns:p14="http://schemas.microsoft.com/office/powerpoint/2010/main" val="41594388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 2 Images + 2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298" y="4233291"/>
            <a:ext cx="5495544"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3">
            <a:extLst>
              <a:ext uri="{FF2B5EF4-FFF2-40B4-BE49-F238E27FC236}">
                <a16:creationId xmlns:a16="http://schemas.microsoft.com/office/drawing/2014/main" id="{6B84C3AF-B98F-D4FA-FE57-5457BCE9DCF8}"/>
              </a:ext>
            </a:extLst>
          </p:cNvPr>
          <p:cNvSpPr>
            <a:spLocks noGrp="1"/>
          </p:cNvSpPr>
          <p:nvPr>
            <p:ph sz="half" idx="11"/>
          </p:nvPr>
        </p:nvSpPr>
        <p:spPr>
          <a:xfrm>
            <a:off x="6324600" y="4233291"/>
            <a:ext cx="5495544"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4AE615A5-273B-7942-00A0-3693B20154EB}"/>
              </a:ext>
            </a:extLst>
          </p:cNvPr>
          <p:cNvSpPr>
            <a:spLocks noGrp="1"/>
          </p:cNvSpPr>
          <p:nvPr>
            <p:ph type="pic" sz="quarter" idx="12" hasCustomPrompt="1"/>
          </p:nvPr>
        </p:nvSpPr>
        <p:spPr>
          <a:xfrm>
            <a:off x="367919" y="1481138"/>
            <a:ext cx="5495544"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8" name="Picture Placeholder 6">
            <a:extLst>
              <a:ext uri="{FF2B5EF4-FFF2-40B4-BE49-F238E27FC236}">
                <a16:creationId xmlns:a16="http://schemas.microsoft.com/office/drawing/2014/main" id="{37962172-9EE5-88BC-38ED-7AE26751ABED}"/>
              </a:ext>
            </a:extLst>
          </p:cNvPr>
          <p:cNvSpPr>
            <a:spLocks noGrp="1"/>
          </p:cNvSpPr>
          <p:nvPr>
            <p:ph type="pic" sz="quarter" idx="13" hasCustomPrompt="1"/>
          </p:nvPr>
        </p:nvSpPr>
        <p:spPr>
          <a:xfrm>
            <a:off x="6324600" y="1481138"/>
            <a:ext cx="5495544"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2" name="Title Placeholder 1">
            <a:extLst>
              <a:ext uri="{FF2B5EF4-FFF2-40B4-BE49-F238E27FC236}">
                <a16:creationId xmlns:a16="http://schemas.microsoft.com/office/drawing/2014/main" id="{621BBECE-92DC-7EA1-3903-FB23CE383FD5}"/>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3" name="Straight Connector 2">
            <a:extLst>
              <a:ext uri="{FF2B5EF4-FFF2-40B4-BE49-F238E27FC236}">
                <a16:creationId xmlns:a16="http://schemas.microsoft.com/office/drawing/2014/main" id="{D5BBE5A2-CF9A-371B-E8C3-6C2628CB6650}"/>
              </a:ext>
            </a:extLst>
          </p:cNvPr>
          <p:cNvCxnSpPr>
            <a:cxnSpLocks/>
          </p:cNvCxnSpPr>
          <p:nvPr userDrawn="1"/>
        </p:nvCxnSpPr>
        <p:spPr>
          <a:xfrm>
            <a:off x="364300" y="1243783"/>
            <a:ext cx="54955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89296EC-E661-1202-DBA6-58631298B3AF}"/>
              </a:ext>
            </a:extLst>
          </p:cNvPr>
          <p:cNvCxnSpPr>
            <a:cxnSpLocks/>
          </p:cNvCxnSpPr>
          <p:nvPr userDrawn="1"/>
        </p:nvCxnSpPr>
        <p:spPr>
          <a:xfrm>
            <a:off x="6332918" y="1243783"/>
            <a:ext cx="54955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58787DA3-B155-E3AE-190B-A0FBBA04A9B4}"/>
              </a:ext>
            </a:extLst>
          </p:cNvPr>
          <p:cNvSpPr>
            <a:spLocks noGrp="1"/>
          </p:cNvSpPr>
          <p:nvPr>
            <p:ph type="ftr" sz="quarter" idx="14"/>
          </p:nvPr>
        </p:nvSpPr>
        <p:spPr/>
        <p:txBody>
          <a:bodyPr/>
          <a:lstStyle>
            <a:lvl1pPr>
              <a:defRPr>
                <a:solidFill>
                  <a:schemeClr val="tx1">
                    <a:lumMod val="65000"/>
                    <a:lumOff val="35000"/>
                  </a:schemeClr>
                </a:solidFill>
              </a:defRPr>
            </a:lvl1pPr>
          </a:lstStyle>
          <a:p>
            <a:r>
              <a:rPr lang="en-US"/>
              <a:t>Abbreviations</a:t>
            </a:r>
          </a:p>
        </p:txBody>
      </p:sp>
    </p:spTree>
    <p:extLst>
      <p:ext uri="{BB962C8B-B14F-4D97-AF65-F5344CB8AC3E}">
        <p14:creationId xmlns:p14="http://schemas.microsoft.com/office/powerpoint/2010/main" val="6424875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 3 Images + 3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297" y="4233291"/>
            <a:ext cx="3511296"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3">
            <a:extLst>
              <a:ext uri="{FF2B5EF4-FFF2-40B4-BE49-F238E27FC236}">
                <a16:creationId xmlns:a16="http://schemas.microsoft.com/office/drawing/2014/main" id="{6B84C3AF-B98F-D4FA-FE57-5457BCE9DCF8}"/>
              </a:ext>
            </a:extLst>
          </p:cNvPr>
          <p:cNvSpPr>
            <a:spLocks noGrp="1"/>
          </p:cNvSpPr>
          <p:nvPr>
            <p:ph sz="half" idx="11"/>
          </p:nvPr>
        </p:nvSpPr>
        <p:spPr>
          <a:xfrm>
            <a:off x="4340948" y="4233291"/>
            <a:ext cx="3511296"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4AE615A5-273B-7942-00A0-3693B20154EB}"/>
              </a:ext>
            </a:extLst>
          </p:cNvPr>
          <p:cNvSpPr>
            <a:spLocks noGrp="1"/>
          </p:cNvSpPr>
          <p:nvPr>
            <p:ph type="pic" sz="quarter" idx="12" hasCustomPrompt="1"/>
          </p:nvPr>
        </p:nvSpPr>
        <p:spPr>
          <a:xfrm>
            <a:off x="367919" y="1481138"/>
            <a:ext cx="3511296"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8" name="Picture Placeholder 6">
            <a:extLst>
              <a:ext uri="{FF2B5EF4-FFF2-40B4-BE49-F238E27FC236}">
                <a16:creationId xmlns:a16="http://schemas.microsoft.com/office/drawing/2014/main" id="{37962172-9EE5-88BC-38ED-7AE26751ABED}"/>
              </a:ext>
            </a:extLst>
          </p:cNvPr>
          <p:cNvSpPr>
            <a:spLocks noGrp="1"/>
          </p:cNvSpPr>
          <p:nvPr>
            <p:ph type="pic" sz="quarter" idx="13" hasCustomPrompt="1"/>
          </p:nvPr>
        </p:nvSpPr>
        <p:spPr>
          <a:xfrm>
            <a:off x="4342760" y="1481138"/>
            <a:ext cx="3511296"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2" name="Content Placeholder 3">
            <a:extLst>
              <a:ext uri="{FF2B5EF4-FFF2-40B4-BE49-F238E27FC236}">
                <a16:creationId xmlns:a16="http://schemas.microsoft.com/office/drawing/2014/main" id="{C991B900-D8BD-DF96-0A5B-F03B4421E64B}"/>
              </a:ext>
            </a:extLst>
          </p:cNvPr>
          <p:cNvSpPr>
            <a:spLocks noGrp="1"/>
          </p:cNvSpPr>
          <p:nvPr>
            <p:ph sz="half" idx="14"/>
          </p:nvPr>
        </p:nvSpPr>
        <p:spPr>
          <a:xfrm>
            <a:off x="8317600" y="4233291"/>
            <a:ext cx="3511296"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6">
            <a:extLst>
              <a:ext uri="{FF2B5EF4-FFF2-40B4-BE49-F238E27FC236}">
                <a16:creationId xmlns:a16="http://schemas.microsoft.com/office/drawing/2014/main" id="{3351F025-DEBE-EDD9-5ED7-5E7EE191322B}"/>
              </a:ext>
            </a:extLst>
          </p:cNvPr>
          <p:cNvSpPr>
            <a:spLocks noGrp="1"/>
          </p:cNvSpPr>
          <p:nvPr>
            <p:ph type="pic" sz="quarter" idx="15" hasCustomPrompt="1"/>
          </p:nvPr>
        </p:nvSpPr>
        <p:spPr>
          <a:xfrm>
            <a:off x="8317601" y="1481138"/>
            <a:ext cx="3511296"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5" name="Title Placeholder 1">
            <a:extLst>
              <a:ext uri="{FF2B5EF4-FFF2-40B4-BE49-F238E27FC236}">
                <a16:creationId xmlns:a16="http://schemas.microsoft.com/office/drawing/2014/main" id="{507FF8CF-628E-944A-803D-CD81A057D742}"/>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6" name="Straight Connector 5">
            <a:extLst>
              <a:ext uri="{FF2B5EF4-FFF2-40B4-BE49-F238E27FC236}">
                <a16:creationId xmlns:a16="http://schemas.microsoft.com/office/drawing/2014/main" id="{352BFB4F-A79F-389F-4EF6-5494E339D0EC}"/>
              </a:ext>
            </a:extLst>
          </p:cNvPr>
          <p:cNvCxnSpPr>
            <a:cxnSpLocks/>
          </p:cNvCxnSpPr>
          <p:nvPr userDrawn="1"/>
        </p:nvCxnSpPr>
        <p:spPr>
          <a:xfrm>
            <a:off x="364300"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E7D797E-06ED-88E9-1145-75E2FB6F2C4B}"/>
              </a:ext>
            </a:extLst>
          </p:cNvPr>
          <p:cNvCxnSpPr>
            <a:cxnSpLocks/>
          </p:cNvCxnSpPr>
          <p:nvPr userDrawn="1"/>
        </p:nvCxnSpPr>
        <p:spPr>
          <a:xfrm>
            <a:off x="4344924"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3F70B02-516A-08FD-3050-6AE9BFD09E46}"/>
              </a:ext>
            </a:extLst>
          </p:cNvPr>
          <p:cNvCxnSpPr>
            <a:cxnSpLocks/>
          </p:cNvCxnSpPr>
          <p:nvPr userDrawn="1"/>
        </p:nvCxnSpPr>
        <p:spPr>
          <a:xfrm>
            <a:off x="8326310"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Footer Placeholder 9">
            <a:extLst>
              <a:ext uri="{FF2B5EF4-FFF2-40B4-BE49-F238E27FC236}">
                <a16:creationId xmlns:a16="http://schemas.microsoft.com/office/drawing/2014/main" id="{667B2D2C-53F2-B18B-1EC0-BC5BF7BB0F6B}"/>
              </a:ext>
            </a:extLst>
          </p:cNvPr>
          <p:cNvSpPr>
            <a:spLocks noGrp="1"/>
          </p:cNvSpPr>
          <p:nvPr>
            <p:ph type="ftr" sz="quarter" idx="16"/>
          </p:nvPr>
        </p:nvSpPr>
        <p:spPr/>
        <p:txBody>
          <a:bodyPr/>
          <a:lstStyle>
            <a:lvl1pPr>
              <a:defRPr>
                <a:solidFill>
                  <a:schemeClr val="tx1">
                    <a:lumMod val="65000"/>
                    <a:lumOff val="35000"/>
                  </a:schemeClr>
                </a:solidFill>
              </a:defRPr>
            </a:lvl1pPr>
          </a:lstStyle>
          <a:p>
            <a:r>
              <a:rPr lang="en-US"/>
              <a:t>Abbreviations</a:t>
            </a:r>
          </a:p>
        </p:txBody>
      </p:sp>
    </p:spTree>
    <p:extLst>
      <p:ext uri="{BB962C8B-B14F-4D97-AF65-F5344CB8AC3E}">
        <p14:creationId xmlns:p14="http://schemas.microsoft.com/office/powerpoint/2010/main" val="4509223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 4 Images + 4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298" y="4233291"/>
            <a:ext cx="2514600" cy="1723549"/>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3">
            <a:extLst>
              <a:ext uri="{FF2B5EF4-FFF2-40B4-BE49-F238E27FC236}">
                <a16:creationId xmlns:a16="http://schemas.microsoft.com/office/drawing/2014/main" id="{6B84C3AF-B98F-D4FA-FE57-5457BCE9DCF8}"/>
              </a:ext>
            </a:extLst>
          </p:cNvPr>
          <p:cNvSpPr>
            <a:spLocks noGrp="1"/>
          </p:cNvSpPr>
          <p:nvPr>
            <p:ph sz="half" idx="11"/>
          </p:nvPr>
        </p:nvSpPr>
        <p:spPr>
          <a:xfrm>
            <a:off x="6330674" y="4233291"/>
            <a:ext cx="2514600" cy="1723549"/>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4AE615A5-273B-7942-00A0-3693B20154EB}"/>
              </a:ext>
            </a:extLst>
          </p:cNvPr>
          <p:cNvSpPr>
            <a:spLocks noGrp="1"/>
          </p:cNvSpPr>
          <p:nvPr>
            <p:ph type="pic" sz="quarter" idx="12" hasCustomPrompt="1"/>
          </p:nvPr>
        </p:nvSpPr>
        <p:spPr>
          <a:xfrm>
            <a:off x="367919" y="1481138"/>
            <a:ext cx="2514600"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8" name="Picture Placeholder 6">
            <a:extLst>
              <a:ext uri="{FF2B5EF4-FFF2-40B4-BE49-F238E27FC236}">
                <a16:creationId xmlns:a16="http://schemas.microsoft.com/office/drawing/2014/main" id="{37962172-9EE5-88BC-38ED-7AE26751ABED}"/>
              </a:ext>
            </a:extLst>
          </p:cNvPr>
          <p:cNvSpPr>
            <a:spLocks noGrp="1"/>
          </p:cNvSpPr>
          <p:nvPr>
            <p:ph type="pic" sz="quarter" idx="13" hasCustomPrompt="1"/>
          </p:nvPr>
        </p:nvSpPr>
        <p:spPr>
          <a:xfrm>
            <a:off x="6331881" y="1481138"/>
            <a:ext cx="2514600"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2" name="Content Placeholder 3">
            <a:extLst>
              <a:ext uri="{FF2B5EF4-FFF2-40B4-BE49-F238E27FC236}">
                <a16:creationId xmlns:a16="http://schemas.microsoft.com/office/drawing/2014/main" id="{C991B900-D8BD-DF96-0A5B-F03B4421E64B}"/>
              </a:ext>
            </a:extLst>
          </p:cNvPr>
          <p:cNvSpPr>
            <a:spLocks noGrp="1"/>
          </p:cNvSpPr>
          <p:nvPr>
            <p:ph sz="half" idx="14"/>
          </p:nvPr>
        </p:nvSpPr>
        <p:spPr>
          <a:xfrm>
            <a:off x="9313862" y="4233291"/>
            <a:ext cx="2514600" cy="1723549"/>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6">
            <a:extLst>
              <a:ext uri="{FF2B5EF4-FFF2-40B4-BE49-F238E27FC236}">
                <a16:creationId xmlns:a16="http://schemas.microsoft.com/office/drawing/2014/main" id="{3351F025-DEBE-EDD9-5ED7-5E7EE191322B}"/>
              </a:ext>
            </a:extLst>
          </p:cNvPr>
          <p:cNvSpPr>
            <a:spLocks noGrp="1"/>
          </p:cNvSpPr>
          <p:nvPr>
            <p:ph type="pic" sz="quarter" idx="15" hasCustomPrompt="1"/>
          </p:nvPr>
        </p:nvSpPr>
        <p:spPr>
          <a:xfrm>
            <a:off x="9313862" y="1481138"/>
            <a:ext cx="2514600"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5" name="Content Placeholder 3">
            <a:extLst>
              <a:ext uri="{FF2B5EF4-FFF2-40B4-BE49-F238E27FC236}">
                <a16:creationId xmlns:a16="http://schemas.microsoft.com/office/drawing/2014/main" id="{027FDE6E-BA1C-FBC4-CCD9-5E2985A81536}"/>
              </a:ext>
            </a:extLst>
          </p:cNvPr>
          <p:cNvSpPr>
            <a:spLocks noGrp="1"/>
          </p:cNvSpPr>
          <p:nvPr>
            <p:ph sz="half" idx="16"/>
          </p:nvPr>
        </p:nvSpPr>
        <p:spPr>
          <a:xfrm>
            <a:off x="3347486" y="4233291"/>
            <a:ext cx="2514600" cy="1723549"/>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6">
            <a:extLst>
              <a:ext uri="{FF2B5EF4-FFF2-40B4-BE49-F238E27FC236}">
                <a16:creationId xmlns:a16="http://schemas.microsoft.com/office/drawing/2014/main" id="{D4A1D311-68A0-D2D1-2A27-F01E8F128DFF}"/>
              </a:ext>
            </a:extLst>
          </p:cNvPr>
          <p:cNvSpPr>
            <a:spLocks noGrp="1"/>
          </p:cNvSpPr>
          <p:nvPr>
            <p:ph type="pic" sz="quarter" idx="17" hasCustomPrompt="1"/>
          </p:nvPr>
        </p:nvSpPr>
        <p:spPr>
          <a:xfrm>
            <a:off x="3349900" y="1481138"/>
            <a:ext cx="2514600"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9" name="Title Placeholder 1">
            <a:extLst>
              <a:ext uri="{FF2B5EF4-FFF2-40B4-BE49-F238E27FC236}">
                <a16:creationId xmlns:a16="http://schemas.microsoft.com/office/drawing/2014/main" id="{92FCE371-9BA5-9EEF-B057-3A076A6EED65}"/>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11" name="Straight Connector 10">
            <a:extLst>
              <a:ext uri="{FF2B5EF4-FFF2-40B4-BE49-F238E27FC236}">
                <a16:creationId xmlns:a16="http://schemas.microsoft.com/office/drawing/2014/main" id="{F8CAF55D-D81A-58D9-C35E-72EB375AFD7E}"/>
              </a:ext>
            </a:extLst>
          </p:cNvPr>
          <p:cNvCxnSpPr>
            <a:cxnSpLocks/>
          </p:cNvCxnSpPr>
          <p:nvPr userDrawn="1"/>
        </p:nvCxnSpPr>
        <p:spPr>
          <a:xfrm>
            <a:off x="364300"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8FA512E-FBA2-F8D5-3744-654FAEBA2376}"/>
              </a:ext>
            </a:extLst>
          </p:cNvPr>
          <p:cNvCxnSpPr>
            <a:cxnSpLocks/>
          </p:cNvCxnSpPr>
          <p:nvPr userDrawn="1"/>
        </p:nvCxnSpPr>
        <p:spPr>
          <a:xfrm>
            <a:off x="3349413"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EE27C1C-376E-06FA-BB8E-F8014299BE34}"/>
              </a:ext>
            </a:extLst>
          </p:cNvPr>
          <p:cNvCxnSpPr>
            <a:cxnSpLocks/>
          </p:cNvCxnSpPr>
          <p:nvPr userDrawn="1"/>
        </p:nvCxnSpPr>
        <p:spPr>
          <a:xfrm>
            <a:off x="6334526"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A11388F-B34B-FE5A-E09A-AF30C4A0D39A}"/>
              </a:ext>
            </a:extLst>
          </p:cNvPr>
          <p:cNvCxnSpPr>
            <a:cxnSpLocks/>
          </p:cNvCxnSpPr>
          <p:nvPr userDrawn="1"/>
        </p:nvCxnSpPr>
        <p:spPr>
          <a:xfrm>
            <a:off x="9319638"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Footer Placeholder 9">
            <a:extLst>
              <a:ext uri="{FF2B5EF4-FFF2-40B4-BE49-F238E27FC236}">
                <a16:creationId xmlns:a16="http://schemas.microsoft.com/office/drawing/2014/main" id="{D5E38A60-DC64-1FD1-9AE4-DD0A678E6314}"/>
              </a:ext>
            </a:extLst>
          </p:cNvPr>
          <p:cNvSpPr>
            <a:spLocks noGrp="1"/>
          </p:cNvSpPr>
          <p:nvPr>
            <p:ph type="ftr" sz="quarter" idx="18"/>
          </p:nvPr>
        </p:nvSpPr>
        <p:spPr/>
        <p:txBody>
          <a:bodyPr/>
          <a:lstStyle>
            <a:lvl1pPr>
              <a:defRPr>
                <a:solidFill>
                  <a:schemeClr val="tx1">
                    <a:lumMod val="65000"/>
                    <a:lumOff val="35000"/>
                  </a:schemeClr>
                </a:solidFill>
              </a:defRPr>
            </a:lvl1pPr>
          </a:lstStyle>
          <a:p>
            <a:r>
              <a:rPr lang="en-US"/>
              <a:t>Abbreviations</a:t>
            </a:r>
          </a:p>
        </p:txBody>
      </p:sp>
    </p:spTree>
    <p:extLst>
      <p:ext uri="{BB962C8B-B14F-4D97-AF65-F5344CB8AC3E}">
        <p14:creationId xmlns:p14="http://schemas.microsoft.com/office/powerpoint/2010/main" val="34340599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 Content + Half Image">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299" y="1507152"/>
            <a:ext cx="5503101"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19">
            <a:extLst>
              <a:ext uri="{FF2B5EF4-FFF2-40B4-BE49-F238E27FC236}">
                <a16:creationId xmlns:a16="http://schemas.microsoft.com/office/drawing/2014/main" id="{3C346468-F85F-E171-651F-342E8AC77D7F}"/>
              </a:ext>
            </a:extLst>
          </p:cNvPr>
          <p:cNvSpPr>
            <a:spLocks noGrp="1"/>
          </p:cNvSpPr>
          <p:nvPr>
            <p:ph type="pic" sz="quarter" idx="10" hasCustomPrompt="1"/>
          </p:nvPr>
        </p:nvSpPr>
        <p:spPr>
          <a:xfrm>
            <a:off x="6324602" y="1507152"/>
            <a:ext cx="5506019" cy="4518744"/>
          </a:xfrm>
          <a:prstGeom prst="roundRect">
            <a:avLst>
              <a:gd name="adj" fmla="val 9586"/>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3" name="Title Placeholder 1">
            <a:extLst>
              <a:ext uri="{FF2B5EF4-FFF2-40B4-BE49-F238E27FC236}">
                <a16:creationId xmlns:a16="http://schemas.microsoft.com/office/drawing/2014/main" id="{A94755F7-8433-86D0-15BB-77EF12947AE6}"/>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5" name="Straight Connector 4">
            <a:extLst>
              <a:ext uri="{FF2B5EF4-FFF2-40B4-BE49-F238E27FC236}">
                <a16:creationId xmlns:a16="http://schemas.microsoft.com/office/drawing/2014/main" id="{F4639577-4C98-6CC3-E2C3-948F8D74041F}"/>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E16BB514-8470-ADC5-A4BF-F7A39CB8A848}"/>
              </a:ext>
            </a:extLst>
          </p:cNvPr>
          <p:cNvSpPr>
            <a:spLocks noGrp="1"/>
          </p:cNvSpPr>
          <p:nvPr>
            <p:ph type="ftr" sz="quarter" idx="11"/>
          </p:nvPr>
        </p:nvSpPr>
        <p:spPr/>
        <p:txBody>
          <a:bodyPr/>
          <a:lstStyle/>
          <a:p>
            <a:r>
              <a:rPr lang="en-US"/>
              <a:t>Abbreviations</a:t>
            </a:r>
          </a:p>
        </p:txBody>
      </p:sp>
    </p:spTree>
    <p:extLst>
      <p:ext uri="{BB962C8B-B14F-4D97-AF65-F5344CB8AC3E}">
        <p14:creationId xmlns:p14="http://schemas.microsoft.com/office/powerpoint/2010/main" val="17089009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Right Half Image + Title +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6324600" y="2505241"/>
            <a:ext cx="5503862" cy="1400383"/>
          </a:xfrm>
          <a:prstGeom prst="rect">
            <a:avLst/>
          </a:prstGeom>
        </p:spPr>
        <p:txBody>
          <a:bodyPr wrap="square">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19">
            <a:extLst>
              <a:ext uri="{FF2B5EF4-FFF2-40B4-BE49-F238E27FC236}">
                <a16:creationId xmlns:a16="http://schemas.microsoft.com/office/drawing/2014/main" id="{3C346468-F85F-E171-651F-342E8AC77D7F}"/>
              </a:ext>
            </a:extLst>
          </p:cNvPr>
          <p:cNvSpPr>
            <a:spLocks noGrp="1"/>
          </p:cNvSpPr>
          <p:nvPr>
            <p:ph type="pic" sz="quarter" idx="10" hasCustomPrompt="1"/>
          </p:nvPr>
        </p:nvSpPr>
        <p:spPr>
          <a:xfrm>
            <a:off x="368454" y="332509"/>
            <a:ext cx="5507038" cy="6151418"/>
          </a:xfrm>
          <a:prstGeom prst="roundRect">
            <a:avLst>
              <a:gd name="adj" fmla="val 0"/>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5" name="Title Placeholder 1">
            <a:extLst>
              <a:ext uri="{FF2B5EF4-FFF2-40B4-BE49-F238E27FC236}">
                <a16:creationId xmlns:a16="http://schemas.microsoft.com/office/drawing/2014/main" id="{8B256340-140C-DB26-727F-895FCD2C3496}"/>
              </a:ext>
            </a:extLst>
          </p:cNvPr>
          <p:cNvSpPr>
            <a:spLocks noGrp="1"/>
          </p:cNvSpPr>
          <p:nvPr>
            <p:ph type="title"/>
          </p:nvPr>
        </p:nvSpPr>
        <p:spPr>
          <a:xfrm>
            <a:off x="6316510" y="271427"/>
            <a:ext cx="5511952" cy="369332"/>
          </a:xfrm>
          <a:prstGeom prst="rect">
            <a:avLst/>
          </a:prstGeom>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307979198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Full Page Image + Quote">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480FB05-22FD-5698-8BBE-69FF7122DB30}"/>
              </a:ext>
            </a:extLst>
          </p:cNvPr>
          <p:cNvSpPr>
            <a:spLocks noGrp="1"/>
          </p:cNvSpPr>
          <p:nvPr>
            <p:ph type="pic" sz="quarter" idx="10"/>
          </p:nvPr>
        </p:nvSpPr>
        <p:spPr>
          <a:xfrm>
            <a:off x="-5593" y="0"/>
            <a:ext cx="12192000" cy="6858000"/>
          </a:xfrm>
          <a:prstGeom prst="rect">
            <a:avLst/>
          </a:prstGeom>
        </p:spPr>
        <p:txBody>
          <a:bodyPr/>
          <a:lstStyle/>
          <a:p>
            <a:endParaRPr lang="en-US"/>
          </a:p>
        </p:txBody>
      </p:sp>
      <p:sp>
        <p:nvSpPr>
          <p:cNvPr id="3" name="Title 1">
            <a:extLst>
              <a:ext uri="{FF2B5EF4-FFF2-40B4-BE49-F238E27FC236}">
                <a16:creationId xmlns:a16="http://schemas.microsoft.com/office/drawing/2014/main" id="{24441EED-2A6A-F3A1-9576-7DC4A0CCD8A5}"/>
              </a:ext>
            </a:extLst>
          </p:cNvPr>
          <p:cNvSpPr>
            <a:spLocks noGrp="1"/>
          </p:cNvSpPr>
          <p:nvPr>
            <p:ph type="ctrTitle"/>
          </p:nvPr>
        </p:nvSpPr>
        <p:spPr>
          <a:xfrm>
            <a:off x="1845578" y="1682496"/>
            <a:ext cx="8513064" cy="430887"/>
          </a:xfrm>
          <a:prstGeom prst="rect">
            <a:avLst/>
          </a:prstGeom>
        </p:spPr>
        <p:txBody>
          <a:bodyPr wrap="square" anchor="t" anchorCtr="0">
            <a:spAutoFit/>
          </a:bodyPr>
          <a:lstStyle>
            <a:lvl1pPr algn="ctr">
              <a:lnSpc>
                <a:spcPct val="100000"/>
              </a:lnSpc>
              <a:defRPr sz="2800">
                <a:solidFill>
                  <a:schemeClr val="bg1"/>
                </a:solidFill>
              </a:defRPr>
            </a:lvl1pPr>
          </a:lstStyle>
          <a:p>
            <a:r>
              <a:rPr lang="en-US"/>
              <a:t>Click to edit Master title style</a:t>
            </a:r>
          </a:p>
        </p:txBody>
      </p:sp>
      <p:sp>
        <p:nvSpPr>
          <p:cNvPr id="5" name="Text Placeholder 2">
            <a:extLst>
              <a:ext uri="{FF2B5EF4-FFF2-40B4-BE49-F238E27FC236}">
                <a16:creationId xmlns:a16="http://schemas.microsoft.com/office/drawing/2014/main" id="{3D1E1C31-E91E-92AD-A0BE-E929F9FB32CD}"/>
              </a:ext>
            </a:extLst>
          </p:cNvPr>
          <p:cNvSpPr>
            <a:spLocks noGrp="1"/>
          </p:cNvSpPr>
          <p:nvPr>
            <p:ph type="body" idx="1"/>
          </p:nvPr>
        </p:nvSpPr>
        <p:spPr>
          <a:xfrm>
            <a:off x="1842614" y="1192088"/>
            <a:ext cx="8513064" cy="184666"/>
          </a:xfrm>
          <a:prstGeom prst="rect">
            <a:avLst/>
          </a:prstGeom>
        </p:spPr>
        <p:txBody>
          <a:bodyPr>
            <a:spAutoFit/>
          </a:bodyPr>
          <a:lstStyle>
            <a:lvl1pPr marL="0" indent="0" algn="ctr">
              <a:buNone/>
              <a:defRPr sz="1200" b="1" i="0" cap="all" spc="100" baseline="0">
                <a:solidFill>
                  <a:schemeClr val="bg1"/>
                </a:solidFill>
                <a:latin typeface="Poppins SemiBold" pitchFamily="2" charset="77"/>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a:t>
            </a:r>
          </a:p>
        </p:txBody>
      </p:sp>
      <p:sp>
        <p:nvSpPr>
          <p:cNvPr id="18" name="Text Placeholder 2">
            <a:extLst>
              <a:ext uri="{FF2B5EF4-FFF2-40B4-BE49-F238E27FC236}">
                <a16:creationId xmlns:a16="http://schemas.microsoft.com/office/drawing/2014/main" id="{965483DD-1790-95E8-68CD-9B4262C2E0CD}"/>
              </a:ext>
            </a:extLst>
          </p:cNvPr>
          <p:cNvSpPr>
            <a:spLocks noGrp="1"/>
          </p:cNvSpPr>
          <p:nvPr>
            <p:ph type="body" idx="51" hasCustomPrompt="1"/>
          </p:nvPr>
        </p:nvSpPr>
        <p:spPr>
          <a:xfrm>
            <a:off x="1842614" y="5034246"/>
            <a:ext cx="8513064" cy="184666"/>
          </a:xfrm>
          <a:prstGeom prst="rect">
            <a:avLst/>
          </a:prstGeom>
        </p:spPr>
        <p:txBody>
          <a:bodyPr>
            <a:spAutoFit/>
          </a:bodyPr>
          <a:lstStyle>
            <a:lvl1pPr marL="0" indent="0" algn="ctr">
              <a:buNone/>
              <a:defRPr sz="1200" b="1" i="0" cap="none" spc="100" baseline="0">
                <a:solidFill>
                  <a:schemeClr val="bg1"/>
                </a:solidFill>
                <a:latin typeface="Poppins SemiBold" pitchFamily="2" charset="77"/>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Author</a:t>
            </a:r>
          </a:p>
        </p:txBody>
      </p:sp>
      <p:sp>
        <p:nvSpPr>
          <p:cNvPr id="8" name="Logo">
            <a:extLst>
              <a:ext uri="{FF2B5EF4-FFF2-40B4-BE49-F238E27FC236}">
                <a16:creationId xmlns:a16="http://schemas.microsoft.com/office/drawing/2014/main" id="{43565025-24CE-46D0-87C2-8CFFAB6C6F7D}"/>
              </a:ext>
            </a:extLst>
          </p:cNvPr>
          <p:cNvSpPr>
            <a:spLocks noGrp="1"/>
          </p:cNvSpPr>
          <p:nvPr>
            <p:ph type="pic" sz="quarter" idx="52"/>
          </p:nvPr>
        </p:nvSpPr>
        <p:spPr>
          <a:xfrm>
            <a:off x="5775960" y="5558773"/>
            <a:ext cx="640080" cy="164592"/>
          </a:xfrm>
          <a:prstGeom prst="rect">
            <a:avLst/>
          </a:prstGeo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blipFill>
                  <a:blip>
                    <a:extLst>
                      <a:ext uri="{96DAC541-7B7A-43D3-8B79-37D633B846F1}">
                        <asvg:svgBlip xmlns:asvg="http://schemas.microsoft.com/office/drawing/2016/SVG/main" r:embed="rId3"/>
                      </a:ext>
                    </a:extLst>
                  </a:blip>
                  <a:stretch>
                    <a:fillRect/>
                  </a:stretch>
                </a:blipFill>
              </a:defRPr>
            </a:lvl1pPr>
          </a:lstStyle>
          <a:p>
            <a:endParaRPr lang="en-US"/>
          </a:p>
        </p:txBody>
      </p:sp>
      <p:sp>
        <p:nvSpPr>
          <p:cNvPr id="6" name="Slide Number Placeholder 5">
            <a:extLst>
              <a:ext uri="{FF2B5EF4-FFF2-40B4-BE49-F238E27FC236}">
                <a16:creationId xmlns:a16="http://schemas.microsoft.com/office/drawing/2014/main" id="{6C937995-9F38-2E0B-0E21-BC0223A4C958}"/>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9" name="TextBox 8">
            <a:extLst>
              <a:ext uri="{FF2B5EF4-FFF2-40B4-BE49-F238E27FC236}">
                <a16:creationId xmlns:a16="http://schemas.microsoft.com/office/drawing/2014/main" id="{D27C1691-A57B-C325-3F52-D88122CCD8D9}"/>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10" name="Graphic 9">
            <a:extLst>
              <a:ext uri="{FF2B5EF4-FFF2-40B4-BE49-F238E27FC236}">
                <a16:creationId xmlns:a16="http://schemas.microsoft.com/office/drawing/2014/main" id="{58D658C6-ABDD-482C-E285-31145B3E041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Tree>
    <p:extLst>
      <p:ext uri="{BB962C8B-B14F-4D97-AF65-F5344CB8AC3E}">
        <p14:creationId xmlns:p14="http://schemas.microsoft.com/office/powerpoint/2010/main" val="212064246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llage Opt 1">
    <p:spTree>
      <p:nvGrpSpPr>
        <p:cNvPr id="1" name=""/>
        <p:cNvGrpSpPr/>
        <p:nvPr/>
      </p:nvGrpSpPr>
      <p:grpSpPr>
        <a:xfrm>
          <a:off x="0" y="0"/>
          <a:ext cx="0" cy="0"/>
          <a:chOff x="0" y="0"/>
          <a:chExt cx="0" cy="0"/>
        </a:xfrm>
      </p:grpSpPr>
      <p:sp>
        <p:nvSpPr>
          <p:cNvPr id="8" name="Picture Placeholder 19">
            <a:extLst>
              <a:ext uri="{FF2B5EF4-FFF2-40B4-BE49-F238E27FC236}">
                <a16:creationId xmlns:a16="http://schemas.microsoft.com/office/drawing/2014/main" id="{D6981A86-72D9-6390-E425-661E792B2011}"/>
              </a:ext>
            </a:extLst>
          </p:cNvPr>
          <p:cNvSpPr>
            <a:spLocks noGrp="1"/>
          </p:cNvSpPr>
          <p:nvPr>
            <p:ph type="pic" sz="quarter" idx="12" hasCustomPrompt="1"/>
          </p:nvPr>
        </p:nvSpPr>
        <p:spPr>
          <a:xfrm>
            <a:off x="3363228" y="3907354"/>
            <a:ext cx="3977640" cy="2950646"/>
          </a:xfrm>
          <a:prstGeom prst="roundRect">
            <a:avLst>
              <a:gd name="adj" fmla="val 0"/>
            </a:avLst>
          </a:prstGeom>
          <a:ln>
            <a:noFill/>
          </a:ln>
        </p:spPr>
        <p:txBody>
          <a:bodyPr/>
          <a:lstStyle>
            <a:lvl1pPr marL="171450" indent="-171450">
              <a:buFont typeface="Arial" panose="020B0604020202020204" pitchFamily="34" charset="0"/>
              <a:buChar char="•"/>
              <a:defRPr b="0"/>
            </a:lvl1pPr>
          </a:lstStyle>
          <a:p>
            <a:r>
              <a:rPr lang="en-US"/>
              <a:t>Press the center icon to upload a picture / The picture will crop to the frame.</a:t>
            </a:r>
          </a:p>
        </p:txBody>
      </p:sp>
      <p:sp>
        <p:nvSpPr>
          <p:cNvPr id="3" name="Content Placeholder 3">
            <a:extLst>
              <a:ext uri="{FF2B5EF4-FFF2-40B4-BE49-F238E27FC236}">
                <a16:creationId xmlns:a16="http://schemas.microsoft.com/office/drawing/2014/main" id="{753DC155-1A81-AD63-BC48-F7ED823B9183}"/>
              </a:ext>
            </a:extLst>
          </p:cNvPr>
          <p:cNvSpPr>
            <a:spLocks noGrp="1"/>
          </p:cNvSpPr>
          <p:nvPr>
            <p:ph sz="half" idx="2" hasCustomPrompt="1"/>
          </p:nvPr>
        </p:nvSpPr>
        <p:spPr>
          <a:xfrm>
            <a:off x="364300" y="3882258"/>
            <a:ext cx="1792304" cy="138499"/>
          </a:xfrm>
          <a:prstGeom prst="rect">
            <a:avLst/>
          </a:prstGeom>
        </p:spPr>
        <p:txBody>
          <a:bodyPr wrap="square">
            <a:spAutoFit/>
          </a:bodyPr>
          <a:lstStyle>
            <a:lvl1pPr>
              <a:spcBef>
                <a:spcPts val="600"/>
              </a:spcBef>
              <a:defRPr sz="900" b="0">
                <a:solidFill>
                  <a:schemeClr val="tx1"/>
                </a:solidFill>
                <a:latin typeface="+mj-lt"/>
              </a:defRPr>
            </a:lvl1pPr>
          </a:lstStyle>
          <a:p>
            <a:pPr lvl="0"/>
            <a:r>
              <a:rPr lang="en-US"/>
              <a:t>Click to edit Master title style</a:t>
            </a:r>
          </a:p>
        </p:txBody>
      </p:sp>
      <p:sp>
        <p:nvSpPr>
          <p:cNvPr id="6" name="Picture Placeholder 19">
            <a:extLst>
              <a:ext uri="{FF2B5EF4-FFF2-40B4-BE49-F238E27FC236}">
                <a16:creationId xmlns:a16="http://schemas.microsoft.com/office/drawing/2014/main" id="{B050C76B-E118-F71E-A91C-7DD44A0812E7}"/>
              </a:ext>
            </a:extLst>
          </p:cNvPr>
          <p:cNvSpPr>
            <a:spLocks noGrp="1"/>
          </p:cNvSpPr>
          <p:nvPr>
            <p:ph type="pic" sz="quarter" idx="10" hasCustomPrompt="1"/>
          </p:nvPr>
        </p:nvSpPr>
        <p:spPr>
          <a:xfrm>
            <a:off x="360362" y="1038184"/>
            <a:ext cx="2468880" cy="1954649"/>
          </a:xfrm>
          <a:prstGeom prst="roundRect">
            <a:avLst>
              <a:gd name="adj" fmla="val 21828"/>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7" name="Picture Placeholder 19">
            <a:extLst>
              <a:ext uri="{FF2B5EF4-FFF2-40B4-BE49-F238E27FC236}">
                <a16:creationId xmlns:a16="http://schemas.microsoft.com/office/drawing/2014/main" id="{C6CC91AA-7B99-B143-5235-BF12574C401B}"/>
              </a:ext>
            </a:extLst>
          </p:cNvPr>
          <p:cNvSpPr>
            <a:spLocks noGrp="1"/>
          </p:cNvSpPr>
          <p:nvPr>
            <p:ph type="pic" sz="quarter" idx="11" hasCustomPrompt="1"/>
          </p:nvPr>
        </p:nvSpPr>
        <p:spPr>
          <a:xfrm>
            <a:off x="6349525" y="0"/>
            <a:ext cx="5847973" cy="4512179"/>
          </a:xfrm>
          <a:prstGeom prst="roundRect">
            <a:avLst>
              <a:gd name="adj" fmla="val 0"/>
            </a:avLst>
          </a:prstGeom>
          <a:ln>
            <a:noFill/>
          </a:ln>
        </p:spPr>
        <p:txBody>
          <a:bodyPr/>
          <a:lstStyle>
            <a:lvl1pPr marL="171450" indent="-171450">
              <a:buFont typeface="Arial" panose="020B0604020202020204" pitchFamily="34" charset="0"/>
              <a:buChar char="•"/>
              <a:defRPr b="0"/>
            </a:lvl1pPr>
          </a:lstStyle>
          <a:p>
            <a:r>
              <a:rPr lang="en-US"/>
              <a:t>Press the center icon to upload a picture / The picture will crop to the frame / The star motif will need to be added to the picture before adding</a:t>
            </a:r>
            <a:br>
              <a:rPr lang="en-US"/>
            </a:br>
            <a:r>
              <a:rPr lang="en-US"/>
              <a:t>it the master slide.</a:t>
            </a:r>
          </a:p>
        </p:txBody>
      </p:sp>
      <p:sp>
        <p:nvSpPr>
          <p:cNvPr id="2" name="Content Placeholder 3">
            <a:extLst>
              <a:ext uri="{FF2B5EF4-FFF2-40B4-BE49-F238E27FC236}">
                <a16:creationId xmlns:a16="http://schemas.microsoft.com/office/drawing/2014/main" id="{A6A7FAFD-29D2-255A-3DA6-C84FC705503F}"/>
              </a:ext>
            </a:extLst>
          </p:cNvPr>
          <p:cNvSpPr>
            <a:spLocks noGrp="1"/>
          </p:cNvSpPr>
          <p:nvPr>
            <p:ph sz="half" idx="13" hasCustomPrompt="1"/>
          </p:nvPr>
        </p:nvSpPr>
        <p:spPr>
          <a:xfrm>
            <a:off x="364300" y="4123801"/>
            <a:ext cx="1792304" cy="138499"/>
          </a:xfrm>
          <a:prstGeom prst="rect">
            <a:avLst/>
          </a:prstGeom>
        </p:spPr>
        <p:txBody>
          <a:bodyPr wrap="square">
            <a:spAutoFit/>
          </a:bodyPr>
          <a:lstStyle>
            <a:lvl1pPr>
              <a:spcBef>
                <a:spcPts val="600"/>
              </a:spcBef>
              <a:defRPr sz="900" b="0">
                <a:solidFill>
                  <a:schemeClr val="tx1"/>
                </a:solidFill>
                <a:latin typeface="+mn-lt"/>
              </a:defRPr>
            </a:lvl1pPr>
          </a:lstStyle>
          <a:p>
            <a:pPr lvl="0"/>
            <a:r>
              <a:rPr lang="en-US"/>
              <a:t>Click to edit Master title style</a:t>
            </a:r>
          </a:p>
        </p:txBody>
      </p:sp>
    </p:spTree>
    <p:extLst>
      <p:ext uri="{BB962C8B-B14F-4D97-AF65-F5344CB8AC3E}">
        <p14:creationId xmlns:p14="http://schemas.microsoft.com/office/powerpoint/2010/main" val="867218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Collage Opt 2">
    <p:spTree>
      <p:nvGrpSpPr>
        <p:cNvPr id="1" name=""/>
        <p:cNvGrpSpPr/>
        <p:nvPr/>
      </p:nvGrpSpPr>
      <p:grpSpPr>
        <a:xfrm>
          <a:off x="0" y="0"/>
          <a:ext cx="0" cy="0"/>
          <a:chOff x="0" y="0"/>
          <a:chExt cx="0" cy="0"/>
        </a:xfrm>
      </p:grpSpPr>
      <p:sp>
        <p:nvSpPr>
          <p:cNvPr id="8" name="Picture Placeholder 19">
            <a:extLst>
              <a:ext uri="{FF2B5EF4-FFF2-40B4-BE49-F238E27FC236}">
                <a16:creationId xmlns:a16="http://schemas.microsoft.com/office/drawing/2014/main" id="{D6981A86-72D9-6390-E425-661E792B2011}"/>
              </a:ext>
            </a:extLst>
          </p:cNvPr>
          <p:cNvSpPr>
            <a:spLocks noGrp="1"/>
          </p:cNvSpPr>
          <p:nvPr>
            <p:ph type="pic" sz="quarter" idx="12" hasCustomPrompt="1"/>
          </p:nvPr>
        </p:nvSpPr>
        <p:spPr>
          <a:xfrm>
            <a:off x="3363227" y="0"/>
            <a:ext cx="5068391" cy="3759774"/>
          </a:xfrm>
          <a:prstGeom prst="roundRect">
            <a:avLst>
              <a:gd name="adj" fmla="val 0"/>
            </a:avLst>
          </a:prstGeom>
          <a:ln>
            <a:noFill/>
          </a:ln>
        </p:spPr>
        <p:txBody>
          <a:bodyPr anchor="t"/>
          <a:lstStyle>
            <a:lvl1pPr marL="171450" indent="-171450">
              <a:buFont typeface="Arial" panose="020B0604020202020204" pitchFamily="34" charset="0"/>
              <a:buChar char="•"/>
              <a:defRPr b="0"/>
            </a:lvl1pPr>
          </a:lstStyle>
          <a:p>
            <a:r>
              <a:rPr lang="en-US"/>
              <a:t>Press the center icon to upload a picture / The picture will crop to the frame.</a:t>
            </a:r>
          </a:p>
        </p:txBody>
      </p:sp>
      <p:sp>
        <p:nvSpPr>
          <p:cNvPr id="3" name="Content Placeholder 3">
            <a:extLst>
              <a:ext uri="{FF2B5EF4-FFF2-40B4-BE49-F238E27FC236}">
                <a16:creationId xmlns:a16="http://schemas.microsoft.com/office/drawing/2014/main" id="{753DC155-1A81-AD63-BC48-F7ED823B9183}"/>
              </a:ext>
            </a:extLst>
          </p:cNvPr>
          <p:cNvSpPr>
            <a:spLocks noGrp="1"/>
          </p:cNvSpPr>
          <p:nvPr>
            <p:ph sz="half" idx="2" hasCustomPrompt="1"/>
          </p:nvPr>
        </p:nvSpPr>
        <p:spPr>
          <a:xfrm>
            <a:off x="10036159" y="5036803"/>
            <a:ext cx="1792304" cy="138499"/>
          </a:xfrm>
          <a:prstGeom prst="rect">
            <a:avLst/>
          </a:prstGeom>
        </p:spPr>
        <p:txBody>
          <a:bodyPr wrap="square">
            <a:spAutoFit/>
          </a:bodyPr>
          <a:lstStyle>
            <a:lvl1pPr algn="r">
              <a:spcBef>
                <a:spcPts val="600"/>
              </a:spcBef>
              <a:defRPr sz="900" b="0">
                <a:solidFill>
                  <a:schemeClr val="tx1"/>
                </a:solidFill>
                <a:latin typeface="+mj-lt"/>
              </a:defRPr>
            </a:lvl1pPr>
          </a:lstStyle>
          <a:p>
            <a:pPr lvl="0"/>
            <a:r>
              <a:rPr lang="en-US"/>
              <a:t>Click to edit Master title style</a:t>
            </a:r>
          </a:p>
        </p:txBody>
      </p:sp>
      <p:sp>
        <p:nvSpPr>
          <p:cNvPr id="6" name="Picture Placeholder 19">
            <a:extLst>
              <a:ext uri="{FF2B5EF4-FFF2-40B4-BE49-F238E27FC236}">
                <a16:creationId xmlns:a16="http://schemas.microsoft.com/office/drawing/2014/main" id="{B050C76B-E118-F71E-A91C-7DD44A0812E7}"/>
              </a:ext>
            </a:extLst>
          </p:cNvPr>
          <p:cNvSpPr>
            <a:spLocks noGrp="1"/>
          </p:cNvSpPr>
          <p:nvPr>
            <p:ph type="pic" sz="quarter" idx="10" hasCustomPrompt="1"/>
          </p:nvPr>
        </p:nvSpPr>
        <p:spPr>
          <a:xfrm>
            <a:off x="9359583" y="2192729"/>
            <a:ext cx="2468880" cy="1954649"/>
          </a:xfrm>
          <a:prstGeom prst="roundRect">
            <a:avLst>
              <a:gd name="adj" fmla="val 21828"/>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7" name="Picture Placeholder 19">
            <a:extLst>
              <a:ext uri="{FF2B5EF4-FFF2-40B4-BE49-F238E27FC236}">
                <a16:creationId xmlns:a16="http://schemas.microsoft.com/office/drawing/2014/main" id="{C6CC91AA-7B99-B143-5235-BF12574C401B}"/>
              </a:ext>
            </a:extLst>
          </p:cNvPr>
          <p:cNvSpPr>
            <a:spLocks noGrp="1"/>
          </p:cNvSpPr>
          <p:nvPr>
            <p:ph type="pic" sz="quarter" idx="11" hasCustomPrompt="1"/>
          </p:nvPr>
        </p:nvSpPr>
        <p:spPr>
          <a:xfrm>
            <a:off x="0" y="2345821"/>
            <a:ext cx="5847973" cy="4512179"/>
          </a:xfrm>
          <a:prstGeom prst="roundRect">
            <a:avLst>
              <a:gd name="adj" fmla="val 0"/>
            </a:avLst>
          </a:prstGeom>
          <a:ln>
            <a:noFill/>
          </a:ln>
        </p:spPr>
        <p:txBody>
          <a:bodyPr/>
          <a:lstStyle>
            <a:lvl1pPr marL="171450" indent="-171450">
              <a:buFont typeface="Arial" panose="020B0604020202020204" pitchFamily="34" charset="0"/>
              <a:buChar char="•"/>
              <a:defRPr b="0"/>
            </a:lvl1pPr>
          </a:lstStyle>
          <a:p>
            <a:r>
              <a:rPr lang="en-US"/>
              <a:t>Press the center icon to upload a picture / The picture will crop to the frame / The star motif will need to be added to the picture before adding</a:t>
            </a:r>
            <a:br>
              <a:rPr lang="en-US"/>
            </a:br>
            <a:r>
              <a:rPr lang="en-US"/>
              <a:t>it the master slide.</a:t>
            </a:r>
          </a:p>
        </p:txBody>
      </p:sp>
      <p:sp>
        <p:nvSpPr>
          <p:cNvPr id="2" name="Content Placeholder 3">
            <a:extLst>
              <a:ext uri="{FF2B5EF4-FFF2-40B4-BE49-F238E27FC236}">
                <a16:creationId xmlns:a16="http://schemas.microsoft.com/office/drawing/2014/main" id="{A6A7FAFD-29D2-255A-3DA6-C84FC705503F}"/>
              </a:ext>
            </a:extLst>
          </p:cNvPr>
          <p:cNvSpPr>
            <a:spLocks noGrp="1"/>
          </p:cNvSpPr>
          <p:nvPr>
            <p:ph sz="half" idx="13" hasCustomPrompt="1"/>
          </p:nvPr>
        </p:nvSpPr>
        <p:spPr>
          <a:xfrm>
            <a:off x="10036159" y="5278346"/>
            <a:ext cx="1792304" cy="138499"/>
          </a:xfrm>
          <a:prstGeom prst="rect">
            <a:avLst/>
          </a:prstGeom>
        </p:spPr>
        <p:txBody>
          <a:bodyPr wrap="square">
            <a:spAutoFit/>
          </a:bodyPr>
          <a:lstStyle>
            <a:lvl1pPr algn="r">
              <a:spcBef>
                <a:spcPts val="600"/>
              </a:spcBef>
              <a:defRPr sz="900" b="0">
                <a:solidFill>
                  <a:schemeClr val="tx1"/>
                </a:solidFill>
                <a:latin typeface="+mn-lt"/>
              </a:defRPr>
            </a:lvl1pPr>
          </a:lstStyle>
          <a:p>
            <a:pPr lvl="0"/>
            <a:r>
              <a:rPr lang="en-US"/>
              <a:t>Click to edit Master title style</a:t>
            </a:r>
          </a:p>
        </p:txBody>
      </p:sp>
      <p:sp>
        <p:nvSpPr>
          <p:cNvPr id="9" name="Slide Number Placeholder 5">
            <a:extLst>
              <a:ext uri="{FF2B5EF4-FFF2-40B4-BE49-F238E27FC236}">
                <a16:creationId xmlns:a16="http://schemas.microsoft.com/office/drawing/2014/main" id="{F471A725-A3EC-B225-E372-033F53F5259E}"/>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tx2"/>
                </a:solidFill>
                <a:latin typeface="+mj-lt"/>
              </a:rPr>
              <a:pPr>
                <a:defRPr/>
              </a:pPr>
              <a:t>‹#›</a:t>
            </a:fld>
            <a:endParaRPr lang="en-US" sz="900" b="0">
              <a:solidFill>
                <a:schemeClr val="tx2"/>
              </a:solidFill>
              <a:latin typeface="+mj-lt"/>
            </a:endParaRPr>
          </a:p>
        </p:txBody>
      </p:sp>
      <p:sp>
        <p:nvSpPr>
          <p:cNvPr id="10" name="TextBox 9">
            <a:extLst>
              <a:ext uri="{FF2B5EF4-FFF2-40B4-BE49-F238E27FC236}">
                <a16:creationId xmlns:a16="http://schemas.microsoft.com/office/drawing/2014/main" id="{383B2AF2-8C0E-0CB1-184F-D9F6C51E1D05}"/>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tx2"/>
                </a:solidFill>
                <a:latin typeface="+mj-lt"/>
              </a:rPr>
              <a:t>Confidential. For internal use only.</a:t>
            </a:r>
          </a:p>
        </p:txBody>
      </p:sp>
      <p:pic>
        <p:nvPicPr>
          <p:cNvPr id="11" name="Graphic 10">
            <a:extLst>
              <a:ext uri="{FF2B5EF4-FFF2-40B4-BE49-F238E27FC236}">
                <a16:creationId xmlns:a16="http://schemas.microsoft.com/office/drawing/2014/main" id="{944DF9FC-B6E9-EF55-EBA1-2CAC2984932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50145" y="6318107"/>
            <a:ext cx="274320" cy="274320"/>
          </a:xfrm>
          <a:prstGeom prst="rect">
            <a:avLst/>
          </a:prstGeom>
        </p:spPr>
      </p:pic>
    </p:spTree>
    <p:extLst>
      <p:ext uri="{BB962C8B-B14F-4D97-AF65-F5344CB8AC3E}">
        <p14:creationId xmlns:p14="http://schemas.microsoft.com/office/powerpoint/2010/main" val="34016322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Full Page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480FB05-22FD-5698-8BBE-69FF7122DB30}"/>
              </a:ext>
            </a:extLst>
          </p:cNvPr>
          <p:cNvSpPr>
            <a:spLocks noGrp="1"/>
          </p:cNvSpPr>
          <p:nvPr>
            <p:ph type="pic" sz="quarter" idx="10" hasCustomPrompt="1"/>
          </p:nvPr>
        </p:nvSpPr>
        <p:spPr>
          <a:xfrm>
            <a:off x="0" y="0"/>
            <a:ext cx="12192000" cy="6858000"/>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6" name="Slide Number Placeholder 5">
            <a:extLst>
              <a:ext uri="{FF2B5EF4-FFF2-40B4-BE49-F238E27FC236}">
                <a16:creationId xmlns:a16="http://schemas.microsoft.com/office/drawing/2014/main" id="{808481C6-F7B8-3A9A-7E9C-9F2A89ABFD78}"/>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7" name="TextBox 6">
            <a:extLst>
              <a:ext uri="{FF2B5EF4-FFF2-40B4-BE49-F238E27FC236}">
                <a16:creationId xmlns:a16="http://schemas.microsoft.com/office/drawing/2014/main" id="{73F4373E-D0BF-7EA0-35D4-001BBC4F58DA}"/>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8" name="Graphic 7">
            <a:extLst>
              <a:ext uri="{FF2B5EF4-FFF2-40B4-BE49-F238E27FC236}">
                <a16:creationId xmlns:a16="http://schemas.microsoft.com/office/drawing/2014/main" id="{05E3DDCC-7E28-9A16-A63C-52BC270616C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50145" y="6318107"/>
            <a:ext cx="274320" cy="274320"/>
          </a:xfrm>
          <a:prstGeom prst="rect">
            <a:avLst/>
          </a:prstGeom>
        </p:spPr>
      </p:pic>
    </p:spTree>
    <p:extLst>
      <p:ext uri="{BB962C8B-B14F-4D97-AF65-F5344CB8AC3E}">
        <p14:creationId xmlns:p14="http://schemas.microsoft.com/office/powerpoint/2010/main" val="210309545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hank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284D8-9A0A-EB78-FF95-8A65E8CF448B}"/>
              </a:ext>
            </a:extLst>
          </p:cNvPr>
          <p:cNvSpPr>
            <a:spLocks noGrp="1"/>
          </p:cNvSpPr>
          <p:nvPr>
            <p:ph type="title" hasCustomPrompt="1"/>
          </p:nvPr>
        </p:nvSpPr>
        <p:spPr>
          <a:xfrm>
            <a:off x="321200" y="1232746"/>
            <a:ext cx="8456479" cy="2135200"/>
          </a:xfrm>
          <a:prstGeom prst="rect">
            <a:avLst/>
          </a:prstGeom>
        </p:spPr>
        <p:txBody>
          <a:bodyPr/>
          <a:lstStyle>
            <a:lvl1pPr>
              <a:defRPr sz="15000"/>
            </a:lvl1pPr>
          </a:lstStyle>
          <a:p>
            <a:r>
              <a:rPr lang="en-US"/>
              <a:t>Thanks!</a:t>
            </a:r>
          </a:p>
        </p:txBody>
      </p:sp>
      <p:pic>
        <p:nvPicPr>
          <p:cNvPr id="16" name="Graphic 15">
            <a:extLst>
              <a:ext uri="{FF2B5EF4-FFF2-40B4-BE49-F238E27FC236}">
                <a16:creationId xmlns:a16="http://schemas.microsoft.com/office/drawing/2014/main" id="{44319368-2F9F-E4F8-F09D-F7668A3CEA34}"/>
              </a:ext>
            </a:extLst>
          </p:cNvPr>
          <p:cNvPicPr>
            <a:picLocks noChangeAspect="1"/>
          </p:cNvPicPr>
          <p:nvPr userDrawn="1"/>
        </p:nvPicPr>
        <p:blipFill>
          <a:blip>
            <a:extLst>
              <a:ext uri="{96DAC541-7B7A-43D3-8B79-37D633B846F1}">
                <asvg:svgBlip xmlns:asvg="http://schemas.microsoft.com/office/drawing/2016/SVG/main" r:embed="rId2"/>
              </a:ext>
            </a:extLst>
          </a:blip>
          <a:srcRect r="27614"/>
          <a:stretch>
            <a:fillRect/>
          </a:stretch>
        </p:blipFill>
        <p:spPr>
          <a:xfrm>
            <a:off x="9506712" y="2509064"/>
            <a:ext cx="2700528" cy="3730752"/>
          </a:xfrm>
          <a:custGeom>
            <a:avLst/>
            <a:gdLst>
              <a:gd name="connsiteX0" fmla="*/ 0 w 2700528"/>
              <a:gd name="connsiteY0" fmla="*/ 0 h 3730752"/>
              <a:gd name="connsiteX1" fmla="*/ 2700528 w 2700528"/>
              <a:gd name="connsiteY1" fmla="*/ 0 h 3730752"/>
              <a:gd name="connsiteX2" fmla="*/ 2700528 w 2700528"/>
              <a:gd name="connsiteY2" fmla="*/ 3730752 h 3730752"/>
              <a:gd name="connsiteX3" fmla="*/ 0 w 2700528"/>
              <a:gd name="connsiteY3" fmla="*/ 3730752 h 3730752"/>
            </a:gdLst>
            <a:ahLst/>
            <a:cxnLst>
              <a:cxn ang="0">
                <a:pos x="connsiteX0" y="connsiteY0"/>
              </a:cxn>
              <a:cxn ang="0">
                <a:pos x="connsiteX1" y="connsiteY1"/>
              </a:cxn>
              <a:cxn ang="0">
                <a:pos x="connsiteX2" y="connsiteY2"/>
              </a:cxn>
              <a:cxn ang="0">
                <a:pos x="connsiteX3" y="connsiteY3"/>
              </a:cxn>
            </a:cxnLst>
            <a:rect l="l" t="t" r="r" b="b"/>
            <a:pathLst>
              <a:path w="2700528" h="3730752">
                <a:moveTo>
                  <a:pt x="0" y="0"/>
                </a:moveTo>
                <a:lnTo>
                  <a:pt x="2700528" y="0"/>
                </a:lnTo>
                <a:lnTo>
                  <a:pt x="2700528" y="3730752"/>
                </a:lnTo>
                <a:lnTo>
                  <a:pt x="0" y="3730752"/>
                </a:lnTo>
                <a:close/>
              </a:path>
            </a:pathLst>
          </a:custGeom>
        </p:spPr>
      </p:pic>
      <p:pic>
        <p:nvPicPr>
          <p:cNvPr id="5" name="Graphic 4">
            <a:extLst>
              <a:ext uri="{FF2B5EF4-FFF2-40B4-BE49-F238E27FC236}">
                <a16:creationId xmlns:a16="http://schemas.microsoft.com/office/drawing/2014/main" id="{1ADEB899-AC43-11A3-D988-519ED476447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62769" y="6315912"/>
            <a:ext cx="1365460" cy="274320"/>
          </a:xfrm>
          <a:prstGeom prst="rect">
            <a:avLst/>
          </a:prstGeom>
        </p:spPr>
      </p:pic>
      <p:sp>
        <p:nvSpPr>
          <p:cNvPr id="6" name="Content Placeholder 3">
            <a:extLst>
              <a:ext uri="{FF2B5EF4-FFF2-40B4-BE49-F238E27FC236}">
                <a16:creationId xmlns:a16="http://schemas.microsoft.com/office/drawing/2014/main" id="{A4F21EFC-856E-BF60-96D3-33A189F92810}"/>
              </a:ext>
            </a:extLst>
          </p:cNvPr>
          <p:cNvSpPr>
            <a:spLocks noGrp="1"/>
          </p:cNvSpPr>
          <p:nvPr>
            <p:ph sz="half" idx="13" hasCustomPrompt="1"/>
          </p:nvPr>
        </p:nvSpPr>
        <p:spPr>
          <a:xfrm>
            <a:off x="364300" y="4703429"/>
            <a:ext cx="1792304" cy="138499"/>
          </a:xfrm>
          <a:prstGeom prst="rect">
            <a:avLst/>
          </a:prstGeom>
        </p:spPr>
        <p:txBody>
          <a:bodyPr wrap="square">
            <a:spAutoFit/>
          </a:bodyPr>
          <a:lstStyle>
            <a:lvl1pPr>
              <a:spcBef>
                <a:spcPts val="600"/>
              </a:spcBef>
              <a:spcAft>
                <a:spcPts val="400"/>
              </a:spcAft>
              <a:defRPr sz="900" b="0">
                <a:solidFill>
                  <a:schemeClr val="tx2"/>
                </a:solidFill>
                <a:latin typeface="+mj-lt"/>
              </a:defRPr>
            </a:lvl1pPr>
          </a:lstStyle>
          <a:p>
            <a:pPr lvl="0"/>
            <a:r>
              <a:rPr lang="en-US"/>
              <a:t>Click to edit Master title style</a:t>
            </a:r>
          </a:p>
        </p:txBody>
      </p:sp>
      <p:sp>
        <p:nvSpPr>
          <p:cNvPr id="7" name="Content Placeholder 3">
            <a:extLst>
              <a:ext uri="{FF2B5EF4-FFF2-40B4-BE49-F238E27FC236}">
                <a16:creationId xmlns:a16="http://schemas.microsoft.com/office/drawing/2014/main" id="{0BC96F78-FAA4-58BD-E701-1ACE1647E789}"/>
              </a:ext>
            </a:extLst>
          </p:cNvPr>
          <p:cNvSpPr>
            <a:spLocks noGrp="1"/>
          </p:cNvSpPr>
          <p:nvPr>
            <p:ph sz="half" idx="2" hasCustomPrompt="1"/>
          </p:nvPr>
        </p:nvSpPr>
        <p:spPr>
          <a:xfrm>
            <a:off x="364300" y="5777723"/>
            <a:ext cx="1792304" cy="138499"/>
          </a:xfrm>
          <a:prstGeom prst="rect">
            <a:avLst/>
          </a:prstGeom>
        </p:spPr>
        <p:txBody>
          <a:bodyPr wrap="square">
            <a:spAutoFit/>
          </a:bodyPr>
          <a:lstStyle>
            <a:lvl1pPr>
              <a:spcBef>
                <a:spcPts val="600"/>
              </a:spcBef>
              <a:defRPr sz="900" b="1" i="0">
                <a:solidFill>
                  <a:schemeClr val="accent1"/>
                </a:solidFill>
                <a:latin typeface="Poppins Medium" pitchFamily="2" charset="77"/>
                <a:cs typeface="Poppins Medium" pitchFamily="2" charset="77"/>
              </a:defRPr>
            </a:lvl1pPr>
          </a:lstStyle>
          <a:p>
            <a:pPr lvl="0"/>
            <a:r>
              <a:rPr lang="en-US"/>
              <a:t>Click to edit Master title style</a:t>
            </a:r>
          </a:p>
        </p:txBody>
      </p:sp>
    </p:spTree>
    <p:extLst>
      <p:ext uri="{BB962C8B-B14F-4D97-AF65-F5344CB8AC3E}">
        <p14:creationId xmlns:p14="http://schemas.microsoft.com/office/powerpoint/2010/main" val="39583960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mplate Guideline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30CD785-0CEF-A5E3-AF23-EC8F19AFD558}"/>
              </a:ext>
            </a:extLst>
          </p:cNvPr>
          <p:cNvSpPr>
            <a:spLocks noGrp="1"/>
          </p:cNvSpPr>
          <p:nvPr>
            <p:ph type="ftr" sz="quarter" idx="10"/>
          </p:nvPr>
        </p:nvSpPr>
        <p:spPr/>
        <p:txBody>
          <a:bodyPr/>
          <a:lstStyle/>
          <a:p>
            <a:r>
              <a:rPr lang="en-US"/>
              <a:t>Abbreviations</a:t>
            </a:r>
          </a:p>
        </p:txBody>
      </p:sp>
      <p:cxnSp>
        <p:nvCxnSpPr>
          <p:cNvPr id="4" name="Straight Connector 3">
            <a:extLst>
              <a:ext uri="{FF2B5EF4-FFF2-40B4-BE49-F238E27FC236}">
                <a16:creationId xmlns:a16="http://schemas.microsoft.com/office/drawing/2014/main" id="{29BEBA64-D2E4-8A2C-80E8-D3C7433BA4BB}"/>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7" name="Content Placeholder 7">
            <a:extLst>
              <a:ext uri="{FF2B5EF4-FFF2-40B4-BE49-F238E27FC236}">
                <a16:creationId xmlns:a16="http://schemas.microsoft.com/office/drawing/2014/main" id="{D2517866-9EA2-F8FE-3E5E-BF5BD8AF5C0E}"/>
              </a:ext>
            </a:extLst>
          </p:cNvPr>
          <p:cNvSpPr>
            <a:spLocks noGrp="1"/>
          </p:cNvSpPr>
          <p:nvPr userDrawn="1"/>
        </p:nvSpPr>
        <p:spPr>
          <a:xfrm>
            <a:off x="361156" y="1463040"/>
            <a:ext cx="5495544" cy="4547136"/>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a:extLst>
                    <a:ext uri="{96DAC541-7B7A-43D3-8B79-37D633B846F1}">
                      <asvg:svgBlip xmlns:asvg="http://schemas.microsoft.com/office/drawing/2016/SVG/main" r:embed="rId2"/>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3"/>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latin typeface="+mj-lt"/>
              </a:rPr>
              <a:t>Do NOT change the corporate template</a:t>
            </a:r>
          </a:p>
          <a:p>
            <a:pPr lvl="1"/>
            <a:r>
              <a:rPr lang="en-US"/>
              <a:t>Do NOT move headlines</a:t>
            </a:r>
          </a:p>
          <a:p>
            <a:pPr lvl="1"/>
            <a:r>
              <a:rPr lang="en-US"/>
              <a:t>Do NOT change bullet colors</a:t>
            </a:r>
          </a:p>
          <a:p>
            <a:pPr>
              <a:spcBef>
                <a:spcPts val="1600"/>
              </a:spcBef>
            </a:pPr>
            <a:r>
              <a:rPr lang="en-US" b="1">
                <a:latin typeface="+mj-lt"/>
              </a:rPr>
              <a:t>Typography</a:t>
            </a:r>
          </a:p>
          <a:p>
            <a:pPr lvl="1"/>
            <a:r>
              <a:rPr lang="en-US"/>
              <a:t>Headlines:  28 pt Poppins Medium, Midnight Blue</a:t>
            </a:r>
          </a:p>
          <a:p>
            <a:pPr lvl="1"/>
            <a:r>
              <a:rPr lang="en-US"/>
              <a:t>Subheads:  20 pt Poppins Regular, Midnight Blue</a:t>
            </a:r>
          </a:p>
          <a:p>
            <a:pPr lvl="1"/>
            <a:r>
              <a:rPr lang="en-US"/>
              <a:t>Body Copy:  Body Copy, 12-9 pt Poppins Regular, Black</a:t>
            </a:r>
          </a:p>
          <a:p>
            <a:pPr marL="0" indent="0" algn="l" defTabSz="914400" rtl="0" eaLnBrk="1" latinLnBrk="0" hangingPunct="1">
              <a:lnSpc>
                <a:spcPct val="100000"/>
              </a:lnSpc>
              <a:spcBef>
                <a:spcPts val="1600"/>
              </a:spcBef>
              <a:buClr>
                <a:schemeClr val="accent1"/>
              </a:buClr>
              <a:buFontTx/>
              <a:buNone/>
            </a:pPr>
            <a:r>
              <a:rPr lang="en-US" sz="1200" b="1" i="0" kern="1200">
                <a:solidFill>
                  <a:schemeClr val="tx1"/>
                </a:solidFill>
                <a:latin typeface="+mj-lt"/>
                <a:ea typeface="Verdana" panose="020B0604030504040204" pitchFamily="34" charset="0"/>
                <a:cs typeface="Verdana" panose="020B0604030504040204" pitchFamily="34" charset="0"/>
              </a:rPr>
              <a:t>Logos, Legal and Slide Numbers</a:t>
            </a:r>
          </a:p>
          <a:p>
            <a:pPr lvl="1"/>
            <a:r>
              <a:rPr lang="en-US"/>
              <a:t>The </a:t>
            </a:r>
            <a:r>
              <a:rPr lang="en-US" err="1"/>
              <a:t>BeOne</a:t>
            </a:r>
            <a:r>
              <a:rPr lang="en-US"/>
              <a:t> symbol and page numbers must appear on every slide; </a:t>
            </a:r>
            <a:br>
              <a:rPr lang="en-US"/>
            </a:br>
            <a:r>
              <a:rPr lang="en-US"/>
              <a:t>do not adjust the position</a:t>
            </a:r>
          </a:p>
          <a:p>
            <a:pPr lvl="1"/>
            <a:r>
              <a:rPr lang="en-US"/>
              <a:t>Confidential information statement should be included in the bottom </a:t>
            </a:r>
            <a:br>
              <a:rPr lang="en-US"/>
            </a:br>
            <a:r>
              <a:rPr lang="en-US"/>
              <a:t>right corner alongside the slide number and </a:t>
            </a:r>
            <a:r>
              <a:rPr lang="en-US" err="1"/>
              <a:t>BeOne</a:t>
            </a:r>
            <a:r>
              <a:rPr lang="en-US"/>
              <a:t> symbol</a:t>
            </a:r>
          </a:p>
          <a:p>
            <a:pPr lvl="1"/>
            <a:r>
              <a:rPr lang="en-US"/>
              <a:t>Include footnotes and references in the bottom left area indicated</a:t>
            </a:r>
            <a:br>
              <a:rPr lang="en-US"/>
            </a:br>
            <a:r>
              <a:rPr lang="en-US"/>
              <a:t>on each slide. Footnotes should be Poppins Regular, 7pt, Black, Text 1,</a:t>
            </a:r>
            <a:br>
              <a:rPr lang="en-US"/>
            </a:br>
            <a:r>
              <a:rPr lang="en-US"/>
              <a:t>Lighter 35%</a:t>
            </a:r>
          </a:p>
          <a:p>
            <a:endParaRPr lang="en-US"/>
          </a:p>
        </p:txBody>
      </p:sp>
      <p:sp>
        <p:nvSpPr>
          <p:cNvPr id="18" name="Content Placeholder 8">
            <a:extLst>
              <a:ext uri="{FF2B5EF4-FFF2-40B4-BE49-F238E27FC236}">
                <a16:creationId xmlns:a16="http://schemas.microsoft.com/office/drawing/2014/main" id="{73D56C51-DC24-F4F0-1245-C31AB01F01A6}"/>
              </a:ext>
            </a:extLst>
          </p:cNvPr>
          <p:cNvSpPr>
            <a:spLocks noGrp="1"/>
          </p:cNvSpPr>
          <p:nvPr userDrawn="1"/>
        </p:nvSpPr>
        <p:spPr>
          <a:xfrm>
            <a:off x="6327648" y="1463040"/>
            <a:ext cx="5495544" cy="4547141"/>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a:extLst>
                    <a:ext uri="{96DAC541-7B7A-43D3-8B79-37D633B846F1}">
                      <asvg:svgBlip xmlns:asvg="http://schemas.microsoft.com/office/drawing/2016/SVG/main" r:embed="rId2"/>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3"/>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defTabSz="914400" rtl="0" eaLnBrk="1" latinLnBrk="0" hangingPunct="1">
              <a:lnSpc>
                <a:spcPct val="100000"/>
              </a:lnSpc>
              <a:spcBef>
                <a:spcPts val="1600"/>
              </a:spcBef>
              <a:buClr>
                <a:schemeClr val="accent1"/>
              </a:buClr>
              <a:buFontTx/>
              <a:buNone/>
            </a:pPr>
            <a:r>
              <a:rPr lang="en-US" sz="1200" b="1" i="0" kern="1200">
                <a:solidFill>
                  <a:schemeClr val="tx1"/>
                </a:solidFill>
                <a:latin typeface="+mj-lt"/>
                <a:ea typeface="Verdana" panose="020B0604030504040204" pitchFamily="34" charset="0"/>
                <a:cs typeface="Verdana" panose="020B0604030504040204" pitchFamily="34" charset="0"/>
              </a:rPr>
              <a:t>Editing and Formatting</a:t>
            </a:r>
          </a:p>
          <a:p>
            <a:pPr lvl="1"/>
            <a:r>
              <a:rPr lang="en-US"/>
              <a:t>Capitalize first letter of first word in bullets</a:t>
            </a:r>
          </a:p>
          <a:p>
            <a:pPr lvl="1"/>
            <a:r>
              <a:rPr lang="en-US"/>
              <a:t>No period at end of bullets</a:t>
            </a:r>
          </a:p>
          <a:p>
            <a:pPr lvl="1"/>
            <a:r>
              <a:rPr lang="en-US"/>
              <a:t>Please ensure all fonts are set to Poppins for text, charts, etc.</a:t>
            </a:r>
          </a:p>
          <a:p>
            <a:pPr lvl="1"/>
            <a:r>
              <a:rPr lang="en-US"/>
              <a:t>All bullets should use Red</a:t>
            </a:r>
          </a:p>
          <a:p>
            <a:pPr lvl="1"/>
            <a:r>
              <a:rPr lang="en-US"/>
              <a:t>Please use Oxford Blue and Dark Blue for charts and graphs</a:t>
            </a:r>
          </a:p>
          <a:p>
            <a:pPr lvl="1"/>
            <a:r>
              <a:rPr lang="en-US"/>
              <a:t>Please refer to instructions for updating/adding images to slides that have been incorporated into the placeholder images throughout the template</a:t>
            </a:r>
          </a:p>
          <a:p>
            <a:pPr marL="0" lvl="1" indent="0">
              <a:spcBef>
                <a:spcPts val="1600"/>
              </a:spcBef>
              <a:buNone/>
            </a:pPr>
            <a:r>
              <a:rPr lang="en-US" sz="1200" b="1" i="0" kern="1200">
                <a:solidFill>
                  <a:schemeClr val="tx1"/>
                </a:solidFill>
                <a:latin typeface="+mj-lt"/>
                <a:ea typeface="Verdana" panose="020B0604030504040204" pitchFamily="34" charset="0"/>
                <a:cs typeface="Verdana" panose="020B0604030504040204" pitchFamily="34" charset="0"/>
              </a:rPr>
              <a:t>Best Practices</a:t>
            </a:r>
          </a:p>
          <a:p>
            <a:pPr lvl="1"/>
            <a:r>
              <a:rPr lang="en-US"/>
              <a:t>When pasting content from a different deck, click “Reset,” located under “Layout” in the Home tool bar to match slide formatting to current layout</a:t>
            </a:r>
          </a:p>
          <a:p>
            <a:pPr lvl="1"/>
            <a:r>
              <a:rPr lang="en-US"/>
              <a:t>Delete extra “Themes” in the “Layout” panel to ensure consistency </a:t>
            </a:r>
            <a:br>
              <a:rPr lang="en-US"/>
            </a:br>
            <a:r>
              <a:rPr lang="en-US"/>
              <a:t>and reduce file size</a:t>
            </a:r>
          </a:p>
          <a:p>
            <a:pPr lvl="1"/>
            <a:r>
              <a:rPr lang="en-US"/>
              <a:t>Sample layouts are included in this document to aid slide design</a:t>
            </a:r>
          </a:p>
          <a:p>
            <a:endParaRPr lang="en-US"/>
          </a:p>
        </p:txBody>
      </p:sp>
      <p:sp>
        <p:nvSpPr>
          <p:cNvPr id="19" name="Title 1">
            <a:extLst>
              <a:ext uri="{FF2B5EF4-FFF2-40B4-BE49-F238E27FC236}">
                <a16:creationId xmlns:a16="http://schemas.microsoft.com/office/drawing/2014/main" id="{7C96BC8F-ED84-A0DB-2D03-249239276FB0}"/>
              </a:ext>
            </a:extLst>
          </p:cNvPr>
          <p:cNvSpPr txBox="1">
            <a:spLocks/>
          </p:cNvSpPr>
          <p:nvPr userDrawn="1"/>
        </p:nvSpPr>
        <p:spPr>
          <a:xfrm>
            <a:off x="356616" y="274320"/>
            <a:ext cx="11466576" cy="430887"/>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sz="2800"/>
              <a:t>Quick Start</a:t>
            </a:r>
          </a:p>
        </p:txBody>
      </p:sp>
    </p:spTree>
    <p:extLst>
      <p:ext uri="{BB962C8B-B14F-4D97-AF65-F5344CB8AC3E}">
        <p14:creationId xmlns:p14="http://schemas.microsoft.com/office/powerpoint/2010/main" val="4321942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mplate Palette Color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30CD785-0CEF-A5E3-AF23-EC8F19AFD558}"/>
              </a:ext>
            </a:extLst>
          </p:cNvPr>
          <p:cNvSpPr>
            <a:spLocks noGrp="1"/>
          </p:cNvSpPr>
          <p:nvPr>
            <p:ph type="ftr" sz="quarter" idx="10"/>
          </p:nvPr>
        </p:nvSpPr>
        <p:spPr/>
        <p:txBody>
          <a:bodyPr/>
          <a:lstStyle/>
          <a:p>
            <a:r>
              <a:rPr lang="en-US"/>
              <a:t>Abbreviations</a:t>
            </a:r>
          </a:p>
        </p:txBody>
      </p:sp>
      <p:cxnSp>
        <p:nvCxnSpPr>
          <p:cNvPr id="4" name="Straight Connector 3">
            <a:extLst>
              <a:ext uri="{FF2B5EF4-FFF2-40B4-BE49-F238E27FC236}">
                <a16:creationId xmlns:a16="http://schemas.microsoft.com/office/drawing/2014/main" id="{29BEBA64-D2E4-8A2C-80E8-D3C7433BA4BB}"/>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Text Box 53">
            <a:extLst>
              <a:ext uri="{FF2B5EF4-FFF2-40B4-BE49-F238E27FC236}">
                <a16:creationId xmlns:a16="http://schemas.microsoft.com/office/drawing/2014/main" id="{F3ED04DA-B50D-319B-EF24-190136BCF092}"/>
              </a:ext>
            </a:extLst>
          </p:cNvPr>
          <p:cNvSpPr txBox="1">
            <a:spLocks noChangeArrowheads="1"/>
          </p:cNvSpPr>
          <p:nvPr userDrawn="1"/>
        </p:nvSpPr>
        <p:spPr bwMode="gray">
          <a:xfrm>
            <a:off x="358337" y="1438948"/>
            <a:ext cx="1298228" cy="191877"/>
          </a:xfrm>
          <a:prstGeom prst="rect">
            <a:avLst/>
          </a:prstGeom>
        </p:spPr>
        <p:txBody>
          <a:bodyPr wrap="squar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200" b="1" i="0">
                <a:solidFill>
                  <a:schemeClr val="tx2"/>
                </a:solidFill>
                <a:latin typeface="+mj-lt"/>
              </a:rPr>
              <a:t>Primary Colors</a:t>
            </a:r>
          </a:p>
        </p:txBody>
      </p:sp>
      <p:sp>
        <p:nvSpPr>
          <p:cNvPr id="6" name="Rectangle: Rounded Corners 8">
            <a:extLst>
              <a:ext uri="{FF2B5EF4-FFF2-40B4-BE49-F238E27FC236}">
                <a16:creationId xmlns:a16="http://schemas.microsoft.com/office/drawing/2014/main" id="{ACCCE185-2AFD-9461-CAE0-200067EF2B88}"/>
              </a:ext>
            </a:extLst>
          </p:cNvPr>
          <p:cNvSpPr/>
          <p:nvPr userDrawn="1"/>
        </p:nvSpPr>
        <p:spPr>
          <a:xfrm>
            <a:off x="1921767" y="1772570"/>
            <a:ext cx="1013780" cy="1013780"/>
          </a:xfrm>
          <a:prstGeom prst="ellips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a:r>
              <a:rPr lang="en-US" sz="1000" b="0" i="0">
                <a:solidFill>
                  <a:schemeClr val="bg1"/>
                </a:solidFill>
                <a:latin typeface="+mn-lt"/>
              </a:rPr>
              <a:t>Oxford Blue</a:t>
            </a:r>
          </a:p>
          <a:p>
            <a:pPr lvl="0" algn="ctr"/>
            <a:r>
              <a:rPr lang="en-US" sz="1000" b="0" i="0">
                <a:solidFill>
                  <a:schemeClr val="bg1"/>
                </a:solidFill>
                <a:latin typeface="+mn-lt"/>
              </a:rPr>
              <a:t>15,36,69</a:t>
            </a:r>
          </a:p>
        </p:txBody>
      </p:sp>
      <p:sp>
        <p:nvSpPr>
          <p:cNvPr id="7" name="Rectangle: Rounded Corners 10">
            <a:extLst>
              <a:ext uri="{FF2B5EF4-FFF2-40B4-BE49-F238E27FC236}">
                <a16:creationId xmlns:a16="http://schemas.microsoft.com/office/drawing/2014/main" id="{1C710C03-B535-ADE8-2DDB-5AA91DDBEBD8}"/>
              </a:ext>
            </a:extLst>
          </p:cNvPr>
          <p:cNvSpPr/>
          <p:nvPr userDrawn="1"/>
        </p:nvSpPr>
        <p:spPr>
          <a:xfrm>
            <a:off x="3482927" y="1772570"/>
            <a:ext cx="1013780" cy="10137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bg1"/>
                </a:solidFill>
                <a:latin typeface="+mn-lt"/>
              </a:rPr>
              <a:t>Midnight Blue</a:t>
            </a:r>
          </a:p>
          <a:p>
            <a:pPr lvl="0" algn="ctr"/>
            <a:r>
              <a:rPr lang="en-US" sz="1000" b="0" i="0">
                <a:solidFill>
                  <a:schemeClr val="bg1"/>
                </a:solidFill>
                <a:latin typeface="+mn-lt"/>
              </a:rPr>
              <a:t>40,51,74</a:t>
            </a:r>
          </a:p>
        </p:txBody>
      </p:sp>
      <p:sp>
        <p:nvSpPr>
          <p:cNvPr id="8" name="Rectangle: Rounded Corners 15">
            <a:extLst>
              <a:ext uri="{FF2B5EF4-FFF2-40B4-BE49-F238E27FC236}">
                <a16:creationId xmlns:a16="http://schemas.microsoft.com/office/drawing/2014/main" id="{CC28E212-70AF-1C31-1496-728504AE3DCC}"/>
              </a:ext>
            </a:extLst>
          </p:cNvPr>
          <p:cNvSpPr/>
          <p:nvPr userDrawn="1"/>
        </p:nvSpPr>
        <p:spPr>
          <a:xfrm>
            <a:off x="358337" y="1772570"/>
            <a:ext cx="1013780" cy="10137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bg1"/>
                </a:solidFill>
                <a:latin typeface="+mn-lt"/>
              </a:rPr>
              <a:t>Red</a:t>
            </a:r>
          </a:p>
          <a:p>
            <a:pPr lvl="0" algn="ctr"/>
            <a:r>
              <a:rPr lang="en-US" sz="1000" b="0" i="0">
                <a:solidFill>
                  <a:schemeClr val="bg1"/>
                </a:solidFill>
                <a:latin typeface="+mn-lt"/>
              </a:rPr>
              <a:t>214,43,30</a:t>
            </a:r>
          </a:p>
        </p:txBody>
      </p:sp>
      <p:sp>
        <p:nvSpPr>
          <p:cNvPr id="10" name="Text Box 53">
            <a:extLst>
              <a:ext uri="{FF2B5EF4-FFF2-40B4-BE49-F238E27FC236}">
                <a16:creationId xmlns:a16="http://schemas.microsoft.com/office/drawing/2014/main" id="{D391FF2E-F5A7-62D1-B3B4-3B8CE40E25A7}"/>
              </a:ext>
            </a:extLst>
          </p:cNvPr>
          <p:cNvSpPr txBox="1">
            <a:spLocks noChangeArrowheads="1"/>
          </p:cNvSpPr>
          <p:nvPr userDrawn="1"/>
        </p:nvSpPr>
        <p:spPr bwMode="gray">
          <a:xfrm>
            <a:off x="358337" y="3074691"/>
            <a:ext cx="1561160" cy="191877"/>
          </a:xfrm>
          <a:prstGeom prst="rect">
            <a:avLst/>
          </a:prstGeom>
        </p:spPr>
        <p:txBody>
          <a:bodyPr wrap="squar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l" eaLnBrk="1" hangingPunct="1"/>
            <a:r>
              <a:rPr lang="en-US" sz="1200" b="1" i="0">
                <a:solidFill>
                  <a:schemeClr val="tx2"/>
                </a:solidFill>
                <a:latin typeface="+mj-lt"/>
              </a:rPr>
              <a:t>Secondary Colors</a:t>
            </a:r>
          </a:p>
        </p:txBody>
      </p:sp>
      <p:sp>
        <p:nvSpPr>
          <p:cNvPr id="12" name="Rectangle: Rounded Corners 11">
            <a:extLst>
              <a:ext uri="{FF2B5EF4-FFF2-40B4-BE49-F238E27FC236}">
                <a16:creationId xmlns:a16="http://schemas.microsoft.com/office/drawing/2014/main" id="{E78166D4-88E8-450F-2F63-3C83A0F41D05}"/>
              </a:ext>
            </a:extLst>
          </p:cNvPr>
          <p:cNvSpPr/>
          <p:nvPr userDrawn="1"/>
        </p:nvSpPr>
        <p:spPr>
          <a:xfrm>
            <a:off x="358337" y="3408313"/>
            <a:ext cx="1013780" cy="1013780"/>
          </a:xfrm>
          <a:prstGeom prst="ellipse">
            <a:avLst/>
          </a:prstGeom>
          <a:solidFill>
            <a:srgbClr val="003A7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bg1"/>
                </a:solidFill>
                <a:latin typeface="+mn-lt"/>
              </a:rPr>
              <a:t>Dark Blue*</a:t>
            </a:r>
          </a:p>
          <a:p>
            <a:pPr lvl="0" algn="ctr"/>
            <a:r>
              <a:rPr lang="en-US" sz="1000" b="0" i="0">
                <a:solidFill>
                  <a:schemeClr val="bg1"/>
                </a:solidFill>
                <a:latin typeface="+mn-lt"/>
              </a:rPr>
              <a:t>0,58,112</a:t>
            </a:r>
          </a:p>
        </p:txBody>
      </p:sp>
      <p:sp>
        <p:nvSpPr>
          <p:cNvPr id="13" name="Rectangle: Rounded Corners 13">
            <a:extLst>
              <a:ext uri="{FF2B5EF4-FFF2-40B4-BE49-F238E27FC236}">
                <a16:creationId xmlns:a16="http://schemas.microsoft.com/office/drawing/2014/main" id="{79D4F712-CBFF-73CF-7BB9-38D26D61B93A}"/>
              </a:ext>
            </a:extLst>
          </p:cNvPr>
          <p:cNvSpPr/>
          <p:nvPr userDrawn="1"/>
        </p:nvSpPr>
        <p:spPr>
          <a:xfrm>
            <a:off x="1921767" y="5044057"/>
            <a:ext cx="1013780" cy="1013780"/>
          </a:xfrm>
          <a:prstGeom prst="ellipse">
            <a:avLst/>
          </a:prstGeom>
          <a:solidFill>
            <a:srgbClr val="D9D9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tx2"/>
                </a:solidFill>
                <a:latin typeface="+mn-lt"/>
              </a:rPr>
              <a:t>Cloud*</a:t>
            </a:r>
          </a:p>
          <a:p>
            <a:pPr lvl="0" algn="ctr"/>
            <a:r>
              <a:rPr lang="en-US" sz="1000" b="0" i="0">
                <a:solidFill>
                  <a:schemeClr val="tx2"/>
                </a:solidFill>
                <a:latin typeface="+mn-lt"/>
              </a:rPr>
              <a:t>217,217,214</a:t>
            </a:r>
          </a:p>
        </p:txBody>
      </p:sp>
      <p:sp>
        <p:nvSpPr>
          <p:cNvPr id="14" name="Text Box 53">
            <a:extLst>
              <a:ext uri="{FF2B5EF4-FFF2-40B4-BE49-F238E27FC236}">
                <a16:creationId xmlns:a16="http://schemas.microsoft.com/office/drawing/2014/main" id="{AB0E5B66-15BD-D995-9918-2EB6D2AF4191}"/>
              </a:ext>
            </a:extLst>
          </p:cNvPr>
          <p:cNvSpPr txBox="1">
            <a:spLocks noChangeArrowheads="1"/>
          </p:cNvSpPr>
          <p:nvPr userDrawn="1"/>
        </p:nvSpPr>
        <p:spPr bwMode="gray">
          <a:xfrm>
            <a:off x="358336" y="4710435"/>
            <a:ext cx="1254406" cy="191877"/>
          </a:xfrm>
          <a:prstGeom prst="rect">
            <a:avLst/>
          </a:prstGeom>
        </p:spPr>
        <p:txBody>
          <a:bodyPr wrap="squar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l" eaLnBrk="1" hangingPunct="1"/>
            <a:r>
              <a:rPr lang="en-US" sz="1200" b="1" i="0">
                <a:solidFill>
                  <a:schemeClr val="tx2"/>
                </a:solidFill>
                <a:latin typeface="+mj-lt"/>
              </a:rPr>
              <a:t>Neutral Colors</a:t>
            </a:r>
          </a:p>
        </p:txBody>
      </p:sp>
      <p:sp>
        <p:nvSpPr>
          <p:cNvPr id="15" name="Rectangle: Rounded Corners 12">
            <a:extLst>
              <a:ext uri="{FF2B5EF4-FFF2-40B4-BE49-F238E27FC236}">
                <a16:creationId xmlns:a16="http://schemas.microsoft.com/office/drawing/2014/main" id="{18A8E9BD-8BB0-523B-9ADC-3094B07EEFE0}"/>
              </a:ext>
            </a:extLst>
          </p:cNvPr>
          <p:cNvSpPr/>
          <p:nvPr userDrawn="1"/>
        </p:nvSpPr>
        <p:spPr>
          <a:xfrm>
            <a:off x="360607" y="5044057"/>
            <a:ext cx="1013780" cy="1013780"/>
          </a:xfrm>
          <a:prstGeom prst="ellipse">
            <a:avLst/>
          </a:prstGeom>
          <a:solidFill>
            <a:srgbClr val="82787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prstClr val="white"/>
                </a:solidFill>
                <a:latin typeface="+mn-lt"/>
              </a:rPr>
              <a:t>Greystone*</a:t>
            </a:r>
          </a:p>
          <a:p>
            <a:pPr lvl="0" algn="ctr"/>
            <a:r>
              <a:rPr lang="en-US" sz="1000" b="0" i="0">
                <a:solidFill>
                  <a:schemeClr val="bg1"/>
                </a:solidFill>
                <a:latin typeface="+mn-lt"/>
              </a:rPr>
              <a:t>130,120,112</a:t>
            </a:r>
          </a:p>
        </p:txBody>
      </p:sp>
      <p:sp>
        <p:nvSpPr>
          <p:cNvPr id="17" name="Rectangle: Rounded Corners 13">
            <a:extLst>
              <a:ext uri="{FF2B5EF4-FFF2-40B4-BE49-F238E27FC236}">
                <a16:creationId xmlns:a16="http://schemas.microsoft.com/office/drawing/2014/main" id="{78D5C597-A8EE-83B8-E57C-D7AA569D56E7}"/>
              </a:ext>
            </a:extLst>
          </p:cNvPr>
          <p:cNvSpPr/>
          <p:nvPr userDrawn="1"/>
        </p:nvSpPr>
        <p:spPr>
          <a:xfrm>
            <a:off x="3482927" y="5044057"/>
            <a:ext cx="1013780" cy="1013780"/>
          </a:xfrm>
          <a:prstGeom prst="ellipse">
            <a:avLst/>
          </a:prstGeom>
          <a:solidFill>
            <a:srgbClr val="96A3A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prstClr val="white"/>
                </a:solidFill>
                <a:latin typeface="+mn-lt"/>
              </a:rPr>
              <a:t>Slate*</a:t>
            </a:r>
          </a:p>
          <a:p>
            <a:pPr lvl="0" algn="ctr"/>
            <a:r>
              <a:rPr lang="en-US" sz="1000" b="0" i="0">
                <a:solidFill>
                  <a:schemeClr val="bg1"/>
                </a:solidFill>
                <a:latin typeface="+mn-lt"/>
              </a:rPr>
              <a:t>150,163,173</a:t>
            </a:r>
          </a:p>
        </p:txBody>
      </p:sp>
      <p:sp>
        <p:nvSpPr>
          <p:cNvPr id="18" name="Rectangle: Rounded Corners 13">
            <a:extLst>
              <a:ext uri="{FF2B5EF4-FFF2-40B4-BE49-F238E27FC236}">
                <a16:creationId xmlns:a16="http://schemas.microsoft.com/office/drawing/2014/main" id="{EF5891AC-4356-57DE-FBF8-10FEEEFD5351}"/>
              </a:ext>
            </a:extLst>
          </p:cNvPr>
          <p:cNvSpPr/>
          <p:nvPr userDrawn="1"/>
        </p:nvSpPr>
        <p:spPr>
          <a:xfrm>
            <a:off x="5044087" y="5044057"/>
            <a:ext cx="1013780" cy="1013780"/>
          </a:xfrm>
          <a:prstGeom prst="ellips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prstClr val="white"/>
                </a:solidFill>
                <a:latin typeface="+mn-lt"/>
              </a:rPr>
              <a:t>Black</a:t>
            </a:r>
          </a:p>
          <a:p>
            <a:pPr lvl="0" algn="ctr"/>
            <a:r>
              <a:rPr lang="en-US" sz="1000" b="0" i="0">
                <a:solidFill>
                  <a:schemeClr val="bg1"/>
                </a:solidFill>
                <a:latin typeface="+mn-lt"/>
              </a:rPr>
              <a:t>0,0,0</a:t>
            </a:r>
          </a:p>
        </p:txBody>
      </p:sp>
      <p:grpSp>
        <p:nvGrpSpPr>
          <p:cNvPr id="9" name="Group 8">
            <a:extLst>
              <a:ext uri="{FF2B5EF4-FFF2-40B4-BE49-F238E27FC236}">
                <a16:creationId xmlns:a16="http://schemas.microsoft.com/office/drawing/2014/main" id="{7DE6F460-F039-D6C9-4766-2EBE35E29331}"/>
              </a:ext>
            </a:extLst>
          </p:cNvPr>
          <p:cNvGrpSpPr/>
          <p:nvPr userDrawn="1"/>
        </p:nvGrpSpPr>
        <p:grpSpPr>
          <a:xfrm>
            <a:off x="9000709" y="1585514"/>
            <a:ext cx="2820982" cy="2819431"/>
            <a:chOff x="9000709" y="1585514"/>
            <a:chExt cx="2820982" cy="2819431"/>
          </a:xfrm>
        </p:grpSpPr>
        <p:sp>
          <p:nvSpPr>
            <p:cNvPr id="20" name="Rounded Rectangle 19">
              <a:extLst>
                <a:ext uri="{FF2B5EF4-FFF2-40B4-BE49-F238E27FC236}">
                  <a16:creationId xmlns:a16="http://schemas.microsoft.com/office/drawing/2014/main" id="{D0CEBEA7-0194-591F-D96F-CFC59DBEF499}"/>
                </a:ext>
              </a:extLst>
            </p:cNvPr>
            <p:cNvSpPr/>
            <p:nvPr/>
          </p:nvSpPr>
          <p:spPr>
            <a:xfrm>
              <a:off x="9000709" y="1585514"/>
              <a:ext cx="2820982" cy="2819431"/>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lnSpc>
                  <a:spcPts val="2160"/>
                </a:lnSpc>
              </a:pPr>
              <a:r>
                <a:rPr lang="en-US" sz="1800">
                  <a:solidFill>
                    <a:schemeClr val="tx2"/>
                  </a:solidFill>
                </a:rPr>
                <a:t>*Use the </a:t>
              </a:r>
              <a:br>
                <a:rPr lang="en-US" sz="1800">
                  <a:solidFill>
                    <a:schemeClr val="tx2"/>
                  </a:solidFill>
                </a:rPr>
              </a:br>
              <a:r>
                <a:rPr lang="en-US" sz="1800">
                  <a:solidFill>
                    <a:schemeClr val="tx2"/>
                  </a:solidFill>
                </a:rPr>
                <a:t>eyedropper tool    </a:t>
              </a:r>
              <a:br>
                <a:rPr lang="en-US" sz="1800">
                  <a:solidFill>
                    <a:schemeClr val="tx2"/>
                  </a:solidFill>
                </a:rPr>
              </a:br>
              <a:r>
                <a:rPr lang="en-US" sz="1800">
                  <a:solidFill>
                    <a:schemeClr val="tx2"/>
                  </a:solidFill>
                </a:rPr>
                <a:t>to select and apply </a:t>
              </a:r>
              <a:br>
                <a:rPr lang="en-US" sz="1800">
                  <a:solidFill>
                    <a:schemeClr val="tx2"/>
                  </a:solidFill>
                </a:rPr>
              </a:br>
              <a:r>
                <a:rPr lang="en-US" sz="1800">
                  <a:solidFill>
                    <a:schemeClr val="tx2"/>
                  </a:solidFill>
                </a:rPr>
                <a:t>these colors, as they</a:t>
              </a:r>
              <a:br>
                <a:rPr lang="en-US" sz="1800">
                  <a:solidFill>
                    <a:schemeClr val="tx2"/>
                  </a:solidFill>
                </a:rPr>
              </a:br>
              <a:r>
                <a:rPr lang="en-US" sz="1800">
                  <a:solidFill>
                    <a:schemeClr val="tx2"/>
                  </a:solidFill>
                </a:rPr>
                <a:t>are not part</a:t>
              </a:r>
              <a:br>
                <a:rPr lang="en-US" sz="1800">
                  <a:solidFill>
                    <a:schemeClr val="tx2"/>
                  </a:solidFill>
                </a:rPr>
              </a:br>
              <a:r>
                <a:rPr lang="en-US" sz="1800">
                  <a:solidFill>
                    <a:schemeClr val="tx2"/>
                  </a:solidFill>
                </a:rPr>
                <a:t>of the theme.</a:t>
              </a:r>
            </a:p>
          </p:txBody>
        </p:sp>
        <p:grpSp>
          <p:nvGrpSpPr>
            <p:cNvPr id="21" name="Group 20">
              <a:extLst>
                <a:ext uri="{FF2B5EF4-FFF2-40B4-BE49-F238E27FC236}">
                  <a16:creationId xmlns:a16="http://schemas.microsoft.com/office/drawing/2014/main" id="{86EE2006-349D-9617-D3D3-8250EF988FCA}"/>
                </a:ext>
              </a:extLst>
            </p:cNvPr>
            <p:cNvGrpSpPr/>
            <p:nvPr/>
          </p:nvGrpSpPr>
          <p:grpSpPr>
            <a:xfrm>
              <a:off x="11242573" y="2420732"/>
              <a:ext cx="213243" cy="270310"/>
              <a:chOff x="10365684" y="3826566"/>
              <a:chExt cx="213243" cy="270310"/>
            </a:xfrm>
          </p:grpSpPr>
          <p:sp>
            <p:nvSpPr>
              <p:cNvPr id="22" name="Freeform 21">
                <a:extLst>
                  <a:ext uri="{FF2B5EF4-FFF2-40B4-BE49-F238E27FC236}">
                    <a16:creationId xmlns:a16="http://schemas.microsoft.com/office/drawing/2014/main" id="{456409D6-352F-00F6-A0D3-7A2E6B127598}"/>
                  </a:ext>
                </a:extLst>
              </p:cNvPr>
              <p:cNvSpPr/>
              <p:nvPr/>
            </p:nvSpPr>
            <p:spPr>
              <a:xfrm>
                <a:off x="10365684" y="3906691"/>
                <a:ext cx="155891" cy="190185"/>
              </a:xfrm>
              <a:custGeom>
                <a:avLst/>
                <a:gdLst>
                  <a:gd name="connsiteX0" fmla="*/ 113850 w 155891"/>
                  <a:gd name="connsiteY0" fmla="*/ 0 h 190185"/>
                  <a:gd name="connsiteX1" fmla="*/ 17125 w 155891"/>
                  <a:gd name="connsiteY1" fmla="*/ 127350 h 190185"/>
                  <a:gd name="connsiteX2" fmla="*/ 11749 w 155891"/>
                  <a:gd name="connsiteY2" fmla="*/ 143870 h 190185"/>
                  <a:gd name="connsiteX3" fmla="*/ 2185 w 155891"/>
                  <a:gd name="connsiteY3" fmla="*/ 172973 h 190185"/>
                  <a:gd name="connsiteX4" fmla="*/ 2185 w 155891"/>
                  <a:gd name="connsiteY4" fmla="*/ 172973 h 190185"/>
                  <a:gd name="connsiteX5" fmla="*/ 4229 w 155891"/>
                  <a:gd name="connsiteY5" fmla="*/ 187998 h 190185"/>
                  <a:gd name="connsiteX6" fmla="*/ 4229 w 155891"/>
                  <a:gd name="connsiteY6" fmla="*/ 187998 h 190185"/>
                  <a:gd name="connsiteX7" fmla="*/ 19241 w 155891"/>
                  <a:gd name="connsiteY7" fmla="*/ 185952 h 190185"/>
                  <a:gd name="connsiteX8" fmla="*/ 19241 w 155891"/>
                  <a:gd name="connsiteY8" fmla="*/ 185952 h 190185"/>
                  <a:gd name="connsiteX9" fmla="*/ 44699 w 155891"/>
                  <a:gd name="connsiteY9" fmla="*/ 168942 h 190185"/>
                  <a:gd name="connsiteX10" fmla="*/ 59166 w 155891"/>
                  <a:gd name="connsiteY10" fmla="*/ 159340 h 190185"/>
                  <a:gd name="connsiteX11" fmla="*/ 155892 w 155891"/>
                  <a:gd name="connsiteY11" fmla="*/ 31990 h 190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5891" h="190185">
                    <a:moveTo>
                      <a:pt x="113850" y="0"/>
                    </a:moveTo>
                    <a:lnTo>
                      <a:pt x="17125" y="127350"/>
                    </a:lnTo>
                    <a:cubicBezTo>
                      <a:pt x="13376" y="132286"/>
                      <a:pt x="11627" y="138118"/>
                      <a:pt x="11749" y="143870"/>
                    </a:cubicBezTo>
                    <a:cubicBezTo>
                      <a:pt x="11970" y="154367"/>
                      <a:pt x="8533" y="164616"/>
                      <a:pt x="2185" y="172973"/>
                    </a:cubicBezTo>
                    <a:lnTo>
                      <a:pt x="2185" y="172973"/>
                    </a:lnTo>
                    <a:cubicBezTo>
                      <a:pt x="-1396" y="177688"/>
                      <a:pt x="-479" y="184414"/>
                      <a:pt x="4229" y="187998"/>
                    </a:cubicBezTo>
                    <a:lnTo>
                      <a:pt x="4229" y="187998"/>
                    </a:lnTo>
                    <a:cubicBezTo>
                      <a:pt x="8940" y="191582"/>
                      <a:pt x="15660" y="190667"/>
                      <a:pt x="19241" y="185952"/>
                    </a:cubicBezTo>
                    <a:lnTo>
                      <a:pt x="19241" y="185952"/>
                    </a:lnTo>
                    <a:cubicBezTo>
                      <a:pt x="25589" y="177595"/>
                      <a:pt x="34534" y="171539"/>
                      <a:pt x="44699" y="168942"/>
                    </a:cubicBezTo>
                    <a:cubicBezTo>
                      <a:pt x="50269" y="167519"/>
                      <a:pt x="55415" y="164275"/>
                      <a:pt x="59166" y="159340"/>
                    </a:cubicBezTo>
                    <a:lnTo>
                      <a:pt x="155892" y="31990"/>
                    </a:lnTo>
                  </a:path>
                </a:pathLst>
              </a:custGeom>
              <a:noFill/>
              <a:ln w="7579" cap="flat">
                <a:solidFill>
                  <a:schemeClr val="accent3"/>
                </a:solid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1E460BE5-0C7D-A5DD-6C2C-670C7E294EA8}"/>
                  </a:ext>
                </a:extLst>
              </p:cNvPr>
              <p:cNvSpPr/>
              <p:nvPr/>
            </p:nvSpPr>
            <p:spPr>
              <a:xfrm>
                <a:off x="10462057" y="3826566"/>
                <a:ext cx="116870" cy="124997"/>
              </a:xfrm>
              <a:custGeom>
                <a:avLst/>
                <a:gdLst>
                  <a:gd name="connsiteX0" fmla="*/ 88056 w 116870"/>
                  <a:gd name="connsiteY0" fmla="*/ 67881 h 124997"/>
                  <a:gd name="connsiteX1" fmla="*/ 112305 w 116870"/>
                  <a:gd name="connsiteY1" fmla="*/ 35955 h 124997"/>
                  <a:gd name="connsiteX2" fmla="*/ 108033 w 116870"/>
                  <a:gd name="connsiteY2" fmla="*/ 4569 h 124997"/>
                  <a:gd name="connsiteX3" fmla="*/ 108033 w 116870"/>
                  <a:gd name="connsiteY3" fmla="*/ 4569 h 124997"/>
                  <a:gd name="connsiteX4" fmla="*/ 76676 w 116870"/>
                  <a:gd name="connsiteY4" fmla="*/ 8845 h 124997"/>
                  <a:gd name="connsiteX5" fmla="*/ 52427 w 116870"/>
                  <a:gd name="connsiteY5" fmla="*/ 40771 h 124997"/>
                  <a:gd name="connsiteX6" fmla="*/ 36719 w 116870"/>
                  <a:gd name="connsiteY6" fmla="*/ 47183 h 124997"/>
                  <a:gd name="connsiteX7" fmla="*/ 879 w 116870"/>
                  <a:gd name="connsiteY7" fmla="*/ 62078 h 124997"/>
                  <a:gd name="connsiteX8" fmla="*/ 879 w 116870"/>
                  <a:gd name="connsiteY8" fmla="*/ 62078 h 124997"/>
                  <a:gd name="connsiteX9" fmla="*/ 1700 w 116870"/>
                  <a:gd name="connsiteY9" fmla="*/ 68120 h 124997"/>
                  <a:gd name="connsiteX10" fmla="*/ 75293 w 116870"/>
                  <a:gd name="connsiteY10" fmla="*/ 124118 h 124997"/>
                  <a:gd name="connsiteX11" fmla="*/ 81331 w 116870"/>
                  <a:gd name="connsiteY11" fmla="*/ 123295 h 124997"/>
                  <a:gd name="connsiteX12" fmla="*/ 81331 w 116870"/>
                  <a:gd name="connsiteY12" fmla="*/ 123295 h 124997"/>
                  <a:gd name="connsiteX13" fmla="*/ 86084 w 116870"/>
                  <a:gd name="connsiteY13" fmla="*/ 84747 h 124997"/>
                  <a:gd name="connsiteX14" fmla="*/ 88053 w 116870"/>
                  <a:gd name="connsiteY14" fmla="*/ 67881 h 124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6870" h="124997">
                    <a:moveTo>
                      <a:pt x="88056" y="67881"/>
                    </a:moveTo>
                    <a:lnTo>
                      <a:pt x="112305" y="35955"/>
                    </a:lnTo>
                    <a:cubicBezTo>
                      <a:pt x="119786" y="26107"/>
                      <a:pt x="117872" y="12056"/>
                      <a:pt x="108033" y="4569"/>
                    </a:cubicBezTo>
                    <a:lnTo>
                      <a:pt x="108033" y="4569"/>
                    </a:lnTo>
                    <a:cubicBezTo>
                      <a:pt x="98195" y="-2918"/>
                      <a:pt x="84156" y="-1003"/>
                      <a:pt x="76676" y="8845"/>
                    </a:cubicBezTo>
                    <a:lnTo>
                      <a:pt x="52427" y="40771"/>
                    </a:lnTo>
                    <a:cubicBezTo>
                      <a:pt x="48747" y="45613"/>
                      <a:pt x="42742" y="47989"/>
                      <a:pt x="36719" y="47183"/>
                    </a:cubicBezTo>
                    <a:cubicBezTo>
                      <a:pt x="23424" y="45403"/>
                      <a:pt x="9577" y="50626"/>
                      <a:pt x="879" y="62078"/>
                    </a:cubicBezTo>
                    <a:lnTo>
                      <a:pt x="879" y="62078"/>
                    </a:lnTo>
                    <a:cubicBezTo>
                      <a:pt x="-562" y="63975"/>
                      <a:pt x="-192" y="66678"/>
                      <a:pt x="1700" y="68120"/>
                    </a:cubicBezTo>
                    <a:lnTo>
                      <a:pt x="75293" y="124118"/>
                    </a:lnTo>
                    <a:cubicBezTo>
                      <a:pt x="77189" y="125560"/>
                      <a:pt x="79890" y="125190"/>
                      <a:pt x="81331" y="123295"/>
                    </a:cubicBezTo>
                    <a:lnTo>
                      <a:pt x="81331" y="123295"/>
                    </a:lnTo>
                    <a:cubicBezTo>
                      <a:pt x="90029" y="111844"/>
                      <a:pt x="91355" y="97093"/>
                      <a:pt x="86084" y="84747"/>
                    </a:cubicBezTo>
                    <a:cubicBezTo>
                      <a:pt x="83696" y="79154"/>
                      <a:pt x="84377" y="72723"/>
                      <a:pt x="88053" y="67881"/>
                    </a:cubicBezTo>
                    <a:close/>
                  </a:path>
                </a:pathLst>
              </a:custGeom>
              <a:solidFill>
                <a:schemeClr val="accent3"/>
              </a:solidFill>
              <a:ln w="256" cap="flat">
                <a:noFill/>
                <a:prstDash val="solid"/>
                <a:miter/>
              </a:ln>
            </p:spPr>
            <p:txBody>
              <a:bodyPr rtlCol="0" anchor="ctr"/>
              <a:lstStyle/>
              <a:p>
                <a:endParaRPr lang="en-US"/>
              </a:p>
            </p:txBody>
          </p:sp>
        </p:grpSp>
      </p:grpSp>
      <p:sp>
        <p:nvSpPr>
          <p:cNvPr id="24" name="Title 1">
            <a:extLst>
              <a:ext uri="{FF2B5EF4-FFF2-40B4-BE49-F238E27FC236}">
                <a16:creationId xmlns:a16="http://schemas.microsoft.com/office/drawing/2014/main" id="{65119192-0C91-7840-979B-91546FF0291D}"/>
              </a:ext>
            </a:extLst>
          </p:cNvPr>
          <p:cNvSpPr txBox="1">
            <a:spLocks/>
          </p:cNvSpPr>
          <p:nvPr userDrawn="1"/>
        </p:nvSpPr>
        <p:spPr>
          <a:xfrm>
            <a:off x="356616" y="274320"/>
            <a:ext cx="11466576" cy="738664"/>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sz="2800"/>
              <a:t>Template Palette Colors</a:t>
            </a:r>
            <a:br>
              <a:rPr lang="en-US" sz="1400"/>
            </a:br>
            <a:r>
              <a:rPr lang="en-US" sz="2000" b="0">
                <a:latin typeface="+mn-lt"/>
              </a:rPr>
              <a:t>RGB Values</a:t>
            </a:r>
            <a:endParaRPr lang="en-US" sz="2800" b="0"/>
          </a:p>
        </p:txBody>
      </p:sp>
      <p:sp>
        <p:nvSpPr>
          <p:cNvPr id="31" name="Rectangle: Rounded Corners 13">
            <a:extLst>
              <a:ext uri="{FF2B5EF4-FFF2-40B4-BE49-F238E27FC236}">
                <a16:creationId xmlns:a16="http://schemas.microsoft.com/office/drawing/2014/main" id="{8E25FC46-ECFF-700E-E004-3F093220C98B}"/>
              </a:ext>
            </a:extLst>
          </p:cNvPr>
          <p:cNvSpPr/>
          <p:nvPr userDrawn="1"/>
        </p:nvSpPr>
        <p:spPr>
          <a:xfrm>
            <a:off x="5046357" y="3408313"/>
            <a:ext cx="1013780" cy="101378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prstClr val="white"/>
                </a:solidFill>
                <a:latin typeface="+mn-lt"/>
              </a:rPr>
              <a:t>Autumn Leaf</a:t>
            </a:r>
          </a:p>
          <a:p>
            <a:pPr lvl="0" algn="ctr"/>
            <a:r>
              <a:rPr lang="en-US" sz="1000" b="0" i="0">
                <a:solidFill>
                  <a:schemeClr val="bg1"/>
                </a:solidFill>
                <a:latin typeface="+mn-lt"/>
              </a:rPr>
              <a:t>235,117,0</a:t>
            </a:r>
          </a:p>
        </p:txBody>
      </p:sp>
      <p:sp>
        <p:nvSpPr>
          <p:cNvPr id="32" name="Rectangle: Rounded Corners 12">
            <a:extLst>
              <a:ext uri="{FF2B5EF4-FFF2-40B4-BE49-F238E27FC236}">
                <a16:creationId xmlns:a16="http://schemas.microsoft.com/office/drawing/2014/main" id="{B91B3D21-5583-DDF3-2FCE-21373417A0AE}"/>
              </a:ext>
            </a:extLst>
          </p:cNvPr>
          <p:cNvSpPr/>
          <p:nvPr userDrawn="1"/>
        </p:nvSpPr>
        <p:spPr>
          <a:xfrm>
            <a:off x="3485197" y="3408313"/>
            <a:ext cx="1013780" cy="101378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bg1"/>
                </a:solidFill>
                <a:latin typeface="+mn-lt"/>
              </a:rPr>
              <a:t>Burgundy</a:t>
            </a:r>
          </a:p>
          <a:p>
            <a:pPr lvl="0" algn="ctr"/>
            <a:r>
              <a:rPr lang="en-US" sz="1000" b="0" i="0">
                <a:solidFill>
                  <a:schemeClr val="bg1"/>
                </a:solidFill>
                <a:latin typeface="+mn-lt"/>
              </a:rPr>
              <a:t>163,51,59</a:t>
            </a:r>
          </a:p>
        </p:txBody>
      </p:sp>
      <p:sp>
        <p:nvSpPr>
          <p:cNvPr id="33" name="Rectangle: Rounded Corners 11">
            <a:extLst>
              <a:ext uri="{FF2B5EF4-FFF2-40B4-BE49-F238E27FC236}">
                <a16:creationId xmlns:a16="http://schemas.microsoft.com/office/drawing/2014/main" id="{67239028-7F77-0FBC-1E07-09F7B90E36FE}"/>
              </a:ext>
            </a:extLst>
          </p:cNvPr>
          <p:cNvSpPr/>
          <p:nvPr userDrawn="1"/>
        </p:nvSpPr>
        <p:spPr>
          <a:xfrm>
            <a:off x="1921767" y="3408313"/>
            <a:ext cx="1013780" cy="10137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bg1"/>
                </a:solidFill>
                <a:latin typeface="+mn-lt"/>
              </a:rPr>
              <a:t>Cerulean Blue</a:t>
            </a:r>
          </a:p>
          <a:p>
            <a:pPr lvl="0" algn="ctr"/>
            <a:r>
              <a:rPr lang="en-US" sz="1000" b="0" i="0">
                <a:solidFill>
                  <a:schemeClr val="bg1"/>
                </a:solidFill>
                <a:latin typeface="+mn-lt"/>
              </a:rPr>
              <a:t>0,102,128</a:t>
            </a:r>
          </a:p>
        </p:txBody>
      </p:sp>
      <p:sp>
        <p:nvSpPr>
          <p:cNvPr id="34" name="Rectangle: Rounded Corners 11">
            <a:extLst>
              <a:ext uri="{FF2B5EF4-FFF2-40B4-BE49-F238E27FC236}">
                <a16:creationId xmlns:a16="http://schemas.microsoft.com/office/drawing/2014/main" id="{29ACA9F1-9516-998B-DBD5-4333F39465EE}"/>
              </a:ext>
            </a:extLst>
          </p:cNvPr>
          <p:cNvSpPr/>
          <p:nvPr userDrawn="1"/>
        </p:nvSpPr>
        <p:spPr>
          <a:xfrm>
            <a:off x="6607517" y="3408313"/>
            <a:ext cx="1013780" cy="1013780"/>
          </a:xfrm>
          <a:prstGeom prst="ellipse">
            <a:avLst/>
          </a:prstGeom>
          <a:solidFill>
            <a:srgbClr val="FFC72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tx1"/>
                </a:solidFill>
                <a:latin typeface="+mn-lt"/>
              </a:rPr>
              <a:t>Sunflower*</a:t>
            </a:r>
          </a:p>
          <a:p>
            <a:pPr lvl="0" algn="ctr"/>
            <a:r>
              <a:rPr lang="en-US" sz="1000" b="0" i="0">
                <a:solidFill>
                  <a:schemeClr val="tx1"/>
                </a:solidFill>
                <a:latin typeface="+mn-lt"/>
              </a:rPr>
              <a:t>255,199,43</a:t>
            </a:r>
          </a:p>
        </p:txBody>
      </p:sp>
    </p:spTree>
    <p:extLst>
      <p:ext uri="{BB962C8B-B14F-4D97-AF65-F5344CB8AC3E}">
        <p14:creationId xmlns:p14="http://schemas.microsoft.com/office/powerpoint/2010/main" val="250105924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15166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 Opt 1">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311B3D8A-5618-EA48-7E64-8B1AD4661464}"/>
              </a:ext>
            </a:extLst>
          </p:cNvPr>
          <p:cNvSpPr>
            <a:spLocks noGrp="1"/>
          </p:cNvSpPr>
          <p:nvPr>
            <p:ph type="pic" sz="quarter" idx="10" hasCustomPrompt="1"/>
          </p:nvPr>
        </p:nvSpPr>
        <p:spPr>
          <a:xfrm>
            <a:off x="2799026" y="1083758"/>
            <a:ext cx="6572677" cy="4666120"/>
          </a:xfrm>
          <a:prstGeom prst="roundRect">
            <a:avLst>
              <a:gd name="adj" fmla="val 25050"/>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 / Please ensure that the picture has a light top and left edge to allow for enough contrast with the title.</a:t>
            </a:r>
          </a:p>
        </p:txBody>
      </p:sp>
      <p:sp>
        <p:nvSpPr>
          <p:cNvPr id="2" name="Title 1">
            <a:extLst>
              <a:ext uri="{FF2B5EF4-FFF2-40B4-BE49-F238E27FC236}">
                <a16:creationId xmlns:a16="http://schemas.microsoft.com/office/drawing/2014/main" id="{F115DEA2-8A41-98FC-D70B-A6D8B4C58DB6}"/>
              </a:ext>
            </a:extLst>
          </p:cNvPr>
          <p:cNvSpPr>
            <a:spLocks noGrp="1"/>
          </p:cNvSpPr>
          <p:nvPr>
            <p:ph type="ctrTitle"/>
          </p:nvPr>
        </p:nvSpPr>
        <p:spPr>
          <a:xfrm>
            <a:off x="347472" y="384048"/>
            <a:ext cx="11480991" cy="2022092"/>
          </a:xfrm>
          <a:prstGeom prst="rect">
            <a:avLst/>
          </a:prstGeom>
        </p:spPr>
        <p:txBody>
          <a:bodyPr wrap="square" anchor="t" anchorCtr="0">
            <a:spAutoFit/>
          </a:bodyPr>
          <a:lstStyle>
            <a:lvl1pPr algn="l">
              <a:lnSpc>
                <a:spcPct val="90000"/>
              </a:lnSpc>
              <a:defRPr sz="7200"/>
            </a:lvl1pPr>
          </a:lstStyle>
          <a:p>
            <a:r>
              <a:rPr lang="en-US"/>
              <a:t>Click to edit Master title style</a:t>
            </a:r>
          </a:p>
        </p:txBody>
      </p:sp>
      <p:pic>
        <p:nvPicPr>
          <p:cNvPr id="7" name="Graphic 6">
            <a:extLst>
              <a:ext uri="{FF2B5EF4-FFF2-40B4-BE49-F238E27FC236}">
                <a16:creationId xmlns:a16="http://schemas.microsoft.com/office/drawing/2014/main" id="{9560BEB5-E012-AA36-11BA-77C093678C8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62769" y="6315912"/>
            <a:ext cx="1365460" cy="274320"/>
          </a:xfrm>
          <a:prstGeom prst="rect">
            <a:avLst/>
          </a:prstGeom>
        </p:spPr>
      </p:pic>
      <p:sp>
        <p:nvSpPr>
          <p:cNvPr id="10" name="Text Placeholder 2">
            <a:extLst>
              <a:ext uri="{FF2B5EF4-FFF2-40B4-BE49-F238E27FC236}">
                <a16:creationId xmlns:a16="http://schemas.microsoft.com/office/drawing/2014/main" id="{EA0819B7-9A43-4B60-0A7E-50685BE88D1D}"/>
              </a:ext>
            </a:extLst>
          </p:cNvPr>
          <p:cNvSpPr>
            <a:spLocks noGrp="1"/>
          </p:cNvSpPr>
          <p:nvPr>
            <p:ph type="body" idx="11" hasCustomPrompt="1"/>
          </p:nvPr>
        </p:nvSpPr>
        <p:spPr>
          <a:xfrm>
            <a:off x="6263640" y="6236208"/>
            <a:ext cx="5577840" cy="369332"/>
          </a:xfrm>
          <a:prstGeom prst="rect">
            <a:avLst/>
          </a:prstGeom>
        </p:spPr>
        <p:txBody>
          <a:bodyPr wrap="square" anchor="b" anchorCtr="0">
            <a:spAutoFit/>
          </a:bodyPr>
          <a:lstStyle>
            <a:lvl1pPr marL="0" indent="0" algn="r">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First/Last Name</a:t>
            </a:r>
            <a:br>
              <a:rPr lang="en-US"/>
            </a:br>
            <a:r>
              <a:rPr lang="en-US"/>
              <a:t>Role</a:t>
            </a:r>
          </a:p>
        </p:txBody>
      </p:sp>
    </p:spTree>
    <p:extLst>
      <p:ext uri="{BB962C8B-B14F-4D97-AF65-F5344CB8AC3E}">
        <p14:creationId xmlns:p14="http://schemas.microsoft.com/office/powerpoint/2010/main" val="107412865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itle Slide - Opt 2">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F3D9174-7AA4-BB53-C02C-DC9F2F9FB602}"/>
              </a:ext>
            </a:extLst>
          </p:cNvPr>
          <p:cNvSpPr>
            <a:spLocks noGrp="1"/>
          </p:cNvSpPr>
          <p:nvPr>
            <p:ph type="body" idx="13" hasCustomPrompt="1"/>
          </p:nvPr>
        </p:nvSpPr>
        <p:spPr>
          <a:xfrm>
            <a:off x="357341" y="4672584"/>
            <a:ext cx="4480560" cy="184666"/>
          </a:xfrm>
          <a:prstGeom prst="rect">
            <a:avLst/>
          </a:prstGeom>
        </p:spPr>
        <p:txBody>
          <a:bodyPr wrap="square" anchor="t" anchorCtr="0">
            <a:spAutoFit/>
          </a:bodyPr>
          <a:lstStyle>
            <a:lvl1pPr marL="0" indent="0" algn="l">
              <a:spcBef>
                <a:spcPts val="0"/>
              </a:spcBef>
              <a:buNone/>
              <a:defRPr sz="1200" b="0" i="0" cap="all"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Month day, year</a:t>
            </a:r>
          </a:p>
        </p:txBody>
      </p:sp>
      <p:sp>
        <p:nvSpPr>
          <p:cNvPr id="9" name="Text Placeholder 2">
            <a:extLst>
              <a:ext uri="{FF2B5EF4-FFF2-40B4-BE49-F238E27FC236}">
                <a16:creationId xmlns:a16="http://schemas.microsoft.com/office/drawing/2014/main" id="{3DDBD6DD-6A4C-EB9D-584C-1AA76A17A9E6}"/>
              </a:ext>
            </a:extLst>
          </p:cNvPr>
          <p:cNvSpPr>
            <a:spLocks noGrp="1"/>
          </p:cNvSpPr>
          <p:nvPr>
            <p:ph type="body" idx="14" hasCustomPrompt="1"/>
          </p:nvPr>
        </p:nvSpPr>
        <p:spPr>
          <a:xfrm>
            <a:off x="357341" y="4133088"/>
            <a:ext cx="4480560" cy="369332"/>
          </a:xfrm>
          <a:prstGeom prst="rect">
            <a:avLst/>
          </a:prstGeom>
        </p:spPr>
        <p:txBody>
          <a:bodyPr wrap="square" anchor="b" anchorCtr="0">
            <a:spAutoFit/>
          </a:bodyPr>
          <a:lstStyle>
            <a:lvl1pPr marL="0" indent="0" algn="l">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First/Last Name</a:t>
            </a:r>
            <a:br>
              <a:rPr lang="en-US"/>
            </a:br>
            <a:r>
              <a:rPr lang="en-US"/>
              <a:t>Role</a:t>
            </a:r>
          </a:p>
        </p:txBody>
      </p:sp>
      <p:sp>
        <p:nvSpPr>
          <p:cNvPr id="15" name="Picture Placeholder 19">
            <a:extLst>
              <a:ext uri="{FF2B5EF4-FFF2-40B4-BE49-F238E27FC236}">
                <a16:creationId xmlns:a16="http://schemas.microsoft.com/office/drawing/2014/main" id="{FFEA2CDB-599F-8F24-F98D-D4E56DD17A80}"/>
              </a:ext>
            </a:extLst>
          </p:cNvPr>
          <p:cNvSpPr>
            <a:spLocks noGrp="1"/>
          </p:cNvSpPr>
          <p:nvPr>
            <p:ph type="pic" sz="quarter" idx="10" hasCustomPrompt="1"/>
          </p:nvPr>
        </p:nvSpPr>
        <p:spPr>
          <a:xfrm>
            <a:off x="4891197" y="2962656"/>
            <a:ext cx="6949440" cy="3602736"/>
          </a:xfrm>
          <a:prstGeom prst="roundRect">
            <a:avLst>
              <a:gd name="adj" fmla="val 27451"/>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 / Please ensure that the picture has a light top and left edge to allow for enough contrast with the title.</a:t>
            </a:r>
          </a:p>
        </p:txBody>
      </p:sp>
      <p:sp>
        <p:nvSpPr>
          <p:cNvPr id="2" name="Title 1">
            <a:extLst>
              <a:ext uri="{FF2B5EF4-FFF2-40B4-BE49-F238E27FC236}">
                <a16:creationId xmlns:a16="http://schemas.microsoft.com/office/drawing/2014/main" id="{F115DEA2-8A41-98FC-D70B-A6D8B4C58DB6}"/>
              </a:ext>
            </a:extLst>
          </p:cNvPr>
          <p:cNvSpPr>
            <a:spLocks noGrp="1"/>
          </p:cNvSpPr>
          <p:nvPr>
            <p:ph type="ctrTitle"/>
          </p:nvPr>
        </p:nvSpPr>
        <p:spPr>
          <a:xfrm>
            <a:off x="348010" y="382200"/>
            <a:ext cx="11480453" cy="2022092"/>
          </a:xfrm>
          <a:prstGeom prst="rect">
            <a:avLst/>
          </a:prstGeom>
        </p:spPr>
        <p:txBody>
          <a:bodyPr anchor="t" anchorCtr="0"/>
          <a:lstStyle>
            <a:lvl1pPr algn="l">
              <a:lnSpc>
                <a:spcPct val="90000"/>
              </a:lnSpc>
              <a:defRPr sz="7200"/>
            </a:lvl1pPr>
          </a:lstStyle>
          <a:p>
            <a:r>
              <a:rPr lang="en-US"/>
              <a:t>Click to edit Master title style</a:t>
            </a:r>
          </a:p>
        </p:txBody>
      </p:sp>
      <p:pic>
        <p:nvPicPr>
          <p:cNvPr id="7" name="Graphic 6">
            <a:extLst>
              <a:ext uri="{FF2B5EF4-FFF2-40B4-BE49-F238E27FC236}">
                <a16:creationId xmlns:a16="http://schemas.microsoft.com/office/drawing/2014/main" id="{27156274-B1ED-5EA2-BDD1-A4E2F252084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62769" y="6315912"/>
            <a:ext cx="1365460" cy="274320"/>
          </a:xfrm>
          <a:prstGeom prst="rect">
            <a:avLst/>
          </a:prstGeom>
        </p:spPr>
      </p:pic>
    </p:spTree>
    <p:extLst>
      <p:ext uri="{BB962C8B-B14F-4D97-AF65-F5344CB8AC3E}">
        <p14:creationId xmlns:p14="http://schemas.microsoft.com/office/powerpoint/2010/main" val="15081604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le Slide - Op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5DEA2-8A41-98FC-D70B-A6D8B4C58DB6}"/>
              </a:ext>
            </a:extLst>
          </p:cNvPr>
          <p:cNvSpPr>
            <a:spLocks noGrp="1"/>
          </p:cNvSpPr>
          <p:nvPr>
            <p:ph type="ctrTitle"/>
          </p:nvPr>
        </p:nvSpPr>
        <p:spPr>
          <a:xfrm>
            <a:off x="357701" y="3989146"/>
            <a:ext cx="8275320" cy="987552"/>
          </a:xfrm>
          <a:prstGeom prst="rect">
            <a:avLst/>
          </a:prstGeom>
        </p:spPr>
        <p:txBody>
          <a:bodyPr anchor="t" anchorCtr="0"/>
          <a:lstStyle>
            <a:lvl1pPr algn="l">
              <a:lnSpc>
                <a:spcPct val="100000"/>
              </a:lnSpc>
              <a:defRPr sz="3200"/>
            </a:lvl1pPr>
          </a:lstStyle>
          <a:p>
            <a:r>
              <a:rPr lang="en-US"/>
              <a:t>Click to edit Master title style</a:t>
            </a:r>
          </a:p>
        </p:txBody>
      </p:sp>
      <p:sp>
        <p:nvSpPr>
          <p:cNvPr id="13" name="Picture Placeholder 19">
            <a:extLst>
              <a:ext uri="{FF2B5EF4-FFF2-40B4-BE49-F238E27FC236}">
                <a16:creationId xmlns:a16="http://schemas.microsoft.com/office/drawing/2014/main" id="{66D3E027-B383-515C-29D6-FD3E101002F5}"/>
              </a:ext>
            </a:extLst>
          </p:cNvPr>
          <p:cNvSpPr>
            <a:spLocks noGrp="1"/>
          </p:cNvSpPr>
          <p:nvPr>
            <p:ph type="pic" sz="quarter" idx="10" hasCustomPrompt="1"/>
          </p:nvPr>
        </p:nvSpPr>
        <p:spPr>
          <a:xfrm>
            <a:off x="375989" y="377091"/>
            <a:ext cx="11433024" cy="3427088"/>
          </a:xfrm>
          <a:prstGeom prst="roundRect">
            <a:avLst>
              <a:gd name="adj" fmla="val 21581"/>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pic>
        <p:nvPicPr>
          <p:cNvPr id="7" name="Graphic 6">
            <a:extLst>
              <a:ext uri="{FF2B5EF4-FFF2-40B4-BE49-F238E27FC236}">
                <a16:creationId xmlns:a16="http://schemas.microsoft.com/office/drawing/2014/main" id="{39E8A2D9-E465-F3C1-A0F9-C041B67045F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62769" y="6315912"/>
            <a:ext cx="1365460" cy="274320"/>
          </a:xfrm>
          <a:prstGeom prst="rect">
            <a:avLst/>
          </a:prstGeom>
        </p:spPr>
      </p:pic>
      <p:sp>
        <p:nvSpPr>
          <p:cNvPr id="3" name="Text Placeholder 2">
            <a:extLst>
              <a:ext uri="{FF2B5EF4-FFF2-40B4-BE49-F238E27FC236}">
                <a16:creationId xmlns:a16="http://schemas.microsoft.com/office/drawing/2014/main" id="{B58E6C10-8FB0-184C-8BB9-78D4F77A9F35}"/>
              </a:ext>
            </a:extLst>
          </p:cNvPr>
          <p:cNvSpPr>
            <a:spLocks noGrp="1"/>
          </p:cNvSpPr>
          <p:nvPr>
            <p:ph type="body" idx="14" hasCustomPrompt="1"/>
          </p:nvPr>
        </p:nvSpPr>
        <p:spPr>
          <a:xfrm>
            <a:off x="357701" y="5431536"/>
            <a:ext cx="6217920" cy="369332"/>
          </a:xfrm>
          <a:prstGeom prst="rect">
            <a:avLst/>
          </a:prstGeom>
        </p:spPr>
        <p:txBody>
          <a:bodyPr wrap="square" anchor="t" anchorCtr="0">
            <a:spAutoFit/>
          </a:bodyPr>
          <a:lstStyle>
            <a:lvl1pPr marL="0" indent="0" algn="l">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First/Last Name</a:t>
            </a:r>
            <a:br>
              <a:rPr lang="en-US"/>
            </a:br>
            <a:r>
              <a:rPr lang="en-US"/>
              <a:t>Role</a:t>
            </a:r>
          </a:p>
        </p:txBody>
      </p:sp>
      <p:sp>
        <p:nvSpPr>
          <p:cNvPr id="4" name="Text Placeholder 2">
            <a:extLst>
              <a:ext uri="{FF2B5EF4-FFF2-40B4-BE49-F238E27FC236}">
                <a16:creationId xmlns:a16="http://schemas.microsoft.com/office/drawing/2014/main" id="{0D832AC4-6070-5355-C616-331ED01B3E8F}"/>
              </a:ext>
            </a:extLst>
          </p:cNvPr>
          <p:cNvSpPr>
            <a:spLocks noGrp="1"/>
          </p:cNvSpPr>
          <p:nvPr>
            <p:ph type="body" idx="16" hasCustomPrompt="1"/>
          </p:nvPr>
        </p:nvSpPr>
        <p:spPr>
          <a:xfrm>
            <a:off x="6210300" y="6428232"/>
            <a:ext cx="5622690" cy="184666"/>
          </a:xfrm>
          <a:prstGeom prst="rect">
            <a:avLst/>
          </a:prstGeom>
        </p:spPr>
        <p:txBody>
          <a:bodyPr wrap="square" anchor="t" anchorCtr="0">
            <a:spAutoFit/>
          </a:bodyPr>
          <a:lstStyle>
            <a:lvl1pPr marL="0" indent="0" algn="r">
              <a:spcBef>
                <a:spcPts val="0"/>
              </a:spcBef>
              <a:buNone/>
              <a:defRPr sz="1200" b="0" i="0" cap="all"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Month day, year</a:t>
            </a:r>
          </a:p>
        </p:txBody>
      </p:sp>
    </p:spTree>
    <p:extLst>
      <p:ext uri="{BB962C8B-B14F-4D97-AF65-F5344CB8AC3E}">
        <p14:creationId xmlns:p14="http://schemas.microsoft.com/office/powerpoint/2010/main" val="232832112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le Slide - Op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5DEA2-8A41-98FC-D70B-A6D8B4C58DB6}"/>
              </a:ext>
            </a:extLst>
          </p:cNvPr>
          <p:cNvSpPr>
            <a:spLocks noGrp="1"/>
          </p:cNvSpPr>
          <p:nvPr>
            <p:ph type="ctrTitle"/>
          </p:nvPr>
        </p:nvSpPr>
        <p:spPr>
          <a:xfrm>
            <a:off x="357701" y="1328548"/>
            <a:ext cx="6217920" cy="1461362"/>
          </a:xfrm>
          <a:prstGeom prst="rect">
            <a:avLst/>
          </a:prstGeom>
        </p:spPr>
        <p:txBody>
          <a:bodyPr anchor="t" anchorCtr="0"/>
          <a:lstStyle>
            <a:lvl1pPr algn="l">
              <a:lnSpc>
                <a:spcPct val="100000"/>
              </a:lnSpc>
              <a:defRPr sz="2900"/>
            </a:lvl1pPr>
          </a:lstStyle>
          <a:p>
            <a:r>
              <a:rPr lang="en-US"/>
              <a:t>Click to edit Master title style</a:t>
            </a:r>
          </a:p>
        </p:txBody>
      </p:sp>
      <p:pic>
        <p:nvPicPr>
          <p:cNvPr id="6" name="Graphic 5">
            <a:extLst>
              <a:ext uri="{FF2B5EF4-FFF2-40B4-BE49-F238E27FC236}">
                <a16:creationId xmlns:a16="http://schemas.microsoft.com/office/drawing/2014/main" id="{12D8AAA0-1AF3-1EC0-604E-0B63EA80EEB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65244" y="398265"/>
            <a:ext cx="1365460" cy="274320"/>
          </a:xfrm>
          <a:prstGeom prst="rect">
            <a:avLst/>
          </a:prstGeom>
        </p:spPr>
      </p:pic>
      <p:sp>
        <p:nvSpPr>
          <p:cNvPr id="10" name="Picture Placeholder 19">
            <a:extLst>
              <a:ext uri="{FF2B5EF4-FFF2-40B4-BE49-F238E27FC236}">
                <a16:creationId xmlns:a16="http://schemas.microsoft.com/office/drawing/2014/main" id="{3CCFCB42-4E0C-861D-E892-A901CB3F493C}"/>
              </a:ext>
            </a:extLst>
          </p:cNvPr>
          <p:cNvSpPr>
            <a:spLocks noGrp="1"/>
          </p:cNvSpPr>
          <p:nvPr>
            <p:ph type="pic" sz="quarter" idx="10" hasCustomPrompt="1"/>
          </p:nvPr>
        </p:nvSpPr>
        <p:spPr>
          <a:xfrm>
            <a:off x="375989" y="3040043"/>
            <a:ext cx="11433024" cy="3427088"/>
          </a:xfrm>
          <a:prstGeom prst="roundRect">
            <a:avLst>
              <a:gd name="adj" fmla="val 21581"/>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3" name="Text Placeholder 2">
            <a:extLst>
              <a:ext uri="{FF2B5EF4-FFF2-40B4-BE49-F238E27FC236}">
                <a16:creationId xmlns:a16="http://schemas.microsoft.com/office/drawing/2014/main" id="{1D075570-D4CE-41D5-41A0-78431ABDE4C9}"/>
              </a:ext>
            </a:extLst>
          </p:cNvPr>
          <p:cNvSpPr>
            <a:spLocks noGrp="1"/>
          </p:cNvSpPr>
          <p:nvPr>
            <p:ph type="body" idx="11" hasCustomPrompt="1"/>
          </p:nvPr>
        </p:nvSpPr>
        <p:spPr>
          <a:xfrm>
            <a:off x="6260333" y="338328"/>
            <a:ext cx="5577840" cy="369332"/>
          </a:xfrm>
          <a:prstGeom prst="rect">
            <a:avLst/>
          </a:prstGeom>
        </p:spPr>
        <p:txBody>
          <a:bodyPr wrap="square" anchor="ctr" anchorCtr="0">
            <a:spAutoFit/>
          </a:bodyPr>
          <a:lstStyle>
            <a:lvl1pPr marL="0" indent="0" algn="r">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First/Name</a:t>
            </a:r>
          </a:p>
          <a:p>
            <a:pPr lvl="0"/>
            <a:r>
              <a:rPr lang="en-US"/>
              <a:t>Role</a:t>
            </a:r>
          </a:p>
        </p:txBody>
      </p:sp>
    </p:spTree>
    <p:extLst>
      <p:ext uri="{BB962C8B-B14F-4D97-AF65-F5344CB8AC3E}">
        <p14:creationId xmlns:p14="http://schemas.microsoft.com/office/powerpoint/2010/main" val="264612962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itle Slide - Op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5DEA2-8A41-98FC-D70B-A6D8B4C58DB6}"/>
              </a:ext>
            </a:extLst>
          </p:cNvPr>
          <p:cNvSpPr>
            <a:spLocks noGrp="1"/>
          </p:cNvSpPr>
          <p:nvPr>
            <p:ph type="ctrTitle"/>
          </p:nvPr>
        </p:nvSpPr>
        <p:spPr>
          <a:xfrm>
            <a:off x="357701" y="3419856"/>
            <a:ext cx="5509699" cy="984885"/>
          </a:xfrm>
          <a:prstGeom prst="rect">
            <a:avLst/>
          </a:prstGeom>
        </p:spPr>
        <p:txBody>
          <a:bodyPr wrap="square" anchor="b" anchorCtr="0">
            <a:noAutofit/>
          </a:bodyPr>
          <a:lstStyle>
            <a:lvl1pPr algn="l">
              <a:lnSpc>
                <a:spcPct val="100000"/>
              </a:lnSpc>
              <a:defRPr sz="3200"/>
            </a:lvl1pPr>
          </a:lstStyle>
          <a:p>
            <a:r>
              <a:rPr lang="en-US"/>
              <a:t>Click to edit Master title style</a:t>
            </a:r>
          </a:p>
        </p:txBody>
      </p:sp>
      <p:pic>
        <p:nvPicPr>
          <p:cNvPr id="4" name="Graphic 3">
            <a:extLst>
              <a:ext uri="{FF2B5EF4-FFF2-40B4-BE49-F238E27FC236}">
                <a16:creationId xmlns:a16="http://schemas.microsoft.com/office/drawing/2014/main" id="{BFBC07C9-9EC4-FD37-485B-2ACCCB747D1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65244" y="398265"/>
            <a:ext cx="1365460" cy="274320"/>
          </a:xfrm>
          <a:prstGeom prst="rect">
            <a:avLst/>
          </a:prstGeom>
        </p:spPr>
      </p:pic>
      <p:sp>
        <p:nvSpPr>
          <p:cNvPr id="9" name="Text Placeholder 2">
            <a:extLst>
              <a:ext uri="{FF2B5EF4-FFF2-40B4-BE49-F238E27FC236}">
                <a16:creationId xmlns:a16="http://schemas.microsoft.com/office/drawing/2014/main" id="{A891DCC4-C3F9-2AE6-BAD6-6C334DC4E1A4}"/>
              </a:ext>
            </a:extLst>
          </p:cNvPr>
          <p:cNvSpPr>
            <a:spLocks noGrp="1"/>
          </p:cNvSpPr>
          <p:nvPr>
            <p:ph type="body" idx="17" hasCustomPrompt="1"/>
          </p:nvPr>
        </p:nvSpPr>
        <p:spPr>
          <a:xfrm>
            <a:off x="357701" y="6428232"/>
            <a:ext cx="5513832" cy="184666"/>
          </a:xfrm>
          <a:prstGeom prst="rect">
            <a:avLst/>
          </a:prstGeom>
        </p:spPr>
        <p:txBody>
          <a:bodyPr wrap="square" anchor="t" anchorCtr="0">
            <a:spAutoFit/>
          </a:bodyPr>
          <a:lstStyle>
            <a:lvl1pPr marL="0" indent="0" algn="l">
              <a:spcBef>
                <a:spcPts val="0"/>
              </a:spcBef>
              <a:buNone/>
              <a:defRPr sz="1200" b="0" i="0" cap="all"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Month day, year</a:t>
            </a:r>
          </a:p>
        </p:txBody>
      </p:sp>
      <p:sp>
        <p:nvSpPr>
          <p:cNvPr id="10" name="Text Placeholder 2">
            <a:extLst>
              <a:ext uri="{FF2B5EF4-FFF2-40B4-BE49-F238E27FC236}">
                <a16:creationId xmlns:a16="http://schemas.microsoft.com/office/drawing/2014/main" id="{F1CE25C0-49F7-F51E-D41F-6966DB9F7A0C}"/>
              </a:ext>
            </a:extLst>
          </p:cNvPr>
          <p:cNvSpPr>
            <a:spLocks noGrp="1"/>
          </p:cNvSpPr>
          <p:nvPr>
            <p:ph type="body" idx="18" hasCustomPrompt="1"/>
          </p:nvPr>
        </p:nvSpPr>
        <p:spPr>
          <a:xfrm>
            <a:off x="357701" y="4988650"/>
            <a:ext cx="5513832" cy="369332"/>
          </a:xfrm>
          <a:prstGeom prst="rect">
            <a:avLst/>
          </a:prstGeom>
        </p:spPr>
        <p:txBody>
          <a:bodyPr wrap="square" anchor="t" anchorCtr="0">
            <a:spAutoFit/>
          </a:bodyPr>
          <a:lstStyle>
            <a:lvl1pPr marL="0" indent="0" algn="l">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First/Last Name</a:t>
            </a:r>
            <a:br>
              <a:rPr lang="en-US"/>
            </a:br>
            <a:r>
              <a:rPr lang="en-US"/>
              <a:t>Role</a:t>
            </a:r>
          </a:p>
        </p:txBody>
      </p:sp>
      <p:sp>
        <p:nvSpPr>
          <p:cNvPr id="5" name="Picture Placeholder 19">
            <a:extLst>
              <a:ext uri="{FF2B5EF4-FFF2-40B4-BE49-F238E27FC236}">
                <a16:creationId xmlns:a16="http://schemas.microsoft.com/office/drawing/2014/main" id="{CEE8AD99-B024-8416-9EAC-29D034050B4E}"/>
              </a:ext>
            </a:extLst>
          </p:cNvPr>
          <p:cNvSpPr>
            <a:spLocks noGrp="1"/>
          </p:cNvSpPr>
          <p:nvPr>
            <p:ph type="pic" sz="quarter" idx="10" hasCustomPrompt="1"/>
          </p:nvPr>
        </p:nvSpPr>
        <p:spPr>
          <a:xfrm>
            <a:off x="6324602" y="382438"/>
            <a:ext cx="5506019" cy="6181344"/>
          </a:xfrm>
          <a:prstGeom prst="roundRect">
            <a:avLst>
              <a:gd name="adj" fmla="val 13633"/>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Tree>
    <p:extLst>
      <p:ext uri="{BB962C8B-B14F-4D97-AF65-F5344CB8AC3E}">
        <p14:creationId xmlns:p14="http://schemas.microsoft.com/office/powerpoint/2010/main" val="351665319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le Slide - Opt 6">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D8AAA0-1AF3-1EC0-604E-0B63EA80EEB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323290" y="398265"/>
            <a:ext cx="1365460" cy="274320"/>
          </a:xfrm>
          <a:prstGeom prst="rect">
            <a:avLst/>
          </a:prstGeom>
        </p:spPr>
      </p:pic>
      <p:sp>
        <p:nvSpPr>
          <p:cNvPr id="13" name="Picture Placeholder 19">
            <a:extLst>
              <a:ext uri="{FF2B5EF4-FFF2-40B4-BE49-F238E27FC236}">
                <a16:creationId xmlns:a16="http://schemas.microsoft.com/office/drawing/2014/main" id="{0EDBA81F-94D2-2591-1C3B-E027AB9132AD}"/>
              </a:ext>
            </a:extLst>
          </p:cNvPr>
          <p:cNvSpPr>
            <a:spLocks noGrp="1"/>
          </p:cNvSpPr>
          <p:nvPr>
            <p:ph type="pic" sz="quarter" idx="10" hasCustomPrompt="1"/>
          </p:nvPr>
        </p:nvSpPr>
        <p:spPr>
          <a:xfrm>
            <a:off x="373884" y="382440"/>
            <a:ext cx="5504688" cy="6181344"/>
          </a:xfrm>
          <a:prstGeom prst="roundRect">
            <a:avLst>
              <a:gd name="adj" fmla="val 13633"/>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4" name="Text Placeholder 2">
            <a:extLst>
              <a:ext uri="{FF2B5EF4-FFF2-40B4-BE49-F238E27FC236}">
                <a16:creationId xmlns:a16="http://schemas.microsoft.com/office/drawing/2014/main" id="{ED189E61-FAAF-8F78-70F5-8B93F992AE12}"/>
              </a:ext>
            </a:extLst>
          </p:cNvPr>
          <p:cNvSpPr>
            <a:spLocks noGrp="1"/>
          </p:cNvSpPr>
          <p:nvPr>
            <p:ph type="body" idx="16" hasCustomPrompt="1"/>
          </p:nvPr>
        </p:nvSpPr>
        <p:spPr>
          <a:xfrm>
            <a:off x="6323290" y="6428232"/>
            <a:ext cx="5513832" cy="184666"/>
          </a:xfrm>
          <a:prstGeom prst="rect">
            <a:avLst/>
          </a:prstGeom>
        </p:spPr>
        <p:txBody>
          <a:bodyPr wrap="square" anchor="t" anchorCtr="0">
            <a:spAutoFit/>
          </a:bodyPr>
          <a:lstStyle>
            <a:lvl1pPr marL="0" indent="0" algn="l">
              <a:spcBef>
                <a:spcPts val="0"/>
              </a:spcBef>
              <a:buNone/>
              <a:defRPr sz="1200" b="0" i="0" cap="all"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Month day, year</a:t>
            </a:r>
          </a:p>
        </p:txBody>
      </p:sp>
      <p:sp>
        <p:nvSpPr>
          <p:cNvPr id="7" name="Text Placeholder 2">
            <a:extLst>
              <a:ext uri="{FF2B5EF4-FFF2-40B4-BE49-F238E27FC236}">
                <a16:creationId xmlns:a16="http://schemas.microsoft.com/office/drawing/2014/main" id="{DCF77A57-8A59-F693-8FA6-516533C40E14}"/>
              </a:ext>
            </a:extLst>
          </p:cNvPr>
          <p:cNvSpPr>
            <a:spLocks noGrp="1"/>
          </p:cNvSpPr>
          <p:nvPr>
            <p:ph type="body" idx="15" hasCustomPrompt="1"/>
          </p:nvPr>
        </p:nvSpPr>
        <p:spPr>
          <a:xfrm>
            <a:off x="6323290" y="4988650"/>
            <a:ext cx="5513832" cy="369332"/>
          </a:xfrm>
          <a:prstGeom prst="rect">
            <a:avLst/>
          </a:prstGeom>
        </p:spPr>
        <p:txBody>
          <a:bodyPr wrap="square" anchor="t" anchorCtr="0">
            <a:spAutoFit/>
          </a:bodyPr>
          <a:lstStyle>
            <a:lvl1pPr marL="0" indent="0" algn="l">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First/Last Name</a:t>
            </a:r>
            <a:br>
              <a:rPr lang="en-US"/>
            </a:br>
            <a:r>
              <a:rPr lang="en-US"/>
              <a:t>Role</a:t>
            </a:r>
          </a:p>
        </p:txBody>
      </p:sp>
      <p:sp>
        <p:nvSpPr>
          <p:cNvPr id="3" name="Title 1">
            <a:extLst>
              <a:ext uri="{FF2B5EF4-FFF2-40B4-BE49-F238E27FC236}">
                <a16:creationId xmlns:a16="http://schemas.microsoft.com/office/drawing/2014/main" id="{59A5831F-EB68-3E7A-AFAA-8AB72A36BD38}"/>
              </a:ext>
            </a:extLst>
          </p:cNvPr>
          <p:cNvSpPr>
            <a:spLocks noGrp="1"/>
          </p:cNvSpPr>
          <p:nvPr>
            <p:ph type="ctrTitle"/>
          </p:nvPr>
        </p:nvSpPr>
        <p:spPr>
          <a:xfrm>
            <a:off x="6323290" y="3419856"/>
            <a:ext cx="5513832" cy="984885"/>
          </a:xfrm>
          <a:prstGeom prst="rect">
            <a:avLst/>
          </a:prstGeom>
        </p:spPr>
        <p:txBody>
          <a:bodyPr wrap="square" anchor="b" anchorCtr="0">
            <a:spAutoFit/>
          </a:bodyPr>
          <a:lstStyle>
            <a:lvl1pPr algn="l">
              <a:lnSpc>
                <a:spcPct val="100000"/>
              </a:lnSpc>
              <a:defRPr sz="3200"/>
            </a:lvl1pPr>
          </a:lstStyle>
          <a:p>
            <a:r>
              <a:rPr lang="en-US"/>
              <a:t>Click to edit Master title style</a:t>
            </a:r>
          </a:p>
        </p:txBody>
      </p:sp>
    </p:spTree>
    <p:extLst>
      <p:ext uri="{BB962C8B-B14F-4D97-AF65-F5344CB8AC3E}">
        <p14:creationId xmlns:p14="http://schemas.microsoft.com/office/powerpoint/2010/main" val="401362863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isclosures">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89B011-6F43-3AC5-F16F-20EDE6F9AAFC}"/>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4119BD35-056A-16A4-53A8-0EE2E6A35598}"/>
              </a:ext>
            </a:extLst>
          </p:cNvPr>
          <p:cNvSpPr txBox="1">
            <a:spLocks/>
          </p:cNvSpPr>
          <p:nvPr userDrawn="1"/>
        </p:nvSpPr>
        <p:spPr>
          <a:xfrm>
            <a:off x="346126" y="311961"/>
            <a:ext cx="5623999" cy="738664"/>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a:t>Disclosures</a:t>
            </a:r>
          </a:p>
        </p:txBody>
      </p:sp>
      <p:sp>
        <p:nvSpPr>
          <p:cNvPr id="3" name="Content Placeholder 2">
            <a:extLst>
              <a:ext uri="{FF2B5EF4-FFF2-40B4-BE49-F238E27FC236}">
                <a16:creationId xmlns:a16="http://schemas.microsoft.com/office/drawing/2014/main" id="{0C690803-8E9F-15AC-21E8-6118205AE425}"/>
              </a:ext>
            </a:extLst>
          </p:cNvPr>
          <p:cNvSpPr>
            <a:spLocks noGrp="1"/>
          </p:cNvSpPr>
          <p:nvPr>
            <p:ph idx="1"/>
          </p:nvPr>
        </p:nvSpPr>
        <p:spPr>
          <a:xfrm>
            <a:off x="358337" y="1459884"/>
            <a:ext cx="11470125"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128C3B29-4062-9FE5-49D4-9AE8FDD03E94}"/>
              </a:ext>
            </a:extLst>
          </p:cNvPr>
          <p:cNvSpPr>
            <a:spLocks noGrp="1"/>
          </p:cNvSpPr>
          <p:nvPr>
            <p:ph type="ftr" sz="quarter" idx="10"/>
          </p:nvPr>
        </p:nvSpPr>
        <p:spPr/>
        <p:txBody>
          <a:bodyPr/>
          <a:lstStyle/>
          <a:p>
            <a:r>
              <a:rPr lang="en-US"/>
              <a:t>Abbreviations</a:t>
            </a:r>
          </a:p>
        </p:txBody>
      </p:sp>
    </p:spTree>
    <p:extLst>
      <p:ext uri="{BB962C8B-B14F-4D97-AF65-F5344CB8AC3E}">
        <p14:creationId xmlns:p14="http://schemas.microsoft.com/office/powerpoint/2010/main" val="356763195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s - Opt 1">
    <p:spTree>
      <p:nvGrpSpPr>
        <p:cNvPr id="1" name=""/>
        <p:cNvGrpSpPr/>
        <p:nvPr/>
      </p:nvGrpSpPr>
      <p:grpSpPr>
        <a:xfrm>
          <a:off x="0" y="0"/>
          <a:ext cx="0" cy="0"/>
          <a:chOff x="0" y="0"/>
          <a:chExt cx="0" cy="0"/>
        </a:xfrm>
      </p:grpSpPr>
      <p:sp>
        <p:nvSpPr>
          <p:cNvPr id="4" name="Text Placeholder 17">
            <a:extLst>
              <a:ext uri="{FF2B5EF4-FFF2-40B4-BE49-F238E27FC236}">
                <a16:creationId xmlns:a16="http://schemas.microsoft.com/office/drawing/2014/main" id="{3FA1A732-50FE-F5CD-D04C-B2FD7997D746}"/>
              </a:ext>
            </a:extLst>
          </p:cNvPr>
          <p:cNvSpPr>
            <a:spLocks noGrp="1"/>
          </p:cNvSpPr>
          <p:nvPr>
            <p:ph type="body" sz="quarter" idx="46"/>
          </p:nvPr>
        </p:nvSpPr>
        <p:spPr>
          <a:xfrm>
            <a:off x="1875332" y="1579076"/>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5" name="Text Placeholder 17">
            <a:extLst>
              <a:ext uri="{FF2B5EF4-FFF2-40B4-BE49-F238E27FC236}">
                <a16:creationId xmlns:a16="http://schemas.microsoft.com/office/drawing/2014/main" id="{3EE7D864-EADC-5116-D541-B1E0F0628259}"/>
              </a:ext>
            </a:extLst>
          </p:cNvPr>
          <p:cNvSpPr>
            <a:spLocks noGrp="1"/>
          </p:cNvSpPr>
          <p:nvPr>
            <p:ph type="body" sz="quarter" idx="47" hasCustomPrompt="1"/>
          </p:nvPr>
        </p:nvSpPr>
        <p:spPr>
          <a:xfrm>
            <a:off x="366916" y="1487736"/>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23" name="Text Placeholder 17">
            <a:extLst>
              <a:ext uri="{FF2B5EF4-FFF2-40B4-BE49-F238E27FC236}">
                <a16:creationId xmlns:a16="http://schemas.microsoft.com/office/drawing/2014/main" id="{12E62E8D-0B31-488B-FA40-17664346132A}"/>
              </a:ext>
            </a:extLst>
          </p:cNvPr>
          <p:cNvSpPr>
            <a:spLocks noGrp="1"/>
          </p:cNvSpPr>
          <p:nvPr>
            <p:ph type="body" sz="quarter" idx="48"/>
          </p:nvPr>
        </p:nvSpPr>
        <p:spPr>
          <a:xfrm>
            <a:off x="6350747" y="1616779"/>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sp>
        <p:nvSpPr>
          <p:cNvPr id="27" name="Title 1">
            <a:extLst>
              <a:ext uri="{FF2B5EF4-FFF2-40B4-BE49-F238E27FC236}">
                <a16:creationId xmlns:a16="http://schemas.microsoft.com/office/drawing/2014/main" id="{68EAFC20-B735-1DA2-D854-385FA28A0EF8}"/>
              </a:ext>
            </a:extLst>
          </p:cNvPr>
          <p:cNvSpPr txBox="1">
            <a:spLocks/>
          </p:cNvSpPr>
          <p:nvPr userDrawn="1"/>
        </p:nvSpPr>
        <p:spPr>
          <a:xfrm>
            <a:off x="346126" y="311961"/>
            <a:ext cx="5623999" cy="738664"/>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a:t>Contents</a:t>
            </a:r>
          </a:p>
        </p:txBody>
      </p:sp>
      <p:cxnSp>
        <p:nvCxnSpPr>
          <p:cNvPr id="30" name="Straight Connector 29">
            <a:extLst>
              <a:ext uri="{FF2B5EF4-FFF2-40B4-BE49-F238E27FC236}">
                <a16:creationId xmlns:a16="http://schemas.microsoft.com/office/drawing/2014/main" id="{20387077-38D9-348E-AB71-325DB3DB9F17}"/>
              </a:ext>
            </a:extLst>
          </p:cNvPr>
          <p:cNvCxnSpPr>
            <a:cxnSpLocks/>
          </p:cNvCxnSpPr>
          <p:nvPr userDrawn="1"/>
        </p:nvCxnSpPr>
        <p:spPr>
          <a:xfrm>
            <a:off x="366916" y="220553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1" name="Text Placeholder 17">
            <a:extLst>
              <a:ext uri="{FF2B5EF4-FFF2-40B4-BE49-F238E27FC236}">
                <a16:creationId xmlns:a16="http://schemas.microsoft.com/office/drawing/2014/main" id="{B1CF0F32-8635-F82C-3ADC-3AFE15C2F30B}"/>
              </a:ext>
            </a:extLst>
          </p:cNvPr>
          <p:cNvSpPr>
            <a:spLocks noGrp="1"/>
          </p:cNvSpPr>
          <p:nvPr>
            <p:ph type="body" sz="quarter" idx="49"/>
          </p:nvPr>
        </p:nvSpPr>
        <p:spPr>
          <a:xfrm>
            <a:off x="1875332" y="2542197"/>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32" name="Text Placeholder 17">
            <a:extLst>
              <a:ext uri="{FF2B5EF4-FFF2-40B4-BE49-F238E27FC236}">
                <a16:creationId xmlns:a16="http://schemas.microsoft.com/office/drawing/2014/main" id="{5BF28A7E-2E68-B970-0464-DE422C9ADD88}"/>
              </a:ext>
            </a:extLst>
          </p:cNvPr>
          <p:cNvSpPr>
            <a:spLocks noGrp="1"/>
          </p:cNvSpPr>
          <p:nvPr>
            <p:ph type="body" sz="quarter" idx="50" hasCustomPrompt="1"/>
          </p:nvPr>
        </p:nvSpPr>
        <p:spPr>
          <a:xfrm>
            <a:off x="366916" y="2450857"/>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33" name="Text Placeholder 17">
            <a:extLst>
              <a:ext uri="{FF2B5EF4-FFF2-40B4-BE49-F238E27FC236}">
                <a16:creationId xmlns:a16="http://schemas.microsoft.com/office/drawing/2014/main" id="{BD5444B5-E4C3-1B61-8909-FDE74EDD711E}"/>
              </a:ext>
            </a:extLst>
          </p:cNvPr>
          <p:cNvSpPr>
            <a:spLocks noGrp="1"/>
          </p:cNvSpPr>
          <p:nvPr>
            <p:ph type="body" sz="quarter" idx="51"/>
          </p:nvPr>
        </p:nvSpPr>
        <p:spPr>
          <a:xfrm>
            <a:off x="6350747" y="2579901"/>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34" name="Straight Connector 33">
            <a:extLst>
              <a:ext uri="{FF2B5EF4-FFF2-40B4-BE49-F238E27FC236}">
                <a16:creationId xmlns:a16="http://schemas.microsoft.com/office/drawing/2014/main" id="{0F6EDBF8-B0E5-B27B-A21E-10D034A21363}"/>
              </a:ext>
            </a:extLst>
          </p:cNvPr>
          <p:cNvCxnSpPr>
            <a:cxnSpLocks/>
          </p:cNvCxnSpPr>
          <p:nvPr userDrawn="1"/>
        </p:nvCxnSpPr>
        <p:spPr>
          <a:xfrm>
            <a:off x="366916" y="31672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17">
            <a:extLst>
              <a:ext uri="{FF2B5EF4-FFF2-40B4-BE49-F238E27FC236}">
                <a16:creationId xmlns:a16="http://schemas.microsoft.com/office/drawing/2014/main" id="{3299F940-9F9D-F540-CCC8-3AF495D73951}"/>
              </a:ext>
            </a:extLst>
          </p:cNvPr>
          <p:cNvSpPr>
            <a:spLocks noGrp="1"/>
          </p:cNvSpPr>
          <p:nvPr>
            <p:ph type="body" sz="quarter" idx="52"/>
          </p:nvPr>
        </p:nvSpPr>
        <p:spPr>
          <a:xfrm>
            <a:off x="1875332" y="3505318"/>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36" name="Text Placeholder 17">
            <a:extLst>
              <a:ext uri="{FF2B5EF4-FFF2-40B4-BE49-F238E27FC236}">
                <a16:creationId xmlns:a16="http://schemas.microsoft.com/office/drawing/2014/main" id="{BE4CC3D0-82B2-289A-6E62-30DA74F00D26}"/>
              </a:ext>
            </a:extLst>
          </p:cNvPr>
          <p:cNvSpPr>
            <a:spLocks noGrp="1"/>
          </p:cNvSpPr>
          <p:nvPr>
            <p:ph type="body" sz="quarter" idx="53" hasCustomPrompt="1"/>
          </p:nvPr>
        </p:nvSpPr>
        <p:spPr>
          <a:xfrm>
            <a:off x="366916" y="3413978"/>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37" name="Text Placeholder 17">
            <a:extLst>
              <a:ext uri="{FF2B5EF4-FFF2-40B4-BE49-F238E27FC236}">
                <a16:creationId xmlns:a16="http://schemas.microsoft.com/office/drawing/2014/main" id="{A005B7D7-E400-6CF3-0ADB-B35012DDDAAF}"/>
              </a:ext>
            </a:extLst>
          </p:cNvPr>
          <p:cNvSpPr>
            <a:spLocks noGrp="1"/>
          </p:cNvSpPr>
          <p:nvPr>
            <p:ph type="body" sz="quarter" idx="54"/>
          </p:nvPr>
        </p:nvSpPr>
        <p:spPr>
          <a:xfrm>
            <a:off x="6350747" y="3543023"/>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38" name="Straight Connector 37">
            <a:extLst>
              <a:ext uri="{FF2B5EF4-FFF2-40B4-BE49-F238E27FC236}">
                <a16:creationId xmlns:a16="http://schemas.microsoft.com/office/drawing/2014/main" id="{E42D2B37-F728-4FC9-7846-83F5FE1CF63F}"/>
              </a:ext>
            </a:extLst>
          </p:cNvPr>
          <p:cNvCxnSpPr>
            <a:cxnSpLocks/>
          </p:cNvCxnSpPr>
          <p:nvPr userDrawn="1"/>
        </p:nvCxnSpPr>
        <p:spPr>
          <a:xfrm>
            <a:off x="366916" y="412903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9" name="Text Placeholder 17">
            <a:extLst>
              <a:ext uri="{FF2B5EF4-FFF2-40B4-BE49-F238E27FC236}">
                <a16:creationId xmlns:a16="http://schemas.microsoft.com/office/drawing/2014/main" id="{D1FAB0D6-CA3D-8610-A357-667AE7A9CE7C}"/>
              </a:ext>
            </a:extLst>
          </p:cNvPr>
          <p:cNvSpPr>
            <a:spLocks noGrp="1"/>
          </p:cNvSpPr>
          <p:nvPr>
            <p:ph type="body" sz="quarter" idx="55"/>
          </p:nvPr>
        </p:nvSpPr>
        <p:spPr>
          <a:xfrm>
            <a:off x="1875332" y="4468439"/>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40" name="Text Placeholder 17">
            <a:extLst>
              <a:ext uri="{FF2B5EF4-FFF2-40B4-BE49-F238E27FC236}">
                <a16:creationId xmlns:a16="http://schemas.microsoft.com/office/drawing/2014/main" id="{BA8DA334-873C-770C-6392-13E574ABB633}"/>
              </a:ext>
            </a:extLst>
          </p:cNvPr>
          <p:cNvSpPr>
            <a:spLocks noGrp="1"/>
          </p:cNvSpPr>
          <p:nvPr>
            <p:ph type="body" sz="quarter" idx="56" hasCustomPrompt="1"/>
          </p:nvPr>
        </p:nvSpPr>
        <p:spPr>
          <a:xfrm>
            <a:off x="366916" y="4377099"/>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41" name="Text Placeholder 17">
            <a:extLst>
              <a:ext uri="{FF2B5EF4-FFF2-40B4-BE49-F238E27FC236}">
                <a16:creationId xmlns:a16="http://schemas.microsoft.com/office/drawing/2014/main" id="{DBB75980-D6A0-AF8A-C5D4-101518001B06}"/>
              </a:ext>
            </a:extLst>
          </p:cNvPr>
          <p:cNvSpPr>
            <a:spLocks noGrp="1"/>
          </p:cNvSpPr>
          <p:nvPr>
            <p:ph type="body" sz="quarter" idx="57"/>
          </p:nvPr>
        </p:nvSpPr>
        <p:spPr>
          <a:xfrm>
            <a:off x="6350747" y="4506145"/>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42" name="Straight Connector 41">
            <a:extLst>
              <a:ext uri="{FF2B5EF4-FFF2-40B4-BE49-F238E27FC236}">
                <a16:creationId xmlns:a16="http://schemas.microsoft.com/office/drawing/2014/main" id="{066CFAE1-AAA2-B534-DEBC-695ABB08F7A8}"/>
              </a:ext>
            </a:extLst>
          </p:cNvPr>
          <p:cNvCxnSpPr>
            <a:cxnSpLocks/>
          </p:cNvCxnSpPr>
          <p:nvPr userDrawn="1"/>
        </p:nvCxnSpPr>
        <p:spPr>
          <a:xfrm>
            <a:off x="366916" y="5090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43" name="Text Placeholder 17">
            <a:extLst>
              <a:ext uri="{FF2B5EF4-FFF2-40B4-BE49-F238E27FC236}">
                <a16:creationId xmlns:a16="http://schemas.microsoft.com/office/drawing/2014/main" id="{8708D808-B03A-6AFD-9CD9-F809C9CB5887}"/>
              </a:ext>
            </a:extLst>
          </p:cNvPr>
          <p:cNvSpPr>
            <a:spLocks noGrp="1"/>
          </p:cNvSpPr>
          <p:nvPr>
            <p:ph type="body" sz="quarter" idx="58"/>
          </p:nvPr>
        </p:nvSpPr>
        <p:spPr>
          <a:xfrm>
            <a:off x="1875332" y="5431562"/>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44" name="Text Placeholder 17">
            <a:extLst>
              <a:ext uri="{FF2B5EF4-FFF2-40B4-BE49-F238E27FC236}">
                <a16:creationId xmlns:a16="http://schemas.microsoft.com/office/drawing/2014/main" id="{6AC676E0-4705-9A05-BE82-C7773DC04410}"/>
              </a:ext>
            </a:extLst>
          </p:cNvPr>
          <p:cNvSpPr>
            <a:spLocks noGrp="1"/>
          </p:cNvSpPr>
          <p:nvPr>
            <p:ph type="body" sz="quarter" idx="59" hasCustomPrompt="1"/>
          </p:nvPr>
        </p:nvSpPr>
        <p:spPr>
          <a:xfrm>
            <a:off x="366916" y="5340222"/>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45" name="Text Placeholder 17">
            <a:extLst>
              <a:ext uri="{FF2B5EF4-FFF2-40B4-BE49-F238E27FC236}">
                <a16:creationId xmlns:a16="http://schemas.microsoft.com/office/drawing/2014/main" id="{44F1224D-28F5-CFA6-80C9-028594B71928}"/>
              </a:ext>
            </a:extLst>
          </p:cNvPr>
          <p:cNvSpPr>
            <a:spLocks noGrp="1"/>
          </p:cNvSpPr>
          <p:nvPr>
            <p:ph type="body" sz="quarter" idx="60"/>
          </p:nvPr>
        </p:nvSpPr>
        <p:spPr>
          <a:xfrm>
            <a:off x="6350747" y="5469269"/>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46" name="Straight Connector 45">
            <a:extLst>
              <a:ext uri="{FF2B5EF4-FFF2-40B4-BE49-F238E27FC236}">
                <a16:creationId xmlns:a16="http://schemas.microsoft.com/office/drawing/2014/main" id="{AFDBC548-3501-DC1E-E554-DB69DF9706EB}"/>
              </a:ext>
            </a:extLst>
          </p:cNvPr>
          <p:cNvCxnSpPr>
            <a:cxnSpLocks/>
          </p:cNvCxnSpPr>
          <p:nvPr userDrawn="1"/>
        </p:nvCxnSpPr>
        <p:spPr>
          <a:xfrm>
            <a:off x="366916" y="6052535"/>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4D7DE34D-55B7-4DB9-E042-C2773A37B456}"/>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463340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s - Opt 2">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68EAFC20-B735-1DA2-D854-385FA28A0EF8}"/>
              </a:ext>
            </a:extLst>
          </p:cNvPr>
          <p:cNvSpPr txBox="1">
            <a:spLocks/>
          </p:cNvSpPr>
          <p:nvPr userDrawn="1"/>
        </p:nvSpPr>
        <p:spPr>
          <a:xfrm>
            <a:off x="346126" y="311961"/>
            <a:ext cx="5623999" cy="738664"/>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a:t>Contents</a:t>
            </a:r>
          </a:p>
        </p:txBody>
      </p:sp>
      <p:sp>
        <p:nvSpPr>
          <p:cNvPr id="4" name="Text Placeholder 17">
            <a:extLst>
              <a:ext uri="{FF2B5EF4-FFF2-40B4-BE49-F238E27FC236}">
                <a16:creationId xmlns:a16="http://schemas.microsoft.com/office/drawing/2014/main" id="{432C49D9-4F6F-EDE7-972B-7AC955CE677A}"/>
              </a:ext>
            </a:extLst>
          </p:cNvPr>
          <p:cNvSpPr>
            <a:spLocks noGrp="1"/>
          </p:cNvSpPr>
          <p:nvPr>
            <p:ph type="body" sz="quarter" idx="46"/>
          </p:nvPr>
        </p:nvSpPr>
        <p:spPr>
          <a:xfrm>
            <a:off x="1875332" y="1579076"/>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5" name="Text Placeholder 17">
            <a:extLst>
              <a:ext uri="{FF2B5EF4-FFF2-40B4-BE49-F238E27FC236}">
                <a16:creationId xmlns:a16="http://schemas.microsoft.com/office/drawing/2014/main" id="{8E80D400-447C-A28E-F3CD-3C0EAB6E3735}"/>
              </a:ext>
            </a:extLst>
          </p:cNvPr>
          <p:cNvSpPr>
            <a:spLocks noGrp="1"/>
          </p:cNvSpPr>
          <p:nvPr>
            <p:ph type="body" sz="quarter" idx="47" hasCustomPrompt="1"/>
          </p:nvPr>
        </p:nvSpPr>
        <p:spPr>
          <a:xfrm>
            <a:off x="366916" y="1487736"/>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8" name="Text Placeholder 17">
            <a:extLst>
              <a:ext uri="{FF2B5EF4-FFF2-40B4-BE49-F238E27FC236}">
                <a16:creationId xmlns:a16="http://schemas.microsoft.com/office/drawing/2014/main" id="{87B52608-EDC9-FBEA-351F-9D1FB164774C}"/>
              </a:ext>
            </a:extLst>
          </p:cNvPr>
          <p:cNvSpPr>
            <a:spLocks noGrp="1"/>
          </p:cNvSpPr>
          <p:nvPr>
            <p:ph type="body" sz="quarter" idx="48"/>
          </p:nvPr>
        </p:nvSpPr>
        <p:spPr>
          <a:xfrm>
            <a:off x="6350747" y="1616779"/>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9" name="Straight Connector 8">
            <a:extLst>
              <a:ext uri="{FF2B5EF4-FFF2-40B4-BE49-F238E27FC236}">
                <a16:creationId xmlns:a16="http://schemas.microsoft.com/office/drawing/2014/main" id="{FA51BA71-843F-E604-8460-D6B56CB4D8DF}"/>
              </a:ext>
            </a:extLst>
          </p:cNvPr>
          <p:cNvCxnSpPr>
            <a:cxnSpLocks/>
          </p:cNvCxnSpPr>
          <p:nvPr userDrawn="1"/>
        </p:nvCxnSpPr>
        <p:spPr>
          <a:xfrm>
            <a:off x="366916" y="220553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 Placeholder 17">
            <a:extLst>
              <a:ext uri="{FF2B5EF4-FFF2-40B4-BE49-F238E27FC236}">
                <a16:creationId xmlns:a16="http://schemas.microsoft.com/office/drawing/2014/main" id="{FD1D5107-127F-CB2B-FA4D-E92CCE59C599}"/>
              </a:ext>
            </a:extLst>
          </p:cNvPr>
          <p:cNvSpPr>
            <a:spLocks noGrp="1"/>
          </p:cNvSpPr>
          <p:nvPr>
            <p:ph type="body" sz="quarter" idx="49"/>
          </p:nvPr>
        </p:nvSpPr>
        <p:spPr>
          <a:xfrm>
            <a:off x="1875332" y="2542197"/>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11" name="Text Placeholder 17">
            <a:extLst>
              <a:ext uri="{FF2B5EF4-FFF2-40B4-BE49-F238E27FC236}">
                <a16:creationId xmlns:a16="http://schemas.microsoft.com/office/drawing/2014/main" id="{DAB91E73-56C2-824D-62D2-31C94C612557}"/>
              </a:ext>
            </a:extLst>
          </p:cNvPr>
          <p:cNvSpPr>
            <a:spLocks noGrp="1"/>
          </p:cNvSpPr>
          <p:nvPr>
            <p:ph type="body" sz="quarter" idx="50" hasCustomPrompt="1"/>
          </p:nvPr>
        </p:nvSpPr>
        <p:spPr>
          <a:xfrm>
            <a:off x="366916" y="2450857"/>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12" name="Text Placeholder 17">
            <a:extLst>
              <a:ext uri="{FF2B5EF4-FFF2-40B4-BE49-F238E27FC236}">
                <a16:creationId xmlns:a16="http://schemas.microsoft.com/office/drawing/2014/main" id="{4D0F0D18-4DF1-8062-C278-F4B7611FDA80}"/>
              </a:ext>
            </a:extLst>
          </p:cNvPr>
          <p:cNvSpPr>
            <a:spLocks noGrp="1"/>
          </p:cNvSpPr>
          <p:nvPr>
            <p:ph type="body" sz="quarter" idx="51"/>
          </p:nvPr>
        </p:nvSpPr>
        <p:spPr>
          <a:xfrm>
            <a:off x="6350747" y="2579901"/>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13" name="Straight Connector 12">
            <a:extLst>
              <a:ext uri="{FF2B5EF4-FFF2-40B4-BE49-F238E27FC236}">
                <a16:creationId xmlns:a16="http://schemas.microsoft.com/office/drawing/2014/main" id="{C201F849-E6DC-5807-9769-30FADE8BA63F}"/>
              </a:ext>
            </a:extLst>
          </p:cNvPr>
          <p:cNvCxnSpPr>
            <a:cxnSpLocks/>
          </p:cNvCxnSpPr>
          <p:nvPr userDrawn="1"/>
        </p:nvCxnSpPr>
        <p:spPr>
          <a:xfrm>
            <a:off x="366916" y="31672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Text Placeholder 17">
            <a:extLst>
              <a:ext uri="{FF2B5EF4-FFF2-40B4-BE49-F238E27FC236}">
                <a16:creationId xmlns:a16="http://schemas.microsoft.com/office/drawing/2014/main" id="{26DA4313-F18A-1AC9-B916-1E809948FDEE}"/>
              </a:ext>
            </a:extLst>
          </p:cNvPr>
          <p:cNvSpPr>
            <a:spLocks noGrp="1"/>
          </p:cNvSpPr>
          <p:nvPr>
            <p:ph type="body" sz="quarter" idx="52"/>
          </p:nvPr>
        </p:nvSpPr>
        <p:spPr>
          <a:xfrm>
            <a:off x="1875332" y="3505318"/>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15" name="Text Placeholder 17">
            <a:extLst>
              <a:ext uri="{FF2B5EF4-FFF2-40B4-BE49-F238E27FC236}">
                <a16:creationId xmlns:a16="http://schemas.microsoft.com/office/drawing/2014/main" id="{98A45697-678E-48DC-974C-CA3CC9108C55}"/>
              </a:ext>
            </a:extLst>
          </p:cNvPr>
          <p:cNvSpPr>
            <a:spLocks noGrp="1"/>
          </p:cNvSpPr>
          <p:nvPr>
            <p:ph type="body" sz="quarter" idx="53" hasCustomPrompt="1"/>
          </p:nvPr>
        </p:nvSpPr>
        <p:spPr>
          <a:xfrm>
            <a:off x="366916" y="3413978"/>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16" name="Text Placeholder 17">
            <a:extLst>
              <a:ext uri="{FF2B5EF4-FFF2-40B4-BE49-F238E27FC236}">
                <a16:creationId xmlns:a16="http://schemas.microsoft.com/office/drawing/2014/main" id="{6DA8F463-2FA7-DA84-EF93-71EDC296BAF9}"/>
              </a:ext>
            </a:extLst>
          </p:cNvPr>
          <p:cNvSpPr>
            <a:spLocks noGrp="1"/>
          </p:cNvSpPr>
          <p:nvPr>
            <p:ph type="body" sz="quarter" idx="54"/>
          </p:nvPr>
        </p:nvSpPr>
        <p:spPr>
          <a:xfrm>
            <a:off x="6350747" y="3543023"/>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17" name="Straight Connector 16">
            <a:extLst>
              <a:ext uri="{FF2B5EF4-FFF2-40B4-BE49-F238E27FC236}">
                <a16:creationId xmlns:a16="http://schemas.microsoft.com/office/drawing/2014/main" id="{607C3289-04BC-9554-CF59-57EC3951BF0E}"/>
              </a:ext>
            </a:extLst>
          </p:cNvPr>
          <p:cNvCxnSpPr>
            <a:cxnSpLocks/>
          </p:cNvCxnSpPr>
          <p:nvPr userDrawn="1"/>
        </p:nvCxnSpPr>
        <p:spPr>
          <a:xfrm>
            <a:off x="366916" y="412903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Text Placeholder 17">
            <a:extLst>
              <a:ext uri="{FF2B5EF4-FFF2-40B4-BE49-F238E27FC236}">
                <a16:creationId xmlns:a16="http://schemas.microsoft.com/office/drawing/2014/main" id="{EBF3DDD0-22E7-000D-146A-B231BEDF576D}"/>
              </a:ext>
            </a:extLst>
          </p:cNvPr>
          <p:cNvSpPr>
            <a:spLocks noGrp="1"/>
          </p:cNvSpPr>
          <p:nvPr>
            <p:ph type="body" sz="quarter" idx="55"/>
          </p:nvPr>
        </p:nvSpPr>
        <p:spPr>
          <a:xfrm>
            <a:off x="1875332" y="4468439"/>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19" name="Text Placeholder 17">
            <a:extLst>
              <a:ext uri="{FF2B5EF4-FFF2-40B4-BE49-F238E27FC236}">
                <a16:creationId xmlns:a16="http://schemas.microsoft.com/office/drawing/2014/main" id="{5C7DE4FB-42D0-E28E-C9C8-B420E09AD531}"/>
              </a:ext>
            </a:extLst>
          </p:cNvPr>
          <p:cNvSpPr>
            <a:spLocks noGrp="1"/>
          </p:cNvSpPr>
          <p:nvPr>
            <p:ph type="body" sz="quarter" idx="56" hasCustomPrompt="1"/>
          </p:nvPr>
        </p:nvSpPr>
        <p:spPr>
          <a:xfrm>
            <a:off x="366916" y="4377099"/>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20" name="Text Placeholder 17">
            <a:extLst>
              <a:ext uri="{FF2B5EF4-FFF2-40B4-BE49-F238E27FC236}">
                <a16:creationId xmlns:a16="http://schemas.microsoft.com/office/drawing/2014/main" id="{95604432-9AD7-598E-641C-06C67FA485BC}"/>
              </a:ext>
            </a:extLst>
          </p:cNvPr>
          <p:cNvSpPr>
            <a:spLocks noGrp="1"/>
          </p:cNvSpPr>
          <p:nvPr>
            <p:ph type="body" sz="quarter" idx="57"/>
          </p:nvPr>
        </p:nvSpPr>
        <p:spPr>
          <a:xfrm>
            <a:off x="6350747" y="4506145"/>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21" name="Straight Connector 20">
            <a:extLst>
              <a:ext uri="{FF2B5EF4-FFF2-40B4-BE49-F238E27FC236}">
                <a16:creationId xmlns:a16="http://schemas.microsoft.com/office/drawing/2014/main" id="{4A4C4002-E92D-B339-D5CC-C6A8DA24332D}"/>
              </a:ext>
            </a:extLst>
          </p:cNvPr>
          <p:cNvCxnSpPr>
            <a:cxnSpLocks/>
          </p:cNvCxnSpPr>
          <p:nvPr userDrawn="1"/>
        </p:nvCxnSpPr>
        <p:spPr>
          <a:xfrm>
            <a:off x="366916" y="5090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05BFD8F-D692-F5DE-2FFF-FDD2E0E58721}"/>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1720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s - Opt 3">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042E741-CAC6-664C-84CD-3BAC08B9D53D}"/>
              </a:ext>
            </a:extLst>
          </p:cNvPr>
          <p:cNvSpPr txBox="1">
            <a:spLocks/>
          </p:cNvSpPr>
          <p:nvPr userDrawn="1"/>
        </p:nvSpPr>
        <p:spPr>
          <a:xfrm>
            <a:off x="346126" y="311961"/>
            <a:ext cx="5623999" cy="738664"/>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a:t>Contents</a:t>
            </a:r>
          </a:p>
        </p:txBody>
      </p:sp>
      <p:cxnSp>
        <p:nvCxnSpPr>
          <p:cNvPr id="2" name="Straight Connector 1">
            <a:extLst>
              <a:ext uri="{FF2B5EF4-FFF2-40B4-BE49-F238E27FC236}">
                <a16:creationId xmlns:a16="http://schemas.microsoft.com/office/drawing/2014/main" id="{17C4735F-FDD2-2FC4-5E83-F12C4B873202}"/>
              </a:ext>
            </a:extLst>
          </p:cNvPr>
          <p:cNvCxnSpPr>
            <a:cxnSpLocks/>
          </p:cNvCxnSpPr>
          <p:nvPr userDrawn="1"/>
        </p:nvCxnSpPr>
        <p:spPr>
          <a:xfrm>
            <a:off x="366916" y="31672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Text Placeholder 17">
            <a:extLst>
              <a:ext uri="{FF2B5EF4-FFF2-40B4-BE49-F238E27FC236}">
                <a16:creationId xmlns:a16="http://schemas.microsoft.com/office/drawing/2014/main" id="{D4913A53-AC18-CE35-83F6-1FEB00B226D8}"/>
              </a:ext>
            </a:extLst>
          </p:cNvPr>
          <p:cNvSpPr>
            <a:spLocks noGrp="1"/>
          </p:cNvSpPr>
          <p:nvPr>
            <p:ph type="body" sz="quarter" idx="52"/>
          </p:nvPr>
        </p:nvSpPr>
        <p:spPr>
          <a:xfrm>
            <a:off x="1875332" y="3505318"/>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4" name="Text Placeholder 17">
            <a:extLst>
              <a:ext uri="{FF2B5EF4-FFF2-40B4-BE49-F238E27FC236}">
                <a16:creationId xmlns:a16="http://schemas.microsoft.com/office/drawing/2014/main" id="{C2728A09-D888-A28E-36E6-CC138B24DEBF}"/>
              </a:ext>
            </a:extLst>
          </p:cNvPr>
          <p:cNvSpPr>
            <a:spLocks noGrp="1"/>
          </p:cNvSpPr>
          <p:nvPr>
            <p:ph type="body" sz="quarter" idx="53" hasCustomPrompt="1"/>
          </p:nvPr>
        </p:nvSpPr>
        <p:spPr>
          <a:xfrm>
            <a:off x="366916" y="3413978"/>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5" name="Text Placeholder 17">
            <a:extLst>
              <a:ext uri="{FF2B5EF4-FFF2-40B4-BE49-F238E27FC236}">
                <a16:creationId xmlns:a16="http://schemas.microsoft.com/office/drawing/2014/main" id="{6B3D9EAA-1CD5-3071-3473-B50CDA37D719}"/>
              </a:ext>
            </a:extLst>
          </p:cNvPr>
          <p:cNvSpPr>
            <a:spLocks noGrp="1"/>
          </p:cNvSpPr>
          <p:nvPr>
            <p:ph type="body" sz="quarter" idx="54"/>
          </p:nvPr>
        </p:nvSpPr>
        <p:spPr>
          <a:xfrm>
            <a:off x="6350747" y="3543023"/>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7" name="Straight Connector 6">
            <a:extLst>
              <a:ext uri="{FF2B5EF4-FFF2-40B4-BE49-F238E27FC236}">
                <a16:creationId xmlns:a16="http://schemas.microsoft.com/office/drawing/2014/main" id="{0FBBF35B-B312-CA0B-B7BD-E68201CDA4B4}"/>
              </a:ext>
            </a:extLst>
          </p:cNvPr>
          <p:cNvCxnSpPr>
            <a:cxnSpLocks/>
          </p:cNvCxnSpPr>
          <p:nvPr userDrawn="1"/>
        </p:nvCxnSpPr>
        <p:spPr>
          <a:xfrm>
            <a:off x="366916" y="412903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Text Placeholder 17">
            <a:extLst>
              <a:ext uri="{FF2B5EF4-FFF2-40B4-BE49-F238E27FC236}">
                <a16:creationId xmlns:a16="http://schemas.microsoft.com/office/drawing/2014/main" id="{3E88F02B-21A9-7B35-5208-960EC6B3724F}"/>
              </a:ext>
            </a:extLst>
          </p:cNvPr>
          <p:cNvSpPr>
            <a:spLocks noGrp="1"/>
          </p:cNvSpPr>
          <p:nvPr>
            <p:ph type="body" sz="quarter" idx="55"/>
          </p:nvPr>
        </p:nvSpPr>
        <p:spPr>
          <a:xfrm>
            <a:off x="1875332" y="4468439"/>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9" name="Text Placeholder 17">
            <a:extLst>
              <a:ext uri="{FF2B5EF4-FFF2-40B4-BE49-F238E27FC236}">
                <a16:creationId xmlns:a16="http://schemas.microsoft.com/office/drawing/2014/main" id="{3CB83662-9F5B-969E-B37A-1899DC8C0FAC}"/>
              </a:ext>
            </a:extLst>
          </p:cNvPr>
          <p:cNvSpPr>
            <a:spLocks noGrp="1"/>
          </p:cNvSpPr>
          <p:nvPr>
            <p:ph type="body" sz="quarter" idx="56" hasCustomPrompt="1"/>
          </p:nvPr>
        </p:nvSpPr>
        <p:spPr>
          <a:xfrm>
            <a:off x="366916" y="4377099"/>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10" name="Text Placeholder 17">
            <a:extLst>
              <a:ext uri="{FF2B5EF4-FFF2-40B4-BE49-F238E27FC236}">
                <a16:creationId xmlns:a16="http://schemas.microsoft.com/office/drawing/2014/main" id="{528A1D9E-4D5B-5036-BC8A-39F3BDB4747C}"/>
              </a:ext>
            </a:extLst>
          </p:cNvPr>
          <p:cNvSpPr>
            <a:spLocks noGrp="1"/>
          </p:cNvSpPr>
          <p:nvPr>
            <p:ph type="body" sz="quarter" idx="57"/>
          </p:nvPr>
        </p:nvSpPr>
        <p:spPr>
          <a:xfrm>
            <a:off x="6350747" y="4506145"/>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11" name="Straight Connector 10">
            <a:extLst>
              <a:ext uri="{FF2B5EF4-FFF2-40B4-BE49-F238E27FC236}">
                <a16:creationId xmlns:a16="http://schemas.microsoft.com/office/drawing/2014/main" id="{88CED963-9E28-BA19-70A0-A1367F1BFC11}"/>
              </a:ext>
            </a:extLst>
          </p:cNvPr>
          <p:cNvCxnSpPr>
            <a:cxnSpLocks/>
          </p:cNvCxnSpPr>
          <p:nvPr userDrawn="1"/>
        </p:nvCxnSpPr>
        <p:spPr>
          <a:xfrm>
            <a:off x="366916" y="5090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2" name="Text Placeholder 17">
            <a:extLst>
              <a:ext uri="{FF2B5EF4-FFF2-40B4-BE49-F238E27FC236}">
                <a16:creationId xmlns:a16="http://schemas.microsoft.com/office/drawing/2014/main" id="{8A44C202-F0DA-26D8-5BEB-0346D848675C}"/>
              </a:ext>
            </a:extLst>
          </p:cNvPr>
          <p:cNvSpPr>
            <a:spLocks noGrp="1"/>
          </p:cNvSpPr>
          <p:nvPr>
            <p:ph type="body" sz="quarter" idx="58"/>
          </p:nvPr>
        </p:nvSpPr>
        <p:spPr>
          <a:xfrm>
            <a:off x="1875332" y="5431562"/>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13" name="Text Placeholder 17">
            <a:extLst>
              <a:ext uri="{FF2B5EF4-FFF2-40B4-BE49-F238E27FC236}">
                <a16:creationId xmlns:a16="http://schemas.microsoft.com/office/drawing/2014/main" id="{D9D0BA97-6FE1-79B9-A17A-5B7E00FF9EA2}"/>
              </a:ext>
            </a:extLst>
          </p:cNvPr>
          <p:cNvSpPr>
            <a:spLocks noGrp="1"/>
          </p:cNvSpPr>
          <p:nvPr>
            <p:ph type="body" sz="quarter" idx="59" hasCustomPrompt="1"/>
          </p:nvPr>
        </p:nvSpPr>
        <p:spPr>
          <a:xfrm>
            <a:off x="366916" y="5340222"/>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14" name="Text Placeholder 17">
            <a:extLst>
              <a:ext uri="{FF2B5EF4-FFF2-40B4-BE49-F238E27FC236}">
                <a16:creationId xmlns:a16="http://schemas.microsoft.com/office/drawing/2014/main" id="{FB90C277-F5F8-BA5F-E1FC-4620DA2D6923}"/>
              </a:ext>
            </a:extLst>
          </p:cNvPr>
          <p:cNvSpPr>
            <a:spLocks noGrp="1"/>
          </p:cNvSpPr>
          <p:nvPr>
            <p:ph type="body" sz="quarter" idx="60"/>
          </p:nvPr>
        </p:nvSpPr>
        <p:spPr>
          <a:xfrm>
            <a:off x="6350747" y="5469269"/>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15" name="Straight Connector 14">
            <a:extLst>
              <a:ext uri="{FF2B5EF4-FFF2-40B4-BE49-F238E27FC236}">
                <a16:creationId xmlns:a16="http://schemas.microsoft.com/office/drawing/2014/main" id="{82874A42-88EC-4E10-038E-D236C7872F61}"/>
              </a:ext>
            </a:extLst>
          </p:cNvPr>
          <p:cNvCxnSpPr>
            <a:cxnSpLocks/>
          </p:cNvCxnSpPr>
          <p:nvPr userDrawn="1"/>
        </p:nvCxnSpPr>
        <p:spPr>
          <a:xfrm>
            <a:off x="366916" y="6052535"/>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893838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D63143A7-05D1-3997-E3D4-C010D81A4611}"/>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sp>
        <p:nvSpPr>
          <p:cNvPr id="2" name="Footer Placeholder 1">
            <a:extLst>
              <a:ext uri="{FF2B5EF4-FFF2-40B4-BE49-F238E27FC236}">
                <a16:creationId xmlns:a16="http://schemas.microsoft.com/office/drawing/2014/main" id="{C30CD785-0CEF-A5E3-AF23-EC8F19AFD558}"/>
              </a:ext>
            </a:extLst>
          </p:cNvPr>
          <p:cNvSpPr>
            <a:spLocks noGrp="1"/>
          </p:cNvSpPr>
          <p:nvPr>
            <p:ph type="ftr" sz="quarter" idx="10"/>
          </p:nvPr>
        </p:nvSpPr>
        <p:spPr/>
        <p:txBody>
          <a:bodyPr/>
          <a:lstStyle/>
          <a:p>
            <a:r>
              <a:rPr lang="en-US"/>
              <a:t>Abbreviations</a:t>
            </a:r>
          </a:p>
        </p:txBody>
      </p:sp>
      <p:cxnSp>
        <p:nvCxnSpPr>
          <p:cNvPr id="4" name="Straight Connector 3">
            <a:extLst>
              <a:ext uri="{FF2B5EF4-FFF2-40B4-BE49-F238E27FC236}">
                <a16:creationId xmlns:a16="http://schemas.microsoft.com/office/drawing/2014/main" id="{29BEBA64-D2E4-8A2C-80E8-D3C7433BA4BB}"/>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26684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 Content Col 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67ADF7-45CB-3998-769C-3E30A60AA65F}"/>
              </a:ext>
            </a:extLst>
          </p:cNvPr>
          <p:cNvSpPr>
            <a:spLocks noGrp="1"/>
          </p:cNvSpPr>
          <p:nvPr>
            <p:ph idx="1"/>
          </p:nvPr>
        </p:nvSpPr>
        <p:spPr>
          <a:xfrm>
            <a:off x="358337" y="1459884"/>
            <a:ext cx="11470125"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BD558EAA-3243-0037-3BFF-C297B998FCF7}"/>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itle Placeholder 1">
            <a:extLst>
              <a:ext uri="{FF2B5EF4-FFF2-40B4-BE49-F238E27FC236}">
                <a16:creationId xmlns:a16="http://schemas.microsoft.com/office/drawing/2014/main" id="{01062856-4A49-5C09-163B-65AC1B2255EC}"/>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sp>
        <p:nvSpPr>
          <p:cNvPr id="5" name="Footer Placeholder 4">
            <a:extLst>
              <a:ext uri="{FF2B5EF4-FFF2-40B4-BE49-F238E27FC236}">
                <a16:creationId xmlns:a16="http://schemas.microsoft.com/office/drawing/2014/main" id="{593F4E7E-ACEE-5CA0-F83B-0FD72C48D8EC}"/>
              </a:ext>
            </a:extLst>
          </p:cNvPr>
          <p:cNvSpPr>
            <a:spLocks noGrp="1"/>
          </p:cNvSpPr>
          <p:nvPr>
            <p:ph type="ftr" sz="quarter" idx="10"/>
          </p:nvPr>
        </p:nvSpPr>
        <p:spPr/>
        <p:txBody>
          <a:bodyPr/>
          <a:lstStyle>
            <a:lvl1pPr>
              <a:defRPr>
                <a:solidFill>
                  <a:schemeClr val="tx1">
                    <a:lumMod val="65000"/>
                    <a:lumOff val="35000"/>
                  </a:schemeClr>
                </a:solidFill>
              </a:defRPr>
            </a:lvl1pPr>
          </a:lstStyle>
          <a:p>
            <a:r>
              <a:rPr lang="en-US"/>
              <a:t>Abbreviations</a:t>
            </a:r>
          </a:p>
        </p:txBody>
      </p:sp>
    </p:spTree>
    <p:extLst>
      <p:ext uri="{BB962C8B-B14F-4D97-AF65-F5344CB8AC3E}">
        <p14:creationId xmlns:p14="http://schemas.microsoft.com/office/powerpoint/2010/main" val="3431874771"/>
      </p:ext>
    </p:extLst>
  </p:cSld>
  <p:clrMapOvr>
    <a:masterClrMapping/>
  </p:clrMapOvr>
  <p:extLst>
    <p:ext uri="{DCECCB84-F9BA-43D5-87BE-67443E8EF086}">
      <p15:sldGuideLst xmlns:p15="http://schemas.microsoft.com/office/powerpoint/2012/main">
        <p15:guide id="1" orient="horz" pos="928">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 Content Col 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67ADF7-45CB-3998-769C-3E30A60AA65F}"/>
              </a:ext>
            </a:extLst>
          </p:cNvPr>
          <p:cNvSpPr>
            <a:spLocks noGrp="1"/>
          </p:cNvSpPr>
          <p:nvPr>
            <p:ph idx="1"/>
          </p:nvPr>
        </p:nvSpPr>
        <p:spPr>
          <a:xfrm>
            <a:off x="358337" y="1459884"/>
            <a:ext cx="5495544"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BD558EAA-3243-0037-3BFF-C297B998FCF7}"/>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itle Placeholder 1">
            <a:extLst>
              <a:ext uri="{FF2B5EF4-FFF2-40B4-BE49-F238E27FC236}">
                <a16:creationId xmlns:a16="http://schemas.microsoft.com/office/drawing/2014/main" id="{01062856-4A49-5C09-163B-65AC1B2255EC}"/>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sp>
        <p:nvSpPr>
          <p:cNvPr id="5" name="Footer Placeholder 4">
            <a:extLst>
              <a:ext uri="{FF2B5EF4-FFF2-40B4-BE49-F238E27FC236}">
                <a16:creationId xmlns:a16="http://schemas.microsoft.com/office/drawing/2014/main" id="{593F4E7E-ACEE-5CA0-F83B-0FD72C48D8EC}"/>
              </a:ext>
            </a:extLst>
          </p:cNvPr>
          <p:cNvSpPr>
            <a:spLocks noGrp="1"/>
          </p:cNvSpPr>
          <p:nvPr>
            <p:ph type="ftr" sz="quarter" idx="10"/>
          </p:nvPr>
        </p:nvSpPr>
        <p:spPr/>
        <p:txBody>
          <a:bodyPr/>
          <a:lstStyle>
            <a:lvl1pPr>
              <a:defRPr>
                <a:solidFill>
                  <a:schemeClr val="tx1">
                    <a:lumMod val="65000"/>
                    <a:lumOff val="35000"/>
                  </a:schemeClr>
                </a:solidFill>
              </a:defRPr>
            </a:lvl1pPr>
          </a:lstStyle>
          <a:p>
            <a:r>
              <a:rPr lang="en-US"/>
              <a:t>Abbreviations</a:t>
            </a:r>
          </a:p>
        </p:txBody>
      </p:sp>
      <p:sp>
        <p:nvSpPr>
          <p:cNvPr id="2" name="Content Placeholder 2">
            <a:extLst>
              <a:ext uri="{FF2B5EF4-FFF2-40B4-BE49-F238E27FC236}">
                <a16:creationId xmlns:a16="http://schemas.microsoft.com/office/drawing/2014/main" id="{85271A2D-93F3-0E1C-FE8D-9DBE638DCEB4}"/>
              </a:ext>
            </a:extLst>
          </p:cNvPr>
          <p:cNvSpPr>
            <a:spLocks noGrp="1"/>
          </p:cNvSpPr>
          <p:nvPr>
            <p:ph idx="11"/>
          </p:nvPr>
        </p:nvSpPr>
        <p:spPr>
          <a:xfrm>
            <a:off x="6332918" y="1459884"/>
            <a:ext cx="5495544"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58162298"/>
      </p:ext>
    </p:extLst>
  </p:cSld>
  <p:clrMapOvr>
    <a:masterClrMapping/>
  </p:clrMapOvr>
  <p:extLst>
    <p:ext uri="{DCECCB84-F9BA-43D5-87BE-67443E8EF086}">
      <p15:sldGuideLst xmlns:p15="http://schemas.microsoft.com/office/powerpoint/2012/main">
        <p15:guide id="1" orient="horz" pos="928">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 Content Col 3">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67ADF7-45CB-3998-769C-3E30A60AA65F}"/>
              </a:ext>
            </a:extLst>
          </p:cNvPr>
          <p:cNvSpPr>
            <a:spLocks noGrp="1"/>
          </p:cNvSpPr>
          <p:nvPr>
            <p:ph idx="1"/>
          </p:nvPr>
        </p:nvSpPr>
        <p:spPr>
          <a:xfrm>
            <a:off x="358337" y="1459884"/>
            <a:ext cx="3502152"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BD558EAA-3243-0037-3BFF-C297B998FCF7}"/>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itle Placeholder 1">
            <a:extLst>
              <a:ext uri="{FF2B5EF4-FFF2-40B4-BE49-F238E27FC236}">
                <a16:creationId xmlns:a16="http://schemas.microsoft.com/office/drawing/2014/main" id="{01062856-4A49-5C09-163B-65AC1B2255EC}"/>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sp>
        <p:nvSpPr>
          <p:cNvPr id="5" name="Footer Placeholder 4">
            <a:extLst>
              <a:ext uri="{FF2B5EF4-FFF2-40B4-BE49-F238E27FC236}">
                <a16:creationId xmlns:a16="http://schemas.microsoft.com/office/drawing/2014/main" id="{593F4E7E-ACEE-5CA0-F83B-0FD72C48D8EC}"/>
              </a:ext>
            </a:extLst>
          </p:cNvPr>
          <p:cNvSpPr>
            <a:spLocks noGrp="1"/>
          </p:cNvSpPr>
          <p:nvPr>
            <p:ph type="ftr" sz="quarter" idx="10"/>
          </p:nvPr>
        </p:nvSpPr>
        <p:spPr/>
        <p:txBody>
          <a:bodyPr/>
          <a:lstStyle>
            <a:lvl1pPr>
              <a:defRPr>
                <a:solidFill>
                  <a:schemeClr val="tx1">
                    <a:lumMod val="65000"/>
                    <a:lumOff val="35000"/>
                  </a:schemeClr>
                </a:solidFill>
              </a:defRPr>
            </a:lvl1pPr>
          </a:lstStyle>
          <a:p>
            <a:r>
              <a:rPr lang="en-US"/>
              <a:t>Abbreviations</a:t>
            </a:r>
          </a:p>
        </p:txBody>
      </p:sp>
      <p:sp>
        <p:nvSpPr>
          <p:cNvPr id="2" name="Content Placeholder 2">
            <a:extLst>
              <a:ext uri="{FF2B5EF4-FFF2-40B4-BE49-F238E27FC236}">
                <a16:creationId xmlns:a16="http://schemas.microsoft.com/office/drawing/2014/main" id="{85271A2D-93F3-0E1C-FE8D-9DBE638DCEB4}"/>
              </a:ext>
            </a:extLst>
          </p:cNvPr>
          <p:cNvSpPr>
            <a:spLocks noGrp="1"/>
          </p:cNvSpPr>
          <p:nvPr>
            <p:ph idx="11"/>
          </p:nvPr>
        </p:nvSpPr>
        <p:spPr>
          <a:xfrm>
            <a:off x="4342324" y="1459884"/>
            <a:ext cx="3502152"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69665941-19D2-FBD8-540C-16A6854AA8CB}"/>
              </a:ext>
            </a:extLst>
          </p:cNvPr>
          <p:cNvSpPr>
            <a:spLocks noGrp="1"/>
          </p:cNvSpPr>
          <p:nvPr>
            <p:ph idx="12"/>
          </p:nvPr>
        </p:nvSpPr>
        <p:spPr>
          <a:xfrm>
            <a:off x="8326310" y="1459884"/>
            <a:ext cx="3502152"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4806518"/>
      </p:ext>
    </p:extLst>
  </p:cSld>
  <p:clrMapOvr>
    <a:masterClrMapping/>
  </p:clrMapOvr>
  <p:extLst>
    <p:ext uri="{DCECCB84-F9BA-43D5-87BE-67443E8EF086}">
      <p15:sldGuideLst xmlns:p15="http://schemas.microsoft.com/office/powerpoint/2012/main">
        <p15:guide id="1" orient="horz" pos="928">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 Subtitle + Content Col 2">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24ADF22-3763-B092-AB79-75841181CECE}"/>
              </a:ext>
            </a:extLst>
          </p:cNvPr>
          <p:cNvSpPr>
            <a:spLocks noGrp="1"/>
          </p:cNvSpPr>
          <p:nvPr>
            <p:ph type="body" idx="1"/>
          </p:nvPr>
        </p:nvSpPr>
        <p:spPr>
          <a:xfrm>
            <a:off x="364300" y="1444590"/>
            <a:ext cx="5495544" cy="246221"/>
          </a:xfrm>
          <a:prstGeom prst="rect">
            <a:avLst/>
          </a:prstGeom>
        </p:spPr>
        <p:txBody>
          <a:bodyPr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300" y="2130861"/>
            <a:ext cx="5495544" cy="1538883"/>
          </a:xfrm>
          <a:prstGeom prst="rect">
            <a:avLst/>
          </a:prstGeo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A370B3BE-11C7-C6D1-137B-D87948576C5C}"/>
              </a:ext>
            </a:extLst>
          </p:cNvPr>
          <p:cNvSpPr>
            <a:spLocks noGrp="1"/>
          </p:cNvSpPr>
          <p:nvPr>
            <p:ph type="body" idx="10"/>
          </p:nvPr>
        </p:nvSpPr>
        <p:spPr>
          <a:xfrm>
            <a:off x="6332918" y="1434965"/>
            <a:ext cx="5495544" cy="246221"/>
          </a:xfrm>
          <a:prstGeom prst="rect">
            <a:avLst/>
          </a:prstGeom>
        </p:spPr>
        <p:txBody>
          <a:bodyPr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3">
            <a:extLst>
              <a:ext uri="{FF2B5EF4-FFF2-40B4-BE49-F238E27FC236}">
                <a16:creationId xmlns:a16="http://schemas.microsoft.com/office/drawing/2014/main" id="{6B84C3AF-B98F-D4FA-FE57-5457BCE9DCF8}"/>
              </a:ext>
            </a:extLst>
          </p:cNvPr>
          <p:cNvSpPr>
            <a:spLocks noGrp="1"/>
          </p:cNvSpPr>
          <p:nvPr>
            <p:ph sz="half" idx="11"/>
          </p:nvPr>
        </p:nvSpPr>
        <p:spPr>
          <a:xfrm>
            <a:off x="6332918" y="2130861"/>
            <a:ext cx="5495544" cy="1538883"/>
          </a:xfrm>
          <a:prstGeom prst="rect">
            <a:avLst/>
          </a:prstGeo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0216F187-BD10-0F81-5A6A-A6C1827014CF}"/>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7" name="Straight Connector 6">
            <a:extLst>
              <a:ext uri="{FF2B5EF4-FFF2-40B4-BE49-F238E27FC236}">
                <a16:creationId xmlns:a16="http://schemas.microsoft.com/office/drawing/2014/main" id="{3A3D2B01-CD3B-A5FF-3978-9502CFBFEF0C}"/>
              </a:ext>
            </a:extLst>
          </p:cNvPr>
          <p:cNvCxnSpPr>
            <a:cxnSpLocks/>
          </p:cNvCxnSpPr>
          <p:nvPr userDrawn="1"/>
        </p:nvCxnSpPr>
        <p:spPr>
          <a:xfrm>
            <a:off x="364300" y="1243783"/>
            <a:ext cx="54955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C0B1103-140E-0566-C5B6-64EDA438FE61}"/>
              </a:ext>
            </a:extLst>
          </p:cNvPr>
          <p:cNvCxnSpPr>
            <a:cxnSpLocks/>
          </p:cNvCxnSpPr>
          <p:nvPr userDrawn="1"/>
        </p:nvCxnSpPr>
        <p:spPr>
          <a:xfrm>
            <a:off x="6332918" y="1243783"/>
            <a:ext cx="54955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106C5980-CF33-76A9-15C2-1648AC1BA0DB}"/>
              </a:ext>
            </a:extLst>
          </p:cNvPr>
          <p:cNvSpPr>
            <a:spLocks noGrp="1"/>
          </p:cNvSpPr>
          <p:nvPr>
            <p:ph type="ftr" sz="quarter" idx="12"/>
          </p:nvPr>
        </p:nvSpPr>
        <p:spPr/>
        <p:txBody>
          <a:bodyPr/>
          <a:lstStyle/>
          <a:p>
            <a:r>
              <a:rPr lang="en-US"/>
              <a:t>Abbreviations</a:t>
            </a:r>
          </a:p>
        </p:txBody>
      </p:sp>
    </p:spTree>
    <p:extLst>
      <p:ext uri="{BB962C8B-B14F-4D97-AF65-F5344CB8AC3E}">
        <p14:creationId xmlns:p14="http://schemas.microsoft.com/office/powerpoint/2010/main" val="295307925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 Subtitle + Content Col 3">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24ADF22-3763-B092-AB79-75841181CECE}"/>
              </a:ext>
            </a:extLst>
          </p:cNvPr>
          <p:cNvSpPr>
            <a:spLocks noGrp="1"/>
          </p:cNvSpPr>
          <p:nvPr>
            <p:ph type="body" idx="1"/>
          </p:nvPr>
        </p:nvSpPr>
        <p:spPr>
          <a:xfrm>
            <a:off x="364300" y="1444590"/>
            <a:ext cx="3502152" cy="246221"/>
          </a:xfrm>
          <a:prstGeom prst="rect">
            <a:avLst/>
          </a:prstGeom>
        </p:spPr>
        <p:txBody>
          <a:bodyPr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300" y="2130861"/>
            <a:ext cx="3502152" cy="1538883"/>
          </a:xfrm>
          <a:prstGeom prst="rect">
            <a:avLst/>
          </a:prstGeo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2">
            <a:extLst>
              <a:ext uri="{FF2B5EF4-FFF2-40B4-BE49-F238E27FC236}">
                <a16:creationId xmlns:a16="http://schemas.microsoft.com/office/drawing/2014/main" id="{50C94F9D-BC47-9469-2129-B2638B1165AB}"/>
              </a:ext>
            </a:extLst>
          </p:cNvPr>
          <p:cNvSpPr>
            <a:spLocks noGrp="1"/>
          </p:cNvSpPr>
          <p:nvPr>
            <p:ph type="body" idx="10"/>
          </p:nvPr>
        </p:nvSpPr>
        <p:spPr>
          <a:xfrm>
            <a:off x="4345305" y="1444590"/>
            <a:ext cx="3502152" cy="246221"/>
          </a:xfrm>
          <a:prstGeom prst="rect">
            <a:avLst/>
          </a:prstGeom>
        </p:spPr>
        <p:txBody>
          <a:bodyPr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Content Placeholder 3">
            <a:extLst>
              <a:ext uri="{FF2B5EF4-FFF2-40B4-BE49-F238E27FC236}">
                <a16:creationId xmlns:a16="http://schemas.microsoft.com/office/drawing/2014/main" id="{7C6A7793-55BE-EF41-5B2C-4C84C7F04572}"/>
              </a:ext>
            </a:extLst>
          </p:cNvPr>
          <p:cNvSpPr>
            <a:spLocks noGrp="1"/>
          </p:cNvSpPr>
          <p:nvPr>
            <p:ph sz="half" idx="11"/>
          </p:nvPr>
        </p:nvSpPr>
        <p:spPr>
          <a:xfrm>
            <a:off x="4345305" y="2130861"/>
            <a:ext cx="3502152" cy="1538883"/>
          </a:xfrm>
          <a:prstGeom prst="rect">
            <a:avLst/>
          </a:prstGeo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4356D6D3-F794-2D15-C509-A1DCF57FA7EB}"/>
              </a:ext>
            </a:extLst>
          </p:cNvPr>
          <p:cNvSpPr>
            <a:spLocks noGrp="1"/>
          </p:cNvSpPr>
          <p:nvPr>
            <p:ph type="body" idx="12"/>
          </p:nvPr>
        </p:nvSpPr>
        <p:spPr>
          <a:xfrm>
            <a:off x="8326310" y="1444590"/>
            <a:ext cx="3502152" cy="246221"/>
          </a:xfrm>
          <a:prstGeom prst="rect">
            <a:avLst/>
          </a:prstGeom>
        </p:spPr>
        <p:txBody>
          <a:bodyPr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a:extLst>
              <a:ext uri="{FF2B5EF4-FFF2-40B4-BE49-F238E27FC236}">
                <a16:creationId xmlns:a16="http://schemas.microsoft.com/office/drawing/2014/main" id="{ADF927A1-454B-ACE6-4FDF-D003AC770C92}"/>
              </a:ext>
            </a:extLst>
          </p:cNvPr>
          <p:cNvSpPr>
            <a:spLocks noGrp="1"/>
          </p:cNvSpPr>
          <p:nvPr>
            <p:ph sz="half" idx="13"/>
          </p:nvPr>
        </p:nvSpPr>
        <p:spPr>
          <a:xfrm>
            <a:off x="8326310" y="2130861"/>
            <a:ext cx="3502152" cy="1538883"/>
          </a:xfrm>
          <a:prstGeom prst="rect">
            <a:avLst/>
          </a:prstGeo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Placeholder 1">
            <a:extLst>
              <a:ext uri="{FF2B5EF4-FFF2-40B4-BE49-F238E27FC236}">
                <a16:creationId xmlns:a16="http://schemas.microsoft.com/office/drawing/2014/main" id="{CE396B71-6A7A-4CFE-8F5A-69D6FC28D165}"/>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15" name="Straight Connector 14">
            <a:extLst>
              <a:ext uri="{FF2B5EF4-FFF2-40B4-BE49-F238E27FC236}">
                <a16:creationId xmlns:a16="http://schemas.microsoft.com/office/drawing/2014/main" id="{B8A790AF-BBD1-A959-C789-84CA7E2A91A0}"/>
              </a:ext>
            </a:extLst>
          </p:cNvPr>
          <p:cNvCxnSpPr>
            <a:cxnSpLocks/>
          </p:cNvCxnSpPr>
          <p:nvPr userDrawn="1"/>
        </p:nvCxnSpPr>
        <p:spPr>
          <a:xfrm>
            <a:off x="364300"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359A254-6BC2-9859-F7C1-F96C7976F9C6}"/>
              </a:ext>
            </a:extLst>
          </p:cNvPr>
          <p:cNvCxnSpPr>
            <a:cxnSpLocks/>
          </p:cNvCxnSpPr>
          <p:nvPr userDrawn="1"/>
        </p:nvCxnSpPr>
        <p:spPr>
          <a:xfrm>
            <a:off x="4344924"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815C251-E9CA-DC31-4739-8D6692D91D7A}"/>
              </a:ext>
            </a:extLst>
          </p:cNvPr>
          <p:cNvCxnSpPr>
            <a:cxnSpLocks/>
          </p:cNvCxnSpPr>
          <p:nvPr userDrawn="1"/>
        </p:nvCxnSpPr>
        <p:spPr>
          <a:xfrm>
            <a:off x="8326310"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DEB14AFD-28FB-E067-E146-4E25F13C68E3}"/>
              </a:ext>
            </a:extLst>
          </p:cNvPr>
          <p:cNvSpPr>
            <a:spLocks noGrp="1"/>
          </p:cNvSpPr>
          <p:nvPr>
            <p:ph type="ftr" sz="quarter" idx="14"/>
          </p:nvPr>
        </p:nvSpPr>
        <p:spPr/>
        <p:txBody>
          <a:bodyPr/>
          <a:lstStyle/>
          <a:p>
            <a:r>
              <a:rPr lang="en-US"/>
              <a:t>Abbreviations</a:t>
            </a:r>
          </a:p>
        </p:txBody>
      </p:sp>
    </p:spTree>
    <p:extLst>
      <p:ext uri="{BB962C8B-B14F-4D97-AF65-F5344CB8AC3E}">
        <p14:creationId xmlns:p14="http://schemas.microsoft.com/office/powerpoint/2010/main" val="36075734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 Subtitle + Content Col 4">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24ADF22-3763-B092-AB79-75841181CECE}"/>
              </a:ext>
            </a:extLst>
          </p:cNvPr>
          <p:cNvSpPr>
            <a:spLocks noGrp="1"/>
          </p:cNvSpPr>
          <p:nvPr>
            <p:ph type="body" idx="1"/>
          </p:nvPr>
        </p:nvSpPr>
        <p:spPr>
          <a:xfrm>
            <a:off x="358524" y="1444590"/>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58524" y="2140486"/>
            <a:ext cx="2514600" cy="1536192"/>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4356D6D3-F794-2D15-C509-A1DCF57FA7EB}"/>
              </a:ext>
            </a:extLst>
          </p:cNvPr>
          <p:cNvSpPr>
            <a:spLocks noGrp="1"/>
          </p:cNvSpPr>
          <p:nvPr>
            <p:ph type="body" idx="12"/>
          </p:nvPr>
        </p:nvSpPr>
        <p:spPr>
          <a:xfrm>
            <a:off x="9313862" y="1444590"/>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a:extLst>
              <a:ext uri="{FF2B5EF4-FFF2-40B4-BE49-F238E27FC236}">
                <a16:creationId xmlns:a16="http://schemas.microsoft.com/office/drawing/2014/main" id="{ADF927A1-454B-ACE6-4FDF-D003AC770C92}"/>
              </a:ext>
            </a:extLst>
          </p:cNvPr>
          <p:cNvSpPr>
            <a:spLocks noGrp="1"/>
          </p:cNvSpPr>
          <p:nvPr>
            <p:ph sz="half" idx="13"/>
          </p:nvPr>
        </p:nvSpPr>
        <p:spPr>
          <a:xfrm>
            <a:off x="9313862" y="2140486"/>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2">
            <a:extLst>
              <a:ext uri="{FF2B5EF4-FFF2-40B4-BE49-F238E27FC236}">
                <a16:creationId xmlns:a16="http://schemas.microsoft.com/office/drawing/2014/main" id="{C076A34B-8A94-9109-1698-2C9D5B57BAB0}"/>
              </a:ext>
            </a:extLst>
          </p:cNvPr>
          <p:cNvSpPr>
            <a:spLocks noGrp="1"/>
          </p:cNvSpPr>
          <p:nvPr>
            <p:ph type="body" idx="14"/>
          </p:nvPr>
        </p:nvSpPr>
        <p:spPr>
          <a:xfrm>
            <a:off x="3343637" y="1444590"/>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E5DA31FC-3C33-59C2-46E0-6EC87A24B571}"/>
              </a:ext>
            </a:extLst>
          </p:cNvPr>
          <p:cNvSpPr>
            <a:spLocks noGrp="1"/>
          </p:cNvSpPr>
          <p:nvPr>
            <p:ph sz="half" idx="15"/>
          </p:nvPr>
        </p:nvSpPr>
        <p:spPr>
          <a:xfrm>
            <a:off x="3343637" y="2140486"/>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
            <a:extLst>
              <a:ext uri="{FF2B5EF4-FFF2-40B4-BE49-F238E27FC236}">
                <a16:creationId xmlns:a16="http://schemas.microsoft.com/office/drawing/2014/main" id="{2C8351CF-C267-E5DC-D96C-947B004B6997}"/>
              </a:ext>
            </a:extLst>
          </p:cNvPr>
          <p:cNvSpPr>
            <a:spLocks noGrp="1"/>
          </p:cNvSpPr>
          <p:nvPr>
            <p:ph type="body" idx="16"/>
          </p:nvPr>
        </p:nvSpPr>
        <p:spPr>
          <a:xfrm>
            <a:off x="6328750" y="1444590"/>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Content Placeholder 3">
            <a:extLst>
              <a:ext uri="{FF2B5EF4-FFF2-40B4-BE49-F238E27FC236}">
                <a16:creationId xmlns:a16="http://schemas.microsoft.com/office/drawing/2014/main" id="{39FD7B36-D576-B611-6B8C-E9CF2F352FEE}"/>
              </a:ext>
            </a:extLst>
          </p:cNvPr>
          <p:cNvSpPr>
            <a:spLocks noGrp="1"/>
          </p:cNvSpPr>
          <p:nvPr>
            <p:ph sz="half" idx="17"/>
          </p:nvPr>
        </p:nvSpPr>
        <p:spPr>
          <a:xfrm>
            <a:off x="6328750" y="2140486"/>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CD26280C-5599-1A9C-5B12-5011ED66B31C}"/>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5" name="Straight Connector 4">
            <a:extLst>
              <a:ext uri="{FF2B5EF4-FFF2-40B4-BE49-F238E27FC236}">
                <a16:creationId xmlns:a16="http://schemas.microsoft.com/office/drawing/2014/main" id="{589BAF7E-4A85-430C-CD95-B6BDEF8DD9D3}"/>
              </a:ext>
            </a:extLst>
          </p:cNvPr>
          <p:cNvCxnSpPr>
            <a:cxnSpLocks/>
          </p:cNvCxnSpPr>
          <p:nvPr userDrawn="1"/>
        </p:nvCxnSpPr>
        <p:spPr>
          <a:xfrm>
            <a:off x="364300"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DDD6599-C39C-1A80-998A-9E7067533548}"/>
              </a:ext>
            </a:extLst>
          </p:cNvPr>
          <p:cNvCxnSpPr>
            <a:cxnSpLocks/>
          </p:cNvCxnSpPr>
          <p:nvPr userDrawn="1"/>
        </p:nvCxnSpPr>
        <p:spPr>
          <a:xfrm>
            <a:off x="3349413"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0A0C43-186D-AA6D-33E1-017B83D2233F}"/>
              </a:ext>
            </a:extLst>
          </p:cNvPr>
          <p:cNvCxnSpPr>
            <a:cxnSpLocks/>
          </p:cNvCxnSpPr>
          <p:nvPr userDrawn="1"/>
        </p:nvCxnSpPr>
        <p:spPr>
          <a:xfrm>
            <a:off x="6334526"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943BD98-E355-4B29-6906-C75F756344B6}"/>
              </a:ext>
            </a:extLst>
          </p:cNvPr>
          <p:cNvCxnSpPr>
            <a:cxnSpLocks/>
          </p:cNvCxnSpPr>
          <p:nvPr userDrawn="1"/>
        </p:nvCxnSpPr>
        <p:spPr>
          <a:xfrm>
            <a:off x="9319638"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EBCC81EF-BABB-A6C5-1D8B-2A9F981D26D8}"/>
              </a:ext>
            </a:extLst>
          </p:cNvPr>
          <p:cNvSpPr>
            <a:spLocks noGrp="1"/>
          </p:cNvSpPr>
          <p:nvPr>
            <p:ph type="ftr" sz="quarter" idx="18"/>
          </p:nvPr>
        </p:nvSpPr>
        <p:spPr/>
        <p:txBody>
          <a:bodyPr/>
          <a:lstStyle/>
          <a:p>
            <a:r>
              <a:rPr lang="en-US"/>
              <a:t>Abbreviations</a:t>
            </a:r>
          </a:p>
        </p:txBody>
      </p:sp>
    </p:spTree>
    <p:extLst>
      <p:ext uri="{BB962C8B-B14F-4D97-AF65-F5344CB8AC3E}">
        <p14:creationId xmlns:p14="http://schemas.microsoft.com/office/powerpoint/2010/main" val="362228975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 Icon + 4 Colum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24ADF22-3763-B092-AB79-75841181CECE}"/>
              </a:ext>
            </a:extLst>
          </p:cNvPr>
          <p:cNvSpPr>
            <a:spLocks noGrp="1"/>
          </p:cNvSpPr>
          <p:nvPr>
            <p:ph type="body" idx="1"/>
          </p:nvPr>
        </p:nvSpPr>
        <p:spPr>
          <a:xfrm>
            <a:off x="358524" y="2136571"/>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58524" y="2832467"/>
            <a:ext cx="2514600" cy="1536192"/>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4356D6D3-F794-2D15-C509-A1DCF57FA7EB}"/>
              </a:ext>
            </a:extLst>
          </p:cNvPr>
          <p:cNvSpPr>
            <a:spLocks noGrp="1"/>
          </p:cNvSpPr>
          <p:nvPr>
            <p:ph type="body" idx="12"/>
          </p:nvPr>
        </p:nvSpPr>
        <p:spPr>
          <a:xfrm>
            <a:off x="9313862" y="2136571"/>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a:extLst>
              <a:ext uri="{FF2B5EF4-FFF2-40B4-BE49-F238E27FC236}">
                <a16:creationId xmlns:a16="http://schemas.microsoft.com/office/drawing/2014/main" id="{ADF927A1-454B-ACE6-4FDF-D003AC770C92}"/>
              </a:ext>
            </a:extLst>
          </p:cNvPr>
          <p:cNvSpPr>
            <a:spLocks noGrp="1"/>
          </p:cNvSpPr>
          <p:nvPr>
            <p:ph sz="half" idx="13"/>
          </p:nvPr>
        </p:nvSpPr>
        <p:spPr>
          <a:xfrm>
            <a:off x="9313862" y="2832467"/>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2">
            <a:extLst>
              <a:ext uri="{FF2B5EF4-FFF2-40B4-BE49-F238E27FC236}">
                <a16:creationId xmlns:a16="http://schemas.microsoft.com/office/drawing/2014/main" id="{C076A34B-8A94-9109-1698-2C9D5B57BAB0}"/>
              </a:ext>
            </a:extLst>
          </p:cNvPr>
          <p:cNvSpPr>
            <a:spLocks noGrp="1"/>
          </p:cNvSpPr>
          <p:nvPr>
            <p:ph type="body" idx="14"/>
          </p:nvPr>
        </p:nvSpPr>
        <p:spPr>
          <a:xfrm>
            <a:off x="3343637" y="2136571"/>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E5DA31FC-3C33-59C2-46E0-6EC87A24B571}"/>
              </a:ext>
            </a:extLst>
          </p:cNvPr>
          <p:cNvSpPr>
            <a:spLocks noGrp="1"/>
          </p:cNvSpPr>
          <p:nvPr>
            <p:ph sz="half" idx="15"/>
          </p:nvPr>
        </p:nvSpPr>
        <p:spPr>
          <a:xfrm>
            <a:off x="3343637" y="2832467"/>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
            <a:extLst>
              <a:ext uri="{FF2B5EF4-FFF2-40B4-BE49-F238E27FC236}">
                <a16:creationId xmlns:a16="http://schemas.microsoft.com/office/drawing/2014/main" id="{2C8351CF-C267-E5DC-D96C-947B004B6997}"/>
              </a:ext>
            </a:extLst>
          </p:cNvPr>
          <p:cNvSpPr>
            <a:spLocks noGrp="1"/>
          </p:cNvSpPr>
          <p:nvPr>
            <p:ph type="body" idx="16"/>
          </p:nvPr>
        </p:nvSpPr>
        <p:spPr>
          <a:xfrm>
            <a:off x="6328750" y="2136571"/>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Content Placeholder 3">
            <a:extLst>
              <a:ext uri="{FF2B5EF4-FFF2-40B4-BE49-F238E27FC236}">
                <a16:creationId xmlns:a16="http://schemas.microsoft.com/office/drawing/2014/main" id="{39FD7B36-D576-B611-6B8C-E9CF2F352FEE}"/>
              </a:ext>
            </a:extLst>
          </p:cNvPr>
          <p:cNvSpPr>
            <a:spLocks noGrp="1"/>
          </p:cNvSpPr>
          <p:nvPr>
            <p:ph sz="half" idx="17"/>
          </p:nvPr>
        </p:nvSpPr>
        <p:spPr>
          <a:xfrm>
            <a:off x="6328750" y="2832467"/>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CD26280C-5599-1A9C-5B12-5011ED66B31C}"/>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5" name="Straight Connector 4">
            <a:extLst>
              <a:ext uri="{FF2B5EF4-FFF2-40B4-BE49-F238E27FC236}">
                <a16:creationId xmlns:a16="http://schemas.microsoft.com/office/drawing/2014/main" id="{589BAF7E-4A85-430C-CD95-B6BDEF8DD9D3}"/>
              </a:ext>
            </a:extLst>
          </p:cNvPr>
          <p:cNvCxnSpPr>
            <a:cxnSpLocks/>
          </p:cNvCxnSpPr>
          <p:nvPr userDrawn="1"/>
        </p:nvCxnSpPr>
        <p:spPr>
          <a:xfrm>
            <a:off x="364300"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DDD6599-C39C-1A80-998A-9E7067533548}"/>
              </a:ext>
            </a:extLst>
          </p:cNvPr>
          <p:cNvCxnSpPr>
            <a:cxnSpLocks/>
          </p:cNvCxnSpPr>
          <p:nvPr userDrawn="1"/>
        </p:nvCxnSpPr>
        <p:spPr>
          <a:xfrm>
            <a:off x="3349413"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0A0C43-186D-AA6D-33E1-017B83D2233F}"/>
              </a:ext>
            </a:extLst>
          </p:cNvPr>
          <p:cNvCxnSpPr>
            <a:cxnSpLocks/>
          </p:cNvCxnSpPr>
          <p:nvPr userDrawn="1"/>
        </p:nvCxnSpPr>
        <p:spPr>
          <a:xfrm>
            <a:off x="6334526"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943BD98-E355-4B29-6906-C75F756344B6}"/>
              </a:ext>
            </a:extLst>
          </p:cNvPr>
          <p:cNvCxnSpPr>
            <a:cxnSpLocks/>
          </p:cNvCxnSpPr>
          <p:nvPr userDrawn="1"/>
        </p:nvCxnSpPr>
        <p:spPr>
          <a:xfrm>
            <a:off x="9319638"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EBCC81EF-BABB-A6C5-1D8B-2A9F981D26D8}"/>
              </a:ext>
            </a:extLst>
          </p:cNvPr>
          <p:cNvSpPr>
            <a:spLocks noGrp="1"/>
          </p:cNvSpPr>
          <p:nvPr>
            <p:ph type="ftr" sz="quarter" idx="18"/>
          </p:nvPr>
        </p:nvSpPr>
        <p:spPr/>
        <p:txBody>
          <a:bodyPr/>
          <a:lstStyle/>
          <a:p>
            <a:r>
              <a:rPr lang="en-US"/>
              <a:t>Abbreviations</a:t>
            </a:r>
          </a:p>
        </p:txBody>
      </p:sp>
      <p:sp>
        <p:nvSpPr>
          <p:cNvPr id="22" name="Picture Placeholder 21">
            <a:extLst>
              <a:ext uri="{FF2B5EF4-FFF2-40B4-BE49-F238E27FC236}">
                <a16:creationId xmlns:a16="http://schemas.microsoft.com/office/drawing/2014/main" id="{F4662C97-8F2C-64B2-F026-ACD96847176B}"/>
              </a:ext>
            </a:extLst>
          </p:cNvPr>
          <p:cNvSpPr>
            <a:spLocks noGrp="1" noChangeAspect="1"/>
          </p:cNvSpPr>
          <p:nvPr>
            <p:ph type="pic" sz="quarter" idx="55"/>
          </p:nvPr>
        </p:nvSpPr>
        <p:spPr>
          <a:xfrm>
            <a:off x="358524" y="1429220"/>
            <a:ext cx="457200" cy="457200"/>
          </a:xfrm>
        </p:spPr>
        <p:txBody>
          <a:bodyPr wrap="square">
            <a:noAutofit/>
          </a:bodyPr>
          <a:lstStyle>
            <a:lvl1pPr>
              <a:defRPr sz="600"/>
            </a:lvl1pPr>
          </a:lstStyle>
          <a:p>
            <a:endParaRPr lang="en-US"/>
          </a:p>
        </p:txBody>
      </p:sp>
      <p:sp>
        <p:nvSpPr>
          <p:cNvPr id="24" name="Picture Placeholder 21">
            <a:extLst>
              <a:ext uri="{FF2B5EF4-FFF2-40B4-BE49-F238E27FC236}">
                <a16:creationId xmlns:a16="http://schemas.microsoft.com/office/drawing/2014/main" id="{15A18B4E-15F7-EA00-C6CA-A246BCE804B6}"/>
              </a:ext>
            </a:extLst>
          </p:cNvPr>
          <p:cNvSpPr>
            <a:spLocks noGrp="1" noChangeAspect="1"/>
          </p:cNvSpPr>
          <p:nvPr>
            <p:ph type="pic" sz="quarter" idx="56"/>
          </p:nvPr>
        </p:nvSpPr>
        <p:spPr>
          <a:xfrm>
            <a:off x="3343637" y="1429220"/>
            <a:ext cx="457200" cy="457200"/>
          </a:xfrm>
        </p:spPr>
        <p:txBody>
          <a:bodyPr wrap="square">
            <a:noAutofit/>
          </a:bodyPr>
          <a:lstStyle>
            <a:lvl1pPr>
              <a:defRPr sz="600"/>
            </a:lvl1pPr>
          </a:lstStyle>
          <a:p>
            <a:endParaRPr lang="en-US"/>
          </a:p>
        </p:txBody>
      </p:sp>
      <p:sp>
        <p:nvSpPr>
          <p:cNvPr id="25" name="Picture Placeholder 21">
            <a:extLst>
              <a:ext uri="{FF2B5EF4-FFF2-40B4-BE49-F238E27FC236}">
                <a16:creationId xmlns:a16="http://schemas.microsoft.com/office/drawing/2014/main" id="{63820E14-78A0-0B3A-8D48-E5DB901D8646}"/>
              </a:ext>
            </a:extLst>
          </p:cNvPr>
          <p:cNvSpPr>
            <a:spLocks noGrp="1" noChangeAspect="1"/>
          </p:cNvSpPr>
          <p:nvPr>
            <p:ph type="pic" sz="quarter" idx="57"/>
          </p:nvPr>
        </p:nvSpPr>
        <p:spPr>
          <a:xfrm>
            <a:off x="6328750" y="1429220"/>
            <a:ext cx="457200" cy="457200"/>
          </a:xfrm>
        </p:spPr>
        <p:txBody>
          <a:bodyPr wrap="square">
            <a:noAutofit/>
          </a:bodyPr>
          <a:lstStyle>
            <a:lvl1pPr>
              <a:defRPr sz="600"/>
            </a:lvl1pPr>
          </a:lstStyle>
          <a:p>
            <a:endParaRPr lang="en-US"/>
          </a:p>
        </p:txBody>
      </p:sp>
      <p:sp>
        <p:nvSpPr>
          <p:cNvPr id="26" name="Picture Placeholder 21">
            <a:extLst>
              <a:ext uri="{FF2B5EF4-FFF2-40B4-BE49-F238E27FC236}">
                <a16:creationId xmlns:a16="http://schemas.microsoft.com/office/drawing/2014/main" id="{4DB234A8-087D-A43D-4509-0CBA12779075}"/>
              </a:ext>
            </a:extLst>
          </p:cNvPr>
          <p:cNvSpPr>
            <a:spLocks noGrp="1" noChangeAspect="1"/>
          </p:cNvSpPr>
          <p:nvPr>
            <p:ph type="pic" sz="quarter" idx="58"/>
          </p:nvPr>
        </p:nvSpPr>
        <p:spPr>
          <a:xfrm>
            <a:off x="9313862" y="1429220"/>
            <a:ext cx="457200" cy="457200"/>
          </a:xfrm>
        </p:spPr>
        <p:txBody>
          <a:bodyPr wrap="square">
            <a:noAutofit/>
          </a:bodyPr>
          <a:lstStyle>
            <a:lvl1pPr>
              <a:defRPr sz="600"/>
            </a:lvl1pPr>
          </a:lstStyle>
          <a:p>
            <a:endParaRPr lang="en-US"/>
          </a:p>
        </p:txBody>
      </p:sp>
    </p:spTree>
    <p:extLst>
      <p:ext uri="{BB962C8B-B14F-4D97-AF65-F5344CB8AC3E}">
        <p14:creationId xmlns:p14="http://schemas.microsoft.com/office/powerpoint/2010/main" val="321234362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Section Divider - Red">
    <p:bg>
      <p:bgPr>
        <a:solidFill>
          <a:srgbClr val="A3333B"/>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5756A1EE-6F7F-2700-1886-5A254A86C604}"/>
              </a:ext>
            </a:extLst>
          </p:cNvPr>
          <p:cNvSpPr>
            <a:spLocks noGrp="1"/>
          </p:cNvSpPr>
          <p:nvPr>
            <p:ph type="ctrTitle" hasCustomPrompt="1"/>
          </p:nvPr>
        </p:nvSpPr>
        <p:spPr>
          <a:xfrm>
            <a:off x="336165" y="3000232"/>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pic>
        <p:nvPicPr>
          <p:cNvPr id="4" name="Graphic 3">
            <a:extLst>
              <a:ext uri="{FF2B5EF4-FFF2-40B4-BE49-F238E27FC236}">
                <a16:creationId xmlns:a16="http://schemas.microsoft.com/office/drawing/2014/main" id="{C266C33E-267D-2B6B-B896-3F1049DB1A3F}"/>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 y="369234"/>
            <a:ext cx="11832336" cy="5665949"/>
          </a:xfrm>
          <a:prstGeom prst="rect">
            <a:avLst/>
          </a:prstGeom>
        </p:spPr>
      </p:pic>
      <p:sp>
        <p:nvSpPr>
          <p:cNvPr id="2" name="Slide Number Placeholder 5">
            <a:extLst>
              <a:ext uri="{FF2B5EF4-FFF2-40B4-BE49-F238E27FC236}">
                <a16:creationId xmlns:a16="http://schemas.microsoft.com/office/drawing/2014/main" id="{AC7408C9-F530-FCD6-6AE8-206FBD06EACC}"/>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3" name="TextBox 2">
            <a:extLst>
              <a:ext uri="{FF2B5EF4-FFF2-40B4-BE49-F238E27FC236}">
                <a16:creationId xmlns:a16="http://schemas.microsoft.com/office/drawing/2014/main" id="{D69B62A4-B69B-BABA-6FD6-3A955DF5E1AC}"/>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5" name="Graphic 4">
            <a:extLst>
              <a:ext uri="{FF2B5EF4-FFF2-40B4-BE49-F238E27FC236}">
                <a16:creationId xmlns:a16="http://schemas.microsoft.com/office/drawing/2014/main" id="{34542FB0-0A8D-7956-286D-D2878D0C6C1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Tree>
    <p:extLst>
      <p:ext uri="{BB962C8B-B14F-4D97-AF65-F5344CB8AC3E}">
        <p14:creationId xmlns:p14="http://schemas.microsoft.com/office/powerpoint/2010/main" val="277788757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Subsection Slide - Re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4399EDB8-FAC4-B10C-C681-E82C004ED1F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 y="369234"/>
            <a:ext cx="11832336" cy="5665949"/>
          </a:xfrm>
          <a:prstGeom prst="rect">
            <a:avLst/>
          </a:prstGeom>
        </p:spPr>
      </p:pic>
      <p:sp>
        <p:nvSpPr>
          <p:cNvPr id="4" name="Slide Number Placeholder 5">
            <a:extLst>
              <a:ext uri="{FF2B5EF4-FFF2-40B4-BE49-F238E27FC236}">
                <a16:creationId xmlns:a16="http://schemas.microsoft.com/office/drawing/2014/main" id="{A7E6F121-54BB-B51D-BBBE-EB6B961382C1}"/>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accent5"/>
                </a:solidFill>
                <a:latin typeface="+mj-lt"/>
              </a:rPr>
              <a:pPr>
                <a:defRPr/>
              </a:pPr>
              <a:t>‹#›</a:t>
            </a:fld>
            <a:endParaRPr lang="en-US" sz="900" b="0">
              <a:solidFill>
                <a:schemeClr val="accent5"/>
              </a:solidFill>
              <a:latin typeface="+mj-lt"/>
            </a:endParaRPr>
          </a:p>
        </p:txBody>
      </p:sp>
      <p:sp>
        <p:nvSpPr>
          <p:cNvPr id="6" name="TextBox 5">
            <a:extLst>
              <a:ext uri="{FF2B5EF4-FFF2-40B4-BE49-F238E27FC236}">
                <a16:creationId xmlns:a16="http://schemas.microsoft.com/office/drawing/2014/main" id="{1D7EF867-490E-CC8D-7416-073290280B2D}"/>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accent5"/>
                </a:solidFill>
                <a:latin typeface="+mj-lt"/>
              </a:rPr>
              <a:t>Confidential. For internal use only.</a:t>
            </a:r>
          </a:p>
        </p:txBody>
      </p:sp>
      <p:pic>
        <p:nvPicPr>
          <p:cNvPr id="7" name="Graphic 6">
            <a:extLst>
              <a:ext uri="{FF2B5EF4-FFF2-40B4-BE49-F238E27FC236}">
                <a16:creationId xmlns:a16="http://schemas.microsoft.com/office/drawing/2014/main" id="{686B9C51-E87D-7FB8-6D29-FD3C98B80EA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
        <p:nvSpPr>
          <p:cNvPr id="8" name="Title 1">
            <a:extLst>
              <a:ext uri="{FF2B5EF4-FFF2-40B4-BE49-F238E27FC236}">
                <a16:creationId xmlns:a16="http://schemas.microsoft.com/office/drawing/2014/main" id="{7F30AAFD-7DE3-02BC-AE7F-5E4EF92B3417}"/>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accent5"/>
                </a:solidFill>
              </a:defRPr>
            </a:lvl1pPr>
          </a:lstStyle>
          <a:p>
            <a:r>
              <a:rPr lang="en-US"/>
              <a:t>Section name</a:t>
            </a:r>
          </a:p>
        </p:txBody>
      </p:sp>
    </p:spTree>
    <p:extLst>
      <p:ext uri="{BB962C8B-B14F-4D97-AF65-F5344CB8AC3E}">
        <p14:creationId xmlns:p14="http://schemas.microsoft.com/office/powerpoint/2010/main" val="130811338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Section Divider -  Midnight Blue">
    <p:bg>
      <p:bgPr>
        <a:solidFill>
          <a:schemeClr val="accent3"/>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64B2753-283B-E853-6760-753B2B19B726}"/>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92FECB00-AC7C-C060-3DF3-2A6C33A35F46}"/>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5" name="TextBox 4">
            <a:extLst>
              <a:ext uri="{FF2B5EF4-FFF2-40B4-BE49-F238E27FC236}">
                <a16:creationId xmlns:a16="http://schemas.microsoft.com/office/drawing/2014/main" id="{63B8BDDC-612D-5EC4-07A7-A46BE934CB39}"/>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6" name="Graphic 5">
            <a:extLst>
              <a:ext uri="{FF2B5EF4-FFF2-40B4-BE49-F238E27FC236}">
                <a16:creationId xmlns:a16="http://schemas.microsoft.com/office/drawing/2014/main" id="{45540644-E2DD-6148-7941-C32962A456F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
        <p:nvSpPr>
          <p:cNvPr id="7" name="Title 1">
            <a:extLst>
              <a:ext uri="{FF2B5EF4-FFF2-40B4-BE49-F238E27FC236}">
                <a16:creationId xmlns:a16="http://schemas.microsoft.com/office/drawing/2014/main" id="{45628D6B-2CFA-AB61-B2EA-B2E2FA697945}"/>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spTree>
    <p:extLst>
      <p:ext uri="{BB962C8B-B14F-4D97-AF65-F5344CB8AC3E}">
        <p14:creationId xmlns:p14="http://schemas.microsoft.com/office/powerpoint/2010/main" val="407705169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Subsection Slide - Midnight Blue">
    <p:bg>
      <p:bgPr>
        <a:solidFill>
          <a:schemeClr val="accent3">
            <a:alpha val="21000"/>
          </a:schemeClr>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4399EDB8-FAC4-B10C-C681-E82C004ED1F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CF3A46A4-C5CE-E391-2E95-3891B466474D}"/>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tx2"/>
                </a:solidFill>
                <a:latin typeface="+mj-lt"/>
              </a:rPr>
              <a:pPr>
                <a:defRPr/>
              </a:pPr>
              <a:t>‹#›</a:t>
            </a:fld>
            <a:endParaRPr lang="en-US" sz="900" b="0">
              <a:solidFill>
                <a:schemeClr val="tx2"/>
              </a:solidFill>
              <a:latin typeface="+mj-lt"/>
            </a:endParaRPr>
          </a:p>
        </p:txBody>
      </p:sp>
      <p:sp>
        <p:nvSpPr>
          <p:cNvPr id="5" name="TextBox 4">
            <a:extLst>
              <a:ext uri="{FF2B5EF4-FFF2-40B4-BE49-F238E27FC236}">
                <a16:creationId xmlns:a16="http://schemas.microsoft.com/office/drawing/2014/main" id="{86C854D5-BA19-4AE8-3CF3-55D266ABC584}"/>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tx2"/>
                </a:solidFill>
                <a:latin typeface="+mj-lt"/>
              </a:rPr>
              <a:t>Confidential. For internal use only.</a:t>
            </a:r>
          </a:p>
        </p:txBody>
      </p:sp>
      <p:pic>
        <p:nvPicPr>
          <p:cNvPr id="6" name="Graphic 5">
            <a:extLst>
              <a:ext uri="{FF2B5EF4-FFF2-40B4-BE49-F238E27FC236}">
                <a16:creationId xmlns:a16="http://schemas.microsoft.com/office/drawing/2014/main" id="{A7B1D883-E781-C6FE-8716-9F15742B3FD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
        <p:nvSpPr>
          <p:cNvPr id="4" name="Title 1">
            <a:extLst>
              <a:ext uri="{FF2B5EF4-FFF2-40B4-BE49-F238E27FC236}">
                <a16:creationId xmlns:a16="http://schemas.microsoft.com/office/drawing/2014/main" id="{D6B955C1-69D5-A4BC-61A2-B0653E79618B}"/>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accent3"/>
                </a:solidFill>
              </a:defRPr>
            </a:lvl1pPr>
          </a:lstStyle>
          <a:p>
            <a:r>
              <a:rPr lang="en-US"/>
              <a:t>Section name</a:t>
            </a:r>
          </a:p>
        </p:txBody>
      </p:sp>
    </p:spTree>
    <p:extLst>
      <p:ext uri="{BB962C8B-B14F-4D97-AF65-F5344CB8AC3E}">
        <p14:creationId xmlns:p14="http://schemas.microsoft.com/office/powerpoint/2010/main" val="188385445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Section Divider - Dark Blue">
    <p:bg>
      <p:bgPr>
        <a:solidFill>
          <a:srgbClr val="003A70"/>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706B9D1-6819-D5D0-D37A-538F602ECDE6}"/>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8DF0027C-FD14-0E29-D20C-56E08A5F0BAB}"/>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6" name="TextBox 5">
            <a:extLst>
              <a:ext uri="{FF2B5EF4-FFF2-40B4-BE49-F238E27FC236}">
                <a16:creationId xmlns:a16="http://schemas.microsoft.com/office/drawing/2014/main" id="{A7B52049-7238-9405-ABBF-06388AFC0CF4}"/>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7" name="Graphic 6">
            <a:extLst>
              <a:ext uri="{FF2B5EF4-FFF2-40B4-BE49-F238E27FC236}">
                <a16:creationId xmlns:a16="http://schemas.microsoft.com/office/drawing/2014/main" id="{8D640988-0EBB-4CDC-379D-D1E7C9BE37B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
        <p:nvSpPr>
          <p:cNvPr id="2" name="Title 1">
            <a:extLst>
              <a:ext uri="{FF2B5EF4-FFF2-40B4-BE49-F238E27FC236}">
                <a16:creationId xmlns:a16="http://schemas.microsoft.com/office/drawing/2014/main" id="{69CDB6B9-50A4-BC13-6571-6DC019EBF14F}"/>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spTree>
    <p:extLst>
      <p:ext uri="{BB962C8B-B14F-4D97-AF65-F5344CB8AC3E}">
        <p14:creationId xmlns:p14="http://schemas.microsoft.com/office/powerpoint/2010/main" val="153223752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Subsection Slide - Dark Blue">
    <p:bg>
      <p:bgPr>
        <a:solidFill>
          <a:srgbClr val="C9D8E3"/>
        </a:solidFill>
        <a:effectLst/>
      </p:bgPr>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8DF0027C-FD14-0E29-D20C-56E08A5F0BAB}"/>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tx2"/>
                </a:solidFill>
                <a:latin typeface="+mj-lt"/>
              </a:rPr>
              <a:pPr>
                <a:defRPr/>
              </a:pPr>
              <a:t>‹#›</a:t>
            </a:fld>
            <a:endParaRPr lang="en-US" sz="900" b="0">
              <a:solidFill>
                <a:schemeClr val="tx2"/>
              </a:solidFill>
              <a:latin typeface="+mj-lt"/>
            </a:endParaRPr>
          </a:p>
        </p:txBody>
      </p:sp>
      <p:sp>
        <p:nvSpPr>
          <p:cNvPr id="6" name="TextBox 5">
            <a:extLst>
              <a:ext uri="{FF2B5EF4-FFF2-40B4-BE49-F238E27FC236}">
                <a16:creationId xmlns:a16="http://schemas.microsoft.com/office/drawing/2014/main" id="{A7B52049-7238-9405-ABBF-06388AFC0CF4}"/>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tx2"/>
                </a:solidFill>
                <a:latin typeface="+mj-lt"/>
              </a:rPr>
              <a:t>Confidential. For internal use only.</a:t>
            </a:r>
          </a:p>
        </p:txBody>
      </p:sp>
      <p:pic>
        <p:nvPicPr>
          <p:cNvPr id="7" name="Graphic 6">
            <a:extLst>
              <a:ext uri="{FF2B5EF4-FFF2-40B4-BE49-F238E27FC236}">
                <a16:creationId xmlns:a16="http://schemas.microsoft.com/office/drawing/2014/main" id="{8D640988-0EBB-4CDC-379D-D1E7C9BE37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50145" y="6318107"/>
            <a:ext cx="274320" cy="274320"/>
          </a:xfrm>
          <a:prstGeom prst="rect">
            <a:avLst/>
          </a:prstGeom>
        </p:spPr>
      </p:pic>
      <p:sp>
        <p:nvSpPr>
          <p:cNvPr id="2" name="Title 1">
            <a:extLst>
              <a:ext uri="{FF2B5EF4-FFF2-40B4-BE49-F238E27FC236}">
                <a16:creationId xmlns:a16="http://schemas.microsoft.com/office/drawing/2014/main" id="{69CDB6B9-50A4-BC13-6571-6DC019EBF14F}"/>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tx2"/>
                </a:solidFill>
              </a:defRPr>
            </a:lvl1pPr>
          </a:lstStyle>
          <a:p>
            <a:r>
              <a:rPr lang="en-US"/>
              <a:t>Section name</a:t>
            </a:r>
          </a:p>
        </p:txBody>
      </p:sp>
      <p:pic>
        <p:nvPicPr>
          <p:cNvPr id="4" name="Graphic 3">
            <a:extLst>
              <a:ext uri="{FF2B5EF4-FFF2-40B4-BE49-F238E27FC236}">
                <a16:creationId xmlns:a16="http://schemas.microsoft.com/office/drawing/2014/main" id="{9B9C1CD9-8527-704F-DF7E-BC7EA69184D9}"/>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Tree>
    <p:extLst>
      <p:ext uri="{BB962C8B-B14F-4D97-AF65-F5344CB8AC3E}">
        <p14:creationId xmlns:p14="http://schemas.microsoft.com/office/powerpoint/2010/main" val="401554079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Section Divider - Cerulean Blue">
    <p:bg>
      <p:bgPr>
        <a:solidFill>
          <a:schemeClr val="accent4"/>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09BEDFC-A7C0-7C59-815B-FD73566460FE}"/>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 y="369234"/>
            <a:ext cx="11832336" cy="5665949"/>
          </a:xfrm>
          <a:prstGeom prst="rect">
            <a:avLst/>
          </a:prstGeom>
        </p:spPr>
      </p:pic>
      <p:sp>
        <p:nvSpPr>
          <p:cNvPr id="5" name="Slide Number Placeholder 5">
            <a:extLst>
              <a:ext uri="{FF2B5EF4-FFF2-40B4-BE49-F238E27FC236}">
                <a16:creationId xmlns:a16="http://schemas.microsoft.com/office/drawing/2014/main" id="{5F1050C0-78C5-A8CE-9372-DD480198E64F}"/>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6" name="TextBox 5">
            <a:extLst>
              <a:ext uri="{FF2B5EF4-FFF2-40B4-BE49-F238E27FC236}">
                <a16:creationId xmlns:a16="http://schemas.microsoft.com/office/drawing/2014/main" id="{F4C4CB57-4CBA-0053-E8E3-D458E2C7F321}"/>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7" name="Graphic 6">
            <a:extLst>
              <a:ext uri="{FF2B5EF4-FFF2-40B4-BE49-F238E27FC236}">
                <a16:creationId xmlns:a16="http://schemas.microsoft.com/office/drawing/2014/main" id="{17A30941-74C5-53DE-2701-9B7BDD1E57B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
        <p:nvSpPr>
          <p:cNvPr id="3" name="Title 1">
            <a:extLst>
              <a:ext uri="{FF2B5EF4-FFF2-40B4-BE49-F238E27FC236}">
                <a16:creationId xmlns:a16="http://schemas.microsoft.com/office/drawing/2014/main" id="{99B6EF97-2D8C-0DA3-04A1-D1C1FC5756F8}"/>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spTree>
    <p:extLst>
      <p:ext uri="{BB962C8B-B14F-4D97-AF65-F5344CB8AC3E}">
        <p14:creationId xmlns:p14="http://schemas.microsoft.com/office/powerpoint/2010/main" val="89603855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Subsection Slide - Cerulean Blue">
    <p:bg>
      <p:bgPr>
        <a:solidFill>
          <a:schemeClr val="accent4">
            <a:alpha val="21000"/>
          </a:schemeClr>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4399EDB8-FAC4-B10C-C681-E82C004ED1F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 y="369234"/>
            <a:ext cx="11832336" cy="5665949"/>
          </a:xfrm>
          <a:prstGeom prst="rect">
            <a:avLst/>
          </a:prstGeom>
        </p:spPr>
      </p:pic>
      <p:sp>
        <p:nvSpPr>
          <p:cNvPr id="5" name="Slide Number Placeholder 5">
            <a:extLst>
              <a:ext uri="{FF2B5EF4-FFF2-40B4-BE49-F238E27FC236}">
                <a16:creationId xmlns:a16="http://schemas.microsoft.com/office/drawing/2014/main" id="{8D1B293C-239E-416E-04E2-888E2D77D650}"/>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accent4"/>
                </a:solidFill>
                <a:latin typeface="+mj-lt"/>
              </a:rPr>
              <a:pPr>
                <a:defRPr/>
              </a:pPr>
              <a:t>‹#›</a:t>
            </a:fld>
            <a:endParaRPr lang="en-US" sz="900" b="0">
              <a:solidFill>
                <a:schemeClr val="accent4"/>
              </a:solidFill>
              <a:latin typeface="+mj-lt"/>
            </a:endParaRPr>
          </a:p>
        </p:txBody>
      </p:sp>
      <p:sp>
        <p:nvSpPr>
          <p:cNvPr id="6" name="TextBox 5">
            <a:extLst>
              <a:ext uri="{FF2B5EF4-FFF2-40B4-BE49-F238E27FC236}">
                <a16:creationId xmlns:a16="http://schemas.microsoft.com/office/drawing/2014/main" id="{49D33B24-BB96-42E0-9911-49FE19EF7BE0}"/>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accent4"/>
                </a:solidFill>
                <a:latin typeface="+mj-lt"/>
              </a:rPr>
              <a:t>Confidential. For internal use only.</a:t>
            </a:r>
          </a:p>
        </p:txBody>
      </p:sp>
      <p:pic>
        <p:nvPicPr>
          <p:cNvPr id="7" name="Graphic 6">
            <a:extLst>
              <a:ext uri="{FF2B5EF4-FFF2-40B4-BE49-F238E27FC236}">
                <a16:creationId xmlns:a16="http://schemas.microsoft.com/office/drawing/2014/main" id="{7B238638-02E3-B42A-95A7-8441FAE709E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
        <p:nvSpPr>
          <p:cNvPr id="4" name="Title 1">
            <a:extLst>
              <a:ext uri="{FF2B5EF4-FFF2-40B4-BE49-F238E27FC236}">
                <a16:creationId xmlns:a16="http://schemas.microsoft.com/office/drawing/2014/main" id="{86787D85-7089-5356-E5D2-962648E17116}"/>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accent4"/>
                </a:solidFill>
              </a:defRPr>
            </a:lvl1pPr>
          </a:lstStyle>
          <a:p>
            <a:r>
              <a:rPr lang="en-US"/>
              <a:t>Section name</a:t>
            </a:r>
          </a:p>
        </p:txBody>
      </p:sp>
    </p:spTree>
    <p:extLst>
      <p:ext uri="{BB962C8B-B14F-4D97-AF65-F5344CB8AC3E}">
        <p14:creationId xmlns:p14="http://schemas.microsoft.com/office/powerpoint/2010/main" val="244207598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Section Divider - Greystone">
    <p:bg>
      <p:bgPr>
        <a:solidFill>
          <a:srgbClr val="827870"/>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706B9D1-6819-D5D0-D37A-538F602ECDE6}"/>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8DF0027C-FD14-0E29-D20C-56E08A5F0BAB}"/>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6" name="TextBox 5">
            <a:extLst>
              <a:ext uri="{FF2B5EF4-FFF2-40B4-BE49-F238E27FC236}">
                <a16:creationId xmlns:a16="http://schemas.microsoft.com/office/drawing/2014/main" id="{A7B52049-7238-9405-ABBF-06388AFC0CF4}"/>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7" name="Graphic 6">
            <a:extLst>
              <a:ext uri="{FF2B5EF4-FFF2-40B4-BE49-F238E27FC236}">
                <a16:creationId xmlns:a16="http://schemas.microsoft.com/office/drawing/2014/main" id="{8D640988-0EBB-4CDC-379D-D1E7C9BE37B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
        <p:nvSpPr>
          <p:cNvPr id="2" name="Title 1">
            <a:extLst>
              <a:ext uri="{FF2B5EF4-FFF2-40B4-BE49-F238E27FC236}">
                <a16:creationId xmlns:a16="http://schemas.microsoft.com/office/drawing/2014/main" id="{69CDB6B9-50A4-BC13-6571-6DC019EBF14F}"/>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spTree>
    <p:extLst>
      <p:ext uri="{BB962C8B-B14F-4D97-AF65-F5344CB8AC3E}">
        <p14:creationId xmlns:p14="http://schemas.microsoft.com/office/powerpoint/2010/main" val="215788845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Subsection Slide - Greystone">
    <p:bg>
      <p:bgPr>
        <a:solidFill>
          <a:srgbClr val="E5E3E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706B9D1-6819-D5D0-D37A-538F602ECDE6}"/>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0C0CEB6D-D512-1A50-AB30-C9C4A4A2CACA}"/>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rgbClr val="827870"/>
                </a:solidFill>
                <a:latin typeface="+mj-lt"/>
              </a:rPr>
              <a:pPr>
                <a:defRPr/>
              </a:pPr>
              <a:t>‹#›</a:t>
            </a:fld>
            <a:endParaRPr lang="en-US" sz="900" b="0">
              <a:solidFill>
                <a:srgbClr val="827870"/>
              </a:solidFill>
              <a:latin typeface="+mj-lt"/>
            </a:endParaRPr>
          </a:p>
        </p:txBody>
      </p:sp>
      <p:sp>
        <p:nvSpPr>
          <p:cNvPr id="6" name="TextBox 5">
            <a:extLst>
              <a:ext uri="{FF2B5EF4-FFF2-40B4-BE49-F238E27FC236}">
                <a16:creationId xmlns:a16="http://schemas.microsoft.com/office/drawing/2014/main" id="{F4D87066-1D62-6896-0682-93532C9ACD65}"/>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rgbClr val="827870"/>
                </a:solidFill>
                <a:latin typeface="+mj-lt"/>
              </a:rPr>
              <a:t>Confidential. For internal use only.</a:t>
            </a:r>
          </a:p>
        </p:txBody>
      </p:sp>
      <p:pic>
        <p:nvPicPr>
          <p:cNvPr id="7" name="Graphic 6">
            <a:extLst>
              <a:ext uri="{FF2B5EF4-FFF2-40B4-BE49-F238E27FC236}">
                <a16:creationId xmlns:a16="http://schemas.microsoft.com/office/drawing/2014/main" id="{AC3FA546-CC9B-F864-D491-E17E717072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
        <p:nvSpPr>
          <p:cNvPr id="2" name="Title 1">
            <a:extLst>
              <a:ext uri="{FF2B5EF4-FFF2-40B4-BE49-F238E27FC236}">
                <a16:creationId xmlns:a16="http://schemas.microsoft.com/office/drawing/2014/main" id="{5F846CA5-5975-F475-50ED-B9445351573F}"/>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rgbClr val="827870"/>
                </a:solidFill>
              </a:defRPr>
            </a:lvl1pPr>
          </a:lstStyle>
          <a:p>
            <a:r>
              <a:rPr lang="en-US"/>
              <a:t>Section name</a:t>
            </a:r>
          </a:p>
        </p:txBody>
      </p:sp>
    </p:spTree>
    <p:extLst>
      <p:ext uri="{BB962C8B-B14F-4D97-AF65-F5344CB8AC3E}">
        <p14:creationId xmlns:p14="http://schemas.microsoft.com/office/powerpoint/2010/main" val="238507228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Section Divider - Slate">
    <p:bg>
      <p:bgPr>
        <a:solidFill>
          <a:srgbClr val="96A3AD"/>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E93324EF-6923-5372-6E76-72B1763D4068}"/>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2519E8DD-7108-E906-4ADE-B910107967A7}"/>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6" name="TextBox 5">
            <a:extLst>
              <a:ext uri="{FF2B5EF4-FFF2-40B4-BE49-F238E27FC236}">
                <a16:creationId xmlns:a16="http://schemas.microsoft.com/office/drawing/2014/main" id="{236FE376-17C2-15E7-59F8-5D940B4E07FD}"/>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7" name="Graphic 6">
            <a:extLst>
              <a:ext uri="{FF2B5EF4-FFF2-40B4-BE49-F238E27FC236}">
                <a16:creationId xmlns:a16="http://schemas.microsoft.com/office/drawing/2014/main" id="{712E6497-FD62-AB59-35DF-58A748CFC2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
        <p:nvSpPr>
          <p:cNvPr id="2" name="Title 1">
            <a:extLst>
              <a:ext uri="{FF2B5EF4-FFF2-40B4-BE49-F238E27FC236}">
                <a16:creationId xmlns:a16="http://schemas.microsoft.com/office/drawing/2014/main" id="{903B7FB6-FA1C-3D4D-D2AA-872C45A839F0}"/>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spTree>
    <p:extLst>
      <p:ext uri="{BB962C8B-B14F-4D97-AF65-F5344CB8AC3E}">
        <p14:creationId xmlns:p14="http://schemas.microsoft.com/office/powerpoint/2010/main" val="110541478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Subsection Slide - Slate">
    <p:bg>
      <p:bgPr>
        <a:solidFill>
          <a:srgbClr val="EAECEE"/>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4399EDB8-FAC4-B10C-C681-E82C004ED1F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 y="369234"/>
            <a:ext cx="11832336" cy="5665949"/>
          </a:xfrm>
          <a:prstGeom prst="rect">
            <a:avLst/>
          </a:prstGeom>
        </p:spPr>
      </p:pic>
      <p:sp>
        <p:nvSpPr>
          <p:cNvPr id="4" name="Slide Number Placeholder 5">
            <a:extLst>
              <a:ext uri="{FF2B5EF4-FFF2-40B4-BE49-F238E27FC236}">
                <a16:creationId xmlns:a16="http://schemas.microsoft.com/office/drawing/2014/main" id="{9A55BC30-12F7-920F-B953-D6C3BD71FF06}"/>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rgbClr val="46525B"/>
                </a:solidFill>
                <a:latin typeface="+mj-lt"/>
              </a:rPr>
              <a:pPr>
                <a:defRPr/>
              </a:pPr>
              <a:t>‹#›</a:t>
            </a:fld>
            <a:endParaRPr lang="en-US" sz="900" b="0">
              <a:solidFill>
                <a:srgbClr val="46525B"/>
              </a:solidFill>
              <a:latin typeface="+mj-lt"/>
            </a:endParaRPr>
          </a:p>
        </p:txBody>
      </p:sp>
      <p:sp>
        <p:nvSpPr>
          <p:cNvPr id="6" name="TextBox 5">
            <a:extLst>
              <a:ext uri="{FF2B5EF4-FFF2-40B4-BE49-F238E27FC236}">
                <a16:creationId xmlns:a16="http://schemas.microsoft.com/office/drawing/2014/main" id="{3F798C63-8A75-BFAE-4353-7BD49B517329}"/>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rgbClr val="46525B"/>
                </a:solidFill>
                <a:latin typeface="+mj-lt"/>
              </a:rPr>
              <a:t>Confidential. For internal use only.</a:t>
            </a:r>
          </a:p>
        </p:txBody>
      </p:sp>
      <p:pic>
        <p:nvPicPr>
          <p:cNvPr id="7" name="Graphic 6">
            <a:extLst>
              <a:ext uri="{FF2B5EF4-FFF2-40B4-BE49-F238E27FC236}">
                <a16:creationId xmlns:a16="http://schemas.microsoft.com/office/drawing/2014/main" id="{D24C071D-7DBE-0CEF-6235-5ED884D2C38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
        <p:nvSpPr>
          <p:cNvPr id="3" name="Title 1">
            <a:extLst>
              <a:ext uri="{FF2B5EF4-FFF2-40B4-BE49-F238E27FC236}">
                <a16:creationId xmlns:a16="http://schemas.microsoft.com/office/drawing/2014/main" id="{BF1A651F-537F-A5CA-53BB-F8702406A7C8}"/>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rgbClr val="46525B"/>
                </a:solidFill>
              </a:defRPr>
            </a:lvl1pPr>
          </a:lstStyle>
          <a:p>
            <a:r>
              <a:rPr lang="en-US"/>
              <a:t>Section name</a:t>
            </a:r>
          </a:p>
        </p:txBody>
      </p:sp>
    </p:spTree>
    <p:extLst>
      <p:ext uri="{BB962C8B-B14F-4D97-AF65-F5344CB8AC3E}">
        <p14:creationId xmlns:p14="http://schemas.microsoft.com/office/powerpoint/2010/main" val="153605523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Quote Slid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31ADCFF-5913-3968-36A4-EC52BF575E73}"/>
              </a:ext>
            </a:extLst>
          </p:cNvPr>
          <p:cNvSpPr>
            <a:spLocks noGrp="1"/>
          </p:cNvSpPr>
          <p:nvPr>
            <p:ph type="pic" sz="quarter" idx="10" hasCustomPrompt="1"/>
          </p:nvPr>
        </p:nvSpPr>
        <p:spPr>
          <a:xfrm>
            <a:off x="0" y="0"/>
            <a:ext cx="6094413" cy="6858000"/>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13" name="Title 1">
            <a:extLst>
              <a:ext uri="{FF2B5EF4-FFF2-40B4-BE49-F238E27FC236}">
                <a16:creationId xmlns:a16="http://schemas.microsoft.com/office/drawing/2014/main" id="{DDE57426-48ED-56E2-AACD-B35E3F084552}"/>
              </a:ext>
            </a:extLst>
          </p:cNvPr>
          <p:cNvSpPr>
            <a:spLocks noGrp="1"/>
          </p:cNvSpPr>
          <p:nvPr>
            <p:ph type="ctrTitle"/>
          </p:nvPr>
        </p:nvSpPr>
        <p:spPr>
          <a:xfrm>
            <a:off x="6816392" y="1792224"/>
            <a:ext cx="4709160" cy="861774"/>
          </a:xfrm>
          <a:prstGeom prst="rect">
            <a:avLst/>
          </a:prstGeom>
        </p:spPr>
        <p:txBody>
          <a:bodyPr anchor="t" anchorCtr="0">
            <a:spAutoFit/>
          </a:bodyPr>
          <a:lstStyle>
            <a:lvl1pPr algn="ctr">
              <a:lnSpc>
                <a:spcPct val="100000"/>
              </a:lnSpc>
              <a:defRPr sz="2800"/>
            </a:lvl1pPr>
          </a:lstStyle>
          <a:p>
            <a:r>
              <a:rPr lang="en-US"/>
              <a:t>Click to edit Master title style</a:t>
            </a:r>
          </a:p>
        </p:txBody>
      </p:sp>
      <p:sp>
        <p:nvSpPr>
          <p:cNvPr id="14" name="Text Placeholder 2">
            <a:extLst>
              <a:ext uri="{FF2B5EF4-FFF2-40B4-BE49-F238E27FC236}">
                <a16:creationId xmlns:a16="http://schemas.microsoft.com/office/drawing/2014/main" id="{6EDD81C3-DE7C-6067-908F-CECCBE575E73}"/>
              </a:ext>
            </a:extLst>
          </p:cNvPr>
          <p:cNvSpPr>
            <a:spLocks noGrp="1"/>
          </p:cNvSpPr>
          <p:nvPr>
            <p:ph type="body" idx="1" hasCustomPrompt="1"/>
          </p:nvPr>
        </p:nvSpPr>
        <p:spPr>
          <a:xfrm>
            <a:off x="6816392" y="1334701"/>
            <a:ext cx="4709160" cy="184666"/>
          </a:xfrm>
          <a:prstGeom prst="rect">
            <a:avLst/>
          </a:prstGeom>
        </p:spPr>
        <p:txBody>
          <a:bodyPr>
            <a:spAutoFit/>
          </a:bodyPr>
          <a:lstStyle>
            <a:lvl1pPr marL="0" indent="0" algn="ctr">
              <a:buNone/>
              <a:defRPr sz="1200" b="1" i="0" cap="all" spc="100" baseline="0">
                <a:solidFill>
                  <a:schemeClr val="accent1"/>
                </a:solidFill>
                <a:latin typeface="Poppins SemiBold" pitchFamily="2" charset="77"/>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TITLE</a:t>
            </a:r>
          </a:p>
        </p:txBody>
      </p:sp>
      <p:grpSp>
        <p:nvGrpSpPr>
          <p:cNvPr id="19" name="Group 18">
            <a:extLst>
              <a:ext uri="{FF2B5EF4-FFF2-40B4-BE49-F238E27FC236}">
                <a16:creationId xmlns:a16="http://schemas.microsoft.com/office/drawing/2014/main" id="{7BE8BEBF-768D-008C-1F11-3C7BF5CA69B2}"/>
              </a:ext>
            </a:extLst>
          </p:cNvPr>
          <p:cNvGrpSpPr/>
          <p:nvPr userDrawn="1"/>
        </p:nvGrpSpPr>
        <p:grpSpPr>
          <a:xfrm>
            <a:off x="8938430" y="5041937"/>
            <a:ext cx="465085" cy="128016"/>
            <a:chOff x="8936909" y="5041937"/>
            <a:chExt cx="465085" cy="128016"/>
          </a:xfrm>
        </p:grpSpPr>
        <p:pic>
          <p:nvPicPr>
            <p:cNvPr id="16" name="Graphic 15">
              <a:extLst>
                <a:ext uri="{FF2B5EF4-FFF2-40B4-BE49-F238E27FC236}">
                  <a16:creationId xmlns:a16="http://schemas.microsoft.com/office/drawing/2014/main" id="{80B528C3-7BBC-2EE4-0511-7F9AB4DDFE1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936909" y="5041937"/>
              <a:ext cx="128016" cy="128016"/>
            </a:xfrm>
            <a:prstGeom prst="rect">
              <a:avLst/>
            </a:prstGeom>
          </p:spPr>
        </p:pic>
        <p:pic>
          <p:nvPicPr>
            <p:cNvPr id="17" name="Graphic 16">
              <a:extLst>
                <a:ext uri="{FF2B5EF4-FFF2-40B4-BE49-F238E27FC236}">
                  <a16:creationId xmlns:a16="http://schemas.microsoft.com/office/drawing/2014/main" id="{E636AE99-A618-65FF-210B-72884013A0F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105443" y="5041937"/>
              <a:ext cx="128016" cy="128016"/>
            </a:xfrm>
            <a:prstGeom prst="rect">
              <a:avLst/>
            </a:prstGeom>
          </p:spPr>
        </p:pic>
        <p:pic>
          <p:nvPicPr>
            <p:cNvPr id="18" name="Graphic 17">
              <a:extLst>
                <a:ext uri="{FF2B5EF4-FFF2-40B4-BE49-F238E27FC236}">
                  <a16:creationId xmlns:a16="http://schemas.microsoft.com/office/drawing/2014/main" id="{4DED3061-4650-D6B9-8923-9B5BE7416B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273978" y="5041937"/>
              <a:ext cx="128016" cy="128016"/>
            </a:xfrm>
            <a:prstGeom prst="rect">
              <a:avLst/>
            </a:prstGeom>
          </p:spPr>
        </p:pic>
      </p:grpSp>
      <p:sp>
        <p:nvSpPr>
          <p:cNvPr id="3" name="Slide Number Placeholder 5">
            <a:extLst>
              <a:ext uri="{FF2B5EF4-FFF2-40B4-BE49-F238E27FC236}">
                <a16:creationId xmlns:a16="http://schemas.microsoft.com/office/drawing/2014/main" id="{AC43E156-7952-6DBD-9F32-252B130D3E3B}"/>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tx2"/>
                </a:solidFill>
                <a:latin typeface="+mj-lt"/>
              </a:rPr>
              <a:pPr>
                <a:defRPr/>
              </a:pPr>
              <a:t>‹#›</a:t>
            </a:fld>
            <a:endParaRPr lang="en-US" sz="900" b="0">
              <a:solidFill>
                <a:schemeClr val="tx2"/>
              </a:solidFill>
              <a:latin typeface="+mj-lt"/>
            </a:endParaRPr>
          </a:p>
        </p:txBody>
      </p:sp>
      <p:sp>
        <p:nvSpPr>
          <p:cNvPr id="4" name="TextBox 3">
            <a:extLst>
              <a:ext uri="{FF2B5EF4-FFF2-40B4-BE49-F238E27FC236}">
                <a16:creationId xmlns:a16="http://schemas.microsoft.com/office/drawing/2014/main" id="{B41722FB-74A1-9FF3-29B4-B3E085199D46}"/>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tx2"/>
                </a:solidFill>
                <a:latin typeface="+mj-lt"/>
              </a:rPr>
              <a:t>Confidential. For internal use only.</a:t>
            </a:r>
          </a:p>
        </p:txBody>
      </p:sp>
      <p:pic>
        <p:nvPicPr>
          <p:cNvPr id="5" name="Graphic 4">
            <a:extLst>
              <a:ext uri="{FF2B5EF4-FFF2-40B4-BE49-F238E27FC236}">
                <a16:creationId xmlns:a16="http://schemas.microsoft.com/office/drawing/2014/main" id="{22A3574A-CAA1-E51C-8819-DC53C465327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Tree>
    <p:extLst>
      <p:ext uri="{BB962C8B-B14F-4D97-AF65-F5344CB8AC3E}">
        <p14:creationId xmlns:p14="http://schemas.microsoft.com/office/powerpoint/2010/main" val="295968646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 2 Images + 2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298" y="4233291"/>
            <a:ext cx="5495544"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3">
            <a:extLst>
              <a:ext uri="{FF2B5EF4-FFF2-40B4-BE49-F238E27FC236}">
                <a16:creationId xmlns:a16="http://schemas.microsoft.com/office/drawing/2014/main" id="{6B84C3AF-B98F-D4FA-FE57-5457BCE9DCF8}"/>
              </a:ext>
            </a:extLst>
          </p:cNvPr>
          <p:cNvSpPr>
            <a:spLocks noGrp="1"/>
          </p:cNvSpPr>
          <p:nvPr>
            <p:ph sz="half" idx="11"/>
          </p:nvPr>
        </p:nvSpPr>
        <p:spPr>
          <a:xfrm>
            <a:off x="6324600" y="4233291"/>
            <a:ext cx="5495544"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4AE615A5-273B-7942-00A0-3693B20154EB}"/>
              </a:ext>
            </a:extLst>
          </p:cNvPr>
          <p:cNvSpPr>
            <a:spLocks noGrp="1"/>
          </p:cNvSpPr>
          <p:nvPr>
            <p:ph type="pic" sz="quarter" idx="12" hasCustomPrompt="1"/>
          </p:nvPr>
        </p:nvSpPr>
        <p:spPr>
          <a:xfrm>
            <a:off x="367919" y="1481138"/>
            <a:ext cx="5495544"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8" name="Picture Placeholder 6">
            <a:extLst>
              <a:ext uri="{FF2B5EF4-FFF2-40B4-BE49-F238E27FC236}">
                <a16:creationId xmlns:a16="http://schemas.microsoft.com/office/drawing/2014/main" id="{37962172-9EE5-88BC-38ED-7AE26751ABED}"/>
              </a:ext>
            </a:extLst>
          </p:cNvPr>
          <p:cNvSpPr>
            <a:spLocks noGrp="1"/>
          </p:cNvSpPr>
          <p:nvPr>
            <p:ph type="pic" sz="quarter" idx="13" hasCustomPrompt="1"/>
          </p:nvPr>
        </p:nvSpPr>
        <p:spPr>
          <a:xfrm>
            <a:off x="6324600" y="1481138"/>
            <a:ext cx="5495544"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2" name="Title Placeholder 1">
            <a:extLst>
              <a:ext uri="{FF2B5EF4-FFF2-40B4-BE49-F238E27FC236}">
                <a16:creationId xmlns:a16="http://schemas.microsoft.com/office/drawing/2014/main" id="{621BBECE-92DC-7EA1-3903-FB23CE383FD5}"/>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3" name="Straight Connector 2">
            <a:extLst>
              <a:ext uri="{FF2B5EF4-FFF2-40B4-BE49-F238E27FC236}">
                <a16:creationId xmlns:a16="http://schemas.microsoft.com/office/drawing/2014/main" id="{D5BBE5A2-CF9A-371B-E8C3-6C2628CB6650}"/>
              </a:ext>
            </a:extLst>
          </p:cNvPr>
          <p:cNvCxnSpPr>
            <a:cxnSpLocks/>
          </p:cNvCxnSpPr>
          <p:nvPr userDrawn="1"/>
        </p:nvCxnSpPr>
        <p:spPr>
          <a:xfrm>
            <a:off x="364300" y="1243783"/>
            <a:ext cx="54955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89296EC-E661-1202-DBA6-58631298B3AF}"/>
              </a:ext>
            </a:extLst>
          </p:cNvPr>
          <p:cNvCxnSpPr>
            <a:cxnSpLocks/>
          </p:cNvCxnSpPr>
          <p:nvPr userDrawn="1"/>
        </p:nvCxnSpPr>
        <p:spPr>
          <a:xfrm>
            <a:off x="6332918" y="1243783"/>
            <a:ext cx="54955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58787DA3-B155-E3AE-190B-A0FBBA04A9B4}"/>
              </a:ext>
            </a:extLst>
          </p:cNvPr>
          <p:cNvSpPr>
            <a:spLocks noGrp="1"/>
          </p:cNvSpPr>
          <p:nvPr>
            <p:ph type="ftr" sz="quarter" idx="14"/>
          </p:nvPr>
        </p:nvSpPr>
        <p:spPr/>
        <p:txBody>
          <a:bodyPr/>
          <a:lstStyle>
            <a:lvl1pPr>
              <a:defRPr>
                <a:solidFill>
                  <a:schemeClr val="tx1">
                    <a:lumMod val="65000"/>
                    <a:lumOff val="35000"/>
                  </a:schemeClr>
                </a:solidFill>
              </a:defRPr>
            </a:lvl1pPr>
          </a:lstStyle>
          <a:p>
            <a:r>
              <a:rPr lang="en-US"/>
              <a:t>Abbreviations</a:t>
            </a:r>
          </a:p>
        </p:txBody>
      </p:sp>
    </p:spTree>
    <p:extLst>
      <p:ext uri="{BB962C8B-B14F-4D97-AF65-F5344CB8AC3E}">
        <p14:creationId xmlns:p14="http://schemas.microsoft.com/office/powerpoint/2010/main" val="79197945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 3 Images + 3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297" y="4233291"/>
            <a:ext cx="3511296"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3">
            <a:extLst>
              <a:ext uri="{FF2B5EF4-FFF2-40B4-BE49-F238E27FC236}">
                <a16:creationId xmlns:a16="http://schemas.microsoft.com/office/drawing/2014/main" id="{6B84C3AF-B98F-D4FA-FE57-5457BCE9DCF8}"/>
              </a:ext>
            </a:extLst>
          </p:cNvPr>
          <p:cNvSpPr>
            <a:spLocks noGrp="1"/>
          </p:cNvSpPr>
          <p:nvPr>
            <p:ph sz="half" idx="11"/>
          </p:nvPr>
        </p:nvSpPr>
        <p:spPr>
          <a:xfrm>
            <a:off x="4340948" y="4233291"/>
            <a:ext cx="3511296"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4AE615A5-273B-7942-00A0-3693B20154EB}"/>
              </a:ext>
            </a:extLst>
          </p:cNvPr>
          <p:cNvSpPr>
            <a:spLocks noGrp="1"/>
          </p:cNvSpPr>
          <p:nvPr>
            <p:ph type="pic" sz="quarter" idx="12" hasCustomPrompt="1"/>
          </p:nvPr>
        </p:nvSpPr>
        <p:spPr>
          <a:xfrm>
            <a:off x="367919" y="1481138"/>
            <a:ext cx="3511296"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8" name="Picture Placeholder 6">
            <a:extLst>
              <a:ext uri="{FF2B5EF4-FFF2-40B4-BE49-F238E27FC236}">
                <a16:creationId xmlns:a16="http://schemas.microsoft.com/office/drawing/2014/main" id="{37962172-9EE5-88BC-38ED-7AE26751ABED}"/>
              </a:ext>
            </a:extLst>
          </p:cNvPr>
          <p:cNvSpPr>
            <a:spLocks noGrp="1"/>
          </p:cNvSpPr>
          <p:nvPr>
            <p:ph type="pic" sz="quarter" idx="13" hasCustomPrompt="1"/>
          </p:nvPr>
        </p:nvSpPr>
        <p:spPr>
          <a:xfrm>
            <a:off x="4342760" y="1481138"/>
            <a:ext cx="3511296"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2" name="Content Placeholder 3">
            <a:extLst>
              <a:ext uri="{FF2B5EF4-FFF2-40B4-BE49-F238E27FC236}">
                <a16:creationId xmlns:a16="http://schemas.microsoft.com/office/drawing/2014/main" id="{C991B900-D8BD-DF96-0A5B-F03B4421E64B}"/>
              </a:ext>
            </a:extLst>
          </p:cNvPr>
          <p:cNvSpPr>
            <a:spLocks noGrp="1"/>
          </p:cNvSpPr>
          <p:nvPr>
            <p:ph sz="half" idx="14"/>
          </p:nvPr>
        </p:nvSpPr>
        <p:spPr>
          <a:xfrm>
            <a:off x="8317600" y="4233291"/>
            <a:ext cx="3511296"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6">
            <a:extLst>
              <a:ext uri="{FF2B5EF4-FFF2-40B4-BE49-F238E27FC236}">
                <a16:creationId xmlns:a16="http://schemas.microsoft.com/office/drawing/2014/main" id="{3351F025-DEBE-EDD9-5ED7-5E7EE191322B}"/>
              </a:ext>
            </a:extLst>
          </p:cNvPr>
          <p:cNvSpPr>
            <a:spLocks noGrp="1"/>
          </p:cNvSpPr>
          <p:nvPr>
            <p:ph type="pic" sz="quarter" idx="15" hasCustomPrompt="1"/>
          </p:nvPr>
        </p:nvSpPr>
        <p:spPr>
          <a:xfrm>
            <a:off x="8317601" y="1481138"/>
            <a:ext cx="3511296"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5" name="Title Placeholder 1">
            <a:extLst>
              <a:ext uri="{FF2B5EF4-FFF2-40B4-BE49-F238E27FC236}">
                <a16:creationId xmlns:a16="http://schemas.microsoft.com/office/drawing/2014/main" id="{507FF8CF-628E-944A-803D-CD81A057D742}"/>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6" name="Straight Connector 5">
            <a:extLst>
              <a:ext uri="{FF2B5EF4-FFF2-40B4-BE49-F238E27FC236}">
                <a16:creationId xmlns:a16="http://schemas.microsoft.com/office/drawing/2014/main" id="{352BFB4F-A79F-389F-4EF6-5494E339D0EC}"/>
              </a:ext>
            </a:extLst>
          </p:cNvPr>
          <p:cNvCxnSpPr>
            <a:cxnSpLocks/>
          </p:cNvCxnSpPr>
          <p:nvPr userDrawn="1"/>
        </p:nvCxnSpPr>
        <p:spPr>
          <a:xfrm>
            <a:off x="364300"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E7D797E-06ED-88E9-1145-75E2FB6F2C4B}"/>
              </a:ext>
            </a:extLst>
          </p:cNvPr>
          <p:cNvCxnSpPr>
            <a:cxnSpLocks/>
          </p:cNvCxnSpPr>
          <p:nvPr userDrawn="1"/>
        </p:nvCxnSpPr>
        <p:spPr>
          <a:xfrm>
            <a:off x="4344924"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3F70B02-516A-08FD-3050-6AE9BFD09E46}"/>
              </a:ext>
            </a:extLst>
          </p:cNvPr>
          <p:cNvCxnSpPr>
            <a:cxnSpLocks/>
          </p:cNvCxnSpPr>
          <p:nvPr userDrawn="1"/>
        </p:nvCxnSpPr>
        <p:spPr>
          <a:xfrm>
            <a:off x="8326310"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Footer Placeholder 9">
            <a:extLst>
              <a:ext uri="{FF2B5EF4-FFF2-40B4-BE49-F238E27FC236}">
                <a16:creationId xmlns:a16="http://schemas.microsoft.com/office/drawing/2014/main" id="{667B2D2C-53F2-B18B-1EC0-BC5BF7BB0F6B}"/>
              </a:ext>
            </a:extLst>
          </p:cNvPr>
          <p:cNvSpPr>
            <a:spLocks noGrp="1"/>
          </p:cNvSpPr>
          <p:nvPr>
            <p:ph type="ftr" sz="quarter" idx="16"/>
          </p:nvPr>
        </p:nvSpPr>
        <p:spPr/>
        <p:txBody>
          <a:bodyPr/>
          <a:lstStyle>
            <a:lvl1pPr>
              <a:defRPr>
                <a:solidFill>
                  <a:schemeClr val="tx1">
                    <a:lumMod val="65000"/>
                    <a:lumOff val="35000"/>
                  </a:schemeClr>
                </a:solidFill>
              </a:defRPr>
            </a:lvl1pPr>
          </a:lstStyle>
          <a:p>
            <a:r>
              <a:rPr lang="en-US"/>
              <a:t>Abbreviations</a:t>
            </a:r>
          </a:p>
        </p:txBody>
      </p:sp>
    </p:spTree>
    <p:extLst>
      <p:ext uri="{BB962C8B-B14F-4D97-AF65-F5344CB8AC3E}">
        <p14:creationId xmlns:p14="http://schemas.microsoft.com/office/powerpoint/2010/main" val="113291021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 4 Images + 4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298" y="4233291"/>
            <a:ext cx="2514600" cy="1723549"/>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3">
            <a:extLst>
              <a:ext uri="{FF2B5EF4-FFF2-40B4-BE49-F238E27FC236}">
                <a16:creationId xmlns:a16="http://schemas.microsoft.com/office/drawing/2014/main" id="{6B84C3AF-B98F-D4FA-FE57-5457BCE9DCF8}"/>
              </a:ext>
            </a:extLst>
          </p:cNvPr>
          <p:cNvSpPr>
            <a:spLocks noGrp="1"/>
          </p:cNvSpPr>
          <p:nvPr>
            <p:ph sz="half" idx="11"/>
          </p:nvPr>
        </p:nvSpPr>
        <p:spPr>
          <a:xfrm>
            <a:off x="6330674" y="4233291"/>
            <a:ext cx="2514600" cy="1723549"/>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4AE615A5-273B-7942-00A0-3693B20154EB}"/>
              </a:ext>
            </a:extLst>
          </p:cNvPr>
          <p:cNvSpPr>
            <a:spLocks noGrp="1"/>
          </p:cNvSpPr>
          <p:nvPr>
            <p:ph type="pic" sz="quarter" idx="12" hasCustomPrompt="1"/>
          </p:nvPr>
        </p:nvSpPr>
        <p:spPr>
          <a:xfrm>
            <a:off x="367919" y="1481138"/>
            <a:ext cx="2514600"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8" name="Picture Placeholder 6">
            <a:extLst>
              <a:ext uri="{FF2B5EF4-FFF2-40B4-BE49-F238E27FC236}">
                <a16:creationId xmlns:a16="http://schemas.microsoft.com/office/drawing/2014/main" id="{37962172-9EE5-88BC-38ED-7AE26751ABED}"/>
              </a:ext>
            </a:extLst>
          </p:cNvPr>
          <p:cNvSpPr>
            <a:spLocks noGrp="1"/>
          </p:cNvSpPr>
          <p:nvPr>
            <p:ph type="pic" sz="quarter" idx="13" hasCustomPrompt="1"/>
          </p:nvPr>
        </p:nvSpPr>
        <p:spPr>
          <a:xfrm>
            <a:off x="6331881" y="1481138"/>
            <a:ext cx="2514600"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2" name="Content Placeholder 3">
            <a:extLst>
              <a:ext uri="{FF2B5EF4-FFF2-40B4-BE49-F238E27FC236}">
                <a16:creationId xmlns:a16="http://schemas.microsoft.com/office/drawing/2014/main" id="{C991B900-D8BD-DF96-0A5B-F03B4421E64B}"/>
              </a:ext>
            </a:extLst>
          </p:cNvPr>
          <p:cNvSpPr>
            <a:spLocks noGrp="1"/>
          </p:cNvSpPr>
          <p:nvPr>
            <p:ph sz="half" idx="14"/>
          </p:nvPr>
        </p:nvSpPr>
        <p:spPr>
          <a:xfrm>
            <a:off x="9313862" y="4233291"/>
            <a:ext cx="2514600" cy="1723549"/>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6">
            <a:extLst>
              <a:ext uri="{FF2B5EF4-FFF2-40B4-BE49-F238E27FC236}">
                <a16:creationId xmlns:a16="http://schemas.microsoft.com/office/drawing/2014/main" id="{3351F025-DEBE-EDD9-5ED7-5E7EE191322B}"/>
              </a:ext>
            </a:extLst>
          </p:cNvPr>
          <p:cNvSpPr>
            <a:spLocks noGrp="1"/>
          </p:cNvSpPr>
          <p:nvPr>
            <p:ph type="pic" sz="quarter" idx="15" hasCustomPrompt="1"/>
          </p:nvPr>
        </p:nvSpPr>
        <p:spPr>
          <a:xfrm>
            <a:off x="9313862" y="1481138"/>
            <a:ext cx="2514600"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5" name="Content Placeholder 3">
            <a:extLst>
              <a:ext uri="{FF2B5EF4-FFF2-40B4-BE49-F238E27FC236}">
                <a16:creationId xmlns:a16="http://schemas.microsoft.com/office/drawing/2014/main" id="{027FDE6E-BA1C-FBC4-CCD9-5E2985A81536}"/>
              </a:ext>
            </a:extLst>
          </p:cNvPr>
          <p:cNvSpPr>
            <a:spLocks noGrp="1"/>
          </p:cNvSpPr>
          <p:nvPr>
            <p:ph sz="half" idx="16"/>
          </p:nvPr>
        </p:nvSpPr>
        <p:spPr>
          <a:xfrm>
            <a:off x="3347486" y="4233291"/>
            <a:ext cx="2514600" cy="1723549"/>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6">
            <a:extLst>
              <a:ext uri="{FF2B5EF4-FFF2-40B4-BE49-F238E27FC236}">
                <a16:creationId xmlns:a16="http://schemas.microsoft.com/office/drawing/2014/main" id="{D4A1D311-68A0-D2D1-2A27-F01E8F128DFF}"/>
              </a:ext>
            </a:extLst>
          </p:cNvPr>
          <p:cNvSpPr>
            <a:spLocks noGrp="1"/>
          </p:cNvSpPr>
          <p:nvPr>
            <p:ph type="pic" sz="quarter" idx="17" hasCustomPrompt="1"/>
          </p:nvPr>
        </p:nvSpPr>
        <p:spPr>
          <a:xfrm>
            <a:off x="3349900" y="1481138"/>
            <a:ext cx="2514600"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9" name="Title Placeholder 1">
            <a:extLst>
              <a:ext uri="{FF2B5EF4-FFF2-40B4-BE49-F238E27FC236}">
                <a16:creationId xmlns:a16="http://schemas.microsoft.com/office/drawing/2014/main" id="{92FCE371-9BA5-9EEF-B057-3A076A6EED65}"/>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11" name="Straight Connector 10">
            <a:extLst>
              <a:ext uri="{FF2B5EF4-FFF2-40B4-BE49-F238E27FC236}">
                <a16:creationId xmlns:a16="http://schemas.microsoft.com/office/drawing/2014/main" id="{F8CAF55D-D81A-58D9-C35E-72EB375AFD7E}"/>
              </a:ext>
            </a:extLst>
          </p:cNvPr>
          <p:cNvCxnSpPr>
            <a:cxnSpLocks/>
          </p:cNvCxnSpPr>
          <p:nvPr userDrawn="1"/>
        </p:nvCxnSpPr>
        <p:spPr>
          <a:xfrm>
            <a:off x="364300"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8FA512E-FBA2-F8D5-3744-654FAEBA2376}"/>
              </a:ext>
            </a:extLst>
          </p:cNvPr>
          <p:cNvCxnSpPr>
            <a:cxnSpLocks/>
          </p:cNvCxnSpPr>
          <p:nvPr userDrawn="1"/>
        </p:nvCxnSpPr>
        <p:spPr>
          <a:xfrm>
            <a:off x="3349413"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EE27C1C-376E-06FA-BB8E-F8014299BE34}"/>
              </a:ext>
            </a:extLst>
          </p:cNvPr>
          <p:cNvCxnSpPr>
            <a:cxnSpLocks/>
          </p:cNvCxnSpPr>
          <p:nvPr userDrawn="1"/>
        </p:nvCxnSpPr>
        <p:spPr>
          <a:xfrm>
            <a:off x="6334526"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A11388F-B34B-FE5A-E09A-AF30C4A0D39A}"/>
              </a:ext>
            </a:extLst>
          </p:cNvPr>
          <p:cNvCxnSpPr>
            <a:cxnSpLocks/>
          </p:cNvCxnSpPr>
          <p:nvPr userDrawn="1"/>
        </p:nvCxnSpPr>
        <p:spPr>
          <a:xfrm>
            <a:off x="9319638"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Footer Placeholder 9">
            <a:extLst>
              <a:ext uri="{FF2B5EF4-FFF2-40B4-BE49-F238E27FC236}">
                <a16:creationId xmlns:a16="http://schemas.microsoft.com/office/drawing/2014/main" id="{D5E38A60-DC64-1FD1-9AE4-DD0A678E6314}"/>
              </a:ext>
            </a:extLst>
          </p:cNvPr>
          <p:cNvSpPr>
            <a:spLocks noGrp="1"/>
          </p:cNvSpPr>
          <p:nvPr>
            <p:ph type="ftr" sz="quarter" idx="18"/>
          </p:nvPr>
        </p:nvSpPr>
        <p:spPr/>
        <p:txBody>
          <a:bodyPr/>
          <a:lstStyle>
            <a:lvl1pPr>
              <a:defRPr>
                <a:solidFill>
                  <a:schemeClr val="tx1">
                    <a:lumMod val="65000"/>
                    <a:lumOff val="35000"/>
                  </a:schemeClr>
                </a:solidFill>
              </a:defRPr>
            </a:lvl1pPr>
          </a:lstStyle>
          <a:p>
            <a:r>
              <a:rPr lang="en-US"/>
              <a:t>Abbreviations</a:t>
            </a:r>
          </a:p>
        </p:txBody>
      </p:sp>
    </p:spTree>
    <p:extLst>
      <p:ext uri="{BB962C8B-B14F-4D97-AF65-F5344CB8AC3E}">
        <p14:creationId xmlns:p14="http://schemas.microsoft.com/office/powerpoint/2010/main" val="161182501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 Content + Half Image">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299" y="1507152"/>
            <a:ext cx="5503101"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19">
            <a:extLst>
              <a:ext uri="{FF2B5EF4-FFF2-40B4-BE49-F238E27FC236}">
                <a16:creationId xmlns:a16="http://schemas.microsoft.com/office/drawing/2014/main" id="{3C346468-F85F-E171-651F-342E8AC77D7F}"/>
              </a:ext>
            </a:extLst>
          </p:cNvPr>
          <p:cNvSpPr>
            <a:spLocks noGrp="1"/>
          </p:cNvSpPr>
          <p:nvPr>
            <p:ph type="pic" sz="quarter" idx="10" hasCustomPrompt="1"/>
          </p:nvPr>
        </p:nvSpPr>
        <p:spPr>
          <a:xfrm>
            <a:off x="6324602" y="1507152"/>
            <a:ext cx="5506019" cy="4518744"/>
          </a:xfrm>
          <a:prstGeom prst="roundRect">
            <a:avLst>
              <a:gd name="adj" fmla="val 9586"/>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3" name="Title Placeholder 1">
            <a:extLst>
              <a:ext uri="{FF2B5EF4-FFF2-40B4-BE49-F238E27FC236}">
                <a16:creationId xmlns:a16="http://schemas.microsoft.com/office/drawing/2014/main" id="{A94755F7-8433-86D0-15BB-77EF12947AE6}"/>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5" name="Straight Connector 4">
            <a:extLst>
              <a:ext uri="{FF2B5EF4-FFF2-40B4-BE49-F238E27FC236}">
                <a16:creationId xmlns:a16="http://schemas.microsoft.com/office/drawing/2014/main" id="{F4639577-4C98-6CC3-E2C3-948F8D74041F}"/>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E16BB514-8470-ADC5-A4BF-F7A39CB8A848}"/>
              </a:ext>
            </a:extLst>
          </p:cNvPr>
          <p:cNvSpPr>
            <a:spLocks noGrp="1"/>
          </p:cNvSpPr>
          <p:nvPr>
            <p:ph type="ftr" sz="quarter" idx="11"/>
          </p:nvPr>
        </p:nvSpPr>
        <p:spPr/>
        <p:txBody>
          <a:bodyPr/>
          <a:lstStyle/>
          <a:p>
            <a:r>
              <a:rPr lang="en-US"/>
              <a:t>Abbreviations</a:t>
            </a:r>
          </a:p>
        </p:txBody>
      </p:sp>
    </p:spTree>
    <p:extLst>
      <p:ext uri="{BB962C8B-B14F-4D97-AF65-F5344CB8AC3E}">
        <p14:creationId xmlns:p14="http://schemas.microsoft.com/office/powerpoint/2010/main" val="88887713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Right Half Image + Title +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6324600" y="2505241"/>
            <a:ext cx="5503862" cy="1400383"/>
          </a:xfrm>
          <a:prstGeom prst="rect">
            <a:avLst/>
          </a:prstGeom>
        </p:spPr>
        <p:txBody>
          <a:bodyPr wrap="square">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19">
            <a:extLst>
              <a:ext uri="{FF2B5EF4-FFF2-40B4-BE49-F238E27FC236}">
                <a16:creationId xmlns:a16="http://schemas.microsoft.com/office/drawing/2014/main" id="{3C346468-F85F-E171-651F-342E8AC77D7F}"/>
              </a:ext>
            </a:extLst>
          </p:cNvPr>
          <p:cNvSpPr>
            <a:spLocks noGrp="1"/>
          </p:cNvSpPr>
          <p:nvPr>
            <p:ph type="pic" sz="quarter" idx="10" hasCustomPrompt="1"/>
          </p:nvPr>
        </p:nvSpPr>
        <p:spPr>
          <a:xfrm>
            <a:off x="368454" y="332509"/>
            <a:ext cx="5507038" cy="6151418"/>
          </a:xfrm>
          <a:prstGeom prst="roundRect">
            <a:avLst>
              <a:gd name="adj" fmla="val 0"/>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5" name="Title Placeholder 1">
            <a:extLst>
              <a:ext uri="{FF2B5EF4-FFF2-40B4-BE49-F238E27FC236}">
                <a16:creationId xmlns:a16="http://schemas.microsoft.com/office/drawing/2014/main" id="{8B256340-140C-DB26-727F-895FCD2C3496}"/>
              </a:ext>
            </a:extLst>
          </p:cNvPr>
          <p:cNvSpPr>
            <a:spLocks noGrp="1"/>
          </p:cNvSpPr>
          <p:nvPr>
            <p:ph type="title"/>
          </p:nvPr>
        </p:nvSpPr>
        <p:spPr>
          <a:xfrm>
            <a:off x="6316510" y="271427"/>
            <a:ext cx="5511952" cy="369332"/>
          </a:xfrm>
          <a:prstGeom prst="rect">
            <a:avLst/>
          </a:prstGeom>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12326742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Full Page Image + Quote">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480FB05-22FD-5698-8BBE-69FF7122DB30}"/>
              </a:ext>
            </a:extLst>
          </p:cNvPr>
          <p:cNvSpPr>
            <a:spLocks noGrp="1"/>
          </p:cNvSpPr>
          <p:nvPr>
            <p:ph type="pic" sz="quarter" idx="10"/>
          </p:nvPr>
        </p:nvSpPr>
        <p:spPr>
          <a:xfrm>
            <a:off x="-5593" y="0"/>
            <a:ext cx="12192000" cy="6858000"/>
          </a:xfrm>
          <a:prstGeom prst="rect">
            <a:avLst/>
          </a:prstGeom>
        </p:spPr>
        <p:txBody>
          <a:bodyPr/>
          <a:lstStyle/>
          <a:p>
            <a:endParaRPr lang="en-US"/>
          </a:p>
        </p:txBody>
      </p:sp>
      <p:sp>
        <p:nvSpPr>
          <p:cNvPr id="3" name="Title 1">
            <a:extLst>
              <a:ext uri="{FF2B5EF4-FFF2-40B4-BE49-F238E27FC236}">
                <a16:creationId xmlns:a16="http://schemas.microsoft.com/office/drawing/2014/main" id="{24441EED-2A6A-F3A1-9576-7DC4A0CCD8A5}"/>
              </a:ext>
            </a:extLst>
          </p:cNvPr>
          <p:cNvSpPr>
            <a:spLocks noGrp="1"/>
          </p:cNvSpPr>
          <p:nvPr>
            <p:ph type="ctrTitle"/>
          </p:nvPr>
        </p:nvSpPr>
        <p:spPr>
          <a:xfrm>
            <a:off x="1845578" y="1682496"/>
            <a:ext cx="8513064" cy="430887"/>
          </a:xfrm>
          <a:prstGeom prst="rect">
            <a:avLst/>
          </a:prstGeom>
        </p:spPr>
        <p:txBody>
          <a:bodyPr wrap="square" anchor="t" anchorCtr="0">
            <a:spAutoFit/>
          </a:bodyPr>
          <a:lstStyle>
            <a:lvl1pPr algn="ctr">
              <a:lnSpc>
                <a:spcPct val="100000"/>
              </a:lnSpc>
              <a:defRPr sz="2800">
                <a:solidFill>
                  <a:schemeClr val="bg1"/>
                </a:solidFill>
              </a:defRPr>
            </a:lvl1pPr>
          </a:lstStyle>
          <a:p>
            <a:r>
              <a:rPr lang="en-US"/>
              <a:t>Click to edit Master title style</a:t>
            </a:r>
          </a:p>
        </p:txBody>
      </p:sp>
      <p:sp>
        <p:nvSpPr>
          <p:cNvPr id="5" name="Text Placeholder 2">
            <a:extLst>
              <a:ext uri="{FF2B5EF4-FFF2-40B4-BE49-F238E27FC236}">
                <a16:creationId xmlns:a16="http://schemas.microsoft.com/office/drawing/2014/main" id="{3D1E1C31-E91E-92AD-A0BE-E929F9FB32CD}"/>
              </a:ext>
            </a:extLst>
          </p:cNvPr>
          <p:cNvSpPr>
            <a:spLocks noGrp="1"/>
          </p:cNvSpPr>
          <p:nvPr>
            <p:ph type="body" idx="1"/>
          </p:nvPr>
        </p:nvSpPr>
        <p:spPr>
          <a:xfrm>
            <a:off x="1842614" y="1192088"/>
            <a:ext cx="8513064" cy="184666"/>
          </a:xfrm>
          <a:prstGeom prst="rect">
            <a:avLst/>
          </a:prstGeom>
        </p:spPr>
        <p:txBody>
          <a:bodyPr>
            <a:spAutoFit/>
          </a:bodyPr>
          <a:lstStyle>
            <a:lvl1pPr marL="0" indent="0" algn="ctr">
              <a:buNone/>
              <a:defRPr sz="1200" b="1" i="0" cap="all" spc="100" baseline="0">
                <a:solidFill>
                  <a:schemeClr val="bg1"/>
                </a:solidFill>
                <a:latin typeface="Poppins SemiBold" pitchFamily="2" charset="77"/>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a:t>
            </a:r>
          </a:p>
        </p:txBody>
      </p:sp>
      <p:sp>
        <p:nvSpPr>
          <p:cNvPr id="18" name="Text Placeholder 2">
            <a:extLst>
              <a:ext uri="{FF2B5EF4-FFF2-40B4-BE49-F238E27FC236}">
                <a16:creationId xmlns:a16="http://schemas.microsoft.com/office/drawing/2014/main" id="{965483DD-1790-95E8-68CD-9B4262C2E0CD}"/>
              </a:ext>
            </a:extLst>
          </p:cNvPr>
          <p:cNvSpPr>
            <a:spLocks noGrp="1"/>
          </p:cNvSpPr>
          <p:nvPr>
            <p:ph type="body" idx="51" hasCustomPrompt="1"/>
          </p:nvPr>
        </p:nvSpPr>
        <p:spPr>
          <a:xfrm>
            <a:off x="1842614" y="5034246"/>
            <a:ext cx="8513064" cy="184666"/>
          </a:xfrm>
          <a:prstGeom prst="rect">
            <a:avLst/>
          </a:prstGeom>
        </p:spPr>
        <p:txBody>
          <a:bodyPr>
            <a:spAutoFit/>
          </a:bodyPr>
          <a:lstStyle>
            <a:lvl1pPr marL="0" indent="0" algn="ctr">
              <a:buNone/>
              <a:defRPr sz="1200" b="1" i="0" cap="none" spc="100" baseline="0">
                <a:solidFill>
                  <a:schemeClr val="bg1"/>
                </a:solidFill>
                <a:latin typeface="Poppins SemiBold" pitchFamily="2" charset="77"/>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Author</a:t>
            </a:r>
          </a:p>
        </p:txBody>
      </p:sp>
      <p:sp>
        <p:nvSpPr>
          <p:cNvPr id="8" name="Logo">
            <a:extLst>
              <a:ext uri="{FF2B5EF4-FFF2-40B4-BE49-F238E27FC236}">
                <a16:creationId xmlns:a16="http://schemas.microsoft.com/office/drawing/2014/main" id="{43565025-24CE-46D0-87C2-8CFFAB6C6F7D}"/>
              </a:ext>
            </a:extLst>
          </p:cNvPr>
          <p:cNvSpPr>
            <a:spLocks noGrp="1"/>
          </p:cNvSpPr>
          <p:nvPr>
            <p:ph type="pic" sz="quarter" idx="52"/>
          </p:nvPr>
        </p:nvSpPr>
        <p:spPr>
          <a:xfrm>
            <a:off x="5775960" y="5558773"/>
            <a:ext cx="640080" cy="164592"/>
          </a:xfrm>
          <a:prstGeom prst="rect">
            <a:avLst/>
          </a:prstGeo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blipFill>
                  <a:blip>
                    <a:extLst>
                      <a:ext uri="{96DAC541-7B7A-43D3-8B79-37D633B846F1}">
                        <asvg:svgBlip xmlns:asvg="http://schemas.microsoft.com/office/drawing/2016/SVG/main" r:embed="rId3"/>
                      </a:ext>
                    </a:extLst>
                  </a:blip>
                  <a:stretch>
                    <a:fillRect/>
                  </a:stretch>
                </a:blipFill>
              </a:defRPr>
            </a:lvl1pPr>
          </a:lstStyle>
          <a:p>
            <a:endParaRPr lang="en-US"/>
          </a:p>
        </p:txBody>
      </p:sp>
      <p:sp>
        <p:nvSpPr>
          <p:cNvPr id="6" name="Slide Number Placeholder 5">
            <a:extLst>
              <a:ext uri="{FF2B5EF4-FFF2-40B4-BE49-F238E27FC236}">
                <a16:creationId xmlns:a16="http://schemas.microsoft.com/office/drawing/2014/main" id="{6C937995-9F38-2E0B-0E21-BC0223A4C958}"/>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9" name="TextBox 8">
            <a:extLst>
              <a:ext uri="{FF2B5EF4-FFF2-40B4-BE49-F238E27FC236}">
                <a16:creationId xmlns:a16="http://schemas.microsoft.com/office/drawing/2014/main" id="{D27C1691-A57B-C325-3F52-D88122CCD8D9}"/>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10" name="Graphic 9">
            <a:extLst>
              <a:ext uri="{FF2B5EF4-FFF2-40B4-BE49-F238E27FC236}">
                <a16:creationId xmlns:a16="http://schemas.microsoft.com/office/drawing/2014/main" id="{58D658C6-ABDD-482C-E285-31145B3E041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Tree>
    <p:extLst>
      <p:ext uri="{BB962C8B-B14F-4D97-AF65-F5344CB8AC3E}">
        <p14:creationId xmlns:p14="http://schemas.microsoft.com/office/powerpoint/2010/main" val="402806561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llage Opt 1">
    <p:spTree>
      <p:nvGrpSpPr>
        <p:cNvPr id="1" name=""/>
        <p:cNvGrpSpPr/>
        <p:nvPr/>
      </p:nvGrpSpPr>
      <p:grpSpPr>
        <a:xfrm>
          <a:off x="0" y="0"/>
          <a:ext cx="0" cy="0"/>
          <a:chOff x="0" y="0"/>
          <a:chExt cx="0" cy="0"/>
        </a:xfrm>
      </p:grpSpPr>
      <p:sp>
        <p:nvSpPr>
          <p:cNvPr id="8" name="Picture Placeholder 19">
            <a:extLst>
              <a:ext uri="{FF2B5EF4-FFF2-40B4-BE49-F238E27FC236}">
                <a16:creationId xmlns:a16="http://schemas.microsoft.com/office/drawing/2014/main" id="{D6981A86-72D9-6390-E425-661E792B2011}"/>
              </a:ext>
            </a:extLst>
          </p:cNvPr>
          <p:cNvSpPr>
            <a:spLocks noGrp="1"/>
          </p:cNvSpPr>
          <p:nvPr>
            <p:ph type="pic" sz="quarter" idx="12" hasCustomPrompt="1"/>
          </p:nvPr>
        </p:nvSpPr>
        <p:spPr>
          <a:xfrm>
            <a:off x="3363228" y="3907354"/>
            <a:ext cx="3977640" cy="2950646"/>
          </a:xfrm>
          <a:prstGeom prst="roundRect">
            <a:avLst>
              <a:gd name="adj" fmla="val 0"/>
            </a:avLst>
          </a:prstGeom>
          <a:ln>
            <a:noFill/>
          </a:ln>
        </p:spPr>
        <p:txBody>
          <a:bodyPr/>
          <a:lstStyle>
            <a:lvl1pPr marL="171450" indent="-171450">
              <a:buFont typeface="Arial" panose="020B0604020202020204" pitchFamily="34" charset="0"/>
              <a:buChar char="•"/>
              <a:defRPr b="0"/>
            </a:lvl1pPr>
          </a:lstStyle>
          <a:p>
            <a:r>
              <a:rPr lang="en-US"/>
              <a:t>Press the center icon to upload a picture / The picture will crop to the frame.</a:t>
            </a:r>
          </a:p>
        </p:txBody>
      </p:sp>
      <p:sp>
        <p:nvSpPr>
          <p:cNvPr id="3" name="Content Placeholder 3">
            <a:extLst>
              <a:ext uri="{FF2B5EF4-FFF2-40B4-BE49-F238E27FC236}">
                <a16:creationId xmlns:a16="http://schemas.microsoft.com/office/drawing/2014/main" id="{753DC155-1A81-AD63-BC48-F7ED823B9183}"/>
              </a:ext>
            </a:extLst>
          </p:cNvPr>
          <p:cNvSpPr>
            <a:spLocks noGrp="1"/>
          </p:cNvSpPr>
          <p:nvPr>
            <p:ph sz="half" idx="2" hasCustomPrompt="1"/>
          </p:nvPr>
        </p:nvSpPr>
        <p:spPr>
          <a:xfrm>
            <a:off x="364300" y="3882258"/>
            <a:ext cx="1792304" cy="138499"/>
          </a:xfrm>
          <a:prstGeom prst="rect">
            <a:avLst/>
          </a:prstGeom>
        </p:spPr>
        <p:txBody>
          <a:bodyPr wrap="square">
            <a:spAutoFit/>
          </a:bodyPr>
          <a:lstStyle>
            <a:lvl1pPr>
              <a:spcBef>
                <a:spcPts val="600"/>
              </a:spcBef>
              <a:defRPr sz="900" b="0">
                <a:solidFill>
                  <a:schemeClr val="tx1"/>
                </a:solidFill>
                <a:latin typeface="+mj-lt"/>
              </a:defRPr>
            </a:lvl1pPr>
          </a:lstStyle>
          <a:p>
            <a:pPr lvl="0"/>
            <a:r>
              <a:rPr lang="en-US"/>
              <a:t>Click to edit Master title style</a:t>
            </a:r>
          </a:p>
        </p:txBody>
      </p:sp>
      <p:sp>
        <p:nvSpPr>
          <p:cNvPr id="6" name="Picture Placeholder 19">
            <a:extLst>
              <a:ext uri="{FF2B5EF4-FFF2-40B4-BE49-F238E27FC236}">
                <a16:creationId xmlns:a16="http://schemas.microsoft.com/office/drawing/2014/main" id="{B050C76B-E118-F71E-A91C-7DD44A0812E7}"/>
              </a:ext>
            </a:extLst>
          </p:cNvPr>
          <p:cNvSpPr>
            <a:spLocks noGrp="1"/>
          </p:cNvSpPr>
          <p:nvPr>
            <p:ph type="pic" sz="quarter" idx="10" hasCustomPrompt="1"/>
          </p:nvPr>
        </p:nvSpPr>
        <p:spPr>
          <a:xfrm>
            <a:off x="360362" y="1038184"/>
            <a:ext cx="2468880" cy="1954649"/>
          </a:xfrm>
          <a:prstGeom prst="roundRect">
            <a:avLst>
              <a:gd name="adj" fmla="val 21828"/>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7" name="Picture Placeholder 19">
            <a:extLst>
              <a:ext uri="{FF2B5EF4-FFF2-40B4-BE49-F238E27FC236}">
                <a16:creationId xmlns:a16="http://schemas.microsoft.com/office/drawing/2014/main" id="{C6CC91AA-7B99-B143-5235-BF12574C401B}"/>
              </a:ext>
            </a:extLst>
          </p:cNvPr>
          <p:cNvSpPr>
            <a:spLocks noGrp="1"/>
          </p:cNvSpPr>
          <p:nvPr>
            <p:ph type="pic" sz="quarter" idx="11" hasCustomPrompt="1"/>
          </p:nvPr>
        </p:nvSpPr>
        <p:spPr>
          <a:xfrm>
            <a:off x="6349525" y="0"/>
            <a:ext cx="5847973" cy="4512179"/>
          </a:xfrm>
          <a:prstGeom prst="roundRect">
            <a:avLst>
              <a:gd name="adj" fmla="val 0"/>
            </a:avLst>
          </a:prstGeom>
          <a:ln>
            <a:noFill/>
          </a:ln>
        </p:spPr>
        <p:txBody>
          <a:bodyPr/>
          <a:lstStyle>
            <a:lvl1pPr marL="171450" indent="-171450">
              <a:buFont typeface="Arial" panose="020B0604020202020204" pitchFamily="34" charset="0"/>
              <a:buChar char="•"/>
              <a:defRPr b="0"/>
            </a:lvl1pPr>
          </a:lstStyle>
          <a:p>
            <a:r>
              <a:rPr lang="en-US"/>
              <a:t>Press the center icon to upload a picture / The picture will crop to the frame / The star motif will need to be added to the picture before adding</a:t>
            </a:r>
            <a:br>
              <a:rPr lang="en-US"/>
            </a:br>
            <a:r>
              <a:rPr lang="en-US"/>
              <a:t>it the master slide.</a:t>
            </a:r>
          </a:p>
        </p:txBody>
      </p:sp>
      <p:sp>
        <p:nvSpPr>
          <p:cNvPr id="2" name="Content Placeholder 3">
            <a:extLst>
              <a:ext uri="{FF2B5EF4-FFF2-40B4-BE49-F238E27FC236}">
                <a16:creationId xmlns:a16="http://schemas.microsoft.com/office/drawing/2014/main" id="{A6A7FAFD-29D2-255A-3DA6-C84FC705503F}"/>
              </a:ext>
            </a:extLst>
          </p:cNvPr>
          <p:cNvSpPr>
            <a:spLocks noGrp="1"/>
          </p:cNvSpPr>
          <p:nvPr>
            <p:ph sz="half" idx="13" hasCustomPrompt="1"/>
          </p:nvPr>
        </p:nvSpPr>
        <p:spPr>
          <a:xfrm>
            <a:off x="364300" y="4123801"/>
            <a:ext cx="1792304" cy="138499"/>
          </a:xfrm>
          <a:prstGeom prst="rect">
            <a:avLst/>
          </a:prstGeom>
        </p:spPr>
        <p:txBody>
          <a:bodyPr wrap="square">
            <a:spAutoFit/>
          </a:bodyPr>
          <a:lstStyle>
            <a:lvl1pPr>
              <a:spcBef>
                <a:spcPts val="600"/>
              </a:spcBef>
              <a:defRPr sz="900" b="0">
                <a:solidFill>
                  <a:schemeClr val="tx1"/>
                </a:solidFill>
                <a:latin typeface="+mn-lt"/>
              </a:defRPr>
            </a:lvl1pPr>
          </a:lstStyle>
          <a:p>
            <a:pPr lvl="0"/>
            <a:r>
              <a:rPr lang="en-US"/>
              <a:t>Click to edit Master title style</a:t>
            </a:r>
          </a:p>
        </p:txBody>
      </p:sp>
    </p:spTree>
    <p:extLst>
      <p:ext uri="{BB962C8B-B14F-4D97-AF65-F5344CB8AC3E}">
        <p14:creationId xmlns:p14="http://schemas.microsoft.com/office/powerpoint/2010/main" val="258649001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Collage Opt 2">
    <p:spTree>
      <p:nvGrpSpPr>
        <p:cNvPr id="1" name=""/>
        <p:cNvGrpSpPr/>
        <p:nvPr/>
      </p:nvGrpSpPr>
      <p:grpSpPr>
        <a:xfrm>
          <a:off x="0" y="0"/>
          <a:ext cx="0" cy="0"/>
          <a:chOff x="0" y="0"/>
          <a:chExt cx="0" cy="0"/>
        </a:xfrm>
      </p:grpSpPr>
      <p:sp>
        <p:nvSpPr>
          <p:cNvPr id="8" name="Picture Placeholder 19">
            <a:extLst>
              <a:ext uri="{FF2B5EF4-FFF2-40B4-BE49-F238E27FC236}">
                <a16:creationId xmlns:a16="http://schemas.microsoft.com/office/drawing/2014/main" id="{D6981A86-72D9-6390-E425-661E792B2011}"/>
              </a:ext>
            </a:extLst>
          </p:cNvPr>
          <p:cNvSpPr>
            <a:spLocks noGrp="1"/>
          </p:cNvSpPr>
          <p:nvPr>
            <p:ph type="pic" sz="quarter" idx="12" hasCustomPrompt="1"/>
          </p:nvPr>
        </p:nvSpPr>
        <p:spPr>
          <a:xfrm>
            <a:off x="3363227" y="0"/>
            <a:ext cx="5068391" cy="3759774"/>
          </a:xfrm>
          <a:prstGeom prst="roundRect">
            <a:avLst>
              <a:gd name="adj" fmla="val 0"/>
            </a:avLst>
          </a:prstGeom>
          <a:ln>
            <a:noFill/>
          </a:ln>
        </p:spPr>
        <p:txBody>
          <a:bodyPr anchor="t"/>
          <a:lstStyle>
            <a:lvl1pPr marL="171450" indent="-171450">
              <a:buFont typeface="Arial" panose="020B0604020202020204" pitchFamily="34" charset="0"/>
              <a:buChar char="•"/>
              <a:defRPr b="0"/>
            </a:lvl1pPr>
          </a:lstStyle>
          <a:p>
            <a:r>
              <a:rPr lang="en-US"/>
              <a:t>Press the center icon to upload a picture / The picture will crop to the frame.</a:t>
            </a:r>
          </a:p>
        </p:txBody>
      </p:sp>
      <p:sp>
        <p:nvSpPr>
          <p:cNvPr id="3" name="Content Placeholder 3">
            <a:extLst>
              <a:ext uri="{FF2B5EF4-FFF2-40B4-BE49-F238E27FC236}">
                <a16:creationId xmlns:a16="http://schemas.microsoft.com/office/drawing/2014/main" id="{753DC155-1A81-AD63-BC48-F7ED823B9183}"/>
              </a:ext>
            </a:extLst>
          </p:cNvPr>
          <p:cNvSpPr>
            <a:spLocks noGrp="1"/>
          </p:cNvSpPr>
          <p:nvPr>
            <p:ph sz="half" idx="2" hasCustomPrompt="1"/>
          </p:nvPr>
        </p:nvSpPr>
        <p:spPr>
          <a:xfrm>
            <a:off x="10036159" y="5036803"/>
            <a:ext cx="1792304" cy="138499"/>
          </a:xfrm>
          <a:prstGeom prst="rect">
            <a:avLst/>
          </a:prstGeom>
        </p:spPr>
        <p:txBody>
          <a:bodyPr wrap="square">
            <a:spAutoFit/>
          </a:bodyPr>
          <a:lstStyle>
            <a:lvl1pPr algn="r">
              <a:spcBef>
                <a:spcPts val="600"/>
              </a:spcBef>
              <a:defRPr sz="900" b="0">
                <a:solidFill>
                  <a:schemeClr val="tx1"/>
                </a:solidFill>
                <a:latin typeface="+mj-lt"/>
              </a:defRPr>
            </a:lvl1pPr>
          </a:lstStyle>
          <a:p>
            <a:pPr lvl="0"/>
            <a:r>
              <a:rPr lang="en-US"/>
              <a:t>Click to edit Master title style</a:t>
            </a:r>
          </a:p>
        </p:txBody>
      </p:sp>
      <p:sp>
        <p:nvSpPr>
          <p:cNvPr id="6" name="Picture Placeholder 19">
            <a:extLst>
              <a:ext uri="{FF2B5EF4-FFF2-40B4-BE49-F238E27FC236}">
                <a16:creationId xmlns:a16="http://schemas.microsoft.com/office/drawing/2014/main" id="{B050C76B-E118-F71E-A91C-7DD44A0812E7}"/>
              </a:ext>
            </a:extLst>
          </p:cNvPr>
          <p:cNvSpPr>
            <a:spLocks noGrp="1"/>
          </p:cNvSpPr>
          <p:nvPr>
            <p:ph type="pic" sz="quarter" idx="10" hasCustomPrompt="1"/>
          </p:nvPr>
        </p:nvSpPr>
        <p:spPr>
          <a:xfrm>
            <a:off x="9359583" y="2192729"/>
            <a:ext cx="2468880" cy="1954649"/>
          </a:xfrm>
          <a:prstGeom prst="roundRect">
            <a:avLst>
              <a:gd name="adj" fmla="val 21828"/>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7" name="Picture Placeholder 19">
            <a:extLst>
              <a:ext uri="{FF2B5EF4-FFF2-40B4-BE49-F238E27FC236}">
                <a16:creationId xmlns:a16="http://schemas.microsoft.com/office/drawing/2014/main" id="{C6CC91AA-7B99-B143-5235-BF12574C401B}"/>
              </a:ext>
            </a:extLst>
          </p:cNvPr>
          <p:cNvSpPr>
            <a:spLocks noGrp="1"/>
          </p:cNvSpPr>
          <p:nvPr>
            <p:ph type="pic" sz="quarter" idx="11" hasCustomPrompt="1"/>
          </p:nvPr>
        </p:nvSpPr>
        <p:spPr>
          <a:xfrm>
            <a:off x="0" y="2345821"/>
            <a:ext cx="5847973" cy="4512179"/>
          </a:xfrm>
          <a:prstGeom prst="roundRect">
            <a:avLst>
              <a:gd name="adj" fmla="val 0"/>
            </a:avLst>
          </a:prstGeom>
          <a:ln>
            <a:noFill/>
          </a:ln>
        </p:spPr>
        <p:txBody>
          <a:bodyPr/>
          <a:lstStyle>
            <a:lvl1pPr marL="171450" indent="-171450">
              <a:buFont typeface="Arial" panose="020B0604020202020204" pitchFamily="34" charset="0"/>
              <a:buChar char="•"/>
              <a:defRPr b="0"/>
            </a:lvl1pPr>
          </a:lstStyle>
          <a:p>
            <a:r>
              <a:rPr lang="en-US"/>
              <a:t>Press the center icon to upload a picture / The picture will crop to the frame / The star motif will need to be added to the picture before adding</a:t>
            </a:r>
            <a:br>
              <a:rPr lang="en-US"/>
            </a:br>
            <a:r>
              <a:rPr lang="en-US"/>
              <a:t>it the master slide.</a:t>
            </a:r>
          </a:p>
        </p:txBody>
      </p:sp>
      <p:sp>
        <p:nvSpPr>
          <p:cNvPr id="2" name="Content Placeholder 3">
            <a:extLst>
              <a:ext uri="{FF2B5EF4-FFF2-40B4-BE49-F238E27FC236}">
                <a16:creationId xmlns:a16="http://schemas.microsoft.com/office/drawing/2014/main" id="{A6A7FAFD-29D2-255A-3DA6-C84FC705503F}"/>
              </a:ext>
            </a:extLst>
          </p:cNvPr>
          <p:cNvSpPr>
            <a:spLocks noGrp="1"/>
          </p:cNvSpPr>
          <p:nvPr>
            <p:ph sz="half" idx="13" hasCustomPrompt="1"/>
          </p:nvPr>
        </p:nvSpPr>
        <p:spPr>
          <a:xfrm>
            <a:off x="10036159" y="5278346"/>
            <a:ext cx="1792304" cy="138499"/>
          </a:xfrm>
          <a:prstGeom prst="rect">
            <a:avLst/>
          </a:prstGeom>
        </p:spPr>
        <p:txBody>
          <a:bodyPr wrap="square">
            <a:spAutoFit/>
          </a:bodyPr>
          <a:lstStyle>
            <a:lvl1pPr algn="r">
              <a:spcBef>
                <a:spcPts val="600"/>
              </a:spcBef>
              <a:defRPr sz="900" b="0">
                <a:solidFill>
                  <a:schemeClr val="tx1"/>
                </a:solidFill>
                <a:latin typeface="+mn-lt"/>
              </a:defRPr>
            </a:lvl1pPr>
          </a:lstStyle>
          <a:p>
            <a:pPr lvl="0"/>
            <a:r>
              <a:rPr lang="en-US"/>
              <a:t>Click to edit Master title style</a:t>
            </a:r>
          </a:p>
        </p:txBody>
      </p:sp>
      <p:sp>
        <p:nvSpPr>
          <p:cNvPr id="9" name="Slide Number Placeholder 5">
            <a:extLst>
              <a:ext uri="{FF2B5EF4-FFF2-40B4-BE49-F238E27FC236}">
                <a16:creationId xmlns:a16="http://schemas.microsoft.com/office/drawing/2014/main" id="{F471A725-A3EC-B225-E372-033F53F5259E}"/>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tx2"/>
                </a:solidFill>
                <a:latin typeface="+mj-lt"/>
              </a:rPr>
              <a:pPr>
                <a:defRPr/>
              </a:pPr>
              <a:t>‹#›</a:t>
            </a:fld>
            <a:endParaRPr lang="en-US" sz="900" b="0">
              <a:solidFill>
                <a:schemeClr val="tx2"/>
              </a:solidFill>
              <a:latin typeface="+mj-lt"/>
            </a:endParaRPr>
          </a:p>
        </p:txBody>
      </p:sp>
      <p:sp>
        <p:nvSpPr>
          <p:cNvPr id="10" name="TextBox 9">
            <a:extLst>
              <a:ext uri="{FF2B5EF4-FFF2-40B4-BE49-F238E27FC236}">
                <a16:creationId xmlns:a16="http://schemas.microsoft.com/office/drawing/2014/main" id="{383B2AF2-8C0E-0CB1-184F-D9F6C51E1D05}"/>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tx2"/>
                </a:solidFill>
                <a:latin typeface="+mj-lt"/>
              </a:rPr>
              <a:t>Confidential. For internal use only.</a:t>
            </a:r>
          </a:p>
        </p:txBody>
      </p:sp>
      <p:pic>
        <p:nvPicPr>
          <p:cNvPr id="11" name="Graphic 10">
            <a:extLst>
              <a:ext uri="{FF2B5EF4-FFF2-40B4-BE49-F238E27FC236}">
                <a16:creationId xmlns:a16="http://schemas.microsoft.com/office/drawing/2014/main" id="{944DF9FC-B6E9-EF55-EBA1-2CAC2984932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50145" y="6318107"/>
            <a:ext cx="274320" cy="274320"/>
          </a:xfrm>
          <a:prstGeom prst="rect">
            <a:avLst/>
          </a:prstGeom>
        </p:spPr>
      </p:pic>
    </p:spTree>
    <p:extLst>
      <p:ext uri="{BB962C8B-B14F-4D97-AF65-F5344CB8AC3E}">
        <p14:creationId xmlns:p14="http://schemas.microsoft.com/office/powerpoint/2010/main" val="345121797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Full Page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480FB05-22FD-5698-8BBE-69FF7122DB30}"/>
              </a:ext>
            </a:extLst>
          </p:cNvPr>
          <p:cNvSpPr>
            <a:spLocks noGrp="1"/>
          </p:cNvSpPr>
          <p:nvPr>
            <p:ph type="pic" sz="quarter" idx="10" hasCustomPrompt="1"/>
          </p:nvPr>
        </p:nvSpPr>
        <p:spPr>
          <a:xfrm>
            <a:off x="0" y="0"/>
            <a:ext cx="12192000" cy="6858000"/>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6" name="Slide Number Placeholder 5">
            <a:extLst>
              <a:ext uri="{FF2B5EF4-FFF2-40B4-BE49-F238E27FC236}">
                <a16:creationId xmlns:a16="http://schemas.microsoft.com/office/drawing/2014/main" id="{808481C6-F7B8-3A9A-7E9C-9F2A89ABFD78}"/>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7" name="TextBox 6">
            <a:extLst>
              <a:ext uri="{FF2B5EF4-FFF2-40B4-BE49-F238E27FC236}">
                <a16:creationId xmlns:a16="http://schemas.microsoft.com/office/drawing/2014/main" id="{73F4373E-D0BF-7EA0-35D4-001BBC4F58DA}"/>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8" name="Graphic 7">
            <a:extLst>
              <a:ext uri="{FF2B5EF4-FFF2-40B4-BE49-F238E27FC236}">
                <a16:creationId xmlns:a16="http://schemas.microsoft.com/office/drawing/2014/main" id="{05E3DDCC-7E28-9A16-A63C-52BC270616C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50145" y="6318107"/>
            <a:ext cx="274320" cy="274320"/>
          </a:xfrm>
          <a:prstGeom prst="rect">
            <a:avLst/>
          </a:prstGeom>
        </p:spPr>
      </p:pic>
    </p:spTree>
    <p:extLst>
      <p:ext uri="{BB962C8B-B14F-4D97-AF65-F5344CB8AC3E}">
        <p14:creationId xmlns:p14="http://schemas.microsoft.com/office/powerpoint/2010/main" val="366393938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Thank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284D8-9A0A-EB78-FF95-8A65E8CF448B}"/>
              </a:ext>
            </a:extLst>
          </p:cNvPr>
          <p:cNvSpPr>
            <a:spLocks noGrp="1"/>
          </p:cNvSpPr>
          <p:nvPr>
            <p:ph type="title" hasCustomPrompt="1"/>
          </p:nvPr>
        </p:nvSpPr>
        <p:spPr>
          <a:xfrm>
            <a:off x="321200" y="1232746"/>
            <a:ext cx="8456479" cy="2135200"/>
          </a:xfrm>
          <a:prstGeom prst="rect">
            <a:avLst/>
          </a:prstGeom>
        </p:spPr>
        <p:txBody>
          <a:bodyPr/>
          <a:lstStyle>
            <a:lvl1pPr>
              <a:defRPr sz="15000"/>
            </a:lvl1pPr>
          </a:lstStyle>
          <a:p>
            <a:r>
              <a:rPr lang="en-US"/>
              <a:t>Thanks!</a:t>
            </a:r>
          </a:p>
        </p:txBody>
      </p:sp>
      <p:pic>
        <p:nvPicPr>
          <p:cNvPr id="16" name="Graphic 15">
            <a:extLst>
              <a:ext uri="{FF2B5EF4-FFF2-40B4-BE49-F238E27FC236}">
                <a16:creationId xmlns:a16="http://schemas.microsoft.com/office/drawing/2014/main" id="{44319368-2F9F-E4F8-F09D-F7668A3CEA34}"/>
              </a:ext>
            </a:extLst>
          </p:cNvPr>
          <p:cNvPicPr>
            <a:picLocks noChangeAspect="1"/>
          </p:cNvPicPr>
          <p:nvPr userDrawn="1"/>
        </p:nvPicPr>
        <p:blipFill>
          <a:blip>
            <a:extLst>
              <a:ext uri="{96DAC541-7B7A-43D3-8B79-37D633B846F1}">
                <asvg:svgBlip xmlns:asvg="http://schemas.microsoft.com/office/drawing/2016/SVG/main" r:embed="rId2"/>
              </a:ext>
            </a:extLst>
          </a:blip>
          <a:srcRect r="27614"/>
          <a:stretch>
            <a:fillRect/>
          </a:stretch>
        </p:blipFill>
        <p:spPr>
          <a:xfrm>
            <a:off x="9506712" y="2509064"/>
            <a:ext cx="2700528" cy="3730752"/>
          </a:xfrm>
          <a:custGeom>
            <a:avLst/>
            <a:gdLst>
              <a:gd name="connsiteX0" fmla="*/ 0 w 2700528"/>
              <a:gd name="connsiteY0" fmla="*/ 0 h 3730752"/>
              <a:gd name="connsiteX1" fmla="*/ 2700528 w 2700528"/>
              <a:gd name="connsiteY1" fmla="*/ 0 h 3730752"/>
              <a:gd name="connsiteX2" fmla="*/ 2700528 w 2700528"/>
              <a:gd name="connsiteY2" fmla="*/ 3730752 h 3730752"/>
              <a:gd name="connsiteX3" fmla="*/ 0 w 2700528"/>
              <a:gd name="connsiteY3" fmla="*/ 3730752 h 3730752"/>
            </a:gdLst>
            <a:ahLst/>
            <a:cxnLst>
              <a:cxn ang="0">
                <a:pos x="connsiteX0" y="connsiteY0"/>
              </a:cxn>
              <a:cxn ang="0">
                <a:pos x="connsiteX1" y="connsiteY1"/>
              </a:cxn>
              <a:cxn ang="0">
                <a:pos x="connsiteX2" y="connsiteY2"/>
              </a:cxn>
              <a:cxn ang="0">
                <a:pos x="connsiteX3" y="connsiteY3"/>
              </a:cxn>
            </a:cxnLst>
            <a:rect l="l" t="t" r="r" b="b"/>
            <a:pathLst>
              <a:path w="2700528" h="3730752">
                <a:moveTo>
                  <a:pt x="0" y="0"/>
                </a:moveTo>
                <a:lnTo>
                  <a:pt x="2700528" y="0"/>
                </a:lnTo>
                <a:lnTo>
                  <a:pt x="2700528" y="3730752"/>
                </a:lnTo>
                <a:lnTo>
                  <a:pt x="0" y="3730752"/>
                </a:lnTo>
                <a:close/>
              </a:path>
            </a:pathLst>
          </a:custGeom>
        </p:spPr>
      </p:pic>
      <p:pic>
        <p:nvPicPr>
          <p:cNvPr id="5" name="Graphic 4">
            <a:extLst>
              <a:ext uri="{FF2B5EF4-FFF2-40B4-BE49-F238E27FC236}">
                <a16:creationId xmlns:a16="http://schemas.microsoft.com/office/drawing/2014/main" id="{1ADEB899-AC43-11A3-D988-519ED476447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62769" y="6315912"/>
            <a:ext cx="1365460" cy="274320"/>
          </a:xfrm>
          <a:prstGeom prst="rect">
            <a:avLst/>
          </a:prstGeom>
        </p:spPr>
      </p:pic>
      <p:sp>
        <p:nvSpPr>
          <p:cNvPr id="6" name="Content Placeholder 3">
            <a:extLst>
              <a:ext uri="{FF2B5EF4-FFF2-40B4-BE49-F238E27FC236}">
                <a16:creationId xmlns:a16="http://schemas.microsoft.com/office/drawing/2014/main" id="{A4F21EFC-856E-BF60-96D3-33A189F92810}"/>
              </a:ext>
            </a:extLst>
          </p:cNvPr>
          <p:cNvSpPr>
            <a:spLocks noGrp="1"/>
          </p:cNvSpPr>
          <p:nvPr>
            <p:ph sz="half" idx="13" hasCustomPrompt="1"/>
          </p:nvPr>
        </p:nvSpPr>
        <p:spPr>
          <a:xfrm>
            <a:off x="364300" y="4703429"/>
            <a:ext cx="1792304" cy="138499"/>
          </a:xfrm>
          <a:prstGeom prst="rect">
            <a:avLst/>
          </a:prstGeom>
        </p:spPr>
        <p:txBody>
          <a:bodyPr wrap="square">
            <a:spAutoFit/>
          </a:bodyPr>
          <a:lstStyle>
            <a:lvl1pPr>
              <a:spcBef>
                <a:spcPts val="600"/>
              </a:spcBef>
              <a:spcAft>
                <a:spcPts val="400"/>
              </a:spcAft>
              <a:defRPr sz="900" b="0">
                <a:solidFill>
                  <a:schemeClr val="tx2"/>
                </a:solidFill>
                <a:latin typeface="+mj-lt"/>
              </a:defRPr>
            </a:lvl1pPr>
          </a:lstStyle>
          <a:p>
            <a:pPr lvl="0"/>
            <a:r>
              <a:rPr lang="en-US"/>
              <a:t>Click to edit Master title style</a:t>
            </a:r>
          </a:p>
        </p:txBody>
      </p:sp>
      <p:sp>
        <p:nvSpPr>
          <p:cNvPr id="7" name="Content Placeholder 3">
            <a:extLst>
              <a:ext uri="{FF2B5EF4-FFF2-40B4-BE49-F238E27FC236}">
                <a16:creationId xmlns:a16="http://schemas.microsoft.com/office/drawing/2014/main" id="{0BC96F78-FAA4-58BD-E701-1ACE1647E789}"/>
              </a:ext>
            </a:extLst>
          </p:cNvPr>
          <p:cNvSpPr>
            <a:spLocks noGrp="1"/>
          </p:cNvSpPr>
          <p:nvPr>
            <p:ph sz="half" idx="2" hasCustomPrompt="1"/>
          </p:nvPr>
        </p:nvSpPr>
        <p:spPr>
          <a:xfrm>
            <a:off x="364300" y="5777723"/>
            <a:ext cx="1792304" cy="138499"/>
          </a:xfrm>
          <a:prstGeom prst="rect">
            <a:avLst/>
          </a:prstGeom>
        </p:spPr>
        <p:txBody>
          <a:bodyPr wrap="square">
            <a:spAutoFit/>
          </a:bodyPr>
          <a:lstStyle>
            <a:lvl1pPr>
              <a:spcBef>
                <a:spcPts val="600"/>
              </a:spcBef>
              <a:defRPr sz="900" b="1" i="0">
                <a:solidFill>
                  <a:schemeClr val="accent1"/>
                </a:solidFill>
                <a:latin typeface="Poppins Medium" pitchFamily="2" charset="77"/>
                <a:cs typeface="Poppins Medium" pitchFamily="2" charset="77"/>
              </a:defRPr>
            </a:lvl1pPr>
          </a:lstStyle>
          <a:p>
            <a:pPr lvl="0"/>
            <a:r>
              <a:rPr lang="en-US"/>
              <a:t>Click to edit Master title style</a:t>
            </a:r>
          </a:p>
        </p:txBody>
      </p:sp>
    </p:spTree>
    <p:extLst>
      <p:ext uri="{BB962C8B-B14F-4D97-AF65-F5344CB8AC3E}">
        <p14:creationId xmlns:p14="http://schemas.microsoft.com/office/powerpoint/2010/main" val="347008694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emplate Guideline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30CD785-0CEF-A5E3-AF23-EC8F19AFD558}"/>
              </a:ext>
            </a:extLst>
          </p:cNvPr>
          <p:cNvSpPr>
            <a:spLocks noGrp="1"/>
          </p:cNvSpPr>
          <p:nvPr>
            <p:ph type="ftr" sz="quarter" idx="10"/>
          </p:nvPr>
        </p:nvSpPr>
        <p:spPr/>
        <p:txBody>
          <a:bodyPr/>
          <a:lstStyle/>
          <a:p>
            <a:r>
              <a:rPr lang="en-US"/>
              <a:t>Abbreviations</a:t>
            </a:r>
          </a:p>
        </p:txBody>
      </p:sp>
      <p:cxnSp>
        <p:nvCxnSpPr>
          <p:cNvPr id="4" name="Straight Connector 3">
            <a:extLst>
              <a:ext uri="{FF2B5EF4-FFF2-40B4-BE49-F238E27FC236}">
                <a16:creationId xmlns:a16="http://schemas.microsoft.com/office/drawing/2014/main" id="{29BEBA64-D2E4-8A2C-80E8-D3C7433BA4BB}"/>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7" name="Content Placeholder 7">
            <a:extLst>
              <a:ext uri="{FF2B5EF4-FFF2-40B4-BE49-F238E27FC236}">
                <a16:creationId xmlns:a16="http://schemas.microsoft.com/office/drawing/2014/main" id="{D2517866-9EA2-F8FE-3E5E-BF5BD8AF5C0E}"/>
              </a:ext>
            </a:extLst>
          </p:cNvPr>
          <p:cNvSpPr>
            <a:spLocks noGrp="1"/>
          </p:cNvSpPr>
          <p:nvPr userDrawn="1"/>
        </p:nvSpPr>
        <p:spPr>
          <a:xfrm>
            <a:off x="361156" y="1463040"/>
            <a:ext cx="5495544" cy="4547136"/>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a:extLst>
                    <a:ext uri="{96DAC541-7B7A-43D3-8B79-37D633B846F1}">
                      <asvg:svgBlip xmlns:asvg="http://schemas.microsoft.com/office/drawing/2016/SVG/main" r:embed="rId2"/>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3"/>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latin typeface="+mj-lt"/>
              </a:rPr>
              <a:t>Do NOT change the corporate template</a:t>
            </a:r>
          </a:p>
          <a:p>
            <a:pPr lvl="1"/>
            <a:r>
              <a:rPr lang="en-US"/>
              <a:t>Do NOT move headlines</a:t>
            </a:r>
          </a:p>
          <a:p>
            <a:pPr lvl="1"/>
            <a:r>
              <a:rPr lang="en-US"/>
              <a:t>Do NOT change bullet colors</a:t>
            </a:r>
          </a:p>
          <a:p>
            <a:pPr>
              <a:spcBef>
                <a:spcPts val="1600"/>
              </a:spcBef>
            </a:pPr>
            <a:r>
              <a:rPr lang="en-US" b="1">
                <a:latin typeface="+mj-lt"/>
              </a:rPr>
              <a:t>Typography</a:t>
            </a:r>
          </a:p>
          <a:p>
            <a:pPr lvl="1"/>
            <a:r>
              <a:rPr lang="en-US"/>
              <a:t>Headlines:  28 pt Poppins Medium, Midnight Blue</a:t>
            </a:r>
          </a:p>
          <a:p>
            <a:pPr lvl="1"/>
            <a:r>
              <a:rPr lang="en-US"/>
              <a:t>Subheads:  20 pt Poppins Regular, Midnight Blue</a:t>
            </a:r>
          </a:p>
          <a:p>
            <a:pPr lvl="1"/>
            <a:r>
              <a:rPr lang="en-US"/>
              <a:t>Body Copy:  Body Copy, 12-9 pt Poppins Regular, Black</a:t>
            </a:r>
          </a:p>
          <a:p>
            <a:pPr marL="0" indent="0" algn="l" defTabSz="914400" rtl="0" eaLnBrk="1" latinLnBrk="0" hangingPunct="1">
              <a:lnSpc>
                <a:spcPct val="100000"/>
              </a:lnSpc>
              <a:spcBef>
                <a:spcPts val="1600"/>
              </a:spcBef>
              <a:buClr>
                <a:schemeClr val="accent1"/>
              </a:buClr>
              <a:buFontTx/>
              <a:buNone/>
            </a:pPr>
            <a:r>
              <a:rPr lang="en-US" sz="1200" b="1" i="0" kern="1200">
                <a:solidFill>
                  <a:schemeClr val="tx1"/>
                </a:solidFill>
                <a:latin typeface="+mj-lt"/>
                <a:ea typeface="Verdana" panose="020B0604030504040204" pitchFamily="34" charset="0"/>
                <a:cs typeface="Verdana" panose="020B0604030504040204" pitchFamily="34" charset="0"/>
              </a:rPr>
              <a:t>Logos, Legal and Slide Numbers</a:t>
            </a:r>
          </a:p>
          <a:p>
            <a:pPr lvl="1"/>
            <a:r>
              <a:rPr lang="en-US"/>
              <a:t>The </a:t>
            </a:r>
            <a:r>
              <a:rPr lang="en-US" err="1"/>
              <a:t>BeOne</a:t>
            </a:r>
            <a:r>
              <a:rPr lang="en-US"/>
              <a:t> symbol and page numbers must appear on every slide; </a:t>
            </a:r>
            <a:br>
              <a:rPr lang="en-US"/>
            </a:br>
            <a:r>
              <a:rPr lang="en-US"/>
              <a:t>do not adjust the position</a:t>
            </a:r>
          </a:p>
          <a:p>
            <a:pPr lvl="1"/>
            <a:r>
              <a:rPr lang="en-US"/>
              <a:t>Confidential information statement should be included in the bottom </a:t>
            </a:r>
            <a:br>
              <a:rPr lang="en-US"/>
            </a:br>
            <a:r>
              <a:rPr lang="en-US"/>
              <a:t>right corner alongside the slide number and </a:t>
            </a:r>
            <a:r>
              <a:rPr lang="en-US" err="1"/>
              <a:t>BeOne</a:t>
            </a:r>
            <a:r>
              <a:rPr lang="en-US"/>
              <a:t> symbol</a:t>
            </a:r>
          </a:p>
          <a:p>
            <a:pPr lvl="1"/>
            <a:r>
              <a:rPr lang="en-US"/>
              <a:t>Include footnotes and references in the bottom left area indicated</a:t>
            </a:r>
            <a:br>
              <a:rPr lang="en-US"/>
            </a:br>
            <a:r>
              <a:rPr lang="en-US"/>
              <a:t>on each slide. Footnotes should be Poppins Regular, 7pt, Black, Text 1,</a:t>
            </a:r>
            <a:br>
              <a:rPr lang="en-US"/>
            </a:br>
            <a:r>
              <a:rPr lang="en-US"/>
              <a:t>Lighter 35%</a:t>
            </a:r>
          </a:p>
          <a:p>
            <a:endParaRPr lang="en-US"/>
          </a:p>
        </p:txBody>
      </p:sp>
      <p:sp>
        <p:nvSpPr>
          <p:cNvPr id="18" name="Content Placeholder 8">
            <a:extLst>
              <a:ext uri="{FF2B5EF4-FFF2-40B4-BE49-F238E27FC236}">
                <a16:creationId xmlns:a16="http://schemas.microsoft.com/office/drawing/2014/main" id="{73D56C51-DC24-F4F0-1245-C31AB01F01A6}"/>
              </a:ext>
            </a:extLst>
          </p:cNvPr>
          <p:cNvSpPr>
            <a:spLocks noGrp="1"/>
          </p:cNvSpPr>
          <p:nvPr userDrawn="1"/>
        </p:nvSpPr>
        <p:spPr>
          <a:xfrm>
            <a:off x="6327648" y="1463040"/>
            <a:ext cx="5495544" cy="4547141"/>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a:extLst>
                    <a:ext uri="{96DAC541-7B7A-43D3-8B79-37D633B846F1}">
                      <asvg:svgBlip xmlns:asvg="http://schemas.microsoft.com/office/drawing/2016/SVG/main" r:embed="rId2"/>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3"/>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defTabSz="914400" rtl="0" eaLnBrk="1" latinLnBrk="0" hangingPunct="1">
              <a:lnSpc>
                <a:spcPct val="100000"/>
              </a:lnSpc>
              <a:spcBef>
                <a:spcPts val="1600"/>
              </a:spcBef>
              <a:buClr>
                <a:schemeClr val="accent1"/>
              </a:buClr>
              <a:buFontTx/>
              <a:buNone/>
            </a:pPr>
            <a:r>
              <a:rPr lang="en-US" sz="1200" b="1" i="0" kern="1200">
                <a:solidFill>
                  <a:schemeClr val="tx1"/>
                </a:solidFill>
                <a:latin typeface="+mj-lt"/>
                <a:ea typeface="Verdana" panose="020B0604030504040204" pitchFamily="34" charset="0"/>
                <a:cs typeface="Verdana" panose="020B0604030504040204" pitchFamily="34" charset="0"/>
              </a:rPr>
              <a:t>Editing and Formatting</a:t>
            </a:r>
          </a:p>
          <a:p>
            <a:pPr lvl="1"/>
            <a:r>
              <a:rPr lang="en-US"/>
              <a:t>Capitalize first letter of first word in bullets</a:t>
            </a:r>
          </a:p>
          <a:p>
            <a:pPr lvl="1"/>
            <a:r>
              <a:rPr lang="en-US"/>
              <a:t>No period at end of bullets</a:t>
            </a:r>
          </a:p>
          <a:p>
            <a:pPr lvl="1"/>
            <a:r>
              <a:rPr lang="en-US"/>
              <a:t>Please ensure all fonts are set to Poppins for text, charts, etc.</a:t>
            </a:r>
          </a:p>
          <a:p>
            <a:pPr lvl="1"/>
            <a:r>
              <a:rPr lang="en-US"/>
              <a:t>All bullets should use Red</a:t>
            </a:r>
          </a:p>
          <a:p>
            <a:pPr lvl="1"/>
            <a:r>
              <a:rPr lang="en-US"/>
              <a:t>Please use Oxford Blue and Dark Blue for charts and graphs</a:t>
            </a:r>
          </a:p>
          <a:p>
            <a:pPr lvl="1"/>
            <a:r>
              <a:rPr lang="en-US"/>
              <a:t>Please refer to instructions for updating/adding images to slides that have been incorporated into the placeholder images throughout the template</a:t>
            </a:r>
          </a:p>
          <a:p>
            <a:pPr marL="0" lvl="1" indent="0">
              <a:spcBef>
                <a:spcPts val="1600"/>
              </a:spcBef>
              <a:buNone/>
            </a:pPr>
            <a:r>
              <a:rPr lang="en-US" sz="1200" b="1" i="0" kern="1200">
                <a:solidFill>
                  <a:schemeClr val="tx1"/>
                </a:solidFill>
                <a:latin typeface="+mj-lt"/>
                <a:ea typeface="Verdana" panose="020B0604030504040204" pitchFamily="34" charset="0"/>
                <a:cs typeface="Verdana" panose="020B0604030504040204" pitchFamily="34" charset="0"/>
              </a:rPr>
              <a:t>Best Practices</a:t>
            </a:r>
          </a:p>
          <a:p>
            <a:pPr lvl="1"/>
            <a:r>
              <a:rPr lang="en-US"/>
              <a:t>When pasting content from a different deck, click “Reset,” located under “Layout” in the Home tool bar to match slide formatting to current layout</a:t>
            </a:r>
          </a:p>
          <a:p>
            <a:pPr lvl="1"/>
            <a:r>
              <a:rPr lang="en-US"/>
              <a:t>Delete extra “Themes” in the “Layout” panel to ensure consistency </a:t>
            </a:r>
            <a:br>
              <a:rPr lang="en-US"/>
            </a:br>
            <a:r>
              <a:rPr lang="en-US"/>
              <a:t>and reduce file size</a:t>
            </a:r>
          </a:p>
          <a:p>
            <a:pPr lvl="1"/>
            <a:r>
              <a:rPr lang="en-US"/>
              <a:t>Sample layouts are included in this document to aid slide design</a:t>
            </a:r>
          </a:p>
          <a:p>
            <a:endParaRPr lang="en-US"/>
          </a:p>
        </p:txBody>
      </p:sp>
      <p:sp>
        <p:nvSpPr>
          <p:cNvPr id="19" name="Title 1">
            <a:extLst>
              <a:ext uri="{FF2B5EF4-FFF2-40B4-BE49-F238E27FC236}">
                <a16:creationId xmlns:a16="http://schemas.microsoft.com/office/drawing/2014/main" id="{7C96BC8F-ED84-A0DB-2D03-249239276FB0}"/>
              </a:ext>
            </a:extLst>
          </p:cNvPr>
          <p:cNvSpPr txBox="1">
            <a:spLocks/>
          </p:cNvSpPr>
          <p:nvPr userDrawn="1"/>
        </p:nvSpPr>
        <p:spPr>
          <a:xfrm>
            <a:off x="356616" y="274320"/>
            <a:ext cx="11466576" cy="430887"/>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sz="2800"/>
              <a:t>Quick Start</a:t>
            </a:r>
          </a:p>
        </p:txBody>
      </p:sp>
    </p:spTree>
    <p:extLst>
      <p:ext uri="{BB962C8B-B14F-4D97-AF65-F5344CB8AC3E}">
        <p14:creationId xmlns:p14="http://schemas.microsoft.com/office/powerpoint/2010/main" val="215064943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emplate Palette Color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30CD785-0CEF-A5E3-AF23-EC8F19AFD558}"/>
              </a:ext>
            </a:extLst>
          </p:cNvPr>
          <p:cNvSpPr>
            <a:spLocks noGrp="1"/>
          </p:cNvSpPr>
          <p:nvPr>
            <p:ph type="ftr" sz="quarter" idx="10"/>
          </p:nvPr>
        </p:nvSpPr>
        <p:spPr/>
        <p:txBody>
          <a:bodyPr/>
          <a:lstStyle/>
          <a:p>
            <a:r>
              <a:rPr lang="en-US"/>
              <a:t>Abbreviations</a:t>
            </a:r>
          </a:p>
        </p:txBody>
      </p:sp>
      <p:cxnSp>
        <p:nvCxnSpPr>
          <p:cNvPr id="4" name="Straight Connector 3">
            <a:extLst>
              <a:ext uri="{FF2B5EF4-FFF2-40B4-BE49-F238E27FC236}">
                <a16:creationId xmlns:a16="http://schemas.microsoft.com/office/drawing/2014/main" id="{29BEBA64-D2E4-8A2C-80E8-D3C7433BA4BB}"/>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Text Box 53">
            <a:extLst>
              <a:ext uri="{FF2B5EF4-FFF2-40B4-BE49-F238E27FC236}">
                <a16:creationId xmlns:a16="http://schemas.microsoft.com/office/drawing/2014/main" id="{F3ED04DA-B50D-319B-EF24-190136BCF092}"/>
              </a:ext>
            </a:extLst>
          </p:cNvPr>
          <p:cNvSpPr txBox="1">
            <a:spLocks noChangeArrowheads="1"/>
          </p:cNvSpPr>
          <p:nvPr userDrawn="1"/>
        </p:nvSpPr>
        <p:spPr bwMode="gray">
          <a:xfrm>
            <a:off x="358337" y="1438948"/>
            <a:ext cx="1298228" cy="191877"/>
          </a:xfrm>
          <a:prstGeom prst="rect">
            <a:avLst/>
          </a:prstGeom>
        </p:spPr>
        <p:txBody>
          <a:bodyPr wrap="squar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200" b="1" i="0">
                <a:solidFill>
                  <a:schemeClr val="tx2"/>
                </a:solidFill>
                <a:latin typeface="+mj-lt"/>
              </a:rPr>
              <a:t>Primary Colors</a:t>
            </a:r>
          </a:p>
        </p:txBody>
      </p:sp>
      <p:sp>
        <p:nvSpPr>
          <p:cNvPr id="6" name="Rectangle: Rounded Corners 8">
            <a:extLst>
              <a:ext uri="{FF2B5EF4-FFF2-40B4-BE49-F238E27FC236}">
                <a16:creationId xmlns:a16="http://schemas.microsoft.com/office/drawing/2014/main" id="{ACCCE185-2AFD-9461-CAE0-200067EF2B88}"/>
              </a:ext>
            </a:extLst>
          </p:cNvPr>
          <p:cNvSpPr/>
          <p:nvPr userDrawn="1"/>
        </p:nvSpPr>
        <p:spPr>
          <a:xfrm>
            <a:off x="1921767" y="1772570"/>
            <a:ext cx="1013780" cy="1013780"/>
          </a:xfrm>
          <a:prstGeom prst="ellips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a:r>
              <a:rPr lang="en-US" sz="1000" b="0" i="0">
                <a:solidFill>
                  <a:schemeClr val="bg1"/>
                </a:solidFill>
                <a:latin typeface="+mn-lt"/>
              </a:rPr>
              <a:t>Oxford Blue</a:t>
            </a:r>
          </a:p>
          <a:p>
            <a:pPr lvl="0" algn="ctr"/>
            <a:r>
              <a:rPr lang="en-US" sz="1000" b="0" i="0">
                <a:solidFill>
                  <a:schemeClr val="bg1"/>
                </a:solidFill>
                <a:latin typeface="+mn-lt"/>
              </a:rPr>
              <a:t>15,36,69</a:t>
            </a:r>
          </a:p>
        </p:txBody>
      </p:sp>
      <p:sp>
        <p:nvSpPr>
          <p:cNvPr id="7" name="Rectangle: Rounded Corners 10">
            <a:extLst>
              <a:ext uri="{FF2B5EF4-FFF2-40B4-BE49-F238E27FC236}">
                <a16:creationId xmlns:a16="http://schemas.microsoft.com/office/drawing/2014/main" id="{1C710C03-B535-ADE8-2DDB-5AA91DDBEBD8}"/>
              </a:ext>
            </a:extLst>
          </p:cNvPr>
          <p:cNvSpPr/>
          <p:nvPr userDrawn="1"/>
        </p:nvSpPr>
        <p:spPr>
          <a:xfrm>
            <a:off x="3482927" y="1772570"/>
            <a:ext cx="1013780" cy="10137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bg1"/>
                </a:solidFill>
                <a:latin typeface="+mn-lt"/>
              </a:rPr>
              <a:t>Midnight Blue</a:t>
            </a:r>
          </a:p>
          <a:p>
            <a:pPr lvl="0" algn="ctr"/>
            <a:r>
              <a:rPr lang="en-US" sz="1000" b="0" i="0">
                <a:solidFill>
                  <a:schemeClr val="bg1"/>
                </a:solidFill>
                <a:latin typeface="+mn-lt"/>
              </a:rPr>
              <a:t>40,51,74</a:t>
            </a:r>
          </a:p>
        </p:txBody>
      </p:sp>
      <p:sp>
        <p:nvSpPr>
          <p:cNvPr id="8" name="Rectangle: Rounded Corners 15">
            <a:extLst>
              <a:ext uri="{FF2B5EF4-FFF2-40B4-BE49-F238E27FC236}">
                <a16:creationId xmlns:a16="http://schemas.microsoft.com/office/drawing/2014/main" id="{CC28E212-70AF-1C31-1496-728504AE3DCC}"/>
              </a:ext>
            </a:extLst>
          </p:cNvPr>
          <p:cNvSpPr/>
          <p:nvPr userDrawn="1"/>
        </p:nvSpPr>
        <p:spPr>
          <a:xfrm>
            <a:off x="358337" y="1772570"/>
            <a:ext cx="1013780" cy="10137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bg1"/>
                </a:solidFill>
                <a:latin typeface="+mn-lt"/>
              </a:rPr>
              <a:t>Red</a:t>
            </a:r>
          </a:p>
          <a:p>
            <a:pPr lvl="0" algn="ctr"/>
            <a:r>
              <a:rPr lang="en-US" sz="1000" b="0" i="0">
                <a:solidFill>
                  <a:schemeClr val="bg1"/>
                </a:solidFill>
                <a:latin typeface="+mn-lt"/>
              </a:rPr>
              <a:t>214,43,30</a:t>
            </a:r>
          </a:p>
        </p:txBody>
      </p:sp>
      <p:sp>
        <p:nvSpPr>
          <p:cNvPr id="10" name="Text Box 53">
            <a:extLst>
              <a:ext uri="{FF2B5EF4-FFF2-40B4-BE49-F238E27FC236}">
                <a16:creationId xmlns:a16="http://schemas.microsoft.com/office/drawing/2014/main" id="{D391FF2E-F5A7-62D1-B3B4-3B8CE40E25A7}"/>
              </a:ext>
            </a:extLst>
          </p:cNvPr>
          <p:cNvSpPr txBox="1">
            <a:spLocks noChangeArrowheads="1"/>
          </p:cNvSpPr>
          <p:nvPr userDrawn="1"/>
        </p:nvSpPr>
        <p:spPr bwMode="gray">
          <a:xfrm>
            <a:off x="358337" y="3074691"/>
            <a:ext cx="1561160" cy="191877"/>
          </a:xfrm>
          <a:prstGeom prst="rect">
            <a:avLst/>
          </a:prstGeom>
        </p:spPr>
        <p:txBody>
          <a:bodyPr wrap="squar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l" eaLnBrk="1" hangingPunct="1"/>
            <a:r>
              <a:rPr lang="en-US" sz="1200" b="1" i="0">
                <a:solidFill>
                  <a:schemeClr val="tx2"/>
                </a:solidFill>
                <a:latin typeface="+mj-lt"/>
              </a:rPr>
              <a:t>Secondary Colors</a:t>
            </a:r>
          </a:p>
        </p:txBody>
      </p:sp>
      <p:sp>
        <p:nvSpPr>
          <p:cNvPr id="12" name="Rectangle: Rounded Corners 11">
            <a:extLst>
              <a:ext uri="{FF2B5EF4-FFF2-40B4-BE49-F238E27FC236}">
                <a16:creationId xmlns:a16="http://schemas.microsoft.com/office/drawing/2014/main" id="{E78166D4-88E8-450F-2F63-3C83A0F41D05}"/>
              </a:ext>
            </a:extLst>
          </p:cNvPr>
          <p:cNvSpPr/>
          <p:nvPr userDrawn="1"/>
        </p:nvSpPr>
        <p:spPr>
          <a:xfrm>
            <a:off x="358337" y="3408313"/>
            <a:ext cx="1013780" cy="1013780"/>
          </a:xfrm>
          <a:prstGeom prst="ellipse">
            <a:avLst/>
          </a:prstGeom>
          <a:solidFill>
            <a:srgbClr val="003A7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bg1"/>
                </a:solidFill>
                <a:latin typeface="+mn-lt"/>
              </a:rPr>
              <a:t>Dark Blue*</a:t>
            </a:r>
          </a:p>
          <a:p>
            <a:pPr lvl="0" algn="ctr"/>
            <a:r>
              <a:rPr lang="en-US" sz="1000" b="0" i="0">
                <a:solidFill>
                  <a:schemeClr val="bg1"/>
                </a:solidFill>
                <a:latin typeface="+mn-lt"/>
              </a:rPr>
              <a:t>0,58,112</a:t>
            </a:r>
          </a:p>
        </p:txBody>
      </p:sp>
      <p:sp>
        <p:nvSpPr>
          <p:cNvPr id="13" name="Rectangle: Rounded Corners 13">
            <a:extLst>
              <a:ext uri="{FF2B5EF4-FFF2-40B4-BE49-F238E27FC236}">
                <a16:creationId xmlns:a16="http://schemas.microsoft.com/office/drawing/2014/main" id="{79D4F712-CBFF-73CF-7BB9-38D26D61B93A}"/>
              </a:ext>
            </a:extLst>
          </p:cNvPr>
          <p:cNvSpPr/>
          <p:nvPr userDrawn="1"/>
        </p:nvSpPr>
        <p:spPr>
          <a:xfrm>
            <a:off x="1921767" y="5044057"/>
            <a:ext cx="1013780" cy="1013780"/>
          </a:xfrm>
          <a:prstGeom prst="ellipse">
            <a:avLst/>
          </a:prstGeom>
          <a:solidFill>
            <a:srgbClr val="D9D9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tx2"/>
                </a:solidFill>
                <a:latin typeface="+mn-lt"/>
              </a:rPr>
              <a:t>Cloud*</a:t>
            </a:r>
          </a:p>
          <a:p>
            <a:pPr lvl="0" algn="ctr"/>
            <a:r>
              <a:rPr lang="en-US" sz="1000" b="0" i="0">
                <a:solidFill>
                  <a:schemeClr val="tx2"/>
                </a:solidFill>
                <a:latin typeface="+mn-lt"/>
              </a:rPr>
              <a:t>217,217,214</a:t>
            </a:r>
          </a:p>
        </p:txBody>
      </p:sp>
      <p:sp>
        <p:nvSpPr>
          <p:cNvPr id="14" name="Text Box 53">
            <a:extLst>
              <a:ext uri="{FF2B5EF4-FFF2-40B4-BE49-F238E27FC236}">
                <a16:creationId xmlns:a16="http://schemas.microsoft.com/office/drawing/2014/main" id="{AB0E5B66-15BD-D995-9918-2EB6D2AF4191}"/>
              </a:ext>
            </a:extLst>
          </p:cNvPr>
          <p:cNvSpPr txBox="1">
            <a:spLocks noChangeArrowheads="1"/>
          </p:cNvSpPr>
          <p:nvPr userDrawn="1"/>
        </p:nvSpPr>
        <p:spPr bwMode="gray">
          <a:xfrm>
            <a:off x="358336" y="4710435"/>
            <a:ext cx="1254406" cy="191877"/>
          </a:xfrm>
          <a:prstGeom prst="rect">
            <a:avLst/>
          </a:prstGeom>
        </p:spPr>
        <p:txBody>
          <a:bodyPr wrap="squar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l" eaLnBrk="1" hangingPunct="1"/>
            <a:r>
              <a:rPr lang="en-US" sz="1200" b="1" i="0">
                <a:solidFill>
                  <a:schemeClr val="tx2"/>
                </a:solidFill>
                <a:latin typeface="+mj-lt"/>
              </a:rPr>
              <a:t>Neutral Colors</a:t>
            </a:r>
          </a:p>
        </p:txBody>
      </p:sp>
      <p:sp>
        <p:nvSpPr>
          <p:cNvPr id="15" name="Rectangle: Rounded Corners 12">
            <a:extLst>
              <a:ext uri="{FF2B5EF4-FFF2-40B4-BE49-F238E27FC236}">
                <a16:creationId xmlns:a16="http://schemas.microsoft.com/office/drawing/2014/main" id="{18A8E9BD-8BB0-523B-9ADC-3094B07EEFE0}"/>
              </a:ext>
            </a:extLst>
          </p:cNvPr>
          <p:cNvSpPr/>
          <p:nvPr userDrawn="1"/>
        </p:nvSpPr>
        <p:spPr>
          <a:xfrm>
            <a:off x="360607" y="5044057"/>
            <a:ext cx="1013780" cy="1013780"/>
          </a:xfrm>
          <a:prstGeom prst="ellipse">
            <a:avLst/>
          </a:prstGeom>
          <a:solidFill>
            <a:srgbClr val="82787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prstClr val="white"/>
                </a:solidFill>
                <a:latin typeface="+mn-lt"/>
              </a:rPr>
              <a:t>Greystone*</a:t>
            </a:r>
          </a:p>
          <a:p>
            <a:pPr lvl="0" algn="ctr"/>
            <a:r>
              <a:rPr lang="en-US" sz="1000" b="0" i="0">
                <a:solidFill>
                  <a:schemeClr val="bg1"/>
                </a:solidFill>
                <a:latin typeface="+mn-lt"/>
              </a:rPr>
              <a:t>130,120,112</a:t>
            </a:r>
          </a:p>
        </p:txBody>
      </p:sp>
      <p:sp>
        <p:nvSpPr>
          <p:cNvPr id="17" name="Rectangle: Rounded Corners 13">
            <a:extLst>
              <a:ext uri="{FF2B5EF4-FFF2-40B4-BE49-F238E27FC236}">
                <a16:creationId xmlns:a16="http://schemas.microsoft.com/office/drawing/2014/main" id="{78D5C597-A8EE-83B8-E57C-D7AA569D56E7}"/>
              </a:ext>
            </a:extLst>
          </p:cNvPr>
          <p:cNvSpPr/>
          <p:nvPr userDrawn="1"/>
        </p:nvSpPr>
        <p:spPr>
          <a:xfrm>
            <a:off x="3482927" y="5044057"/>
            <a:ext cx="1013780" cy="1013780"/>
          </a:xfrm>
          <a:prstGeom prst="ellipse">
            <a:avLst/>
          </a:prstGeom>
          <a:solidFill>
            <a:srgbClr val="96A3A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prstClr val="white"/>
                </a:solidFill>
                <a:latin typeface="+mn-lt"/>
              </a:rPr>
              <a:t>Slate*</a:t>
            </a:r>
          </a:p>
          <a:p>
            <a:pPr lvl="0" algn="ctr"/>
            <a:r>
              <a:rPr lang="en-US" sz="1000" b="0" i="0">
                <a:solidFill>
                  <a:schemeClr val="bg1"/>
                </a:solidFill>
                <a:latin typeface="+mn-lt"/>
              </a:rPr>
              <a:t>150,163,173</a:t>
            </a:r>
          </a:p>
        </p:txBody>
      </p:sp>
      <p:sp>
        <p:nvSpPr>
          <p:cNvPr id="18" name="Rectangle: Rounded Corners 13">
            <a:extLst>
              <a:ext uri="{FF2B5EF4-FFF2-40B4-BE49-F238E27FC236}">
                <a16:creationId xmlns:a16="http://schemas.microsoft.com/office/drawing/2014/main" id="{EF5891AC-4356-57DE-FBF8-10FEEEFD5351}"/>
              </a:ext>
            </a:extLst>
          </p:cNvPr>
          <p:cNvSpPr/>
          <p:nvPr userDrawn="1"/>
        </p:nvSpPr>
        <p:spPr>
          <a:xfrm>
            <a:off x="5044087" y="5044057"/>
            <a:ext cx="1013780" cy="1013780"/>
          </a:xfrm>
          <a:prstGeom prst="ellips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prstClr val="white"/>
                </a:solidFill>
                <a:latin typeface="+mn-lt"/>
              </a:rPr>
              <a:t>Black</a:t>
            </a:r>
          </a:p>
          <a:p>
            <a:pPr lvl="0" algn="ctr"/>
            <a:r>
              <a:rPr lang="en-US" sz="1000" b="0" i="0">
                <a:solidFill>
                  <a:schemeClr val="bg1"/>
                </a:solidFill>
                <a:latin typeface="+mn-lt"/>
              </a:rPr>
              <a:t>0,0,0</a:t>
            </a:r>
          </a:p>
        </p:txBody>
      </p:sp>
      <p:grpSp>
        <p:nvGrpSpPr>
          <p:cNvPr id="9" name="Group 8">
            <a:extLst>
              <a:ext uri="{FF2B5EF4-FFF2-40B4-BE49-F238E27FC236}">
                <a16:creationId xmlns:a16="http://schemas.microsoft.com/office/drawing/2014/main" id="{7DE6F460-F039-D6C9-4766-2EBE35E29331}"/>
              </a:ext>
            </a:extLst>
          </p:cNvPr>
          <p:cNvGrpSpPr/>
          <p:nvPr userDrawn="1"/>
        </p:nvGrpSpPr>
        <p:grpSpPr>
          <a:xfrm>
            <a:off x="9000709" y="1585514"/>
            <a:ext cx="2820982" cy="2819431"/>
            <a:chOff x="9000709" y="1585514"/>
            <a:chExt cx="2820982" cy="2819431"/>
          </a:xfrm>
        </p:grpSpPr>
        <p:sp>
          <p:nvSpPr>
            <p:cNvPr id="20" name="Rounded Rectangle 19">
              <a:extLst>
                <a:ext uri="{FF2B5EF4-FFF2-40B4-BE49-F238E27FC236}">
                  <a16:creationId xmlns:a16="http://schemas.microsoft.com/office/drawing/2014/main" id="{D0CEBEA7-0194-591F-D96F-CFC59DBEF499}"/>
                </a:ext>
              </a:extLst>
            </p:cNvPr>
            <p:cNvSpPr/>
            <p:nvPr/>
          </p:nvSpPr>
          <p:spPr>
            <a:xfrm>
              <a:off x="9000709" y="1585514"/>
              <a:ext cx="2820982" cy="2819431"/>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lnSpc>
                  <a:spcPts val="2160"/>
                </a:lnSpc>
              </a:pPr>
              <a:r>
                <a:rPr lang="en-US" sz="1800">
                  <a:solidFill>
                    <a:schemeClr val="tx2"/>
                  </a:solidFill>
                </a:rPr>
                <a:t>*Use the </a:t>
              </a:r>
              <a:br>
                <a:rPr lang="en-US" sz="1800">
                  <a:solidFill>
                    <a:schemeClr val="tx2"/>
                  </a:solidFill>
                </a:rPr>
              </a:br>
              <a:r>
                <a:rPr lang="en-US" sz="1800">
                  <a:solidFill>
                    <a:schemeClr val="tx2"/>
                  </a:solidFill>
                </a:rPr>
                <a:t>eyedropper tool    </a:t>
              </a:r>
              <a:br>
                <a:rPr lang="en-US" sz="1800">
                  <a:solidFill>
                    <a:schemeClr val="tx2"/>
                  </a:solidFill>
                </a:rPr>
              </a:br>
              <a:r>
                <a:rPr lang="en-US" sz="1800">
                  <a:solidFill>
                    <a:schemeClr val="tx2"/>
                  </a:solidFill>
                </a:rPr>
                <a:t>to select and apply </a:t>
              </a:r>
              <a:br>
                <a:rPr lang="en-US" sz="1800">
                  <a:solidFill>
                    <a:schemeClr val="tx2"/>
                  </a:solidFill>
                </a:rPr>
              </a:br>
              <a:r>
                <a:rPr lang="en-US" sz="1800">
                  <a:solidFill>
                    <a:schemeClr val="tx2"/>
                  </a:solidFill>
                </a:rPr>
                <a:t>these colors, as they</a:t>
              </a:r>
              <a:br>
                <a:rPr lang="en-US" sz="1800">
                  <a:solidFill>
                    <a:schemeClr val="tx2"/>
                  </a:solidFill>
                </a:rPr>
              </a:br>
              <a:r>
                <a:rPr lang="en-US" sz="1800">
                  <a:solidFill>
                    <a:schemeClr val="tx2"/>
                  </a:solidFill>
                </a:rPr>
                <a:t>are not part</a:t>
              </a:r>
              <a:br>
                <a:rPr lang="en-US" sz="1800">
                  <a:solidFill>
                    <a:schemeClr val="tx2"/>
                  </a:solidFill>
                </a:rPr>
              </a:br>
              <a:r>
                <a:rPr lang="en-US" sz="1800">
                  <a:solidFill>
                    <a:schemeClr val="tx2"/>
                  </a:solidFill>
                </a:rPr>
                <a:t>of the theme.</a:t>
              </a:r>
            </a:p>
          </p:txBody>
        </p:sp>
        <p:grpSp>
          <p:nvGrpSpPr>
            <p:cNvPr id="21" name="Group 20">
              <a:extLst>
                <a:ext uri="{FF2B5EF4-FFF2-40B4-BE49-F238E27FC236}">
                  <a16:creationId xmlns:a16="http://schemas.microsoft.com/office/drawing/2014/main" id="{86EE2006-349D-9617-D3D3-8250EF988FCA}"/>
                </a:ext>
              </a:extLst>
            </p:cNvPr>
            <p:cNvGrpSpPr/>
            <p:nvPr/>
          </p:nvGrpSpPr>
          <p:grpSpPr>
            <a:xfrm>
              <a:off x="11242573" y="2420732"/>
              <a:ext cx="213243" cy="270310"/>
              <a:chOff x="10365684" y="3826566"/>
              <a:chExt cx="213243" cy="270310"/>
            </a:xfrm>
          </p:grpSpPr>
          <p:sp>
            <p:nvSpPr>
              <p:cNvPr id="22" name="Freeform 21">
                <a:extLst>
                  <a:ext uri="{FF2B5EF4-FFF2-40B4-BE49-F238E27FC236}">
                    <a16:creationId xmlns:a16="http://schemas.microsoft.com/office/drawing/2014/main" id="{456409D6-352F-00F6-A0D3-7A2E6B127598}"/>
                  </a:ext>
                </a:extLst>
              </p:cNvPr>
              <p:cNvSpPr/>
              <p:nvPr/>
            </p:nvSpPr>
            <p:spPr>
              <a:xfrm>
                <a:off x="10365684" y="3906691"/>
                <a:ext cx="155891" cy="190185"/>
              </a:xfrm>
              <a:custGeom>
                <a:avLst/>
                <a:gdLst>
                  <a:gd name="connsiteX0" fmla="*/ 113850 w 155891"/>
                  <a:gd name="connsiteY0" fmla="*/ 0 h 190185"/>
                  <a:gd name="connsiteX1" fmla="*/ 17125 w 155891"/>
                  <a:gd name="connsiteY1" fmla="*/ 127350 h 190185"/>
                  <a:gd name="connsiteX2" fmla="*/ 11749 w 155891"/>
                  <a:gd name="connsiteY2" fmla="*/ 143870 h 190185"/>
                  <a:gd name="connsiteX3" fmla="*/ 2185 w 155891"/>
                  <a:gd name="connsiteY3" fmla="*/ 172973 h 190185"/>
                  <a:gd name="connsiteX4" fmla="*/ 2185 w 155891"/>
                  <a:gd name="connsiteY4" fmla="*/ 172973 h 190185"/>
                  <a:gd name="connsiteX5" fmla="*/ 4229 w 155891"/>
                  <a:gd name="connsiteY5" fmla="*/ 187998 h 190185"/>
                  <a:gd name="connsiteX6" fmla="*/ 4229 w 155891"/>
                  <a:gd name="connsiteY6" fmla="*/ 187998 h 190185"/>
                  <a:gd name="connsiteX7" fmla="*/ 19241 w 155891"/>
                  <a:gd name="connsiteY7" fmla="*/ 185952 h 190185"/>
                  <a:gd name="connsiteX8" fmla="*/ 19241 w 155891"/>
                  <a:gd name="connsiteY8" fmla="*/ 185952 h 190185"/>
                  <a:gd name="connsiteX9" fmla="*/ 44699 w 155891"/>
                  <a:gd name="connsiteY9" fmla="*/ 168942 h 190185"/>
                  <a:gd name="connsiteX10" fmla="*/ 59166 w 155891"/>
                  <a:gd name="connsiteY10" fmla="*/ 159340 h 190185"/>
                  <a:gd name="connsiteX11" fmla="*/ 155892 w 155891"/>
                  <a:gd name="connsiteY11" fmla="*/ 31990 h 190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5891" h="190185">
                    <a:moveTo>
                      <a:pt x="113850" y="0"/>
                    </a:moveTo>
                    <a:lnTo>
                      <a:pt x="17125" y="127350"/>
                    </a:lnTo>
                    <a:cubicBezTo>
                      <a:pt x="13376" y="132286"/>
                      <a:pt x="11627" y="138118"/>
                      <a:pt x="11749" y="143870"/>
                    </a:cubicBezTo>
                    <a:cubicBezTo>
                      <a:pt x="11970" y="154367"/>
                      <a:pt x="8533" y="164616"/>
                      <a:pt x="2185" y="172973"/>
                    </a:cubicBezTo>
                    <a:lnTo>
                      <a:pt x="2185" y="172973"/>
                    </a:lnTo>
                    <a:cubicBezTo>
                      <a:pt x="-1396" y="177688"/>
                      <a:pt x="-479" y="184414"/>
                      <a:pt x="4229" y="187998"/>
                    </a:cubicBezTo>
                    <a:lnTo>
                      <a:pt x="4229" y="187998"/>
                    </a:lnTo>
                    <a:cubicBezTo>
                      <a:pt x="8940" y="191582"/>
                      <a:pt x="15660" y="190667"/>
                      <a:pt x="19241" y="185952"/>
                    </a:cubicBezTo>
                    <a:lnTo>
                      <a:pt x="19241" y="185952"/>
                    </a:lnTo>
                    <a:cubicBezTo>
                      <a:pt x="25589" y="177595"/>
                      <a:pt x="34534" y="171539"/>
                      <a:pt x="44699" y="168942"/>
                    </a:cubicBezTo>
                    <a:cubicBezTo>
                      <a:pt x="50269" y="167519"/>
                      <a:pt x="55415" y="164275"/>
                      <a:pt x="59166" y="159340"/>
                    </a:cubicBezTo>
                    <a:lnTo>
                      <a:pt x="155892" y="31990"/>
                    </a:lnTo>
                  </a:path>
                </a:pathLst>
              </a:custGeom>
              <a:noFill/>
              <a:ln w="7579" cap="flat">
                <a:solidFill>
                  <a:schemeClr val="accent3"/>
                </a:solid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1E460BE5-0C7D-A5DD-6C2C-670C7E294EA8}"/>
                  </a:ext>
                </a:extLst>
              </p:cNvPr>
              <p:cNvSpPr/>
              <p:nvPr/>
            </p:nvSpPr>
            <p:spPr>
              <a:xfrm>
                <a:off x="10462057" y="3826566"/>
                <a:ext cx="116870" cy="124997"/>
              </a:xfrm>
              <a:custGeom>
                <a:avLst/>
                <a:gdLst>
                  <a:gd name="connsiteX0" fmla="*/ 88056 w 116870"/>
                  <a:gd name="connsiteY0" fmla="*/ 67881 h 124997"/>
                  <a:gd name="connsiteX1" fmla="*/ 112305 w 116870"/>
                  <a:gd name="connsiteY1" fmla="*/ 35955 h 124997"/>
                  <a:gd name="connsiteX2" fmla="*/ 108033 w 116870"/>
                  <a:gd name="connsiteY2" fmla="*/ 4569 h 124997"/>
                  <a:gd name="connsiteX3" fmla="*/ 108033 w 116870"/>
                  <a:gd name="connsiteY3" fmla="*/ 4569 h 124997"/>
                  <a:gd name="connsiteX4" fmla="*/ 76676 w 116870"/>
                  <a:gd name="connsiteY4" fmla="*/ 8845 h 124997"/>
                  <a:gd name="connsiteX5" fmla="*/ 52427 w 116870"/>
                  <a:gd name="connsiteY5" fmla="*/ 40771 h 124997"/>
                  <a:gd name="connsiteX6" fmla="*/ 36719 w 116870"/>
                  <a:gd name="connsiteY6" fmla="*/ 47183 h 124997"/>
                  <a:gd name="connsiteX7" fmla="*/ 879 w 116870"/>
                  <a:gd name="connsiteY7" fmla="*/ 62078 h 124997"/>
                  <a:gd name="connsiteX8" fmla="*/ 879 w 116870"/>
                  <a:gd name="connsiteY8" fmla="*/ 62078 h 124997"/>
                  <a:gd name="connsiteX9" fmla="*/ 1700 w 116870"/>
                  <a:gd name="connsiteY9" fmla="*/ 68120 h 124997"/>
                  <a:gd name="connsiteX10" fmla="*/ 75293 w 116870"/>
                  <a:gd name="connsiteY10" fmla="*/ 124118 h 124997"/>
                  <a:gd name="connsiteX11" fmla="*/ 81331 w 116870"/>
                  <a:gd name="connsiteY11" fmla="*/ 123295 h 124997"/>
                  <a:gd name="connsiteX12" fmla="*/ 81331 w 116870"/>
                  <a:gd name="connsiteY12" fmla="*/ 123295 h 124997"/>
                  <a:gd name="connsiteX13" fmla="*/ 86084 w 116870"/>
                  <a:gd name="connsiteY13" fmla="*/ 84747 h 124997"/>
                  <a:gd name="connsiteX14" fmla="*/ 88053 w 116870"/>
                  <a:gd name="connsiteY14" fmla="*/ 67881 h 124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6870" h="124997">
                    <a:moveTo>
                      <a:pt x="88056" y="67881"/>
                    </a:moveTo>
                    <a:lnTo>
                      <a:pt x="112305" y="35955"/>
                    </a:lnTo>
                    <a:cubicBezTo>
                      <a:pt x="119786" y="26107"/>
                      <a:pt x="117872" y="12056"/>
                      <a:pt x="108033" y="4569"/>
                    </a:cubicBezTo>
                    <a:lnTo>
                      <a:pt x="108033" y="4569"/>
                    </a:lnTo>
                    <a:cubicBezTo>
                      <a:pt x="98195" y="-2918"/>
                      <a:pt x="84156" y="-1003"/>
                      <a:pt x="76676" y="8845"/>
                    </a:cubicBezTo>
                    <a:lnTo>
                      <a:pt x="52427" y="40771"/>
                    </a:lnTo>
                    <a:cubicBezTo>
                      <a:pt x="48747" y="45613"/>
                      <a:pt x="42742" y="47989"/>
                      <a:pt x="36719" y="47183"/>
                    </a:cubicBezTo>
                    <a:cubicBezTo>
                      <a:pt x="23424" y="45403"/>
                      <a:pt x="9577" y="50626"/>
                      <a:pt x="879" y="62078"/>
                    </a:cubicBezTo>
                    <a:lnTo>
                      <a:pt x="879" y="62078"/>
                    </a:lnTo>
                    <a:cubicBezTo>
                      <a:pt x="-562" y="63975"/>
                      <a:pt x="-192" y="66678"/>
                      <a:pt x="1700" y="68120"/>
                    </a:cubicBezTo>
                    <a:lnTo>
                      <a:pt x="75293" y="124118"/>
                    </a:lnTo>
                    <a:cubicBezTo>
                      <a:pt x="77189" y="125560"/>
                      <a:pt x="79890" y="125190"/>
                      <a:pt x="81331" y="123295"/>
                    </a:cubicBezTo>
                    <a:lnTo>
                      <a:pt x="81331" y="123295"/>
                    </a:lnTo>
                    <a:cubicBezTo>
                      <a:pt x="90029" y="111844"/>
                      <a:pt x="91355" y="97093"/>
                      <a:pt x="86084" y="84747"/>
                    </a:cubicBezTo>
                    <a:cubicBezTo>
                      <a:pt x="83696" y="79154"/>
                      <a:pt x="84377" y="72723"/>
                      <a:pt x="88053" y="67881"/>
                    </a:cubicBezTo>
                    <a:close/>
                  </a:path>
                </a:pathLst>
              </a:custGeom>
              <a:solidFill>
                <a:schemeClr val="accent3"/>
              </a:solidFill>
              <a:ln w="256" cap="flat">
                <a:noFill/>
                <a:prstDash val="solid"/>
                <a:miter/>
              </a:ln>
            </p:spPr>
            <p:txBody>
              <a:bodyPr rtlCol="0" anchor="ctr"/>
              <a:lstStyle/>
              <a:p>
                <a:endParaRPr lang="en-US"/>
              </a:p>
            </p:txBody>
          </p:sp>
        </p:grpSp>
      </p:grpSp>
      <p:sp>
        <p:nvSpPr>
          <p:cNvPr id="24" name="Title 1">
            <a:extLst>
              <a:ext uri="{FF2B5EF4-FFF2-40B4-BE49-F238E27FC236}">
                <a16:creationId xmlns:a16="http://schemas.microsoft.com/office/drawing/2014/main" id="{65119192-0C91-7840-979B-91546FF0291D}"/>
              </a:ext>
            </a:extLst>
          </p:cNvPr>
          <p:cNvSpPr txBox="1">
            <a:spLocks/>
          </p:cNvSpPr>
          <p:nvPr userDrawn="1"/>
        </p:nvSpPr>
        <p:spPr>
          <a:xfrm>
            <a:off x="356616" y="274320"/>
            <a:ext cx="11466576" cy="738664"/>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sz="2800"/>
              <a:t>Template Palette Colors</a:t>
            </a:r>
            <a:br>
              <a:rPr lang="en-US" sz="1400"/>
            </a:br>
            <a:r>
              <a:rPr lang="en-US" sz="2000" b="0">
                <a:latin typeface="+mn-lt"/>
              </a:rPr>
              <a:t>RGB Values</a:t>
            </a:r>
            <a:endParaRPr lang="en-US" sz="2800" b="0"/>
          </a:p>
        </p:txBody>
      </p:sp>
      <p:sp>
        <p:nvSpPr>
          <p:cNvPr id="31" name="Rectangle: Rounded Corners 13">
            <a:extLst>
              <a:ext uri="{FF2B5EF4-FFF2-40B4-BE49-F238E27FC236}">
                <a16:creationId xmlns:a16="http://schemas.microsoft.com/office/drawing/2014/main" id="{8E25FC46-ECFF-700E-E004-3F093220C98B}"/>
              </a:ext>
            </a:extLst>
          </p:cNvPr>
          <p:cNvSpPr/>
          <p:nvPr userDrawn="1"/>
        </p:nvSpPr>
        <p:spPr>
          <a:xfrm>
            <a:off x="5046357" y="3408313"/>
            <a:ext cx="1013780" cy="101378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prstClr val="white"/>
                </a:solidFill>
                <a:latin typeface="+mn-lt"/>
              </a:rPr>
              <a:t>Autumn Leaf</a:t>
            </a:r>
          </a:p>
          <a:p>
            <a:pPr lvl="0" algn="ctr"/>
            <a:r>
              <a:rPr lang="en-US" sz="1000" b="0" i="0">
                <a:solidFill>
                  <a:schemeClr val="bg1"/>
                </a:solidFill>
                <a:latin typeface="+mn-lt"/>
              </a:rPr>
              <a:t>235,117,0</a:t>
            </a:r>
          </a:p>
        </p:txBody>
      </p:sp>
      <p:sp>
        <p:nvSpPr>
          <p:cNvPr id="32" name="Rectangle: Rounded Corners 12">
            <a:extLst>
              <a:ext uri="{FF2B5EF4-FFF2-40B4-BE49-F238E27FC236}">
                <a16:creationId xmlns:a16="http://schemas.microsoft.com/office/drawing/2014/main" id="{B91B3D21-5583-DDF3-2FCE-21373417A0AE}"/>
              </a:ext>
            </a:extLst>
          </p:cNvPr>
          <p:cNvSpPr/>
          <p:nvPr userDrawn="1"/>
        </p:nvSpPr>
        <p:spPr>
          <a:xfrm>
            <a:off x="3485197" y="3408313"/>
            <a:ext cx="1013780" cy="101378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bg1"/>
                </a:solidFill>
                <a:latin typeface="+mn-lt"/>
              </a:rPr>
              <a:t>Burgundy</a:t>
            </a:r>
          </a:p>
          <a:p>
            <a:pPr lvl="0" algn="ctr"/>
            <a:r>
              <a:rPr lang="en-US" sz="1000" b="0" i="0">
                <a:solidFill>
                  <a:schemeClr val="bg1"/>
                </a:solidFill>
                <a:latin typeface="+mn-lt"/>
              </a:rPr>
              <a:t>163,51,59</a:t>
            </a:r>
          </a:p>
        </p:txBody>
      </p:sp>
      <p:sp>
        <p:nvSpPr>
          <p:cNvPr id="33" name="Rectangle: Rounded Corners 11">
            <a:extLst>
              <a:ext uri="{FF2B5EF4-FFF2-40B4-BE49-F238E27FC236}">
                <a16:creationId xmlns:a16="http://schemas.microsoft.com/office/drawing/2014/main" id="{67239028-7F77-0FBC-1E07-09F7B90E36FE}"/>
              </a:ext>
            </a:extLst>
          </p:cNvPr>
          <p:cNvSpPr/>
          <p:nvPr userDrawn="1"/>
        </p:nvSpPr>
        <p:spPr>
          <a:xfrm>
            <a:off x="1921767" y="3408313"/>
            <a:ext cx="1013780" cy="10137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bg1"/>
                </a:solidFill>
                <a:latin typeface="+mn-lt"/>
              </a:rPr>
              <a:t>Cerulean Blue</a:t>
            </a:r>
          </a:p>
          <a:p>
            <a:pPr lvl="0" algn="ctr"/>
            <a:r>
              <a:rPr lang="en-US" sz="1000" b="0" i="0">
                <a:solidFill>
                  <a:schemeClr val="bg1"/>
                </a:solidFill>
                <a:latin typeface="+mn-lt"/>
              </a:rPr>
              <a:t>0,102,128</a:t>
            </a:r>
          </a:p>
        </p:txBody>
      </p:sp>
      <p:sp>
        <p:nvSpPr>
          <p:cNvPr id="34" name="Rectangle: Rounded Corners 11">
            <a:extLst>
              <a:ext uri="{FF2B5EF4-FFF2-40B4-BE49-F238E27FC236}">
                <a16:creationId xmlns:a16="http://schemas.microsoft.com/office/drawing/2014/main" id="{29ACA9F1-9516-998B-DBD5-4333F39465EE}"/>
              </a:ext>
            </a:extLst>
          </p:cNvPr>
          <p:cNvSpPr/>
          <p:nvPr userDrawn="1"/>
        </p:nvSpPr>
        <p:spPr>
          <a:xfrm>
            <a:off x="6607517" y="3408313"/>
            <a:ext cx="1013780" cy="1013780"/>
          </a:xfrm>
          <a:prstGeom prst="ellipse">
            <a:avLst/>
          </a:prstGeom>
          <a:solidFill>
            <a:srgbClr val="FFC72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tx1"/>
                </a:solidFill>
                <a:latin typeface="+mn-lt"/>
              </a:rPr>
              <a:t>Sunflower*</a:t>
            </a:r>
          </a:p>
          <a:p>
            <a:pPr lvl="0" algn="ctr"/>
            <a:r>
              <a:rPr lang="en-US" sz="1000" b="0" i="0">
                <a:solidFill>
                  <a:schemeClr val="tx1"/>
                </a:solidFill>
                <a:latin typeface="+mn-lt"/>
              </a:rPr>
              <a:t>255,199,43</a:t>
            </a:r>
          </a:p>
        </p:txBody>
      </p:sp>
    </p:spTree>
    <p:extLst>
      <p:ext uri="{BB962C8B-B14F-4D97-AF65-F5344CB8AC3E}">
        <p14:creationId xmlns:p14="http://schemas.microsoft.com/office/powerpoint/2010/main" val="119101860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878752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cSld name="1_Title &amp; Content">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609603" y="255762"/>
            <a:ext cx="10483851" cy="457200"/>
          </a:xfrm>
        </p:spPr>
        <p:txBody>
          <a:bodyPr anchor="ctr">
            <a:noAutofit/>
          </a:bodyPr>
          <a:lstStyle>
            <a:lvl1pPr algn="l">
              <a:defRPr sz="2400">
                <a:latin typeface="Arial" pitchFamily="34" charset="0"/>
                <a:cs typeface="Arial" pitchFamily="34" charset="0"/>
              </a:defRPr>
            </a:lvl1pPr>
          </a:lstStyle>
          <a:p>
            <a:r>
              <a:rPr lang="en-US" altLang="ja-JP"/>
              <a:t>Click to edit title</a:t>
            </a:r>
            <a:endParaRPr lang="en-US"/>
          </a:p>
        </p:txBody>
      </p:sp>
      <p:sp>
        <p:nvSpPr>
          <p:cNvPr id="12" name="Footer Placeholder 11"/>
          <p:cNvSpPr>
            <a:spLocks noGrp="1"/>
          </p:cNvSpPr>
          <p:nvPr>
            <p:ph type="ftr" sz="quarter" idx="15"/>
          </p:nvPr>
        </p:nvSpPr>
        <p:spPr>
          <a:xfrm>
            <a:off x="3200400" y="6584949"/>
            <a:ext cx="5791200" cy="273049"/>
          </a:xfrm>
        </p:spPr>
        <p:txBody>
          <a:bodyPr/>
          <a:lstStyle>
            <a:lvl1pPr algn="ctr">
              <a:defRPr>
                <a:solidFill>
                  <a:schemeClr val="tx2">
                    <a:lumMod val="50000"/>
                  </a:schemeClr>
                </a:solidFill>
              </a:defRPr>
            </a:lvl1pPr>
          </a:lstStyle>
          <a:p>
            <a:r>
              <a:rPr lang="en-US"/>
              <a:t>Abbreviations</a:t>
            </a:r>
          </a:p>
        </p:txBody>
      </p:sp>
      <p:sp>
        <p:nvSpPr>
          <p:cNvPr id="2" name="Rectangle 1">
            <a:extLst>
              <a:ext uri="{FF2B5EF4-FFF2-40B4-BE49-F238E27FC236}">
                <a16:creationId xmlns:a16="http://schemas.microsoft.com/office/drawing/2014/main" id="{5AE5DD9F-F13B-50AE-8BBA-F77D4EE9503B}"/>
              </a:ext>
            </a:extLst>
          </p:cNvPr>
          <p:cNvSpPr/>
          <p:nvPr userDrawn="1"/>
        </p:nvSpPr>
        <p:spPr>
          <a:xfrm>
            <a:off x="11568113" y="6467484"/>
            <a:ext cx="388731" cy="273049"/>
          </a:xfrm>
          <a:prstGeom prst="rect">
            <a:avLst/>
          </a:prstGeom>
          <a:noFill/>
          <a:ln w="1905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fld id="{2109FB8E-16B2-6849-87E8-2CD2476352D1}" type="slidenum">
              <a:rPr lang="en-US" sz="800" smtClean="0">
                <a:solidFill>
                  <a:schemeClr val="tx1"/>
                </a:solidFill>
              </a:rPr>
              <a:pPr algn="ctr"/>
              <a:t>‹#›</a:t>
            </a:fld>
            <a:endParaRPr lang="en-GB" sz="1800" b="0">
              <a:solidFill>
                <a:schemeClr val="tx1"/>
              </a:solidFill>
            </a:endParaRPr>
          </a:p>
        </p:txBody>
      </p:sp>
    </p:spTree>
    <p:extLst>
      <p:ext uri="{BB962C8B-B14F-4D97-AF65-F5344CB8AC3E}">
        <p14:creationId xmlns:p14="http://schemas.microsoft.com/office/powerpoint/2010/main" val="117686717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cSld name="Title Slide Teal">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77825" y="1228727"/>
            <a:ext cx="4932000" cy="2200275"/>
          </a:xfrm>
        </p:spPr>
        <p:txBody>
          <a:bodyPr vert="horz" anchor="b"/>
          <a:lstStyle>
            <a:lvl1pPr algn="l">
              <a:defRPr sz="4249">
                <a:solidFill>
                  <a:schemeClr val="bg1"/>
                </a:solidFill>
                <a:latin typeface="Invention" panose="020B0503020008020204" pitchFamily="34" charset="0"/>
              </a:defRPr>
            </a:lvl1pPr>
          </a:lstStyle>
          <a:p>
            <a:r>
              <a:rPr lang="en-US"/>
              <a:t>Click to edit Master title style</a:t>
            </a:r>
          </a:p>
        </p:txBody>
      </p:sp>
      <p:sp>
        <p:nvSpPr>
          <p:cNvPr id="3" name="Subtitle 2"/>
          <p:cNvSpPr>
            <a:spLocks noGrp="1"/>
          </p:cNvSpPr>
          <p:nvPr>
            <p:ph type="subTitle" idx="1"/>
          </p:nvPr>
        </p:nvSpPr>
        <p:spPr>
          <a:xfrm>
            <a:off x="377825" y="3682802"/>
            <a:ext cx="4932000" cy="2200275"/>
          </a:xfrm>
        </p:spPr>
        <p:txBody>
          <a:bodyPr/>
          <a:lstStyle>
            <a:lvl1pPr marL="0" indent="0" algn="l">
              <a:buNone/>
              <a:defRPr sz="1600">
                <a:solidFill>
                  <a:schemeClr val="bg1"/>
                </a:solidFill>
                <a:latin typeface="Invention" panose="020B0503020008020204" pitchFamily="34" charset="0"/>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p>
        </p:txBody>
      </p:sp>
      <p:sp>
        <p:nvSpPr>
          <p:cNvPr id="9" name="Text Placeholder 8">
            <a:extLst>
              <a:ext uri="{FF2B5EF4-FFF2-40B4-BE49-F238E27FC236}">
                <a16:creationId xmlns:a16="http://schemas.microsoft.com/office/drawing/2014/main" id="{859BCDAA-3E86-4330-AE34-33DA3205BC85}"/>
              </a:ext>
            </a:extLst>
          </p:cNvPr>
          <p:cNvSpPr>
            <a:spLocks noGrp="1"/>
          </p:cNvSpPr>
          <p:nvPr>
            <p:ph type="body" sz="quarter" idx="10"/>
          </p:nvPr>
        </p:nvSpPr>
        <p:spPr>
          <a:xfrm>
            <a:off x="377825" y="6174003"/>
            <a:ext cx="3607594" cy="207749"/>
          </a:xfrm>
        </p:spPr>
        <p:txBody>
          <a:bodyPr/>
          <a:lstStyle>
            <a:lvl1pPr>
              <a:defRPr sz="1200">
                <a:solidFill>
                  <a:schemeClr val="bg1"/>
                </a:solidFill>
                <a:latin typeface="Invention" panose="020B0503020008020204" pitchFamily="34" charset="0"/>
              </a:defRPr>
            </a:lvl1pPr>
            <a:lvl2pPr>
              <a:defRPr sz="1200"/>
            </a:lvl2pPr>
            <a:lvl3pPr>
              <a:defRPr sz="1200"/>
            </a:lvl3pPr>
            <a:lvl4pPr>
              <a:defRPr sz="1200"/>
            </a:lvl4pPr>
            <a:lvl5pPr>
              <a:defRPr sz="1200"/>
            </a:lvl5pPr>
          </a:lstStyle>
          <a:p>
            <a:pPr lvl="0"/>
            <a:r>
              <a:rPr lang="en-US"/>
              <a:t>Click to edit Master text styles</a:t>
            </a:r>
          </a:p>
        </p:txBody>
      </p:sp>
    </p:spTree>
    <p:extLst>
      <p:ext uri="{BB962C8B-B14F-4D97-AF65-F5344CB8AC3E}">
        <p14:creationId xmlns:p14="http://schemas.microsoft.com/office/powerpoint/2010/main" val="149860988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oleObject" Target="../embeddings/oleObject1.bin"/><Relationship Id="rId50" Type="http://schemas.openxmlformats.org/officeDocument/2006/relationships/image" Target="../media/image3.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2.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1.emf"/><Relationship Id="rId8" Type="http://schemas.openxmlformats.org/officeDocument/2006/relationships/slideLayout" Target="../slideLayouts/slideLayout8.xml"/><Relationship Id="rId51" Type="http://schemas.openxmlformats.org/officeDocument/2006/relationships/image" Target="../media/image4.sv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2.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7.xml"/><Relationship Id="rId18" Type="http://schemas.openxmlformats.org/officeDocument/2006/relationships/slideLayout" Target="../slideLayouts/slideLayout62.xml"/><Relationship Id="rId26" Type="http://schemas.openxmlformats.org/officeDocument/2006/relationships/slideLayout" Target="../slideLayouts/slideLayout70.xml"/><Relationship Id="rId39" Type="http://schemas.openxmlformats.org/officeDocument/2006/relationships/slideLayout" Target="../slideLayouts/slideLayout83.xml"/><Relationship Id="rId21" Type="http://schemas.openxmlformats.org/officeDocument/2006/relationships/slideLayout" Target="../slideLayouts/slideLayout65.xml"/><Relationship Id="rId34" Type="http://schemas.openxmlformats.org/officeDocument/2006/relationships/slideLayout" Target="../slideLayouts/slideLayout78.xml"/><Relationship Id="rId42" Type="http://schemas.openxmlformats.org/officeDocument/2006/relationships/slideLayout" Target="../slideLayouts/slideLayout86.xml"/><Relationship Id="rId47" Type="http://schemas.openxmlformats.org/officeDocument/2006/relationships/theme" Target="../theme/theme2.xml"/><Relationship Id="rId50" Type="http://schemas.openxmlformats.org/officeDocument/2006/relationships/image" Target="../media/image1.emf"/><Relationship Id="rId7" Type="http://schemas.openxmlformats.org/officeDocument/2006/relationships/slideLayout" Target="../slideLayouts/slideLayout51.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9" Type="http://schemas.openxmlformats.org/officeDocument/2006/relationships/slideLayout" Target="../slideLayouts/slideLayout73.xml"/><Relationship Id="rId11" Type="http://schemas.openxmlformats.org/officeDocument/2006/relationships/slideLayout" Target="../slideLayouts/slideLayout55.xml"/><Relationship Id="rId24" Type="http://schemas.openxmlformats.org/officeDocument/2006/relationships/slideLayout" Target="../slideLayouts/slideLayout68.xml"/><Relationship Id="rId32" Type="http://schemas.openxmlformats.org/officeDocument/2006/relationships/slideLayout" Target="../slideLayouts/slideLayout76.xml"/><Relationship Id="rId37" Type="http://schemas.openxmlformats.org/officeDocument/2006/relationships/slideLayout" Target="../slideLayouts/slideLayout81.xml"/><Relationship Id="rId40" Type="http://schemas.openxmlformats.org/officeDocument/2006/relationships/slideLayout" Target="../slideLayouts/slideLayout84.xml"/><Relationship Id="rId45" Type="http://schemas.openxmlformats.org/officeDocument/2006/relationships/slideLayout" Target="../slideLayouts/slideLayout89.xml"/><Relationship Id="rId53" Type="http://schemas.openxmlformats.org/officeDocument/2006/relationships/image" Target="../media/image4.svg"/><Relationship Id="rId5" Type="http://schemas.openxmlformats.org/officeDocument/2006/relationships/slideLayout" Target="../slideLayouts/slideLayout49.xml"/><Relationship Id="rId10" Type="http://schemas.openxmlformats.org/officeDocument/2006/relationships/slideLayout" Target="../slideLayouts/slideLayout54.xml"/><Relationship Id="rId19" Type="http://schemas.openxmlformats.org/officeDocument/2006/relationships/slideLayout" Target="../slideLayouts/slideLayout63.xml"/><Relationship Id="rId31" Type="http://schemas.openxmlformats.org/officeDocument/2006/relationships/slideLayout" Target="../slideLayouts/slideLayout75.xml"/><Relationship Id="rId44" Type="http://schemas.openxmlformats.org/officeDocument/2006/relationships/slideLayout" Target="../slideLayouts/slideLayout88.xml"/><Relationship Id="rId52" Type="http://schemas.openxmlformats.org/officeDocument/2006/relationships/image" Target="../media/image3.svg"/><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 Id="rId22" Type="http://schemas.openxmlformats.org/officeDocument/2006/relationships/slideLayout" Target="../slideLayouts/slideLayout66.xml"/><Relationship Id="rId27" Type="http://schemas.openxmlformats.org/officeDocument/2006/relationships/slideLayout" Target="../slideLayouts/slideLayout71.xml"/><Relationship Id="rId30" Type="http://schemas.openxmlformats.org/officeDocument/2006/relationships/slideLayout" Target="../slideLayouts/slideLayout74.xml"/><Relationship Id="rId35" Type="http://schemas.openxmlformats.org/officeDocument/2006/relationships/slideLayout" Target="../slideLayouts/slideLayout79.xml"/><Relationship Id="rId43" Type="http://schemas.openxmlformats.org/officeDocument/2006/relationships/slideLayout" Target="../slideLayouts/slideLayout87.xml"/><Relationship Id="rId48" Type="http://schemas.openxmlformats.org/officeDocument/2006/relationships/tags" Target="../tags/tag3.xml"/><Relationship Id="rId8" Type="http://schemas.openxmlformats.org/officeDocument/2006/relationships/slideLayout" Target="../slideLayouts/slideLayout52.xml"/><Relationship Id="rId51" Type="http://schemas.openxmlformats.org/officeDocument/2006/relationships/image" Target="../media/image2.svg"/><Relationship Id="rId3" Type="http://schemas.openxmlformats.org/officeDocument/2006/relationships/slideLayout" Target="../slideLayouts/slideLayout47.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5" Type="http://schemas.openxmlformats.org/officeDocument/2006/relationships/slideLayout" Target="../slideLayouts/slideLayout69.xml"/><Relationship Id="rId33" Type="http://schemas.openxmlformats.org/officeDocument/2006/relationships/slideLayout" Target="../slideLayouts/slideLayout77.xml"/><Relationship Id="rId38" Type="http://schemas.openxmlformats.org/officeDocument/2006/relationships/slideLayout" Target="../slideLayouts/slideLayout82.xml"/><Relationship Id="rId46" Type="http://schemas.openxmlformats.org/officeDocument/2006/relationships/slideLayout" Target="../slideLayouts/slideLayout90.xml"/><Relationship Id="rId20" Type="http://schemas.openxmlformats.org/officeDocument/2006/relationships/slideLayout" Target="../slideLayouts/slideLayout64.xml"/><Relationship Id="rId41" Type="http://schemas.openxmlformats.org/officeDocument/2006/relationships/slideLayout" Target="../slideLayouts/slideLayout85.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5" Type="http://schemas.openxmlformats.org/officeDocument/2006/relationships/slideLayout" Target="../slideLayouts/slideLayout59.xml"/><Relationship Id="rId23" Type="http://schemas.openxmlformats.org/officeDocument/2006/relationships/slideLayout" Target="../slideLayouts/slideLayout67.xml"/><Relationship Id="rId28" Type="http://schemas.openxmlformats.org/officeDocument/2006/relationships/slideLayout" Target="../slideLayouts/slideLayout72.xml"/><Relationship Id="rId36" Type="http://schemas.openxmlformats.org/officeDocument/2006/relationships/slideLayout" Target="../slideLayouts/slideLayout80.xml"/><Relationship Id="rId49" Type="http://schemas.openxmlformats.org/officeDocument/2006/relationships/oleObject" Target="../embeddings/oleObject2.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B30912A6-2043-057D-D879-11AB811C047E}"/>
              </a:ext>
            </a:extLst>
          </p:cNvPr>
          <p:cNvGraphicFramePr>
            <a:graphicFrameLocks/>
          </p:cNvGraphicFramePr>
          <p:nvPr userDrawn="1">
            <p:custDataLst>
              <p:tags r:id="rId46"/>
            </p:custDataLst>
            <p:extLst>
              <p:ext uri="{D42A27DB-BD31-4B8C-83A1-F6EECF244321}">
                <p14:modId xmlns:p14="http://schemas.microsoft.com/office/powerpoint/2010/main" val="2584806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7" imgW="454" imgH="456" progId="TCLayout.ActiveDocument.1">
                  <p:embed/>
                </p:oleObj>
              </mc:Choice>
              <mc:Fallback>
                <p:oleObj name="think-cell Slide" r:id="rId47" imgW="454" imgH="456" progId="TCLayout.ActiveDocument.1">
                  <p:embed/>
                  <p:pic>
                    <p:nvPicPr>
                      <p:cNvPr id="7" name="think-cell data - do not delete" hidden="1">
                        <a:extLst>
                          <a:ext uri="{FF2B5EF4-FFF2-40B4-BE49-F238E27FC236}">
                            <a16:creationId xmlns:a16="http://schemas.microsoft.com/office/drawing/2014/main" id="{B30912A6-2043-057D-D879-11AB811C047E}"/>
                          </a:ext>
                        </a:extLst>
                      </p:cNvPr>
                      <p:cNvPicPr/>
                      <p:nvPr/>
                    </p:nvPicPr>
                    <p:blipFill>
                      <a:blip r:embed="rId48"/>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358337" y="271427"/>
            <a:ext cx="11470125" cy="430887"/>
          </a:xfrm>
          <a:prstGeom prst="rect">
            <a:avLst/>
          </a:prstGeom>
        </p:spPr>
        <p:txBody>
          <a:bodyPr vert="horz" lIns="0" tIns="0" rIns="0" bIns="0" rtlCol="0" anchor="t" anchorCtr="0">
            <a:spAutoFit/>
          </a:bodyPr>
          <a:lstStyle/>
          <a:p>
            <a:r>
              <a:rPr lang="en-US"/>
              <a:t>Click to edit Master title style</a:t>
            </a:r>
          </a:p>
        </p:txBody>
      </p:sp>
      <p:sp>
        <p:nvSpPr>
          <p:cNvPr id="3" name="Text Placeholder 2"/>
          <p:cNvSpPr>
            <a:spLocks noGrp="1"/>
          </p:cNvSpPr>
          <p:nvPr>
            <p:ph type="body" idx="1"/>
          </p:nvPr>
        </p:nvSpPr>
        <p:spPr>
          <a:xfrm>
            <a:off x="358337" y="1220046"/>
            <a:ext cx="11470125" cy="429768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a:extLst>
              <a:ext uri="{FF2B5EF4-FFF2-40B4-BE49-F238E27FC236}">
                <a16:creationId xmlns:a16="http://schemas.microsoft.com/office/drawing/2014/main" id="{256A74CA-F5E6-2235-4439-2F81CD4174A9}"/>
              </a:ext>
            </a:extLst>
          </p:cNvPr>
          <p:cNvSpPr txBox="1">
            <a:spLocks/>
          </p:cNvSpPr>
          <p:nvPr userDrawn="1"/>
        </p:nvSpPr>
        <p:spPr>
          <a:xfrm>
            <a:off x="10902997" y="6385348"/>
            <a:ext cx="365497" cy="138499"/>
          </a:xfrm>
          <a:prstGeom prst="rect">
            <a:avLst/>
          </a:prstGeom>
        </p:spPr>
        <p:txBody>
          <a:bodyPr vert="horz" lIns="0" tIns="0" rIns="0" bIns="0" rtlCol="0" anchor="ctr"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tx2"/>
                </a:solidFill>
                <a:latin typeface="+mj-lt"/>
              </a:rPr>
              <a:pPr>
                <a:defRPr/>
              </a:pPr>
              <a:t>‹#›</a:t>
            </a:fld>
            <a:endParaRPr lang="en-US" sz="900" b="0">
              <a:solidFill>
                <a:schemeClr val="tx2"/>
              </a:solidFill>
              <a:latin typeface="+mj-lt"/>
            </a:endParaRPr>
          </a:p>
        </p:txBody>
      </p:sp>
      <p:sp>
        <p:nvSpPr>
          <p:cNvPr id="8" name="TextBox 7">
            <a:extLst>
              <a:ext uri="{FF2B5EF4-FFF2-40B4-BE49-F238E27FC236}">
                <a16:creationId xmlns:a16="http://schemas.microsoft.com/office/drawing/2014/main" id="{1DBF8527-C648-78B2-DEBB-C4F3590D909D}"/>
              </a:ext>
            </a:extLst>
          </p:cNvPr>
          <p:cNvSpPr txBox="1"/>
          <p:nvPr userDrawn="1"/>
        </p:nvSpPr>
        <p:spPr>
          <a:xfrm>
            <a:off x="8869311" y="6386687"/>
            <a:ext cx="1971694" cy="138499"/>
          </a:xfrm>
          <a:prstGeom prst="rect">
            <a:avLst/>
          </a:prstGeom>
          <a:noFill/>
        </p:spPr>
        <p:txBody>
          <a:bodyPr wrap="none" lIns="0" tIns="0" rIns="0" bIns="0" rtlCol="0" anchor="ctr">
            <a:spAutoFit/>
          </a:bodyPr>
          <a:lstStyle/>
          <a:p>
            <a:pPr algn="r"/>
            <a:r>
              <a:rPr lang="en-US" sz="900">
                <a:solidFill>
                  <a:schemeClr val="tx2"/>
                </a:solidFill>
                <a:latin typeface="+mj-lt"/>
              </a:rPr>
              <a:t>Confidential. For internal use only.</a:t>
            </a:r>
          </a:p>
        </p:txBody>
      </p:sp>
      <p:pic>
        <p:nvPicPr>
          <p:cNvPr id="5" name="Graphic 4">
            <a:extLst>
              <a:ext uri="{FF2B5EF4-FFF2-40B4-BE49-F238E27FC236}">
                <a16:creationId xmlns:a16="http://schemas.microsoft.com/office/drawing/2014/main" id="{00BA1F49-BB46-26C5-0D41-E71A03E5AF15}"/>
              </a:ext>
            </a:extLst>
          </p:cNvPr>
          <p:cNvPicPr>
            <a:picLocks noChangeAspect="1"/>
          </p:cNvPicPr>
          <p:nvPr userDrawn="1"/>
        </p:nvPicPr>
        <p:blipFill>
          <a:blip>
            <a:extLst>
              <a:ext uri="{96DAC541-7B7A-43D3-8B79-37D633B846F1}">
                <asvg:svgBlip xmlns:asvg="http://schemas.microsoft.com/office/drawing/2016/SVG/main" r:embed="rId49"/>
              </a:ext>
            </a:extLst>
          </a:blip>
          <a:stretch>
            <a:fillRect/>
          </a:stretch>
        </p:blipFill>
        <p:spPr>
          <a:xfrm>
            <a:off x="11550145" y="6318107"/>
            <a:ext cx="274320" cy="274320"/>
          </a:xfrm>
          <a:prstGeom prst="rect">
            <a:avLst/>
          </a:prstGeom>
        </p:spPr>
      </p:pic>
      <p:sp>
        <p:nvSpPr>
          <p:cNvPr id="9" name="Footer Placeholder 8">
            <a:extLst>
              <a:ext uri="{FF2B5EF4-FFF2-40B4-BE49-F238E27FC236}">
                <a16:creationId xmlns:a16="http://schemas.microsoft.com/office/drawing/2014/main" id="{8DB4D983-8CBD-62FC-D4B8-DEDA90BEA13E}"/>
              </a:ext>
            </a:extLst>
          </p:cNvPr>
          <p:cNvSpPr>
            <a:spLocks noGrp="1"/>
          </p:cNvSpPr>
          <p:nvPr>
            <p:ph type="ftr" sz="quarter" idx="3"/>
          </p:nvPr>
        </p:nvSpPr>
        <p:spPr>
          <a:xfrm>
            <a:off x="358337" y="6227807"/>
            <a:ext cx="7909560" cy="365760"/>
          </a:xfrm>
          <a:prstGeom prst="rect">
            <a:avLst/>
          </a:prstGeom>
        </p:spPr>
        <p:txBody>
          <a:bodyPr vert="horz" lIns="0" tIns="0" rIns="0" bIns="0" rtlCol="0" anchor="b" anchorCtr="0">
            <a:noAutofit/>
          </a:bodyPr>
          <a:lstStyle>
            <a:lvl1pPr algn="l">
              <a:lnSpc>
                <a:spcPct val="90000"/>
              </a:lnSpc>
              <a:spcBef>
                <a:spcPts val="300"/>
              </a:spcBef>
              <a:defRPr sz="700">
                <a:solidFill>
                  <a:schemeClr val="tx1">
                    <a:lumMod val="65000"/>
                    <a:lumOff val="35000"/>
                  </a:schemeClr>
                </a:solidFill>
              </a:defRPr>
            </a:lvl1pPr>
          </a:lstStyle>
          <a:p>
            <a:r>
              <a:rPr lang="en-US"/>
              <a:t>Abbreviations</a:t>
            </a:r>
          </a:p>
        </p:txBody>
      </p:sp>
    </p:spTree>
    <p:extLst>
      <p:ext uri="{BB962C8B-B14F-4D97-AF65-F5344CB8AC3E}">
        <p14:creationId xmlns:p14="http://schemas.microsoft.com/office/powerpoint/2010/main" val="3190122208"/>
      </p:ext>
    </p:extLst>
  </p:cSld>
  <p:clrMap bg1="lt1" tx1="dk1" bg2="lt2" tx2="dk2" accent1="accent1" accent2="accent2" accent3="accent3" accent4="accent4" accent5="accent5" accent6="accent6" hlink="hlink" folHlink="folHlink"/>
  <p:sldLayoutIdLst>
    <p:sldLayoutId id="2147483761" r:id="rId1"/>
    <p:sldLayoutId id="2147483770" r:id="rId2"/>
    <p:sldLayoutId id="2147483771" r:id="rId3"/>
    <p:sldLayoutId id="2147483772" r:id="rId4"/>
    <p:sldLayoutId id="2147483773" r:id="rId5"/>
    <p:sldLayoutId id="2147483774" r:id="rId6"/>
    <p:sldLayoutId id="2147483885" r:id="rId7"/>
    <p:sldLayoutId id="2147483769" r:id="rId8"/>
    <p:sldLayoutId id="2147483823" r:id="rId9"/>
    <p:sldLayoutId id="2147483775" r:id="rId10"/>
    <p:sldLayoutId id="2147483759" r:id="rId11"/>
    <p:sldLayoutId id="2147483792" r:id="rId12"/>
    <p:sldLayoutId id="2147483892" r:id="rId13"/>
    <p:sldLayoutId id="2147483893" r:id="rId14"/>
    <p:sldLayoutId id="2147483798" r:id="rId15"/>
    <p:sldLayoutId id="2147483821" r:id="rId16"/>
    <p:sldLayoutId id="2147483822" r:id="rId17"/>
    <p:sldLayoutId id="2147483886" r:id="rId18"/>
    <p:sldLayoutId id="2147483829" r:id="rId19"/>
    <p:sldLayoutId id="2147483781" r:id="rId20"/>
    <p:sldLayoutId id="2147483830" r:id="rId21"/>
    <p:sldLayoutId id="2147483783" r:id="rId22"/>
    <p:sldLayoutId id="2147483890" r:id="rId23"/>
    <p:sldLayoutId id="2147483891" r:id="rId24"/>
    <p:sldLayoutId id="2147483831" r:id="rId25"/>
    <p:sldLayoutId id="2147483777" r:id="rId26"/>
    <p:sldLayoutId id="2147483883" r:id="rId27"/>
    <p:sldLayoutId id="2147483832" r:id="rId28"/>
    <p:sldLayoutId id="2147483833" r:id="rId29"/>
    <p:sldLayoutId id="2147483785" r:id="rId30"/>
    <p:sldLayoutId id="2147483786" r:id="rId31"/>
    <p:sldLayoutId id="2147483799" r:id="rId32"/>
    <p:sldLayoutId id="2147483824" r:id="rId33"/>
    <p:sldLayoutId id="2147483825" r:id="rId34"/>
    <p:sldLayoutId id="2147483800" r:id="rId35"/>
    <p:sldLayoutId id="2147483803" r:id="rId36"/>
    <p:sldLayoutId id="2147483805" r:id="rId37"/>
    <p:sldLayoutId id="2147483802" r:id="rId38"/>
    <p:sldLayoutId id="2147483826" r:id="rId39"/>
    <p:sldLayoutId id="2147483801" r:id="rId40"/>
    <p:sldLayoutId id="2147483789" r:id="rId41"/>
    <p:sldLayoutId id="2147483887" r:id="rId42"/>
    <p:sldLayoutId id="2147483888" r:id="rId43"/>
    <p:sldLayoutId id="2147483757" r:id="rId44"/>
  </p:sldLayoutIdLst>
  <p:hf hdr="0" dt="0"/>
  <p:txStyles>
    <p:titleStyle>
      <a:lvl1pPr algn="l" defTabSz="914400" rtl="0" eaLnBrk="1" latinLnBrk="0" hangingPunct="1">
        <a:lnSpc>
          <a:spcPct val="100000"/>
        </a:lnSpc>
        <a:spcBef>
          <a:spcPct val="0"/>
        </a:spcBef>
        <a:buNone/>
        <a:defRPr sz="2800" b="0" kern="1200" spc="0" baseline="0">
          <a:solidFill>
            <a:schemeClr val="tx2"/>
          </a:solidFill>
          <a:effectLst/>
          <a:latin typeface="+mj-lt"/>
          <a:ea typeface="Verdana" panose="020B0604030504040204" pitchFamily="34" charset="0"/>
          <a:cs typeface="Verdana" panose="020B0604030504040204" pitchFamily="34" charset="0"/>
        </a:defRPr>
      </a:lvl1pPr>
    </p:titleStyle>
    <p:body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a:extLst>
              <a:ext uri="{96DAC541-7B7A-43D3-8B79-37D633B846F1}">
                <asvg:svgBlip xmlns:asvg="http://schemas.microsoft.com/office/drawing/2016/SVG/main" r:embed="rId50"/>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51"/>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pos="227" userDrawn="1">
          <p15:clr>
            <a:srgbClr val="F26B43"/>
          </p15:clr>
        </p15:guide>
        <p15:guide id="9" pos="7451" userDrawn="1">
          <p15:clr>
            <a:srgbClr val="F26B43"/>
          </p15:clr>
        </p15:guide>
        <p15:guide id="12" orient="horz" pos="369" userDrawn="1">
          <p15:clr>
            <a:srgbClr val="F26B43"/>
          </p15:clr>
        </p15:guide>
        <p15:guide id="16" pos="3696" userDrawn="1">
          <p15:clr>
            <a:srgbClr val="F26B43"/>
          </p15:clr>
        </p15:guide>
        <p15:guide id="20" pos="3840" userDrawn="1">
          <p15:clr>
            <a:srgbClr val="F26B43"/>
          </p15:clr>
        </p15:guide>
        <p15:guide id="21" pos="3984" userDrawn="1">
          <p15:clr>
            <a:srgbClr val="F26B43"/>
          </p15:clr>
        </p15:guide>
        <p15:guide id="23" orient="horz" pos="413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B30912A6-2043-057D-D879-11AB811C047E}"/>
              </a:ext>
            </a:extLst>
          </p:cNvPr>
          <p:cNvGraphicFramePr>
            <a:graphicFrameLocks/>
          </p:cNvGraphicFramePr>
          <p:nvPr userDrawn="1">
            <p:custDataLst>
              <p:tags r:id="rId48"/>
            </p:custDataLst>
            <p:extLst>
              <p:ext uri="{D42A27DB-BD31-4B8C-83A1-F6EECF244321}">
                <p14:modId xmlns:p14="http://schemas.microsoft.com/office/powerpoint/2010/main" val="9796950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9" imgW="454" imgH="456" progId="TCLayout.ActiveDocument.1">
                  <p:embed/>
                </p:oleObj>
              </mc:Choice>
              <mc:Fallback>
                <p:oleObj name="think-cell Slide" r:id="rId49" imgW="454" imgH="456" progId="TCLayout.ActiveDocument.1">
                  <p:embed/>
                  <p:pic>
                    <p:nvPicPr>
                      <p:cNvPr id="7" name="think-cell data - do not delete" hidden="1">
                        <a:extLst>
                          <a:ext uri="{FF2B5EF4-FFF2-40B4-BE49-F238E27FC236}">
                            <a16:creationId xmlns:a16="http://schemas.microsoft.com/office/drawing/2014/main" id="{B30912A6-2043-057D-D879-11AB811C047E}"/>
                          </a:ext>
                        </a:extLst>
                      </p:cNvPr>
                      <p:cNvPicPr/>
                      <p:nvPr/>
                    </p:nvPicPr>
                    <p:blipFill>
                      <a:blip r:embed="rId5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358337" y="271427"/>
            <a:ext cx="11470125" cy="430887"/>
          </a:xfrm>
          <a:prstGeom prst="rect">
            <a:avLst/>
          </a:prstGeom>
        </p:spPr>
        <p:txBody>
          <a:bodyPr vert="horz" lIns="0" tIns="0" rIns="0" bIns="0" rtlCol="0" anchor="t" anchorCtr="0">
            <a:spAutoFit/>
          </a:bodyPr>
          <a:lstStyle/>
          <a:p>
            <a:r>
              <a:rPr lang="en-US"/>
              <a:t>Click to edit Master title style</a:t>
            </a:r>
          </a:p>
        </p:txBody>
      </p:sp>
      <p:sp>
        <p:nvSpPr>
          <p:cNvPr id="3" name="Text Placeholder 2"/>
          <p:cNvSpPr>
            <a:spLocks noGrp="1"/>
          </p:cNvSpPr>
          <p:nvPr>
            <p:ph type="body" idx="1"/>
          </p:nvPr>
        </p:nvSpPr>
        <p:spPr>
          <a:xfrm>
            <a:off x="358337" y="1220046"/>
            <a:ext cx="11470125" cy="429768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a:extLst>
              <a:ext uri="{FF2B5EF4-FFF2-40B4-BE49-F238E27FC236}">
                <a16:creationId xmlns:a16="http://schemas.microsoft.com/office/drawing/2014/main" id="{256A74CA-F5E6-2235-4439-2F81CD4174A9}"/>
              </a:ext>
            </a:extLst>
          </p:cNvPr>
          <p:cNvSpPr txBox="1">
            <a:spLocks/>
          </p:cNvSpPr>
          <p:nvPr userDrawn="1"/>
        </p:nvSpPr>
        <p:spPr>
          <a:xfrm>
            <a:off x="10902997" y="6385348"/>
            <a:ext cx="365497" cy="138499"/>
          </a:xfrm>
          <a:prstGeom prst="rect">
            <a:avLst/>
          </a:prstGeom>
        </p:spPr>
        <p:txBody>
          <a:bodyPr vert="horz" lIns="0" tIns="0" rIns="0" bIns="0" rtlCol="0" anchor="ctr"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tx2"/>
                </a:solidFill>
                <a:latin typeface="+mj-lt"/>
              </a:rPr>
              <a:pPr>
                <a:defRPr/>
              </a:pPr>
              <a:t>‹#›</a:t>
            </a:fld>
            <a:endParaRPr lang="en-US" sz="900" b="0">
              <a:solidFill>
                <a:schemeClr val="tx2"/>
              </a:solidFill>
              <a:latin typeface="+mj-lt"/>
            </a:endParaRPr>
          </a:p>
        </p:txBody>
      </p:sp>
      <p:sp>
        <p:nvSpPr>
          <p:cNvPr id="8" name="TextBox 7">
            <a:extLst>
              <a:ext uri="{FF2B5EF4-FFF2-40B4-BE49-F238E27FC236}">
                <a16:creationId xmlns:a16="http://schemas.microsoft.com/office/drawing/2014/main" id="{1DBF8527-C648-78B2-DEBB-C4F3590D909D}"/>
              </a:ext>
            </a:extLst>
          </p:cNvPr>
          <p:cNvSpPr txBox="1"/>
          <p:nvPr userDrawn="1"/>
        </p:nvSpPr>
        <p:spPr>
          <a:xfrm>
            <a:off x="8869311" y="6386687"/>
            <a:ext cx="1971694" cy="138499"/>
          </a:xfrm>
          <a:prstGeom prst="rect">
            <a:avLst/>
          </a:prstGeom>
          <a:noFill/>
        </p:spPr>
        <p:txBody>
          <a:bodyPr wrap="none" lIns="0" tIns="0" rIns="0" bIns="0" rtlCol="0" anchor="ctr">
            <a:spAutoFit/>
          </a:bodyPr>
          <a:lstStyle/>
          <a:p>
            <a:pPr algn="r"/>
            <a:r>
              <a:rPr lang="en-US" sz="900">
                <a:solidFill>
                  <a:schemeClr val="tx2"/>
                </a:solidFill>
                <a:latin typeface="+mj-lt"/>
              </a:rPr>
              <a:t>Confidential. For internal use only.</a:t>
            </a:r>
          </a:p>
        </p:txBody>
      </p:sp>
      <p:pic>
        <p:nvPicPr>
          <p:cNvPr id="5" name="Graphic 4">
            <a:extLst>
              <a:ext uri="{FF2B5EF4-FFF2-40B4-BE49-F238E27FC236}">
                <a16:creationId xmlns:a16="http://schemas.microsoft.com/office/drawing/2014/main" id="{00BA1F49-BB46-26C5-0D41-E71A03E5AF15}"/>
              </a:ext>
            </a:extLst>
          </p:cNvPr>
          <p:cNvPicPr>
            <a:picLocks noChangeAspect="1"/>
          </p:cNvPicPr>
          <p:nvPr userDrawn="1"/>
        </p:nvPicPr>
        <p:blipFill>
          <a:blip>
            <a:extLst>
              <a:ext uri="{96DAC541-7B7A-43D3-8B79-37D633B846F1}">
                <asvg:svgBlip xmlns:asvg="http://schemas.microsoft.com/office/drawing/2016/SVG/main" r:embed="rId51"/>
              </a:ext>
            </a:extLst>
          </a:blip>
          <a:stretch>
            <a:fillRect/>
          </a:stretch>
        </p:blipFill>
        <p:spPr>
          <a:xfrm>
            <a:off x="11550145" y="6318107"/>
            <a:ext cx="274320" cy="274320"/>
          </a:xfrm>
          <a:prstGeom prst="rect">
            <a:avLst/>
          </a:prstGeom>
        </p:spPr>
      </p:pic>
      <p:sp>
        <p:nvSpPr>
          <p:cNvPr id="9" name="Footer Placeholder 8">
            <a:extLst>
              <a:ext uri="{FF2B5EF4-FFF2-40B4-BE49-F238E27FC236}">
                <a16:creationId xmlns:a16="http://schemas.microsoft.com/office/drawing/2014/main" id="{8DB4D983-8CBD-62FC-D4B8-DEDA90BEA13E}"/>
              </a:ext>
            </a:extLst>
          </p:cNvPr>
          <p:cNvSpPr>
            <a:spLocks noGrp="1"/>
          </p:cNvSpPr>
          <p:nvPr>
            <p:ph type="ftr" sz="quarter" idx="3"/>
          </p:nvPr>
        </p:nvSpPr>
        <p:spPr>
          <a:xfrm>
            <a:off x="358337" y="6227807"/>
            <a:ext cx="7909560" cy="365760"/>
          </a:xfrm>
          <a:prstGeom prst="rect">
            <a:avLst/>
          </a:prstGeom>
        </p:spPr>
        <p:txBody>
          <a:bodyPr vert="horz" lIns="0" tIns="0" rIns="0" bIns="0" rtlCol="0" anchor="b" anchorCtr="0">
            <a:noAutofit/>
          </a:bodyPr>
          <a:lstStyle>
            <a:lvl1pPr algn="l">
              <a:lnSpc>
                <a:spcPct val="90000"/>
              </a:lnSpc>
              <a:spcBef>
                <a:spcPts val="300"/>
              </a:spcBef>
              <a:defRPr sz="700">
                <a:solidFill>
                  <a:schemeClr val="tx1">
                    <a:lumMod val="65000"/>
                    <a:lumOff val="35000"/>
                  </a:schemeClr>
                </a:solidFill>
              </a:defRPr>
            </a:lvl1pPr>
          </a:lstStyle>
          <a:p>
            <a:r>
              <a:rPr lang="en-US"/>
              <a:t>Abbreviations</a:t>
            </a:r>
          </a:p>
        </p:txBody>
      </p:sp>
    </p:spTree>
    <p:extLst>
      <p:ext uri="{BB962C8B-B14F-4D97-AF65-F5344CB8AC3E}">
        <p14:creationId xmlns:p14="http://schemas.microsoft.com/office/powerpoint/2010/main" val="1022745373"/>
      </p:ext>
    </p:extLst>
  </p:cSld>
  <p:clrMap bg1="lt1" tx1="dk1" bg2="lt2" tx2="dk2" accent1="accent1" accent2="accent2" accent3="accent3" accent4="accent4" accent5="accent5" accent6="accent6" hlink="hlink" folHlink="folHlink"/>
  <p:sldLayoutIdLst>
    <p:sldLayoutId id="2147483900" r:id="rId1"/>
    <p:sldLayoutId id="2147483901" r:id="rId2"/>
    <p:sldLayoutId id="2147483902" r:id="rId3"/>
    <p:sldLayoutId id="2147483903" r:id="rId4"/>
    <p:sldLayoutId id="2147483904" r:id="rId5"/>
    <p:sldLayoutId id="2147483905" r:id="rId6"/>
    <p:sldLayoutId id="2147483906" r:id="rId7"/>
    <p:sldLayoutId id="2147483907" r:id="rId8"/>
    <p:sldLayoutId id="2147483908" r:id="rId9"/>
    <p:sldLayoutId id="2147483909" r:id="rId10"/>
    <p:sldLayoutId id="2147483910" r:id="rId11"/>
    <p:sldLayoutId id="2147483911" r:id="rId12"/>
    <p:sldLayoutId id="2147483912" r:id="rId13"/>
    <p:sldLayoutId id="2147483913" r:id="rId14"/>
    <p:sldLayoutId id="2147483914" r:id="rId15"/>
    <p:sldLayoutId id="2147483915" r:id="rId16"/>
    <p:sldLayoutId id="2147483916" r:id="rId17"/>
    <p:sldLayoutId id="2147483917" r:id="rId18"/>
    <p:sldLayoutId id="2147483918" r:id="rId19"/>
    <p:sldLayoutId id="2147483919" r:id="rId20"/>
    <p:sldLayoutId id="2147483920" r:id="rId21"/>
    <p:sldLayoutId id="2147483921" r:id="rId22"/>
    <p:sldLayoutId id="2147483922" r:id="rId23"/>
    <p:sldLayoutId id="2147483923" r:id="rId24"/>
    <p:sldLayoutId id="2147483924" r:id="rId25"/>
    <p:sldLayoutId id="2147483925" r:id="rId26"/>
    <p:sldLayoutId id="2147483926" r:id="rId27"/>
    <p:sldLayoutId id="2147483927" r:id="rId28"/>
    <p:sldLayoutId id="2147483928" r:id="rId29"/>
    <p:sldLayoutId id="2147483929" r:id="rId30"/>
    <p:sldLayoutId id="2147483930" r:id="rId31"/>
    <p:sldLayoutId id="2147483931" r:id="rId32"/>
    <p:sldLayoutId id="2147483932" r:id="rId33"/>
    <p:sldLayoutId id="2147483933" r:id="rId34"/>
    <p:sldLayoutId id="2147483934" r:id="rId35"/>
    <p:sldLayoutId id="2147483935" r:id="rId36"/>
    <p:sldLayoutId id="2147483936" r:id="rId37"/>
    <p:sldLayoutId id="2147483937" r:id="rId38"/>
    <p:sldLayoutId id="2147483938" r:id="rId39"/>
    <p:sldLayoutId id="2147483939" r:id="rId40"/>
    <p:sldLayoutId id="2147483940" r:id="rId41"/>
    <p:sldLayoutId id="2147483941" r:id="rId42"/>
    <p:sldLayoutId id="2147483942" r:id="rId43"/>
    <p:sldLayoutId id="2147483943" r:id="rId44"/>
    <p:sldLayoutId id="2147483945" r:id="rId45"/>
    <p:sldLayoutId id="2147483946" r:id="rId46"/>
  </p:sldLayoutIdLst>
  <p:hf hdr="0" dt="0"/>
  <p:txStyles>
    <p:titleStyle>
      <a:lvl1pPr algn="l" defTabSz="914400" rtl="0" eaLnBrk="1" latinLnBrk="0" hangingPunct="1">
        <a:lnSpc>
          <a:spcPct val="100000"/>
        </a:lnSpc>
        <a:spcBef>
          <a:spcPct val="0"/>
        </a:spcBef>
        <a:buNone/>
        <a:defRPr sz="2800" b="0" kern="1200" spc="0" baseline="0">
          <a:solidFill>
            <a:schemeClr val="tx2"/>
          </a:solidFill>
          <a:effectLst/>
          <a:latin typeface="+mj-lt"/>
          <a:ea typeface="Verdana" panose="020B0604030504040204" pitchFamily="34" charset="0"/>
          <a:cs typeface="Verdana" panose="020B0604030504040204" pitchFamily="34" charset="0"/>
        </a:defRPr>
      </a:lvl1pPr>
    </p:titleStyle>
    <p:body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a:extLst>
              <a:ext uri="{96DAC541-7B7A-43D3-8B79-37D633B846F1}">
                <asvg:svgBlip xmlns:asvg="http://schemas.microsoft.com/office/drawing/2016/SVG/main" r:embed="rId52"/>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53"/>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pos="227">
          <p15:clr>
            <a:srgbClr val="F26B43"/>
          </p15:clr>
        </p15:guide>
        <p15:guide id="9" pos="7451">
          <p15:clr>
            <a:srgbClr val="F26B43"/>
          </p15:clr>
        </p15:guide>
        <p15:guide id="12" orient="horz" pos="369">
          <p15:clr>
            <a:srgbClr val="F26B43"/>
          </p15:clr>
        </p15:guide>
        <p15:guide id="16" pos="3696">
          <p15:clr>
            <a:srgbClr val="F26B43"/>
          </p15:clr>
        </p15:guide>
        <p15:guide id="20" pos="3840">
          <p15:clr>
            <a:srgbClr val="F26B43"/>
          </p15:clr>
        </p15:guide>
        <p15:guide id="21" pos="3984">
          <p15:clr>
            <a:srgbClr val="F26B43"/>
          </p15:clr>
        </p15:guide>
        <p15:guide id="23" orient="horz" pos="4130">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slideLayout" Target="../slideLayouts/slideLayout3.xml"/><Relationship Id="rId7" Type="http://schemas.openxmlformats.org/officeDocument/2006/relationships/image" Target="../media/image14.jpe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1.xml"/><Relationship Id="rId1" Type="http://schemas.openxmlformats.org/officeDocument/2006/relationships/tags" Target="../tags/tag6.xml"/><Relationship Id="rId5" Type="http://schemas.openxmlformats.org/officeDocument/2006/relationships/image" Target="../media/image16.emf"/><Relationship Id="rId4" Type="http://schemas.openxmlformats.org/officeDocument/2006/relationships/oleObject" Target="../embeddings/oleObject4.bin"/></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1.xml"/><Relationship Id="rId1" Type="http://schemas.openxmlformats.org/officeDocument/2006/relationships/tags" Target="../tags/tag7.xml"/><Relationship Id="rId5" Type="http://schemas.openxmlformats.org/officeDocument/2006/relationships/image" Target="../media/image18.svg"/><Relationship Id="rId4" Type="http://schemas.openxmlformats.org/officeDocument/2006/relationships/image" Target="../media/image17.emf"/></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notesSlide" Target="../notesSlides/notesSlide3.xml"/><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slideLayout" Target="../slideLayouts/slideLayout11.xml"/><Relationship Id="rId1" Type="http://schemas.openxmlformats.org/officeDocument/2006/relationships/tags" Target="../tags/tag8.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6.emf"/><Relationship Id="rId15" Type="http://schemas.openxmlformats.org/officeDocument/2006/relationships/image" Target="../media/image28.png"/><Relationship Id="rId10" Type="http://schemas.openxmlformats.org/officeDocument/2006/relationships/image" Target="../media/image23.png"/><Relationship Id="rId4" Type="http://schemas.openxmlformats.org/officeDocument/2006/relationships/oleObject" Target="../embeddings/oleObject6.bin"/><Relationship Id="rId9" Type="http://schemas.openxmlformats.org/officeDocument/2006/relationships/image" Target="../media/image22.png"/><Relationship Id="rId14" Type="http://schemas.openxmlformats.org/officeDocument/2006/relationships/image" Target="../media/image2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0.xml"/><Relationship Id="rId1" Type="http://schemas.openxmlformats.org/officeDocument/2006/relationships/tags" Target="../tags/tag9.xml"/><Relationship Id="rId5" Type="http://schemas.openxmlformats.org/officeDocument/2006/relationships/image" Target="../media/image16.emf"/><Relationship Id="rId4" Type="http://schemas.openxmlformats.org/officeDocument/2006/relationships/oleObject" Target="../embeddings/oleObject7.bin"/></Relationships>
</file>

<file path=ppt/slides/_rels/slide6.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image" Target="../media/image35.svg"/><Relationship Id="rId3" Type="http://schemas.openxmlformats.org/officeDocument/2006/relationships/notesSlide" Target="../notesSlides/notesSlide5.xml"/><Relationship Id="rId7" Type="http://schemas.openxmlformats.org/officeDocument/2006/relationships/image" Target="../media/image29.svg"/><Relationship Id="rId12" Type="http://schemas.openxmlformats.org/officeDocument/2006/relationships/image" Target="../media/image34.svg"/><Relationship Id="rId17" Type="http://schemas.openxmlformats.org/officeDocument/2006/relationships/image" Target="../media/image39.svg"/><Relationship Id="rId2" Type="http://schemas.openxmlformats.org/officeDocument/2006/relationships/slideLayout" Target="../slideLayouts/slideLayout11.xml"/><Relationship Id="rId16" Type="http://schemas.openxmlformats.org/officeDocument/2006/relationships/image" Target="../media/image38.svg"/><Relationship Id="rId1" Type="http://schemas.openxmlformats.org/officeDocument/2006/relationships/tags" Target="../tags/tag10.xml"/><Relationship Id="rId6" Type="http://schemas.openxmlformats.org/officeDocument/2006/relationships/image" Target="../media/image17.emf"/><Relationship Id="rId11" Type="http://schemas.openxmlformats.org/officeDocument/2006/relationships/image" Target="../media/image33.svg"/><Relationship Id="rId5" Type="http://schemas.openxmlformats.org/officeDocument/2006/relationships/oleObject" Target="../embeddings/oleObject8.bin"/><Relationship Id="rId15" Type="http://schemas.openxmlformats.org/officeDocument/2006/relationships/image" Target="../media/image37.svg"/><Relationship Id="rId10" Type="http://schemas.openxmlformats.org/officeDocument/2006/relationships/image" Target="../media/image32.svg"/><Relationship Id="rId4" Type="http://schemas.microsoft.com/office/2018/10/relationships/comments" Target="../comments/modernComment_7FFFFFC1_FC75DCA0.xml"/><Relationship Id="rId9" Type="http://schemas.openxmlformats.org/officeDocument/2006/relationships/image" Target="../media/image31.svg"/><Relationship Id="rId14" Type="http://schemas.openxmlformats.org/officeDocument/2006/relationships/image" Target="../media/image36.sv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41.svg"/><Relationship Id="rId2" Type="http://schemas.openxmlformats.org/officeDocument/2006/relationships/slideLayout" Target="../slideLayouts/slideLayout11.xml"/><Relationship Id="rId1" Type="http://schemas.openxmlformats.org/officeDocument/2006/relationships/tags" Target="../tags/tag11.xml"/><Relationship Id="rId6" Type="http://schemas.openxmlformats.org/officeDocument/2006/relationships/image" Target="../media/image40.svg"/><Relationship Id="rId5" Type="http://schemas.openxmlformats.org/officeDocument/2006/relationships/image" Target="../media/image17.emf"/><Relationship Id="rId4" Type="http://schemas.openxmlformats.org/officeDocument/2006/relationships/oleObject" Target="../embeddings/oleObject9.bin"/></Relationships>
</file>

<file path=ppt/slides/_rels/slide8.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notesSlide" Target="../notesSlides/notesSlide7.xml"/><Relationship Id="rId7" Type="http://schemas.openxmlformats.org/officeDocument/2006/relationships/image" Target="../media/image43.svg"/><Relationship Id="rId2" Type="http://schemas.openxmlformats.org/officeDocument/2006/relationships/slideLayout" Target="../slideLayouts/slideLayout11.xml"/><Relationship Id="rId1" Type="http://schemas.openxmlformats.org/officeDocument/2006/relationships/tags" Target="../tags/tag12.xml"/><Relationship Id="rId6" Type="http://schemas.openxmlformats.org/officeDocument/2006/relationships/image" Target="../media/image42.svg"/><Relationship Id="rId5" Type="http://schemas.openxmlformats.org/officeDocument/2006/relationships/image" Target="../media/image17.emf"/><Relationship Id="rId4" Type="http://schemas.openxmlformats.org/officeDocument/2006/relationships/oleObject" Target="../embeddings/oleObject10.bin"/><Relationship Id="rId9" Type="http://schemas.openxmlformats.org/officeDocument/2006/relationships/image" Target="../media/image45.sv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xml"/><Relationship Id="rId1" Type="http://schemas.openxmlformats.org/officeDocument/2006/relationships/tags" Target="../tags/tag13.xml"/><Relationship Id="rId6" Type="http://schemas.openxmlformats.org/officeDocument/2006/relationships/image" Target="../media/image17.emf"/><Relationship Id="rId5" Type="http://schemas.openxmlformats.org/officeDocument/2006/relationships/oleObject" Target="../embeddings/oleObject11.bin"/><Relationship Id="rId4" Type="http://schemas.microsoft.com/office/2018/10/relationships/comments" Target="../comments/modernComment_7FFFFFC3_A595B63F.xml"/></Relationships>
</file>

<file path=ppt/slides/_rels/slide10.xml.rels><?xml version="1.0" encoding="UTF-8" standalone="yes"?>
<Relationships xmlns="http://schemas.openxmlformats.org/package/2006/relationships"><Relationship Id="rId8" Type="http://schemas.openxmlformats.org/officeDocument/2006/relationships/chart" Target="../charts/chart1.xml"/><Relationship Id="rId13" Type="http://schemas.openxmlformats.org/officeDocument/2006/relationships/image" Target="../media/image50.svg"/><Relationship Id="rId3" Type="http://schemas.openxmlformats.org/officeDocument/2006/relationships/slideLayout" Target="../slideLayouts/slideLayout11.xml"/><Relationship Id="rId7" Type="http://schemas.openxmlformats.org/officeDocument/2006/relationships/image" Target="../media/image17.emf"/><Relationship Id="rId12" Type="http://schemas.openxmlformats.org/officeDocument/2006/relationships/image" Target="../media/image49.svg"/><Relationship Id="rId17" Type="http://schemas.openxmlformats.org/officeDocument/2006/relationships/image" Target="../media/image54.svg"/><Relationship Id="rId2" Type="http://schemas.openxmlformats.org/officeDocument/2006/relationships/tags" Target="../tags/tag15.xml"/><Relationship Id="rId16" Type="http://schemas.openxmlformats.org/officeDocument/2006/relationships/image" Target="../media/image53.svg"/><Relationship Id="rId1" Type="http://schemas.openxmlformats.org/officeDocument/2006/relationships/tags" Target="../tags/tag14.xml"/><Relationship Id="rId6" Type="http://schemas.openxmlformats.org/officeDocument/2006/relationships/oleObject" Target="../embeddings/oleObject12.bin"/><Relationship Id="rId11" Type="http://schemas.openxmlformats.org/officeDocument/2006/relationships/image" Target="../media/image48.svg"/><Relationship Id="rId5" Type="http://schemas.microsoft.com/office/2018/10/relationships/comments" Target="../comments/modernComment_7FFFFFF3_5FCDB176.xml"/><Relationship Id="rId15" Type="http://schemas.openxmlformats.org/officeDocument/2006/relationships/image" Target="../media/image52.svg"/><Relationship Id="rId10" Type="http://schemas.openxmlformats.org/officeDocument/2006/relationships/image" Target="../media/image47.svg"/><Relationship Id="rId4" Type="http://schemas.openxmlformats.org/officeDocument/2006/relationships/notesSlide" Target="../notesSlides/notesSlide9.xml"/><Relationship Id="rId9" Type="http://schemas.openxmlformats.org/officeDocument/2006/relationships/image" Target="../media/image46.svg"/><Relationship Id="rId14" Type="http://schemas.openxmlformats.org/officeDocument/2006/relationships/image" Target="../media/image51.sv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1.xml"/><Relationship Id="rId1" Type="http://schemas.openxmlformats.org/officeDocument/2006/relationships/tags" Target="../tags/tag16.xml"/><Relationship Id="rId6" Type="http://schemas.openxmlformats.org/officeDocument/2006/relationships/image" Target="../media/image17.emf"/><Relationship Id="rId5" Type="http://schemas.openxmlformats.org/officeDocument/2006/relationships/oleObject" Target="../embeddings/oleObject13.bin"/><Relationship Id="rId4" Type="http://schemas.microsoft.com/office/2018/10/relationships/comments" Target="../comments/modernComment_7FFFFFEE_7E4C581B.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0.xml"/><Relationship Id="rId1" Type="http://schemas.openxmlformats.org/officeDocument/2006/relationships/tags" Target="../tags/tag17.xml"/><Relationship Id="rId5" Type="http://schemas.openxmlformats.org/officeDocument/2006/relationships/image" Target="../media/image16.emf"/><Relationship Id="rId4" Type="http://schemas.openxmlformats.org/officeDocument/2006/relationships/oleObject" Target="../embeddings/oleObject14.bin"/></Relationships>
</file>

<file path=ppt/slides/_rels/slide13.xml.rels><?xml version="1.0" encoding="UTF-8" standalone="yes"?>
<Relationships xmlns="http://schemas.openxmlformats.org/package/2006/relationships"><Relationship Id="rId8" Type="http://schemas.openxmlformats.org/officeDocument/2006/relationships/image" Target="../media/image57.svg"/><Relationship Id="rId13" Type="http://schemas.openxmlformats.org/officeDocument/2006/relationships/image" Target="../media/image62.svg"/><Relationship Id="rId3" Type="http://schemas.openxmlformats.org/officeDocument/2006/relationships/notesSlide" Target="../notesSlides/notesSlide12.xml"/><Relationship Id="rId7" Type="http://schemas.openxmlformats.org/officeDocument/2006/relationships/image" Target="../media/image56.svg"/><Relationship Id="rId12" Type="http://schemas.openxmlformats.org/officeDocument/2006/relationships/image" Target="../media/image61.svg"/><Relationship Id="rId2" Type="http://schemas.openxmlformats.org/officeDocument/2006/relationships/slideLayout" Target="../slideLayouts/slideLayout11.xml"/><Relationship Id="rId1" Type="http://schemas.openxmlformats.org/officeDocument/2006/relationships/tags" Target="../tags/tag18.xml"/><Relationship Id="rId6" Type="http://schemas.openxmlformats.org/officeDocument/2006/relationships/image" Target="../media/image55.emf"/><Relationship Id="rId11" Type="http://schemas.openxmlformats.org/officeDocument/2006/relationships/image" Target="../media/image60.svg"/><Relationship Id="rId5" Type="http://schemas.openxmlformats.org/officeDocument/2006/relationships/oleObject" Target="../embeddings/oleObject15.bin"/><Relationship Id="rId10" Type="http://schemas.openxmlformats.org/officeDocument/2006/relationships/image" Target="../media/image59.svg"/><Relationship Id="rId4" Type="http://schemas.microsoft.com/office/2018/10/relationships/comments" Target="../comments/modernComment_144_F95872FB.xml"/><Relationship Id="rId9" Type="http://schemas.openxmlformats.org/officeDocument/2006/relationships/image" Target="../media/image58.svg"/></Relationships>
</file>

<file path=ppt/slides/_rels/slide14.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notesSlide" Target="../notesSlides/notesSlide13.xml"/><Relationship Id="rId7" Type="http://schemas.openxmlformats.org/officeDocument/2006/relationships/image" Target="../media/image3.svg"/><Relationship Id="rId2" Type="http://schemas.openxmlformats.org/officeDocument/2006/relationships/slideLayout" Target="../slideLayouts/slideLayout35.xml"/><Relationship Id="rId1" Type="http://schemas.openxmlformats.org/officeDocument/2006/relationships/tags" Target="../tags/tag19.xml"/><Relationship Id="rId6" Type="http://schemas.openxmlformats.org/officeDocument/2006/relationships/image" Target="../media/image64.svg"/><Relationship Id="rId5" Type="http://schemas.openxmlformats.org/officeDocument/2006/relationships/image" Target="../media/image63.emf"/><Relationship Id="rId4" Type="http://schemas.openxmlformats.org/officeDocument/2006/relationships/oleObject" Target="../embeddings/oleObject16.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tags" Target="../tags/tag22.xml"/><Relationship Id="rId7" Type="http://schemas.openxmlformats.org/officeDocument/2006/relationships/notesSlide" Target="../notesSlides/notesSlide14.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Layout" Target="../slideLayouts/slideLayout11.xml"/><Relationship Id="rId5" Type="http://schemas.openxmlformats.org/officeDocument/2006/relationships/tags" Target="../tags/tag24.xml"/><Relationship Id="rId4" Type="http://schemas.openxmlformats.org/officeDocument/2006/relationships/tags" Target="../tags/tag23.xml"/><Relationship Id="rId9" Type="http://schemas.openxmlformats.org/officeDocument/2006/relationships/image" Target="../media/image17.emf"/></Relationships>
</file>

<file path=ppt/slides/_rels/slide16.xml.rels><?xml version="1.0" encoding="UTF-8" standalone="yes"?>
<Relationships xmlns="http://schemas.openxmlformats.org/package/2006/relationships"><Relationship Id="rId8" Type="http://schemas.openxmlformats.org/officeDocument/2006/relationships/image" Target="../media/image3.svg"/><Relationship Id="rId13" Type="http://schemas.openxmlformats.org/officeDocument/2006/relationships/image" Target="../media/image69.svg"/><Relationship Id="rId18" Type="http://schemas.openxmlformats.org/officeDocument/2006/relationships/image" Target="../media/image74.svg"/><Relationship Id="rId3" Type="http://schemas.openxmlformats.org/officeDocument/2006/relationships/notesSlide" Target="../notesSlides/notesSlide15.xml"/><Relationship Id="rId7" Type="http://schemas.openxmlformats.org/officeDocument/2006/relationships/image" Target="../media/image4.svg"/><Relationship Id="rId12" Type="http://schemas.openxmlformats.org/officeDocument/2006/relationships/image" Target="../media/image68.svg"/><Relationship Id="rId17" Type="http://schemas.openxmlformats.org/officeDocument/2006/relationships/image" Target="../media/image73.svg"/><Relationship Id="rId2" Type="http://schemas.openxmlformats.org/officeDocument/2006/relationships/slideLayout" Target="../slideLayouts/slideLayout11.xml"/><Relationship Id="rId16" Type="http://schemas.openxmlformats.org/officeDocument/2006/relationships/image" Target="../media/image72.svg"/><Relationship Id="rId1" Type="http://schemas.openxmlformats.org/officeDocument/2006/relationships/tags" Target="../tags/tag25.xml"/><Relationship Id="rId6" Type="http://schemas.openxmlformats.org/officeDocument/2006/relationships/image" Target="../media/image17.emf"/><Relationship Id="rId11" Type="http://schemas.openxmlformats.org/officeDocument/2006/relationships/image" Target="../media/image67.svg"/><Relationship Id="rId5" Type="http://schemas.openxmlformats.org/officeDocument/2006/relationships/oleObject" Target="../embeddings/oleObject18.bin"/><Relationship Id="rId15" Type="http://schemas.openxmlformats.org/officeDocument/2006/relationships/image" Target="../media/image71.svg"/><Relationship Id="rId10" Type="http://schemas.openxmlformats.org/officeDocument/2006/relationships/image" Target="../media/image66.svg"/><Relationship Id="rId19" Type="http://schemas.openxmlformats.org/officeDocument/2006/relationships/image" Target="../media/image75.svg"/><Relationship Id="rId4" Type="http://schemas.microsoft.com/office/2018/10/relationships/comments" Target="../comments/modernComment_122_6361C41E.xml"/><Relationship Id="rId9" Type="http://schemas.openxmlformats.org/officeDocument/2006/relationships/image" Target="../media/image65.svg"/><Relationship Id="rId14" Type="http://schemas.openxmlformats.org/officeDocument/2006/relationships/image" Target="../media/image70.sv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0.xml"/><Relationship Id="rId1" Type="http://schemas.openxmlformats.org/officeDocument/2006/relationships/tags" Target="../tags/tag26.xml"/><Relationship Id="rId5" Type="http://schemas.openxmlformats.org/officeDocument/2006/relationships/image" Target="../media/image16.emf"/><Relationship Id="rId4" Type="http://schemas.openxmlformats.org/officeDocument/2006/relationships/oleObject" Target="../embeddings/oleObject14.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1.xml"/><Relationship Id="rId1" Type="http://schemas.openxmlformats.org/officeDocument/2006/relationships/tags" Target="../tags/tag27.xml"/><Relationship Id="rId6" Type="http://schemas.openxmlformats.org/officeDocument/2006/relationships/image" Target="../media/image17.emf"/><Relationship Id="rId5" Type="http://schemas.openxmlformats.org/officeDocument/2006/relationships/oleObject" Target="../embeddings/oleObject19.bin"/><Relationship Id="rId4" Type="http://schemas.microsoft.com/office/2018/10/relationships/comments" Target="../comments/modernComment_12F_A28CCB15.xml"/></Relationships>
</file>

<file path=ppt/slides/_rels/slide19.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notesSlide" Target="../notesSlides/notesSlide18.xml"/><Relationship Id="rId7" Type="http://schemas.openxmlformats.org/officeDocument/2006/relationships/image" Target="../media/image4.svg"/><Relationship Id="rId2" Type="http://schemas.openxmlformats.org/officeDocument/2006/relationships/slideLayout" Target="../slideLayouts/slideLayout11.xml"/><Relationship Id="rId1" Type="http://schemas.openxmlformats.org/officeDocument/2006/relationships/tags" Target="../tags/tag28.xml"/><Relationship Id="rId6" Type="http://schemas.openxmlformats.org/officeDocument/2006/relationships/image" Target="../media/image63.emf"/><Relationship Id="rId5" Type="http://schemas.openxmlformats.org/officeDocument/2006/relationships/oleObject" Target="../embeddings/oleObject20.bin"/><Relationship Id="rId10" Type="http://schemas.openxmlformats.org/officeDocument/2006/relationships/image" Target="../media/image77.svg"/><Relationship Id="rId4" Type="http://schemas.microsoft.com/office/2018/10/relationships/comments" Target="../comments/modernComment_135_E4160855.xml"/><Relationship Id="rId9" Type="http://schemas.openxmlformats.org/officeDocument/2006/relationships/image" Target="../media/image76.svg"/></Relationships>
</file>

<file path=ppt/slides/_rels/slide20.xml.rels><?xml version="1.0" encoding="UTF-8" standalone="yes"?>
<Relationships xmlns="http://schemas.openxmlformats.org/package/2006/relationships"><Relationship Id="rId8" Type="http://schemas.openxmlformats.org/officeDocument/2006/relationships/image" Target="../media/image78.svg"/><Relationship Id="rId3" Type="http://schemas.openxmlformats.org/officeDocument/2006/relationships/notesSlide" Target="../notesSlides/notesSlide19.xml"/><Relationship Id="rId7" Type="http://schemas.openxmlformats.org/officeDocument/2006/relationships/image" Target="../media/image3.svg"/><Relationship Id="rId2" Type="http://schemas.openxmlformats.org/officeDocument/2006/relationships/slideLayout" Target="../slideLayouts/slideLayout11.xml"/><Relationship Id="rId1" Type="http://schemas.openxmlformats.org/officeDocument/2006/relationships/tags" Target="../tags/tag29.xml"/><Relationship Id="rId6" Type="http://schemas.openxmlformats.org/officeDocument/2006/relationships/image" Target="../media/image4.svg"/><Relationship Id="rId5" Type="http://schemas.openxmlformats.org/officeDocument/2006/relationships/image" Target="../media/image17.emf"/><Relationship Id="rId4" Type="http://schemas.openxmlformats.org/officeDocument/2006/relationships/oleObject" Target="../embeddings/oleObject21.bin"/><Relationship Id="rId9" Type="http://schemas.openxmlformats.org/officeDocument/2006/relationships/image" Target="../media/image77.svg"/></Relationships>
</file>

<file path=ppt/slides/_rels/slide21.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notesSlide" Target="../notesSlides/notesSlide20.xml"/><Relationship Id="rId7" Type="http://schemas.openxmlformats.org/officeDocument/2006/relationships/image" Target="../media/image4.svg"/><Relationship Id="rId2" Type="http://schemas.openxmlformats.org/officeDocument/2006/relationships/slideLayout" Target="../slideLayouts/slideLayout11.xml"/><Relationship Id="rId1" Type="http://schemas.openxmlformats.org/officeDocument/2006/relationships/tags" Target="../tags/tag30.xml"/><Relationship Id="rId6" Type="http://schemas.openxmlformats.org/officeDocument/2006/relationships/image" Target="../media/image17.emf"/><Relationship Id="rId11" Type="http://schemas.openxmlformats.org/officeDocument/2006/relationships/image" Target="../media/image77.svg"/><Relationship Id="rId5" Type="http://schemas.openxmlformats.org/officeDocument/2006/relationships/oleObject" Target="../embeddings/oleObject22.bin"/><Relationship Id="rId10" Type="http://schemas.openxmlformats.org/officeDocument/2006/relationships/image" Target="../media/image80.svg"/><Relationship Id="rId4" Type="http://schemas.microsoft.com/office/2018/10/relationships/comments" Target="../comments/modernComment_7FFFFF2B_797849DE.xml"/><Relationship Id="rId9" Type="http://schemas.openxmlformats.org/officeDocument/2006/relationships/image" Target="../media/image79.svg"/></Relationships>
</file>

<file path=ppt/slides/_rels/slide22.xml.rels><?xml version="1.0" encoding="UTF-8" standalone="yes"?>
<Relationships xmlns="http://schemas.openxmlformats.org/package/2006/relationships"><Relationship Id="rId8" Type="http://schemas.openxmlformats.org/officeDocument/2006/relationships/slide" Target="slide38.xml"/><Relationship Id="rId13" Type="http://schemas.openxmlformats.org/officeDocument/2006/relationships/slide" Target="slide35.xml"/><Relationship Id="rId3" Type="http://schemas.openxmlformats.org/officeDocument/2006/relationships/notesSlide" Target="../notesSlides/notesSlide21.xml"/><Relationship Id="rId7" Type="http://schemas.openxmlformats.org/officeDocument/2006/relationships/slide" Target="slide30.xml"/><Relationship Id="rId12" Type="http://schemas.openxmlformats.org/officeDocument/2006/relationships/slide" Target="slide43.xml"/><Relationship Id="rId2" Type="http://schemas.openxmlformats.org/officeDocument/2006/relationships/slideLayout" Target="../slideLayouts/slideLayout11.xml"/><Relationship Id="rId1" Type="http://schemas.openxmlformats.org/officeDocument/2006/relationships/tags" Target="../tags/tag31.xml"/><Relationship Id="rId6" Type="http://schemas.openxmlformats.org/officeDocument/2006/relationships/image" Target="../media/image17.emf"/><Relationship Id="rId11" Type="http://schemas.openxmlformats.org/officeDocument/2006/relationships/slide" Target="slide40.xml"/><Relationship Id="rId5" Type="http://schemas.openxmlformats.org/officeDocument/2006/relationships/oleObject" Target="../embeddings/oleObject22.bin"/><Relationship Id="rId10" Type="http://schemas.openxmlformats.org/officeDocument/2006/relationships/slide" Target="slide56.xml"/><Relationship Id="rId4" Type="http://schemas.microsoft.com/office/2018/10/relationships/comments" Target="../comments/modernComment_133_2157FE01.xml"/><Relationship Id="rId9" Type="http://schemas.openxmlformats.org/officeDocument/2006/relationships/slide" Target="slide45.xml"/><Relationship Id="rId14" Type="http://schemas.openxmlformats.org/officeDocument/2006/relationships/image" Target="../media/image81.svg"/></Relationships>
</file>

<file path=ppt/slides/_rels/slide23.xml.rels><?xml version="1.0" encoding="UTF-8" standalone="yes"?>
<Relationships xmlns="http://schemas.openxmlformats.org/package/2006/relationships"><Relationship Id="rId8" Type="http://schemas.openxmlformats.org/officeDocument/2006/relationships/slide" Target="slide37.xml"/><Relationship Id="rId13" Type="http://schemas.openxmlformats.org/officeDocument/2006/relationships/slide" Target="slide54.xml"/><Relationship Id="rId3" Type="http://schemas.openxmlformats.org/officeDocument/2006/relationships/notesSlide" Target="../notesSlides/notesSlide22.xml"/><Relationship Id="rId7" Type="http://schemas.openxmlformats.org/officeDocument/2006/relationships/slide" Target="slide46.xml"/><Relationship Id="rId12" Type="http://schemas.openxmlformats.org/officeDocument/2006/relationships/slide" Target="slide34.xml"/><Relationship Id="rId2" Type="http://schemas.openxmlformats.org/officeDocument/2006/relationships/slideLayout" Target="../slideLayouts/slideLayout11.xml"/><Relationship Id="rId1" Type="http://schemas.openxmlformats.org/officeDocument/2006/relationships/tags" Target="../tags/tag32.xml"/><Relationship Id="rId6" Type="http://schemas.openxmlformats.org/officeDocument/2006/relationships/slide" Target="slide30.xml"/><Relationship Id="rId11" Type="http://schemas.openxmlformats.org/officeDocument/2006/relationships/slide" Target="slide33.xml"/><Relationship Id="rId5" Type="http://schemas.openxmlformats.org/officeDocument/2006/relationships/image" Target="../media/image17.emf"/><Relationship Id="rId10" Type="http://schemas.openxmlformats.org/officeDocument/2006/relationships/slide" Target="slide35.xml"/><Relationship Id="rId4" Type="http://schemas.openxmlformats.org/officeDocument/2006/relationships/oleObject" Target="../embeddings/oleObject22.bin"/><Relationship Id="rId9" Type="http://schemas.openxmlformats.org/officeDocument/2006/relationships/slide" Target="slide38.xml"/><Relationship Id="rId14" Type="http://schemas.openxmlformats.org/officeDocument/2006/relationships/image" Target="../media/image81.svg"/></Relationships>
</file>

<file path=ppt/slides/_rels/slide24.xml.rels><?xml version="1.0" encoding="UTF-8" standalone="yes"?>
<Relationships xmlns="http://schemas.openxmlformats.org/package/2006/relationships"><Relationship Id="rId8" Type="http://schemas.openxmlformats.org/officeDocument/2006/relationships/slide" Target="slide31.xml"/><Relationship Id="rId13" Type="http://schemas.openxmlformats.org/officeDocument/2006/relationships/slide" Target="slide35.xml"/><Relationship Id="rId3" Type="http://schemas.openxmlformats.org/officeDocument/2006/relationships/notesSlide" Target="../notesSlides/notesSlide23.xml"/><Relationship Id="rId7" Type="http://schemas.openxmlformats.org/officeDocument/2006/relationships/slide" Target="slide40.xml"/><Relationship Id="rId12" Type="http://schemas.openxmlformats.org/officeDocument/2006/relationships/slide" Target="slide33.xml"/><Relationship Id="rId2" Type="http://schemas.openxmlformats.org/officeDocument/2006/relationships/slideLayout" Target="../slideLayouts/slideLayout11.xml"/><Relationship Id="rId16" Type="http://schemas.openxmlformats.org/officeDocument/2006/relationships/image" Target="../media/image81.svg"/><Relationship Id="rId1" Type="http://schemas.openxmlformats.org/officeDocument/2006/relationships/tags" Target="../tags/tag33.xml"/><Relationship Id="rId6" Type="http://schemas.openxmlformats.org/officeDocument/2006/relationships/slide" Target="slide42.xml"/><Relationship Id="rId11" Type="http://schemas.openxmlformats.org/officeDocument/2006/relationships/slide" Target="slide43.xml"/><Relationship Id="rId5" Type="http://schemas.openxmlformats.org/officeDocument/2006/relationships/image" Target="../media/image17.emf"/><Relationship Id="rId15" Type="http://schemas.openxmlformats.org/officeDocument/2006/relationships/slide" Target="slide38.xml"/><Relationship Id="rId10" Type="http://schemas.openxmlformats.org/officeDocument/2006/relationships/slide" Target="slide46.xml"/><Relationship Id="rId4" Type="http://schemas.openxmlformats.org/officeDocument/2006/relationships/oleObject" Target="../embeddings/oleObject22.bin"/><Relationship Id="rId9" Type="http://schemas.openxmlformats.org/officeDocument/2006/relationships/slide" Target="slide44.xml"/><Relationship Id="rId14" Type="http://schemas.openxmlformats.org/officeDocument/2006/relationships/slide" Target="slide36.xml"/></Relationships>
</file>

<file path=ppt/slides/_rels/slide25.xml.rels><?xml version="1.0" encoding="UTF-8" standalone="yes"?>
<Relationships xmlns="http://schemas.openxmlformats.org/package/2006/relationships"><Relationship Id="rId8" Type="http://schemas.openxmlformats.org/officeDocument/2006/relationships/slide" Target="slide31.xml"/><Relationship Id="rId13" Type="http://schemas.openxmlformats.org/officeDocument/2006/relationships/slide" Target="slide56.xml"/><Relationship Id="rId3" Type="http://schemas.openxmlformats.org/officeDocument/2006/relationships/notesSlide" Target="../notesSlides/notesSlide24.xml"/><Relationship Id="rId7" Type="http://schemas.openxmlformats.org/officeDocument/2006/relationships/slide" Target="slide46.xml"/><Relationship Id="rId12" Type="http://schemas.openxmlformats.org/officeDocument/2006/relationships/slide" Target="slide30.xml"/><Relationship Id="rId2" Type="http://schemas.openxmlformats.org/officeDocument/2006/relationships/slideLayout" Target="../slideLayouts/slideLayout11.xml"/><Relationship Id="rId1" Type="http://schemas.openxmlformats.org/officeDocument/2006/relationships/tags" Target="../tags/tag34.xml"/><Relationship Id="rId6" Type="http://schemas.openxmlformats.org/officeDocument/2006/relationships/slide" Target="slide42.xml"/><Relationship Id="rId11" Type="http://schemas.openxmlformats.org/officeDocument/2006/relationships/slide" Target="slide45.xml"/><Relationship Id="rId5" Type="http://schemas.openxmlformats.org/officeDocument/2006/relationships/image" Target="../media/image17.emf"/><Relationship Id="rId10" Type="http://schemas.openxmlformats.org/officeDocument/2006/relationships/slide" Target="slide38.xml"/><Relationship Id="rId4" Type="http://schemas.openxmlformats.org/officeDocument/2006/relationships/oleObject" Target="../embeddings/oleObject23.bin"/><Relationship Id="rId9" Type="http://schemas.openxmlformats.org/officeDocument/2006/relationships/slide" Target="slide39.xml"/><Relationship Id="rId14" Type="http://schemas.openxmlformats.org/officeDocument/2006/relationships/image" Target="../media/image81.svg"/></Relationships>
</file>

<file path=ppt/slides/_rels/slide26.xml.rels><?xml version="1.0" encoding="UTF-8" standalone="yes"?>
<Relationships xmlns="http://schemas.openxmlformats.org/package/2006/relationships"><Relationship Id="rId8" Type="http://schemas.openxmlformats.org/officeDocument/2006/relationships/slide" Target="slide55.xml"/><Relationship Id="rId3" Type="http://schemas.openxmlformats.org/officeDocument/2006/relationships/notesSlide" Target="../notesSlides/notesSlide25.xml"/><Relationship Id="rId7" Type="http://schemas.openxmlformats.org/officeDocument/2006/relationships/slide" Target="slide34.xml"/><Relationship Id="rId12" Type="http://schemas.openxmlformats.org/officeDocument/2006/relationships/image" Target="../media/image81.svg"/><Relationship Id="rId2" Type="http://schemas.openxmlformats.org/officeDocument/2006/relationships/slideLayout" Target="../slideLayouts/slideLayout11.xml"/><Relationship Id="rId1" Type="http://schemas.openxmlformats.org/officeDocument/2006/relationships/tags" Target="../tags/tag35.xml"/><Relationship Id="rId6" Type="http://schemas.openxmlformats.org/officeDocument/2006/relationships/image" Target="../media/image17.emf"/><Relationship Id="rId11" Type="http://schemas.openxmlformats.org/officeDocument/2006/relationships/slide" Target="slide43.xml"/><Relationship Id="rId5" Type="http://schemas.openxmlformats.org/officeDocument/2006/relationships/oleObject" Target="../embeddings/oleObject22.bin"/><Relationship Id="rId10" Type="http://schemas.openxmlformats.org/officeDocument/2006/relationships/slide" Target="slide42.xml"/><Relationship Id="rId4" Type="http://schemas.microsoft.com/office/2018/10/relationships/comments" Target="../comments/modernComment_139_41C68260.xml"/><Relationship Id="rId9" Type="http://schemas.openxmlformats.org/officeDocument/2006/relationships/slide" Target="slide32.xml"/></Relationships>
</file>

<file path=ppt/slides/_rels/slide27.xml.rels><?xml version="1.0" encoding="UTF-8" standalone="yes"?>
<Relationships xmlns="http://schemas.openxmlformats.org/package/2006/relationships"><Relationship Id="rId8" Type="http://schemas.openxmlformats.org/officeDocument/2006/relationships/image" Target="../media/image81.svg"/><Relationship Id="rId3" Type="http://schemas.openxmlformats.org/officeDocument/2006/relationships/notesSlide" Target="../notesSlides/notesSlide26.xml"/><Relationship Id="rId7" Type="http://schemas.openxmlformats.org/officeDocument/2006/relationships/slide" Target="slide55.xml"/><Relationship Id="rId2" Type="http://schemas.openxmlformats.org/officeDocument/2006/relationships/slideLayout" Target="../slideLayouts/slideLayout11.xml"/><Relationship Id="rId1" Type="http://schemas.openxmlformats.org/officeDocument/2006/relationships/tags" Target="../tags/tag36.xml"/><Relationship Id="rId6" Type="http://schemas.openxmlformats.org/officeDocument/2006/relationships/slide" Target="slide41.xml"/><Relationship Id="rId5" Type="http://schemas.openxmlformats.org/officeDocument/2006/relationships/image" Target="../media/image17.emf"/><Relationship Id="rId4" Type="http://schemas.openxmlformats.org/officeDocument/2006/relationships/oleObject" Target="../embeddings/oleObject22.bin"/></Relationships>
</file>

<file path=ppt/slides/_rels/slide28.xml.rels><?xml version="1.0" encoding="UTF-8" standalone="yes"?>
<Relationships xmlns="http://schemas.openxmlformats.org/package/2006/relationships"><Relationship Id="rId8" Type="http://schemas.openxmlformats.org/officeDocument/2006/relationships/slide" Target="slide40.xml"/><Relationship Id="rId13" Type="http://schemas.openxmlformats.org/officeDocument/2006/relationships/image" Target="../media/image81.svg"/><Relationship Id="rId3" Type="http://schemas.openxmlformats.org/officeDocument/2006/relationships/notesSlide" Target="../notesSlides/notesSlide27.xml"/><Relationship Id="rId7" Type="http://schemas.openxmlformats.org/officeDocument/2006/relationships/slide" Target="slide41.xml"/><Relationship Id="rId12" Type="http://schemas.openxmlformats.org/officeDocument/2006/relationships/slide" Target="slide35.xml"/><Relationship Id="rId2" Type="http://schemas.openxmlformats.org/officeDocument/2006/relationships/slideLayout" Target="../slideLayouts/slideLayout11.xml"/><Relationship Id="rId1" Type="http://schemas.openxmlformats.org/officeDocument/2006/relationships/tags" Target="../tags/tag37.xml"/><Relationship Id="rId6" Type="http://schemas.openxmlformats.org/officeDocument/2006/relationships/image" Target="../media/image17.emf"/><Relationship Id="rId11" Type="http://schemas.openxmlformats.org/officeDocument/2006/relationships/slide" Target="slide36.xml"/><Relationship Id="rId5" Type="http://schemas.openxmlformats.org/officeDocument/2006/relationships/oleObject" Target="../embeddings/oleObject22.bin"/><Relationship Id="rId10" Type="http://schemas.openxmlformats.org/officeDocument/2006/relationships/slide" Target="slide30.xml"/><Relationship Id="rId4" Type="http://schemas.microsoft.com/office/2018/10/relationships/comments" Target="../comments/modernComment_100_4439AAD4.xml"/><Relationship Id="rId9" Type="http://schemas.openxmlformats.org/officeDocument/2006/relationships/slide" Target="slide3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0.xml"/><Relationship Id="rId1" Type="http://schemas.openxmlformats.org/officeDocument/2006/relationships/tags" Target="../tags/tag38.xml"/><Relationship Id="rId5" Type="http://schemas.openxmlformats.org/officeDocument/2006/relationships/image" Target="../media/image16.emf"/><Relationship Id="rId4" Type="http://schemas.openxmlformats.org/officeDocument/2006/relationships/oleObject" Target="../embeddings/oleObject24.bin"/></Relationships>
</file>

<file path=ppt/slides/_rels/slide30.xml.rels><?xml version="1.0" encoding="UTF-8" standalone="yes"?>
<Relationships xmlns="http://schemas.openxmlformats.org/package/2006/relationships"><Relationship Id="rId8" Type="http://schemas.openxmlformats.org/officeDocument/2006/relationships/image" Target="../media/image81.svg"/><Relationship Id="rId3" Type="http://schemas.openxmlformats.org/officeDocument/2006/relationships/notesSlide" Target="../notesSlides/notesSlide29.xml"/><Relationship Id="rId7" Type="http://schemas.openxmlformats.org/officeDocument/2006/relationships/slide" Target="slide23.xml"/><Relationship Id="rId2" Type="http://schemas.openxmlformats.org/officeDocument/2006/relationships/slideLayout" Target="../slideLayouts/slideLayout11.xml"/><Relationship Id="rId1" Type="http://schemas.openxmlformats.org/officeDocument/2006/relationships/tags" Target="../tags/tag39.xml"/><Relationship Id="rId6" Type="http://schemas.openxmlformats.org/officeDocument/2006/relationships/slide" Target="slide22.xml"/><Relationship Id="rId5" Type="http://schemas.openxmlformats.org/officeDocument/2006/relationships/image" Target="../media/image16.emf"/><Relationship Id="rId4" Type="http://schemas.openxmlformats.org/officeDocument/2006/relationships/oleObject" Target="../embeddings/oleObject25.bin"/></Relationships>
</file>

<file path=ppt/slides/_rels/slide31.xml.rels><?xml version="1.0" encoding="UTF-8" standalone="yes"?>
<Relationships xmlns="http://schemas.openxmlformats.org/package/2006/relationships"><Relationship Id="rId8" Type="http://schemas.openxmlformats.org/officeDocument/2006/relationships/image" Target="../media/image81.svg"/><Relationship Id="rId3" Type="http://schemas.openxmlformats.org/officeDocument/2006/relationships/notesSlide" Target="../notesSlides/notesSlide30.xml"/><Relationship Id="rId7" Type="http://schemas.openxmlformats.org/officeDocument/2006/relationships/slide" Target="slide25.xml"/><Relationship Id="rId2" Type="http://schemas.openxmlformats.org/officeDocument/2006/relationships/slideLayout" Target="../slideLayouts/slideLayout11.xml"/><Relationship Id="rId1" Type="http://schemas.openxmlformats.org/officeDocument/2006/relationships/tags" Target="../tags/tag40.xml"/><Relationship Id="rId6" Type="http://schemas.openxmlformats.org/officeDocument/2006/relationships/slide" Target="slide24.xml"/><Relationship Id="rId5" Type="http://schemas.openxmlformats.org/officeDocument/2006/relationships/image" Target="../media/image16.emf"/><Relationship Id="rId4" Type="http://schemas.openxmlformats.org/officeDocument/2006/relationships/oleObject" Target="../embeddings/oleObject26.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7" Type="http://schemas.openxmlformats.org/officeDocument/2006/relationships/image" Target="../media/image81.svg"/><Relationship Id="rId2" Type="http://schemas.openxmlformats.org/officeDocument/2006/relationships/slideLayout" Target="../slideLayouts/slideLayout11.xml"/><Relationship Id="rId1" Type="http://schemas.openxmlformats.org/officeDocument/2006/relationships/tags" Target="../tags/tag41.xml"/><Relationship Id="rId6" Type="http://schemas.openxmlformats.org/officeDocument/2006/relationships/image" Target="../media/image16.emf"/><Relationship Id="rId5" Type="http://schemas.openxmlformats.org/officeDocument/2006/relationships/oleObject" Target="../embeddings/oleObject27.bin"/><Relationship Id="rId4" Type="http://schemas.openxmlformats.org/officeDocument/2006/relationships/slide" Target="slide28.xml"/></Relationships>
</file>

<file path=ppt/slides/_rels/slide33.xml.rels><?xml version="1.0" encoding="UTF-8" standalone="yes"?>
<Relationships xmlns="http://schemas.openxmlformats.org/package/2006/relationships"><Relationship Id="rId8" Type="http://schemas.openxmlformats.org/officeDocument/2006/relationships/image" Target="../media/image81.svg"/><Relationship Id="rId3" Type="http://schemas.openxmlformats.org/officeDocument/2006/relationships/notesSlide" Target="../notesSlides/notesSlide32.xml"/><Relationship Id="rId7" Type="http://schemas.openxmlformats.org/officeDocument/2006/relationships/image" Target="../media/image16.emf"/><Relationship Id="rId2" Type="http://schemas.openxmlformats.org/officeDocument/2006/relationships/slideLayout" Target="../slideLayouts/slideLayout11.xml"/><Relationship Id="rId1" Type="http://schemas.openxmlformats.org/officeDocument/2006/relationships/tags" Target="../tags/tag42.xml"/><Relationship Id="rId6" Type="http://schemas.openxmlformats.org/officeDocument/2006/relationships/oleObject" Target="../embeddings/oleObject28.bin"/><Relationship Id="rId5" Type="http://schemas.openxmlformats.org/officeDocument/2006/relationships/slide" Target="slide24.xml"/><Relationship Id="rId4" Type="http://schemas.openxmlformats.org/officeDocument/2006/relationships/slide" Target="slide23.xml"/></Relationships>
</file>

<file path=ppt/slides/_rels/slide34.xml.rels><?xml version="1.0" encoding="UTF-8" standalone="yes"?>
<Relationships xmlns="http://schemas.openxmlformats.org/package/2006/relationships"><Relationship Id="rId8" Type="http://schemas.openxmlformats.org/officeDocument/2006/relationships/image" Target="../media/image81.svg"/><Relationship Id="rId3" Type="http://schemas.openxmlformats.org/officeDocument/2006/relationships/notesSlide" Target="../notesSlides/notesSlide33.xml"/><Relationship Id="rId7" Type="http://schemas.openxmlformats.org/officeDocument/2006/relationships/image" Target="../media/image16.emf"/><Relationship Id="rId2" Type="http://schemas.openxmlformats.org/officeDocument/2006/relationships/slideLayout" Target="../slideLayouts/slideLayout11.xml"/><Relationship Id="rId1" Type="http://schemas.openxmlformats.org/officeDocument/2006/relationships/tags" Target="../tags/tag43.xml"/><Relationship Id="rId6" Type="http://schemas.openxmlformats.org/officeDocument/2006/relationships/oleObject" Target="../embeddings/oleObject28.bin"/><Relationship Id="rId5" Type="http://schemas.openxmlformats.org/officeDocument/2006/relationships/slide" Target="slide26.xml"/><Relationship Id="rId4" Type="http://schemas.openxmlformats.org/officeDocument/2006/relationships/slide" Target="slide23.xml"/></Relationships>
</file>

<file path=ppt/slides/_rels/slide35.xml.rels><?xml version="1.0" encoding="UTF-8" standalone="yes"?>
<Relationships xmlns="http://schemas.openxmlformats.org/package/2006/relationships"><Relationship Id="rId8" Type="http://schemas.openxmlformats.org/officeDocument/2006/relationships/image" Target="../media/image81.svg"/><Relationship Id="rId3" Type="http://schemas.openxmlformats.org/officeDocument/2006/relationships/notesSlide" Target="../notesSlides/notesSlide34.xml"/><Relationship Id="rId7" Type="http://schemas.openxmlformats.org/officeDocument/2006/relationships/slide" Target="slide23.xml"/><Relationship Id="rId2" Type="http://schemas.openxmlformats.org/officeDocument/2006/relationships/slideLayout" Target="../slideLayouts/slideLayout11.xml"/><Relationship Id="rId1" Type="http://schemas.openxmlformats.org/officeDocument/2006/relationships/tags" Target="../tags/tag44.xml"/><Relationship Id="rId6" Type="http://schemas.openxmlformats.org/officeDocument/2006/relationships/slide" Target="slide22.xml"/><Relationship Id="rId5" Type="http://schemas.openxmlformats.org/officeDocument/2006/relationships/image" Target="../media/image16.emf"/><Relationship Id="rId4" Type="http://schemas.openxmlformats.org/officeDocument/2006/relationships/oleObject" Target="../embeddings/oleObject29.bin"/></Relationships>
</file>

<file path=ppt/slides/_rels/slide36.xml.rels><?xml version="1.0" encoding="UTF-8" standalone="yes"?>
<Relationships xmlns="http://schemas.openxmlformats.org/package/2006/relationships"><Relationship Id="rId8" Type="http://schemas.openxmlformats.org/officeDocument/2006/relationships/image" Target="../media/image81.svg"/><Relationship Id="rId3" Type="http://schemas.openxmlformats.org/officeDocument/2006/relationships/notesSlide" Target="../notesSlides/notesSlide35.xml"/><Relationship Id="rId7" Type="http://schemas.openxmlformats.org/officeDocument/2006/relationships/slide" Target="slide28.xml"/><Relationship Id="rId2" Type="http://schemas.openxmlformats.org/officeDocument/2006/relationships/slideLayout" Target="../slideLayouts/slideLayout11.xml"/><Relationship Id="rId1" Type="http://schemas.openxmlformats.org/officeDocument/2006/relationships/tags" Target="../tags/tag45.xml"/><Relationship Id="rId6" Type="http://schemas.openxmlformats.org/officeDocument/2006/relationships/slide" Target="slide24.xml"/><Relationship Id="rId5" Type="http://schemas.openxmlformats.org/officeDocument/2006/relationships/image" Target="../media/image16.emf"/><Relationship Id="rId4" Type="http://schemas.openxmlformats.org/officeDocument/2006/relationships/oleObject" Target="../embeddings/oleObject30.bin"/></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6.xml"/><Relationship Id="rId7" Type="http://schemas.openxmlformats.org/officeDocument/2006/relationships/image" Target="../media/image81.svg"/><Relationship Id="rId2" Type="http://schemas.openxmlformats.org/officeDocument/2006/relationships/slideLayout" Target="../slideLayouts/slideLayout11.xml"/><Relationship Id="rId1" Type="http://schemas.openxmlformats.org/officeDocument/2006/relationships/tags" Target="../tags/tag46.xml"/><Relationship Id="rId6" Type="http://schemas.openxmlformats.org/officeDocument/2006/relationships/slide" Target="slide23.xml"/><Relationship Id="rId5" Type="http://schemas.openxmlformats.org/officeDocument/2006/relationships/image" Target="../media/image16.emf"/><Relationship Id="rId4" Type="http://schemas.openxmlformats.org/officeDocument/2006/relationships/oleObject" Target="../embeddings/oleObject31.bin"/></Relationships>
</file>

<file path=ppt/slides/_rels/slide38.xml.rels><?xml version="1.0" encoding="UTF-8" standalone="yes"?>
<Relationships xmlns="http://schemas.openxmlformats.org/package/2006/relationships"><Relationship Id="rId8" Type="http://schemas.openxmlformats.org/officeDocument/2006/relationships/image" Target="../media/image81.svg"/><Relationship Id="rId3" Type="http://schemas.openxmlformats.org/officeDocument/2006/relationships/notesSlide" Target="../notesSlides/notesSlide37.xml"/><Relationship Id="rId7" Type="http://schemas.openxmlformats.org/officeDocument/2006/relationships/slide" Target="slide24.xml"/><Relationship Id="rId2" Type="http://schemas.openxmlformats.org/officeDocument/2006/relationships/slideLayout" Target="../slideLayouts/slideLayout11.xml"/><Relationship Id="rId1" Type="http://schemas.openxmlformats.org/officeDocument/2006/relationships/tags" Target="../tags/tag47.xml"/><Relationship Id="rId6" Type="http://schemas.openxmlformats.org/officeDocument/2006/relationships/slide" Target="slide22.xml"/><Relationship Id="rId5" Type="http://schemas.openxmlformats.org/officeDocument/2006/relationships/image" Target="../media/image16.emf"/><Relationship Id="rId4" Type="http://schemas.openxmlformats.org/officeDocument/2006/relationships/oleObject" Target="../embeddings/oleObject32.bin"/></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8.xml"/><Relationship Id="rId7" Type="http://schemas.openxmlformats.org/officeDocument/2006/relationships/image" Target="../media/image81.svg"/><Relationship Id="rId2" Type="http://schemas.openxmlformats.org/officeDocument/2006/relationships/slideLayout" Target="../slideLayouts/slideLayout11.xml"/><Relationship Id="rId1" Type="http://schemas.openxmlformats.org/officeDocument/2006/relationships/tags" Target="../tags/tag48.xml"/><Relationship Id="rId6" Type="http://schemas.openxmlformats.org/officeDocument/2006/relationships/slide" Target="slide25.xml"/><Relationship Id="rId5" Type="http://schemas.openxmlformats.org/officeDocument/2006/relationships/image" Target="../media/image16.emf"/><Relationship Id="rId4" Type="http://schemas.openxmlformats.org/officeDocument/2006/relationships/oleObject" Target="../embeddings/oleObject32.bin"/></Relationships>
</file>

<file path=ppt/slides/_rels/slide40.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notesSlide" Target="../notesSlides/notesSlide39.xml"/><Relationship Id="rId7" Type="http://schemas.openxmlformats.org/officeDocument/2006/relationships/oleObject" Target="../embeddings/oleObject28.bin"/><Relationship Id="rId2" Type="http://schemas.openxmlformats.org/officeDocument/2006/relationships/slideLayout" Target="../slideLayouts/slideLayout11.xml"/><Relationship Id="rId1" Type="http://schemas.openxmlformats.org/officeDocument/2006/relationships/tags" Target="../tags/tag49.xml"/><Relationship Id="rId6" Type="http://schemas.openxmlformats.org/officeDocument/2006/relationships/slide" Target="slide28.xml"/><Relationship Id="rId5" Type="http://schemas.openxmlformats.org/officeDocument/2006/relationships/slide" Target="slide23.xml"/><Relationship Id="rId4" Type="http://schemas.openxmlformats.org/officeDocument/2006/relationships/slide" Target="slide22.xml"/><Relationship Id="rId9" Type="http://schemas.openxmlformats.org/officeDocument/2006/relationships/image" Target="../media/image81.svg"/></Relationships>
</file>

<file path=ppt/slides/_rels/slide41.xml.rels><?xml version="1.0" encoding="UTF-8" standalone="yes"?>
<Relationships xmlns="http://schemas.openxmlformats.org/package/2006/relationships"><Relationship Id="rId8" Type="http://schemas.openxmlformats.org/officeDocument/2006/relationships/image" Target="../media/image81.svg"/><Relationship Id="rId3" Type="http://schemas.openxmlformats.org/officeDocument/2006/relationships/notesSlide" Target="../notesSlides/notesSlide40.xml"/><Relationship Id="rId7" Type="http://schemas.openxmlformats.org/officeDocument/2006/relationships/image" Target="../media/image16.emf"/><Relationship Id="rId2" Type="http://schemas.openxmlformats.org/officeDocument/2006/relationships/slideLayout" Target="../slideLayouts/slideLayout11.xml"/><Relationship Id="rId1" Type="http://schemas.openxmlformats.org/officeDocument/2006/relationships/tags" Target="../tags/tag50.xml"/><Relationship Id="rId6" Type="http://schemas.openxmlformats.org/officeDocument/2006/relationships/oleObject" Target="../embeddings/oleObject28.bin"/><Relationship Id="rId5" Type="http://schemas.openxmlformats.org/officeDocument/2006/relationships/slide" Target="slide28.xml"/><Relationship Id="rId4" Type="http://schemas.openxmlformats.org/officeDocument/2006/relationships/slide" Target="slide27.xml"/></Relationships>
</file>

<file path=ppt/slides/_rels/slide42.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notesSlide" Target="../notesSlides/notesSlide41.xml"/><Relationship Id="rId7" Type="http://schemas.openxmlformats.org/officeDocument/2006/relationships/oleObject" Target="../embeddings/oleObject28.bin"/><Relationship Id="rId2" Type="http://schemas.openxmlformats.org/officeDocument/2006/relationships/slideLayout" Target="../slideLayouts/slideLayout11.xml"/><Relationship Id="rId1" Type="http://schemas.openxmlformats.org/officeDocument/2006/relationships/tags" Target="../tags/tag51.xml"/><Relationship Id="rId6" Type="http://schemas.openxmlformats.org/officeDocument/2006/relationships/slide" Target="slide26.xml"/><Relationship Id="rId5" Type="http://schemas.openxmlformats.org/officeDocument/2006/relationships/slide" Target="slide25.xml"/><Relationship Id="rId4" Type="http://schemas.openxmlformats.org/officeDocument/2006/relationships/slide" Target="slide24.xml"/><Relationship Id="rId9" Type="http://schemas.openxmlformats.org/officeDocument/2006/relationships/image" Target="../media/image81.svg"/></Relationships>
</file>

<file path=ppt/slides/_rels/slide43.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notesSlide" Target="../notesSlides/notesSlide42.xml"/><Relationship Id="rId7" Type="http://schemas.openxmlformats.org/officeDocument/2006/relationships/oleObject" Target="../embeddings/oleObject28.bin"/><Relationship Id="rId2" Type="http://schemas.openxmlformats.org/officeDocument/2006/relationships/slideLayout" Target="../slideLayouts/slideLayout11.xml"/><Relationship Id="rId1" Type="http://schemas.openxmlformats.org/officeDocument/2006/relationships/tags" Target="../tags/tag52.xml"/><Relationship Id="rId6" Type="http://schemas.openxmlformats.org/officeDocument/2006/relationships/slide" Target="slide22.xml"/><Relationship Id="rId5" Type="http://schemas.openxmlformats.org/officeDocument/2006/relationships/slide" Target="slide26.xml"/><Relationship Id="rId4" Type="http://schemas.openxmlformats.org/officeDocument/2006/relationships/slide" Target="slide24.xml"/><Relationship Id="rId9" Type="http://schemas.openxmlformats.org/officeDocument/2006/relationships/image" Target="../media/image81.sv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3.xml"/><Relationship Id="rId7" Type="http://schemas.openxmlformats.org/officeDocument/2006/relationships/image" Target="../media/image81.svg"/><Relationship Id="rId2" Type="http://schemas.openxmlformats.org/officeDocument/2006/relationships/slideLayout" Target="../slideLayouts/slideLayout11.xml"/><Relationship Id="rId1" Type="http://schemas.openxmlformats.org/officeDocument/2006/relationships/tags" Target="../tags/tag53.xml"/><Relationship Id="rId6" Type="http://schemas.openxmlformats.org/officeDocument/2006/relationships/image" Target="../media/image16.emf"/><Relationship Id="rId5" Type="http://schemas.openxmlformats.org/officeDocument/2006/relationships/oleObject" Target="../embeddings/oleObject28.bin"/><Relationship Id="rId4" Type="http://schemas.openxmlformats.org/officeDocument/2006/relationships/slide" Target="slide24.xml"/></Relationships>
</file>

<file path=ppt/slides/_rels/slide45.xml.rels><?xml version="1.0" encoding="UTF-8" standalone="yes"?>
<Relationships xmlns="http://schemas.openxmlformats.org/package/2006/relationships"><Relationship Id="rId8" Type="http://schemas.openxmlformats.org/officeDocument/2006/relationships/image" Target="../media/image81.svg"/><Relationship Id="rId3" Type="http://schemas.openxmlformats.org/officeDocument/2006/relationships/notesSlide" Target="../notesSlides/notesSlide44.xml"/><Relationship Id="rId7" Type="http://schemas.openxmlformats.org/officeDocument/2006/relationships/image" Target="../media/image16.emf"/><Relationship Id="rId2" Type="http://schemas.openxmlformats.org/officeDocument/2006/relationships/slideLayout" Target="../slideLayouts/slideLayout11.xml"/><Relationship Id="rId1" Type="http://schemas.openxmlformats.org/officeDocument/2006/relationships/tags" Target="../tags/tag54.xml"/><Relationship Id="rId6" Type="http://schemas.openxmlformats.org/officeDocument/2006/relationships/oleObject" Target="../embeddings/oleObject28.bin"/><Relationship Id="rId5" Type="http://schemas.openxmlformats.org/officeDocument/2006/relationships/slide" Target="slide25.xml"/><Relationship Id="rId4" Type="http://schemas.openxmlformats.org/officeDocument/2006/relationships/slide" Target="slide2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30.xml"/><Relationship Id="rId1" Type="http://schemas.openxmlformats.org/officeDocument/2006/relationships/tags" Target="../tags/tag55.xml"/><Relationship Id="rId5" Type="http://schemas.openxmlformats.org/officeDocument/2006/relationships/image" Target="../media/image16.emf"/><Relationship Id="rId4" Type="http://schemas.openxmlformats.org/officeDocument/2006/relationships/oleObject" Target="../embeddings/oleObject33.bin"/></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1.xml"/><Relationship Id="rId1" Type="http://schemas.openxmlformats.org/officeDocument/2006/relationships/tags" Target="../tags/tag56.xml"/><Relationship Id="rId5" Type="http://schemas.openxmlformats.org/officeDocument/2006/relationships/image" Target="../media/image17.emf"/><Relationship Id="rId4" Type="http://schemas.openxmlformats.org/officeDocument/2006/relationships/oleObject" Target="../embeddings/oleObject34.bin"/></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1.xml"/><Relationship Id="rId1" Type="http://schemas.openxmlformats.org/officeDocument/2006/relationships/tags" Target="../tags/tag57.xml"/><Relationship Id="rId5" Type="http://schemas.openxmlformats.org/officeDocument/2006/relationships/image" Target="../media/image17.emf"/><Relationship Id="rId4" Type="http://schemas.openxmlformats.org/officeDocument/2006/relationships/oleObject" Target="../embeddings/oleObject35.bin"/></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1.xml"/><Relationship Id="rId1" Type="http://schemas.openxmlformats.org/officeDocument/2006/relationships/tags" Target="../tags/tag58.xml"/><Relationship Id="rId5" Type="http://schemas.openxmlformats.org/officeDocument/2006/relationships/image" Target="../media/image17.emf"/><Relationship Id="rId4" Type="http://schemas.openxmlformats.org/officeDocument/2006/relationships/oleObject" Target="../embeddings/oleObject35.bin"/></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1.xml"/><Relationship Id="rId1" Type="http://schemas.openxmlformats.org/officeDocument/2006/relationships/tags" Target="../tags/tag59.xml"/><Relationship Id="rId5" Type="http://schemas.openxmlformats.org/officeDocument/2006/relationships/image" Target="../media/image17.emf"/><Relationship Id="rId4" Type="http://schemas.openxmlformats.org/officeDocument/2006/relationships/oleObject" Target="../embeddings/oleObject35.bin"/></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1.xml"/><Relationship Id="rId1" Type="http://schemas.openxmlformats.org/officeDocument/2006/relationships/tags" Target="../tags/tag60.xml"/><Relationship Id="rId6" Type="http://schemas.openxmlformats.org/officeDocument/2006/relationships/image" Target="../media/image17.emf"/><Relationship Id="rId5" Type="http://schemas.openxmlformats.org/officeDocument/2006/relationships/oleObject" Target="../embeddings/oleObject35.bin"/><Relationship Id="rId4" Type="http://schemas.microsoft.com/office/2018/10/relationships/comments" Target="../comments/modernComment_7FFFFFF9_43B89F50.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30.xml"/><Relationship Id="rId1" Type="http://schemas.openxmlformats.org/officeDocument/2006/relationships/tags" Target="../tags/tag61.xml"/><Relationship Id="rId5" Type="http://schemas.openxmlformats.org/officeDocument/2006/relationships/image" Target="../media/image16.emf"/><Relationship Id="rId4" Type="http://schemas.openxmlformats.org/officeDocument/2006/relationships/oleObject" Target="../embeddings/oleObject36.bin"/></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1.xml"/><Relationship Id="rId1" Type="http://schemas.openxmlformats.org/officeDocument/2006/relationships/tags" Target="../tags/tag62.xml"/><Relationship Id="rId5" Type="http://schemas.openxmlformats.org/officeDocument/2006/relationships/image" Target="../media/image17.emf"/><Relationship Id="rId4" Type="http://schemas.openxmlformats.org/officeDocument/2006/relationships/oleObject" Target="../embeddings/oleObject37.bin"/></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1.xml"/><Relationship Id="rId1" Type="http://schemas.openxmlformats.org/officeDocument/2006/relationships/tags" Target="../tags/tag63.xml"/><Relationship Id="rId6" Type="http://schemas.openxmlformats.org/officeDocument/2006/relationships/image" Target="../media/image17.emf"/><Relationship Id="rId5" Type="http://schemas.openxmlformats.org/officeDocument/2006/relationships/oleObject" Target="../embeddings/oleObject37.bin"/><Relationship Id="rId4" Type="http://schemas.microsoft.com/office/2018/10/relationships/comments" Target="../comments/modernComment_174_316FB24B.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1.xml"/><Relationship Id="rId1" Type="http://schemas.openxmlformats.org/officeDocument/2006/relationships/tags" Target="../tags/tag64.xml"/><Relationship Id="rId5" Type="http://schemas.openxmlformats.org/officeDocument/2006/relationships/image" Target="../media/image17.emf"/><Relationship Id="rId4" Type="http://schemas.openxmlformats.org/officeDocument/2006/relationships/oleObject" Target="../embeddings/oleObject37.bin"/></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1.xml"/><Relationship Id="rId1" Type="http://schemas.openxmlformats.org/officeDocument/2006/relationships/tags" Target="../tags/tag65.xml"/><Relationship Id="rId5" Type="http://schemas.openxmlformats.org/officeDocument/2006/relationships/image" Target="../media/image17.emf"/><Relationship Id="rId4" Type="http://schemas.openxmlformats.org/officeDocument/2006/relationships/oleObject" Target="../embeddings/oleObject37.bin"/></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1.xml"/><Relationship Id="rId1" Type="http://schemas.openxmlformats.org/officeDocument/2006/relationships/tags" Target="../tags/tag66.xml"/><Relationship Id="rId5" Type="http://schemas.openxmlformats.org/officeDocument/2006/relationships/image" Target="../media/image63.emf"/><Relationship Id="rId4" Type="http://schemas.openxmlformats.org/officeDocument/2006/relationships/oleObject" Target="../embeddings/oleObject38.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01A01-0AAF-2F05-5500-A3E0F2834BBA}"/>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42E6DE5-9310-34C0-0ECB-ACA8841D6686}"/>
              </a:ext>
            </a:extLst>
          </p:cNvPr>
          <p:cNvGraphicFramePr>
            <a:graphicFrameLocks/>
          </p:cNvGraphicFramePr>
          <p:nvPr>
            <p:custDataLst>
              <p:tags r:id="rId2"/>
            </p:custDataLst>
            <p:extLst>
              <p:ext uri="{D42A27DB-BD31-4B8C-83A1-F6EECF244321}">
                <p14:modId xmlns:p14="http://schemas.microsoft.com/office/powerpoint/2010/main" val="38236734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54" imgH="456" progId="TCLayout.ActiveDocument.1">
                  <p:embed/>
                </p:oleObj>
              </mc:Choice>
              <mc:Fallback>
                <p:oleObj name="think-cell Slide" r:id="rId5" imgW="454" imgH="456" progId="TCLayout.ActiveDocument.1">
                  <p:embed/>
                  <p:pic>
                    <p:nvPicPr>
                      <p:cNvPr id="3" name="think-cell data - do not delete" hidden="1">
                        <a:extLst>
                          <a:ext uri="{FF2B5EF4-FFF2-40B4-BE49-F238E27FC236}">
                            <a16:creationId xmlns:a16="http://schemas.microsoft.com/office/drawing/2014/main" id="{E42E6DE5-9310-34C0-0ECB-ACA8841D668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074" name="Rectangle 8">
            <a:extLst>
              <a:ext uri="{FF2B5EF4-FFF2-40B4-BE49-F238E27FC236}">
                <a16:creationId xmlns:a16="http://schemas.microsoft.com/office/drawing/2014/main" id="{F4BE6FAF-56C4-4029-B8A2-355E22A4CCFA}"/>
              </a:ext>
            </a:extLst>
          </p:cNvPr>
          <p:cNvSpPr>
            <a:spLocks noGrp="1" noChangeArrowheads="1"/>
          </p:cNvSpPr>
          <p:nvPr>
            <p:ph type="ctrTitle"/>
          </p:nvPr>
        </p:nvSpPr>
        <p:spPr>
          <a:xfrm>
            <a:off x="357701" y="3989146"/>
            <a:ext cx="8275320" cy="984885"/>
          </a:xfrm>
        </p:spPr>
        <p:txBody>
          <a:bodyPr vert="horz" rIns="0">
            <a:spAutoFit/>
          </a:bodyPr>
          <a:lstStyle/>
          <a:p>
            <a:r>
              <a:rPr lang="en-US" b="1">
                <a:ea typeface="Verdana"/>
              </a:rPr>
              <a:t>BGB-58067 Integrated Evidence Plan</a:t>
            </a:r>
            <a:br>
              <a:rPr lang="en-US" b="1">
                <a:ea typeface="Verdana"/>
              </a:rPr>
            </a:br>
            <a:r>
              <a:rPr lang="en-US" b="1">
                <a:solidFill>
                  <a:schemeClr val="accent3">
                    <a:lumMod val="40000"/>
                    <a:lumOff val="60000"/>
                  </a:schemeClr>
                </a:solidFill>
                <a:ea typeface="Verdana"/>
              </a:rPr>
              <a:t>Version 1.0</a:t>
            </a:r>
          </a:p>
        </p:txBody>
      </p:sp>
      <p:pic>
        <p:nvPicPr>
          <p:cNvPr id="5" name="Picture Placeholder 4">
            <a:extLst>
              <a:ext uri="{FF2B5EF4-FFF2-40B4-BE49-F238E27FC236}">
                <a16:creationId xmlns:a16="http://schemas.microsoft.com/office/drawing/2014/main" id="{04D33C02-66AE-42C0-A390-9EBF9863F5FB}"/>
              </a:ext>
            </a:extLst>
          </p:cNvPr>
          <p:cNvPicPr>
            <a:picLocks noGrp="1" noChangeAspect="1"/>
          </p:cNvPicPr>
          <p:nvPr>
            <p:ph type="pic" sz="quarter" idx="10"/>
          </p:nvPr>
        </p:nvPicPr>
        <p:blipFill>
          <a:blip r:embed="rId7"/>
          <a:srcRect t="27527" b="27527"/>
          <a:stretch/>
        </p:blipFill>
        <p:spPr>
          <a:xfrm>
            <a:off x="375989" y="377091"/>
            <a:ext cx="11433024" cy="3427088"/>
          </a:xfrm>
        </p:spPr>
      </p:pic>
      <p:sp>
        <p:nvSpPr>
          <p:cNvPr id="14" name="Text Placeholder 13">
            <a:extLst>
              <a:ext uri="{FF2B5EF4-FFF2-40B4-BE49-F238E27FC236}">
                <a16:creationId xmlns:a16="http://schemas.microsoft.com/office/drawing/2014/main" id="{FC934F7E-C7DD-B9B5-2079-30328E034655}"/>
              </a:ext>
            </a:extLst>
          </p:cNvPr>
          <p:cNvSpPr>
            <a:spLocks noGrp="1"/>
          </p:cNvSpPr>
          <p:nvPr>
            <p:ph type="body" idx="14"/>
          </p:nvPr>
        </p:nvSpPr>
        <p:spPr>
          <a:xfrm>
            <a:off x="357701" y="5658142"/>
            <a:ext cx="6217920" cy="446276"/>
          </a:xfrm>
        </p:spPr>
        <p:txBody>
          <a:bodyPr/>
          <a:lstStyle/>
          <a:p>
            <a:pPr lvl="0">
              <a:spcAft>
                <a:spcPts val="600"/>
              </a:spcAft>
            </a:pPr>
            <a:r>
              <a:rPr lang="en-US">
                <a:latin typeface="+mn-lt"/>
                <a:ea typeface="+mn-lt"/>
                <a:cs typeface="+mn-lt"/>
                <a:sym typeface="+mn-lt"/>
              </a:rPr>
              <a:t>August 2026</a:t>
            </a:r>
          </a:p>
          <a:p>
            <a:pPr lvl="0">
              <a:spcAft>
                <a:spcPts val="600"/>
              </a:spcAft>
            </a:pPr>
            <a:r>
              <a:rPr lang="en-US">
                <a:latin typeface="+mn-lt"/>
                <a:ea typeface="+mn-lt"/>
                <a:cs typeface="+mn-lt"/>
                <a:sym typeface="+mn-lt"/>
              </a:rPr>
              <a:t>Prepared by: </a:t>
            </a:r>
          </a:p>
        </p:txBody>
      </p:sp>
      <p:pic>
        <p:nvPicPr>
          <p:cNvPr id="7" name="Picture 6">
            <a:extLst>
              <a:ext uri="{FF2B5EF4-FFF2-40B4-BE49-F238E27FC236}">
                <a16:creationId xmlns:a16="http://schemas.microsoft.com/office/drawing/2014/main" id="{A064E370-1645-D791-DF21-4DDA691019A6}"/>
              </a:ext>
            </a:extLst>
          </p:cNvPr>
          <p:cNvPicPr>
            <a:picLocks noChangeAspect="1"/>
          </p:cNvPicPr>
          <p:nvPr/>
        </p:nvPicPr>
        <p:blipFill>
          <a:blip r:embed="rId8"/>
          <a:stretch>
            <a:fillRect/>
          </a:stretch>
        </p:blipFill>
        <p:spPr>
          <a:xfrm>
            <a:off x="1400121" y="5906468"/>
            <a:ext cx="943029" cy="197950"/>
          </a:xfrm>
          <a:prstGeom prst="rect">
            <a:avLst/>
          </a:prstGeom>
        </p:spPr>
      </p:pic>
    </p:spTree>
    <p:custDataLst>
      <p:tags r:id="rId1"/>
    </p:custDataLst>
    <p:extLst>
      <p:ext uri="{BB962C8B-B14F-4D97-AF65-F5344CB8AC3E}">
        <p14:creationId xmlns:p14="http://schemas.microsoft.com/office/powerpoint/2010/main" val="3167439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EE3A6-264C-AC39-4826-0C099E1E1BC4}"/>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DB7855F-EA57-37EF-8650-DA90120AA300}"/>
              </a:ext>
            </a:extLst>
          </p:cNvPr>
          <p:cNvGraphicFramePr>
            <a:graphicFrameLocks/>
          </p:cNvGraphicFramePr>
          <p:nvPr>
            <p:custDataLst>
              <p:tags r:id="rId1"/>
            </p:custDataLst>
            <p:extLst>
              <p:ext uri="{D42A27DB-BD31-4B8C-83A1-F6EECF244321}">
                <p14:modId xmlns:p14="http://schemas.microsoft.com/office/powerpoint/2010/main" val="12778442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think-cell data - do not delete" hidden="1">
                        <a:extLst>
                          <a:ext uri="{FF2B5EF4-FFF2-40B4-BE49-F238E27FC236}">
                            <a16:creationId xmlns:a16="http://schemas.microsoft.com/office/drawing/2014/main" id="{CDB7855F-EA57-37EF-8650-DA90120AA30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791B3D3-2D22-6D0E-F566-D786ADE09CEA}"/>
              </a:ext>
            </a:extLst>
          </p:cNvPr>
          <p:cNvSpPr>
            <a:spLocks noGrp="1"/>
          </p:cNvSpPr>
          <p:nvPr>
            <p:ph type="title"/>
          </p:nvPr>
        </p:nvSpPr>
        <p:spPr>
          <a:xfrm>
            <a:off x="358337" y="338328"/>
            <a:ext cx="11470125" cy="369332"/>
          </a:xfrm>
        </p:spPr>
        <p:txBody>
          <a:bodyPr vert="horz" rIns="0">
            <a:spAutoFit/>
          </a:bodyPr>
          <a:lstStyle/>
          <a:p>
            <a:r>
              <a:rPr lang="en-US" sz="2400"/>
              <a:t>Table Of Contents</a:t>
            </a:r>
          </a:p>
        </p:txBody>
      </p:sp>
      <p:graphicFrame>
        <p:nvGraphicFramePr>
          <p:cNvPr id="9" name="Table 8">
            <a:extLst>
              <a:ext uri="{FF2B5EF4-FFF2-40B4-BE49-F238E27FC236}">
                <a16:creationId xmlns:a16="http://schemas.microsoft.com/office/drawing/2014/main" id="{01D113B5-C99E-8280-A59F-175997EFD0CB}"/>
              </a:ext>
            </a:extLst>
          </p:cNvPr>
          <p:cNvGraphicFramePr>
            <a:graphicFrameLocks noGrp="1"/>
          </p:cNvGraphicFramePr>
          <p:nvPr>
            <p:extLst>
              <p:ext uri="{D42A27DB-BD31-4B8C-83A1-F6EECF244321}">
                <p14:modId xmlns:p14="http://schemas.microsoft.com/office/powerpoint/2010/main" val="794066390"/>
              </p:ext>
            </p:extLst>
          </p:nvPr>
        </p:nvGraphicFramePr>
        <p:xfrm>
          <a:off x="373616" y="1351435"/>
          <a:ext cx="11454846" cy="4693920"/>
        </p:xfrm>
        <a:graphic>
          <a:graphicData uri="http://schemas.openxmlformats.org/drawingml/2006/table">
            <a:tbl>
              <a:tblPr firstRow="1" bandRow="1">
                <a:tableStyleId>{72833802-FEF1-4C79-8D5D-14CF1EAF98D9}</a:tableStyleId>
              </a:tblPr>
              <a:tblGrid>
                <a:gridCol w="3635683">
                  <a:extLst>
                    <a:ext uri="{9D8B030D-6E8A-4147-A177-3AD203B41FA5}">
                      <a16:colId xmlns:a16="http://schemas.microsoft.com/office/drawing/2014/main" val="3260324862"/>
                    </a:ext>
                  </a:extLst>
                </a:gridCol>
                <a:gridCol w="6942263">
                  <a:extLst>
                    <a:ext uri="{9D8B030D-6E8A-4147-A177-3AD203B41FA5}">
                      <a16:colId xmlns:a16="http://schemas.microsoft.com/office/drawing/2014/main" val="3956728529"/>
                    </a:ext>
                  </a:extLst>
                </a:gridCol>
                <a:gridCol w="876900">
                  <a:extLst>
                    <a:ext uri="{9D8B030D-6E8A-4147-A177-3AD203B41FA5}">
                      <a16:colId xmlns:a16="http://schemas.microsoft.com/office/drawing/2014/main" val="2468275338"/>
                    </a:ext>
                  </a:extLst>
                </a:gridCol>
              </a:tblGrid>
              <a:tr h="283929">
                <a:tc>
                  <a:txBody>
                    <a:bodyPr/>
                    <a:lstStyle/>
                    <a:p>
                      <a:pPr algn="ctr"/>
                      <a:r>
                        <a:rPr lang="en-US" sz="1400"/>
                        <a:t>Chapter</a:t>
                      </a:r>
                    </a:p>
                  </a:txBody>
                  <a:tcPr anchor="ctr"/>
                </a:tc>
                <a:tc>
                  <a:txBody>
                    <a:bodyPr/>
                    <a:lstStyle/>
                    <a:p>
                      <a:pPr algn="ctr"/>
                      <a:r>
                        <a:rPr lang="en-US" sz="1400"/>
                        <a:t>Topics</a:t>
                      </a:r>
                    </a:p>
                  </a:txBody>
                  <a:tcPr anchor="ctr"/>
                </a:tc>
                <a:tc>
                  <a:txBody>
                    <a:bodyPr/>
                    <a:lstStyle/>
                    <a:p>
                      <a:pPr algn="ctr"/>
                      <a:r>
                        <a:rPr lang="en-US" sz="1400"/>
                        <a:t>Page</a:t>
                      </a:r>
                    </a:p>
                  </a:txBody>
                  <a:tcPr anchor="ctr"/>
                </a:tc>
                <a:extLst>
                  <a:ext uri="{0D108BD9-81ED-4DB2-BD59-A6C34878D82A}">
                    <a16:rowId xmlns:a16="http://schemas.microsoft.com/office/drawing/2014/main" val="4118937112"/>
                  </a:ext>
                </a:extLst>
              </a:tr>
              <a:tr h="0">
                <a:tc rowSpan="3">
                  <a:txBody>
                    <a:bodyPr/>
                    <a:lstStyle/>
                    <a:p>
                      <a:r>
                        <a:rPr lang="en-US" sz="1000"/>
                        <a:t>Executive Summary</a:t>
                      </a:r>
                    </a:p>
                  </a:txBody>
                  <a:tcPr anchor="ctr">
                    <a:lnB w="6350" cap="flat" cmpd="sng" algn="ctr">
                      <a:solidFill>
                        <a:schemeClr val="accent2"/>
                      </a:solidFill>
                      <a:prstDash val="solid"/>
                      <a:round/>
                      <a:headEnd type="none" w="med" len="med"/>
                      <a:tailEnd type="none" w="med" len="med"/>
                    </a:lnB>
                  </a:tcPr>
                </a:tc>
                <a:tc>
                  <a:txBody>
                    <a:bodyPr/>
                    <a:lstStyle/>
                    <a:p>
                      <a:r>
                        <a:rPr lang="en-US" sz="1000"/>
                        <a:t>Asset Context and Purpose of the IEP</a:t>
                      </a:r>
                    </a:p>
                  </a:txBody>
                  <a:tcPr anchor="ctr"/>
                </a:tc>
                <a:tc>
                  <a:txBody>
                    <a:bodyPr/>
                    <a:lstStyle/>
                    <a:p>
                      <a:r>
                        <a:rPr lang="en-US" sz="1000"/>
                        <a:t>6-9</a:t>
                      </a:r>
                    </a:p>
                  </a:txBody>
                  <a:tcPr anchor="ctr"/>
                </a:tc>
                <a:extLst>
                  <a:ext uri="{0D108BD9-81ED-4DB2-BD59-A6C34878D82A}">
                    <a16:rowId xmlns:a16="http://schemas.microsoft.com/office/drawing/2014/main" val="2925293356"/>
                  </a:ext>
                </a:extLst>
              </a:tr>
              <a:tr h="0">
                <a:tc vMerge="1">
                  <a:txBody>
                    <a:bodyPr/>
                    <a:lstStyle/>
                    <a:p>
                      <a:endParaRPr lang="en-US" sz="1000"/>
                    </a:p>
                  </a:txBody>
                  <a:tcPr anchor="ctr">
                    <a:lnT w="6350" cap="flat" cmpd="sng" algn="ctr">
                      <a:solidFill>
                        <a:schemeClr val="accent2"/>
                      </a:solidFill>
                      <a:prstDash val="solid"/>
                      <a:round/>
                      <a:headEnd type="none" w="med" len="med"/>
                      <a:tailEnd type="none" w="med" len="med"/>
                    </a:lnT>
                  </a:tcPr>
                </a:tc>
                <a:tc>
                  <a:txBody>
                    <a:bodyPr/>
                    <a:lstStyle/>
                    <a:p>
                      <a:r>
                        <a:rPr lang="en-US" sz="1000">
                          <a:solidFill>
                            <a:schemeClr val="tx1"/>
                          </a:solidFill>
                        </a:rPr>
                        <a:t>Overview of Priority Evidence Gaps</a:t>
                      </a:r>
                    </a:p>
                  </a:txBody>
                  <a:tcPr anchor="ctr"/>
                </a:tc>
                <a:tc>
                  <a:txBody>
                    <a:bodyPr/>
                    <a:lstStyle/>
                    <a:p>
                      <a:r>
                        <a:rPr lang="en-US" sz="1000">
                          <a:solidFill>
                            <a:schemeClr val="tx1"/>
                          </a:solidFill>
                        </a:rPr>
                        <a:t>9</a:t>
                      </a:r>
                    </a:p>
                  </a:txBody>
                  <a:tcPr anchor="ctr"/>
                </a:tc>
                <a:extLst>
                  <a:ext uri="{0D108BD9-81ED-4DB2-BD59-A6C34878D82A}">
                    <a16:rowId xmlns:a16="http://schemas.microsoft.com/office/drawing/2014/main" val="2894730736"/>
                  </a:ext>
                </a:extLst>
              </a:tr>
              <a:tr h="0">
                <a:tc vMerge="1">
                  <a:txBody>
                    <a:bodyPr/>
                    <a:lstStyle/>
                    <a:p>
                      <a:endParaRPr lang="en-US" sz="140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Tactics Overview and IEP Roadmap</a:t>
                      </a:r>
                    </a:p>
                  </a:txBody>
                  <a:tcPr anchor="ctr"/>
                </a:tc>
                <a:tc>
                  <a:txBody>
                    <a:bodyPr/>
                    <a:lstStyle/>
                    <a:p>
                      <a:r>
                        <a:rPr lang="en-US" sz="1000">
                          <a:solidFill>
                            <a:schemeClr val="tx1"/>
                          </a:solidFill>
                        </a:rPr>
                        <a:t>10-11</a:t>
                      </a:r>
                    </a:p>
                  </a:txBody>
                  <a:tcPr anchor="ctr"/>
                </a:tc>
                <a:extLst>
                  <a:ext uri="{0D108BD9-81ED-4DB2-BD59-A6C34878D82A}">
                    <a16:rowId xmlns:a16="http://schemas.microsoft.com/office/drawing/2014/main" val="1176346260"/>
                  </a:ext>
                </a:extLst>
              </a:tr>
              <a:tr h="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Poppins"/>
                          <a:ea typeface="+mn-ea"/>
                          <a:cs typeface="+mn-cs"/>
                        </a:rPr>
                        <a:t>Situational and Strategic Context</a:t>
                      </a:r>
                    </a:p>
                  </a:txBody>
                  <a:tcPr anchor="ctr">
                    <a:lnT w="6350" cap="flat" cmpd="sng" algn="ctr">
                      <a:solidFill>
                        <a:schemeClr val="accent2"/>
                      </a:solidFill>
                      <a:prstDash val="solid"/>
                      <a:round/>
                      <a:headEnd type="none" w="med" len="med"/>
                      <a:tailEnd type="none" w="med" len="med"/>
                    </a:lnT>
                  </a:tcPr>
                </a:tc>
                <a:tc>
                  <a:txBody>
                    <a:bodyPr/>
                    <a:lstStyle/>
                    <a:p>
                      <a:r>
                        <a:rPr lang="en-US" sz="1000">
                          <a:solidFill>
                            <a:schemeClr val="tx1"/>
                          </a:solidFill>
                        </a:rPr>
                        <a:t>Product and CDx Strategy</a:t>
                      </a:r>
                    </a:p>
                  </a:txBody>
                  <a:tcPr anchor="ctr"/>
                </a:tc>
                <a:tc>
                  <a:txBody>
                    <a:bodyPr/>
                    <a:lstStyle/>
                    <a:p>
                      <a:r>
                        <a:rPr lang="en-US" sz="1000">
                          <a:solidFill>
                            <a:schemeClr val="tx1"/>
                          </a:solidFill>
                        </a:rPr>
                        <a:t>13-14</a:t>
                      </a:r>
                    </a:p>
                  </a:txBody>
                  <a:tcPr anchor="ctr"/>
                </a:tc>
                <a:extLst>
                  <a:ext uri="{0D108BD9-81ED-4DB2-BD59-A6C34878D82A}">
                    <a16:rowId xmlns:a16="http://schemas.microsoft.com/office/drawing/2014/main" val="2069876575"/>
                  </a:ext>
                </a:extLst>
              </a:tr>
              <a:tr h="0">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PRMT5i Competitive Landscape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15</a:t>
                      </a:r>
                    </a:p>
                  </a:txBody>
                  <a:tcPr anchor="ctr"/>
                </a:tc>
                <a:extLst>
                  <a:ext uri="{0D108BD9-81ED-4DB2-BD59-A6C34878D82A}">
                    <a16:rowId xmlns:a16="http://schemas.microsoft.com/office/drawing/2014/main" val="979268463"/>
                  </a:ext>
                </a:extLst>
              </a:tr>
              <a:tr h="0">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Medical Strategic Imperatives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16</a:t>
                      </a:r>
                    </a:p>
                  </a:txBody>
                  <a:tcPr anchor="ctr"/>
                </a:tc>
                <a:extLst>
                  <a:ext uri="{0D108BD9-81ED-4DB2-BD59-A6C34878D82A}">
                    <a16:rowId xmlns:a16="http://schemas.microsoft.com/office/drawing/2014/main" val="3097875645"/>
                  </a:ext>
                </a:extLst>
              </a:tr>
              <a:tr h="0">
                <a:tc rowSpan="3">
                  <a:txBody>
                    <a:bodyPr/>
                    <a:lstStyle/>
                    <a:p>
                      <a:r>
                        <a:rPr lang="en-US" sz="1000"/>
                        <a:t>Prioritized Evidence Gaps</a:t>
                      </a:r>
                    </a:p>
                  </a:txBody>
                  <a:tcPr anchor="ctr"/>
                </a:tc>
                <a:tc>
                  <a:txBody>
                    <a:bodyPr/>
                    <a:lstStyle/>
                    <a:p>
                      <a:r>
                        <a:rPr lang="en-US" sz="1000">
                          <a:solidFill>
                            <a:schemeClr val="tx1"/>
                          </a:solidFill>
                        </a:rPr>
                        <a:t>Gap Prioritization Framework</a:t>
                      </a:r>
                    </a:p>
                  </a:txBody>
                  <a:tcPr anchor="ctr"/>
                </a:tc>
                <a:tc>
                  <a:txBody>
                    <a:bodyPr/>
                    <a:lstStyle/>
                    <a:p>
                      <a:r>
                        <a:rPr lang="en-US" sz="1000">
                          <a:solidFill>
                            <a:schemeClr val="tx1"/>
                          </a:solidFill>
                        </a:rPr>
                        <a:t>18</a:t>
                      </a:r>
                    </a:p>
                  </a:txBody>
                  <a:tcPr anchor="ctr"/>
                </a:tc>
                <a:extLst>
                  <a:ext uri="{0D108BD9-81ED-4DB2-BD59-A6C34878D82A}">
                    <a16:rowId xmlns:a16="http://schemas.microsoft.com/office/drawing/2014/main" val="329840059"/>
                  </a:ext>
                </a:extLst>
              </a:tr>
              <a:tr h="0">
                <a:tc vMerge="1">
                  <a:txBody>
                    <a:bodyPr/>
                    <a:lstStyle/>
                    <a:p>
                      <a:endParaRPr lang="en-US" sz="140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trike="noStrike">
                          <a:solidFill>
                            <a:schemeClr val="tx1"/>
                          </a:solidFill>
                        </a:rPr>
                        <a:t>Overview of Prioritized Evidence Gaps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trike="noStrike">
                          <a:solidFill>
                            <a:schemeClr val="tx1"/>
                          </a:solidFill>
                        </a:rPr>
                        <a:t>19-21</a:t>
                      </a:r>
                    </a:p>
                  </a:txBody>
                  <a:tcPr anchor="ctr"/>
                </a:tc>
                <a:extLst>
                  <a:ext uri="{0D108BD9-81ED-4DB2-BD59-A6C34878D82A}">
                    <a16:rowId xmlns:a16="http://schemas.microsoft.com/office/drawing/2014/main" val="1411056615"/>
                  </a:ext>
                </a:extLst>
              </a:tr>
              <a:tr h="0">
                <a:tc vMerge="1">
                  <a:txBody>
                    <a:bodyPr/>
                    <a:lstStyle/>
                    <a:p>
                      <a:endParaRPr lang="en-US" sz="140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Rationale for Prioritized Evidence Gaps and Respective Tactics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22-28</a:t>
                      </a:r>
                    </a:p>
                  </a:txBody>
                  <a:tcPr anchor="ctr"/>
                </a:tc>
                <a:extLst>
                  <a:ext uri="{0D108BD9-81ED-4DB2-BD59-A6C34878D82A}">
                    <a16:rowId xmlns:a16="http://schemas.microsoft.com/office/drawing/2014/main" val="204557578"/>
                  </a:ext>
                </a:extLst>
              </a:tr>
              <a:tr h="0">
                <a:tc rowSpan="7">
                  <a:txBody>
                    <a:bodyPr/>
                    <a:lstStyle/>
                    <a:p>
                      <a:r>
                        <a:rPr lang="en-US" sz="1000"/>
                        <a:t>Tactical Synergies</a:t>
                      </a:r>
                    </a:p>
                  </a:txBody>
                  <a:tcPr anchor="ctr">
                    <a:lnB w="6350" cap="flat" cmpd="sng" algn="ctr">
                      <a:solidFill>
                        <a:schemeClr val="accent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Post-Hoc Analyses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30-32</a:t>
                      </a:r>
                    </a:p>
                  </a:txBody>
                  <a:tcPr anchor="ctr"/>
                </a:tc>
                <a:extLst>
                  <a:ext uri="{0D108BD9-81ED-4DB2-BD59-A6C34878D82A}">
                    <a16:rowId xmlns:a16="http://schemas.microsoft.com/office/drawing/2014/main" val="875751132"/>
                  </a:ext>
                </a:extLst>
              </a:tr>
              <a:tr h="0">
                <a:tc vMerge="1">
                  <a:txBody>
                    <a:bodyPr/>
                    <a:lstStyle/>
                    <a:p>
                      <a:endParaRPr lang="en-US" sz="100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Systematic Literature Reviews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33</a:t>
                      </a:r>
                    </a:p>
                  </a:txBody>
                  <a:tcPr anchor="ctr"/>
                </a:tc>
                <a:extLst>
                  <a:ext uri="{0D108BD9-81ED-4DB2-BD59-A6C34878D82A}">
                    <a16:rowId xmlns:a16="http://schemas.microsoft.com/office/drawing/2014/main" val="3892381349"/>
                  </a:ext>
                </a:extLst>
              </a:tr>
              <a:tr h="0">
                <a:tc vMerge="1">
                  <a:txBody>
                    <a:bodyPr/>
                    <a:lstStyle/>
                    <a:p>
                      <a:endParaRPr lang="en-US" sz="100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Modelling Study</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34</a:t>
                      </a:r>
                    </a:p>
                  </a:txBody>
                  <a:tcPr anchor="ctr"/>
                </a:tc>
                <a:extLst>
                  <a:ext uri="{0D108BD9-81ED-4DB2-BD59-A6C34878D82A}">
                    <a16:rowId xmlns:a16="http://schemas.microsoft.com/office/drawing/2014/main" val="468328122"/>
                  </a:ext>
                </a:extLst>
              </a:tr>
              <a:tr h="0">
                <a:tc vMerge="1">
                  <a:txBody>
                    <a:bodyPr/>
                    <a:lstStyle/>
                    <a:p>
                      <a:endParaRPr lang="en-US" sz="100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Indirect Treatment Comparisons (ITCs)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35-36</a:t>
                      </a:r>
                    </a:p>
                  </a:txBody>
                  <a:tcPr anchor="ctr"/>
                </a:tc>
                <a:extLst>
                  <a:ext uri="{0D108BD9-81ED-4DB2-BD59-A6C34878D82A}">
                    <a16:rowId xmlns:a16="http://schemas.microsoft.com/office/drawing/2014/main" val="364030636"/>
                  </a:ext>
                </a:extLst>
              </a:tr>
              <a:tr h="0">
                <a:tc vMerge="1">
                  <a:txBody>
                    <a:bodyPr/>
                    <a:lstStyle/>
                    <a:p>
                      <a:endParaRPr lang="en-US" sz="100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Real-World Evidence (RWE) Studies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37-39</a:t>
                      </a:r>
                    </a:p>
                  </a:txBody>
                  <a:tcPr anchor="ctr"/>
                </a:tc>
                <a:extLst>
                  <a:ext uri="{0D108BD9-81ED-4DB2-BD59-A6C34878D82A}">
                    <a16:rowId xmlns:a16="http://schemas.microsoft.com/office/drawing/2014/main" val="4182475994"/>
                  </a:ext>
                </a:extLst>
              </a:tr>
              <a:tr h="0">
                <a:tc vMerge="1">
                  <a:txBody>
                    <a:bodyPr/>
                    <a:lstStyle/>
                    <a:p>
                      <a:endParaRPr lang="en-US" sz="100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Investigator-Initiated Trials (IITs)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40-44</a:t>
                      </a:r>
                    </a:p>
                  </a:txBody>
                  <a:tcPr anchor="ctr"/>
                </a:tc>
                <a:extLst>
                  <a:ext uri="{0D108BD9-81ED-4DB2-BD59-A6C34878D82A}">
                    <a16:rowId xmlns:a16="http://schemas.microsoft.com/office/drawing/2014/main" val="4271861505"/>
                  </a:ext>
                </a:extLst>
              </a:tr>
              <a:tr h="0">
                <a:tc vMerge="1">
                  <a:txBody>
                    <a:bodyPr/>
                    <a:lstStyle/>
                    <a:p>
                      <a:endParaRPr lang="en-US" sz="100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Surveys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45</a:t>
                      </a:r>
                    </a:p>
                  </a:txBody>
                  <a:tcPr anchor="ctr"/>
                </a:tc>
                <a:extLst>
                  <a:ext uri="{0D108BD9-81ED-4DB2-BD59-A6C34878D82A}">
                    <a16:rowId xmlns:a16="http://schemas.microsoft.com/office/drawing/2014/main" val="518965311"/>
                  </a:ext>
                </a:extLst>
              </a:tr>
              <a:tr h="0">
                <a:tc>
                  <a:txBody>
                    <a:bodyPr/>
                    <a:lstStyle/>
                    <a:p>
                      <a:r>
                        <a:rPr lang="en-US" sz="1000"/>
                        <a:t>Gated Gaps</a:t>
                      </a:r>
                    </a:p>
                  </a:txBody>
                  <a:tcPr anchor="ctr">
                    <a:lnT w="6350" cap="flat" cmpd="sng" algn="ctr">
                      <a:solidFill>
                        <a:schemeClr val="accent2"/>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Overview of Gated Gaps Deprioritized for Tactical Development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47-51</a:t>
                      </a:r>
                    </a:p>
                  </a:txBody>
                  <a:tcPr anchor="ctr"/>
                </a:tc>
                <a:extLst>
                  <a:ext uri="{0D108BD9-81ED-4DB2-BD59-A6C34878D82A}">
                    <a16:rowId xmlns:a16="http://schemas.microsoft.com/office/drawing/2014/main" val="1376939842"/>
                  </a:ext>
                </a:extLst>
              </a:tr>
              <a:tr h="0">
                <a:tc>
                  <a:txBody>
                    <a:bodyPr/>
                    <a:lstStyle/>
                    <a:p>
                      <a:r>
                        <a:rPr lang="en-US" sz="1000"/>
                        <a:t>Planned / Addressed Tactics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List of Planned/Addressed Tactics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53-56</a:t>
                      </a:r>
                    </a:p>
                  </a:txBody>
                  <a:tcPr anchor="ctr"/>
                </a:tc>
                <a:extLst>
                  <a:ext uri="{0D108BD9-81ED-4DB2-BD59-A6C34878D82A}">
                    <a16:rowId xmlns:a16="http://schemas.microsoft.com/office/drawing/2014/main" val="1953345024"/>
                  </a:ext>
                </a:extLst>
              </a:tr>
            </a:tbl>
          </a:graphicData>
        </a:graphic>
      </p:graphicFrame>
    </p:spTree>
    <p:extLst>
      <p:ext uri="{BB962C8B-B14F-4D97-AF65-F5344CB8AC3E}">
        <p14:creationId xmlns:p14="http://schemas.microsoft.com/office/powerpoint/2010/main" val="453557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65267F9-8D0A-8965-AB29-FAF2243066EC}"/>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B65267F9-8D0A-8965-AB29-FAF2243066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AF6A7A9-5219-BB34-297D-83F9F42A2CC2}"/>
              </a:ext>
            </a:extLst>
          </p:cNvPr>
          <p:cNvSpPr>
            <a:spLocks noGrp="1"/>
          </p:cNvSpPr>
          <p:nvPr>
            <p:ph type="title"/>
          </p:nvPr>
        </p:nvSpPr>
        <p:spPr>
          <a:xfrm>
            <a:off x="358337" y="271427"/>
            <a:ext cx="11470125" cy="430887"/>
          </a:xfrm>
        </p:spPr>
        <p:txBody>
          <a:bodyPr vert="horz" rIns="0">
            <a:spAutoFit/>
          </a:bodyPr>
          <a:lstStyle/>
          <a:p>
            <a:r>
              <a:rPr lang="en-US" i="1">
                <a:solidFill>
                  <a:schemeClr val="tx1"/>
                </a:solidFill>
              </a:rPr>
              <a:t>V1.0 BGB-58067 IEP DISCLAIMER</a:t>
            </a:r>
          </a:p>
        </p:txBody>
      </p:sp>
      <p:pic>
        <p:nvPicPr>
          <p:cNvPr id="6" name="Graphic 5" descr="Warning outline">
            <a:extLst>
              <a:ext uri="{FF2B5EF4-FFF2-40B4-BE49-F238E27FC236}">
                <a16:creationId xmlns:a16="http://schemas.microsoft.com/office/drawing/2014/main" id="{1E40D037-94CC-FCE3-35A4-525A42DC1BC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99530" y="2137090"/>
            <a:ext cx="3013587" cy="3013587"/>
          </a:xfrm>
          <a:prstGeom prst="rect">
            <a:avLst/>
          </a:prstGeom>
        </p:spPr>
      </p:pic>
      <p:sp>
        <p:nvSpPr>
          <p:cNvPr id="7" name="Rectangle: Rounded Corners 6">
            <a:extLst>
              <a:ext uri="{FF2B5EF4-FFF2-40B4-BE49-F238E27FC236}">
                <a16:creationId xmlns:a16="http://schemas.microsoft.com/office/drawing/2014/main" id="{5D786ABA-EF42-ADF5-7B5B-215764BBB359}"/>
              </a:ext>
            </a:extLst>
          </p:cNvPr>
          <p:cNvSpPr/>
          <p:nvPr/>
        </p:nvSpPr>
        <p:spPr>
          <a:xfrm>
            <a:off x="1106424" y="1545336"/>
            <a:ext cx="10102350" cy="4197096"/>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023360" rIns="45720" rtlCol="0" anchor="ctr">
            <a:normAutofit/>
          </a:bodyPr>
          <a:lstStyle/>
          <a:p>
            <a:r>
              <a:rPr lang="en-US" b="1">
                <a:solidFill>
                  <a:schemeClr val="tx1"/>
                </a:solidFill>
              </a:rPr>
              <a:t>Note To Reader: </a:t>
            </a:r>
          </a:p>
          <a:p>
            <a:endParaRPr lang="en-US">
              <a:solidFill>
                <a:schemeClr val="tx1"/>
              </a:solidFill>
            </a:endParaRPr>
          </a:p>
          <a:p>
            <a:r>
              <a:rPr lang="en-US" b="1">
                <a:solidFill>
                  <a:schemeClr val="tx1"/>
                </a:solidFill>
              </a:rPr>
              <a:t>V1.0 of the IEP </a:t>
            </a:r>
            <a:r>
              <a:rPr lang="en-US">
                <a:solidFill>
                  <a:schemeClr val="tx1"/>
                </a:solidFill>
              </a:rPr>
              <a:t>was originally developed based on a single-arm, later-line (2L+) trial design and was </a:t>
            </a:r>
            <a:r>
              <a:rPr lang="en-US" b="1">
                <a:solidFill>
                  <a:schemeClr val="tx1"/>
                </a:solidFill>
              </a:rPr>
              <a:t>subsequently updated to reflect a 2L+ randomized controlled trial (RCT) design</a:t>
            </a:r>
            <a:r>
              <a:rPr lang="en-US">
                <a:solidFill>
                  <a:schemeClr val="tx1"/>
                </a:solidFill>
              </a:rPr>
              <a:t>. </a:t>
            </a:r>
          </a:p>
          <a:p>
            <a:endParaRPr lang="en-US">
              <a:solidFill>
                <a:schemeClr val="tx1"/>
              </a:solidFill>
            </a:endParaRPr>
          </a:p>
          <a:p>
            <a:r>
              <a:rPr lang="en-US">
                <a:solidFill>
                  <a:schemeClr val="tx1"/>
                </a:solidFill>
              </a:rPr>
              <a:t>The </a:t>
            </a:r>
            <a:r>
              <a:rPr lang="en-US" b="1">
                <a:solidFill>
                  <a:schemeClr val="tx1"/>
                </a:solidFill>
              </a:rPr>
              <a:t>IEP should be refreshed once the 2L+ RCT design has been finalized </a:t>
            </a:r>
            <a:r>
              <a:rPr lang="en-US">
                <a:solidFill>
                  <a:schemeClr val="tx1"/>
                </a:solidFill>
              </a:rPr>
              <a:t>following the Phase 1 data readout to reassess evidence gaps and tactical approaches relevant to the 2L+ NSCLC setting.</a:t>
            </a:r>
            <a:endParaRPr lang="en-US">
              <a:solidFill>
                <a:schemeClr val="bg1"/>
              </a:solidFill>
            </a:endParaRPr>
          </a:p>
        </p:txBody>
      </p:sp>
      <p:sp>
        <p:nvSpPr>
          <p:cNvPr id="3" name="Footer Placeholder 2">
            <a:extLst>
              <a:ext uri="{FF2B5EF4-FFF2-40B4-BE49-F238E27FC236}">
                <a16:creationId xmlns:a16="http://schemas.microsoft.com/office/drawing/2014/main" id="{88977426-75E8-D422-58F0-0EF5F4671268}"/>
              </a:ext>
            </a:extLst>
          </p:cNvPr>
          <p:cNvSpPr>
            <a:spLocks noGrp="1"/>
          </p:cNvSpPr>
          <p:nvPr>
            <p:ph type="ftr" sz="quarter" idx="10"/>
          </p:nvPr>
        </p:nvSpPr>
        <p:spPr>
          <a:xfrm>
            <a:off x="358337" y="6227807"/>
            <a:ext cx="7909560" cy="365760"/>
          </a:xfrm>
        </p:spPr>
        <p:txBody>
          <a:bodyPr/>
          <a:lstStyle/>
          <a:p>
            <a:r>
              <a:rPr lang="en-US"/>
              <a:t>Abbreviations: IEP: Integrated Evidence Plan; RCT: Randomized Controlled Trial</a:t>
            </a:r>
          </a:p>
        </p:txBody>
      </p:sp>
      <p:cxnSp>
        <p:nvCxnSpPr>
          <p:cNvPr id="8" name="Straight Connector 7">
            <a:extLst>
              <a:ext uri="{FF2B5EF4-FFF2-40B4-BE49-F238E27FC236}">
                <a16:creationId xmlns:a16="http://schemas.microsoft.com/office/drawing/2014/main" id="{DD0756EB-FD14-F67C-430D-DCF7393180BA}"/>
              </a:ext>
            </a:extLst>
          </p:cNvPr>
          <p:cNvCxnSpPr/>
          <p:nvPr/>
        </p:nvCxnSpPr>
        <p:spPr>
          <a:xfrm>
            <a:off x="4645152" y="1709928"/>
            <a:ext cx="0" cy="37856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5030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BC15C99C-9AFF-1710-A4AB-7B9534D7BD6A}"/>
              </a:ext>
            </a:extLst>
          </p:cNvPr>
          <p:cNvGraphicFramePr>
            <a:graphicFrameLocks/>
          </p:cNvGraphicFramePr>
          <p:nvPr>
            <p:custDataLst>
              <p:tags r:id="rId1"/>
            </p:custDataLst>
            <p:extLst>
              <p:ext uri="{D42A27DB-BD31-4B8C-83A1-F6EECF244321}">
                <p14:modId xmlns:p14="http://schemas.microsoft.com/office/powerpoint/2010/main" val="39983614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10" name="think-cell data - do not delete" hidden="1">
                        <a:extLst>
                          <a:ext uri="{FF2B5EF4-FFF2-40B4-BE49-F238E27FC236}">
                            <a16:creationId xmlns:a16="http://schemas.microsoft.com/office/drawing/2014/main" id="{BC15C99C-9AFF-1710-A4AB-7B9534D7BD6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24" name="Picture 23">
            <a:extLst>
              <a:ext uri="{FF2B5EF4-FFF2-40B4-BE49-F238E27FC236}">
                <a16:creationId xmlns:a16="http://schemas.microsoft.com/office/drawing/2014/main" id="{E3B58CD5-311B-7A5C-FC93-DB4711B9D7AA}"/>
              </a:ext>
            </a:extLst>
          </p:cNvPr>
          <p:cNvPicPr>
            <a:picLocks noChangeAspect="1"/>
          </p:cNvPicPr>
          <p:nvPr/>
        </p:nvPicPr>
        <p:blipFill>
          <a:blip r:embed="rId6"/>
          <a:srcRect/>
          <a:stretch/>
        </p:blipFill>
        <p:spPr>
          <a:xfrm>
            <a:off x="2432617" y="4515302"/>
            <a:ext cx="1438771" cy="813816"/>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A16EF755-C885-6260-5C2E-DF7A305117C5}"/>
              </a:ext>
            </a:extLst>
          </p:cNvPr>
          <p:cNvSpPr>
            <a:spLocks noGrp="1"/>
          </p:cNvSpPr>
          <p:nvPr>
            <p:ph type="title"/>
          </p:nvPr>
        </p:nvSpPr>
        <p:spPr>
          <a:xfrm>
            <a:off x="358337" y="338328"/>
            <a:ext cx="11470125" cy="369332"/>
          </a:xfrm>
        </p:spPr>
        <p:txBody>
          <a:bodyPr vert="horz" rIns="0">
            <a:spAutoFit/>
          </a:bodyPr>
          <a:lstStyle/>
          <a:p>
            <a:r>
              <a:rPr lang="en-US" sz="2400"/>
              <a:t>IEP Structure &amp; Flow</a:t>
            </a:r>
          </a:p>
        </p:txBody>
      </p:sp>
      <p:sp>
        <p:nvSpPr>
          <p:cNvPr id="11" name="Footer Placeholder 2">
            <a:extLst>
              <a:ext uri="{FF2B5EF4-FFF2-40B4-BE49-F238E27FC236}">
                <a16:creationId xmlns:a16="http://schemas.microsoft.com/office/drawing/2014/main" id="{F3B6E532-5F8E-0061-CD85-A5C658790EA0}"/>
              </a:ext>
            </a:extLst>
          </p:cNvPr>
          <p:cNvSpPr txBox="1">
            <a:spLocks/>
          </p:cNvSpPr>
          <p:nvPr/>
        </p:nvSpPr>
        <p:spPr>
          <a:xfrm>
            <a:off x="358337" y="6389529"/>
            <a:ext cx="7909560"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solidFill>
                  <a:srgbClr val="000000">
                    <a:lumMod val="65000"/>
                    <a:lumOff val="35000"/>
                  </a:srgbClr>
                </a:solidFill>
              </a:rPr>
              <a:t>Abbreviations: CDP: Clinical Development Plan; IEP: Integrated Evidence Plan</a:t>
            </a:r>
          </a:p>
          <a:p>
            <a:pPr>
              <a:defRPr/>
            </a:pPr>
            <a:r>
              <a:rPr lang="en-US">
                <a:solidFill>
                  <a:srgbClr val="000000">
                    <a:lumMod val="65000"/>
                    <a:lumOff val="35000"/>
                  </a:srgbClr>
                </a:solidFill>
              </a:rPr>
              <a:t>Sources: </a:t>
            </a:r>
            <a:r>
              <a:rPr lang="en-US" err="1">
                <a:solidFill>
                  <a:srgbClr val="000000">
                    <a:lumMod val="65000"/>
                    <a:lumOff val="35000"/>
                  </a:srgbClr>
                </a:solidFill>
              </a:rPr>
              <a:t>BeOne</a:t>
            </a:r>
            <a:r>
              <a:rPr lang="en-US">
                <a:solidFill>
                  <a:srgbClr val="000000">
                    <a:lumMod val="65000"/>
                    <a:lumOff val="35000"/>
                  </a:srgbClr>
                </a:solidFill>
              </a:rPr>
              <a:t> IEP Guidance Document Version 1.0 (Dec 2025)</a:t>
            </a:r>
          </a:p>
        </p:txBody>
      </p:sp>
      <p:sp>
        <p:nvSpPr>
          <p:cNvPr id="14" name="TextBox 13">
            <a:extLst>
              <a:ext uri="{FF2B5EF4-FFF2-40B4-BE49-F238E27FC236}">
                <a16:creationId xmlns:a16="http://schemas.microsoft.com/office/drawing/2014/main" id="{BDDBC15E-E630-F35E-D9D1-E3038EF8F657}"/>
              </a:ext>
            </a:extLst>
          </p:cNvPr>
          <p:cNvSpPr txBox="1"/>
          <p:nvPr/>
        </p:nvSpPr>
        <p:spPr>
          <a:xfrm>
            <a:off x="4116253" y="2670576"/>
            <a:ext cx="1980000" cy="1661993"/>
          </a:xfrm>
          <a:prstGeom prst="rect">
            <a:avLst/>
          </a:prstGeom>
          <a:noFill/>
        </p:spPr>
        <p:txBody>
          <a:bodyPr wrap="square" lIns="91440" tIns="91440" rIns="91440" bIns="91440" rtlCol="0" anchor="t">
            <a:spAutoFit/>
          </a:bodyPr>
          <a:lstStyle/>
          <a:p>
            <a:pPr algn="ctr"/>
            <a:r>
              <a:rPr lang="en-US" sz="1200" i="1">
                <a:solidFill>
                  <a:schemeClr val="accent2"/>
                </a:solidFill>
              </a:rPr>
              <a:t>Prioritized evidence gaps beyond the CDP based on functional and regional perspectives highlighting their strategic importance and key tactics</a:t>
            </a:r>
          </a:p>
        </p:txBody>
      </p:sp>
      <p:sp>
        <p:nvSpPr>
          <p:cNvPr id="15" name="TextBox 14">
            <a:extLst>
              <a:ext uri="{FF2B5EF4-FFF2-40B4-BE49-F238E27FC236}">
                <a16:creationId xmlns:a16="http://schemas.microsoft.com/office/drawing/2014/main" id="{532AEBA6-3B06-323C-971B-724432D5E8F4}"/>
              </a:ext>
            </a:extLst>
          </p:cNvPr>
          <p:cNvSpPr txBox="1"/>
          <p:nvPr/>
        </p:nvSpPr>
        <p:spPr>
          <a:xfrm>
            <a:off x="358337" y="2665467"/>
            <a:ext cx="1980000" cy="1107996"/>
          </a:xfrm>
          <a:prstGeom prst="rect">
            <a:avLst/>
          </a:prstGeom>
          <a:noFill/>
        </p:spPr>
        <p:txBody>
          <a:bodyPr wrap="square" lIns="91440" tIns="91440" rIns="91440" bIns="91440" rtlCol="0" anchor="t">
            <a:spAutoFit/>
          </a:bodyPr>
          <a:lstStyle/>
          <a:p>
            <a:pPr algn="ctr"/>
            <a:r>
              <a:rPr lang="en-US" sz="1200" i="1">
                <a:solidFill>
                  <a:schemeClr val="accent2"/>
                </a:solidFill>
              </a:rPr>
              <a:t>Overview of the IEP report summarizing strategic context, evidence gaps and key tactics roadmap</a:t>
            </a:r>
          </a:p>
        </p:txBody>
      </p:sp>
      <p:cxnSp>
        <p:nvCxnSpPr>
          <p:cNvPr id="20" name="Straight Connector 19">
            <a:extLst>
              <a:ext uri="{FF2B5EF4-FFF2-40B4-BE49-F238E27FC236}">
                <a16:creationId xmlns:a16="http://schemas.microsoft.com/office/drawing/2014/main" id="{8ED4CD97-E37B-C71A-3874-75566773EE2A}"/>
              </a:ext>
            </a:extLst>
          </p:cNvPr>
          <p:cNvCxnSpPr>
            <a:cxnSpLocks/>
          </p:cNvCxnSpPr>
          <p:nvPr/>
        </p:nvCxnSpPr>
        <p:spPr>
          <a:xfrm>
            <a:off x="2287816" y="2683033"/>
            <a:ext cx="0" cy="2952000"/>
          </a:xfrm>
          <a:prstGeom prst="line">
            <a:avLst/>
          </a:prstGeom>
          <a:ln w="190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972BC206-A828-0402-0F68-DD4853C7539C}"/>
              </a:ext>
            </a:extLst>
          </p:cNvPr>
          <p:cNvSpPr/>
          <p:nvPr/>
        </p:nvSpPr>
        <p:spPr>
          <a:xfrm>
            <a:off x="358336" y="1346154"/>
            <a:ext cx="11464787" cy="540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b="1" i="1">
                <a:solidFill>
                  <a:schemeClr val="accent2">
                    <a:lumMod val="75000"/>
                    <a:lumOff val="25000"/>
                  </a:schemeClr>
                </a:solidFill>
                <a:latin typeface="Poppins"/>
              </a:rPr>
              <a:t>This IEP </a:t>
            </a:r>
            <a:r>
              <a:rPr kumimoji="0" lang="en-US" b="1" i="1" u="none" strike="noStrike" kern="1200" cap="none" spc="0" normalizeH="0" baseline="0" noProof="0">
                <a:ln>
                  <a:noFill/>
                </a:ln>
                <a:solidFill>
                  <a:schemeClr val="accent2">
                    <a:lumMod val="75000"/>
                    <a:lumOff val="25000"/>
                  </a:schemeClr>
                </a:solidFill>
                <a:effectLst/>
                <a:uLnTx/>
                <a:uFillTx/>
                <a:latin typeface="Poppins"/>
                <a:ea typeface="+mn-ea"/>
                <a:cs typeface="+mn-cs"/>
              </a:rPr>
              <a:t>is organized into the following key sections </a:t>
            </a:r>
            <a:r>
              <a:rPr kumimoji="0" lang="en-GB" i="1" u="none" strike="noStrike" kern="1200" cap="none" spc="0" normalizeH="0" baseline="0" noProof="0">
                <a:ln>
                  <a:noFill/>
                </a:ln>
                <a:solidFill>
                  <a:schemeClr val="accent2">
                    <a:lumMod val="75000"/>
                    <a:lumOff val="25000"/>
                  </a:schemeClr>
                </a:solidFill>
                <a:effectLst/>
                <a:uLnTx/>
                <a:uFillTx/>
                <a:latin typeface="Poppins"/>
                <a:ea typeface="+mn-ea"/>
                <a:cs typeface="+mn-cs"/>
              </a:rPr>
              <a:t>aligned with the </a:t>
            </a:r>
            <a:r>
              <a:rPr kumimoji="0" lang="en-GB" i="1" u="none" strike="noStrike" kern="1200" cap="none" spc="0" normalizeH="0" baseline="0" noProof="0" err="1">
                <a:ln>
                  <a:noFill/>
                </a:ln>
                <a:solidFill>
                  <a:schemeClr val="accent2">
                    <a:lumMod val="75000"/>
                    <a:lumOff val="25000"/>
                  </a:schemeClr>
                </a:solidFill>
                <a:effectLst/>
                <a:uLnTx/>
                <a:uFillTx/>
                <a:latin typeface="Poppins"/>
                <a:ea typeface="+mn-ea"/>
                <a:cs typeface="+mn-cs"/>
              </a:rPr>
              <a:t>BeOne</a:t>
            </a:r>
            <a:r>
              <a:rPr kumimoji="0" lang="en-GB" i="1" u="none" strike="noStrike" kern="1200" cap="none" spc="0" normalizeH="0" baseline="0" noProof="0">
                <a:ln>
                  <a:noFill/>
                </a:ln>
                <a:solidFill>
                  <a:schemeClr val="accent2">
                    <a:lumMod val="75000"/>
                    <a:lumOff val="25000"/>
                  </a:schemeClr>
                </a:solidFill>
                <a:effectLst/>
                <a:uLnTx/>
                <a:uFillTx/>
                <a:latin typeface="Poppins"/>
                <a:ea typeface="+mn-ea"/>
                <a:cs typeface="+mn-cs"/>
              </a:rPr>
              <a:t> IEP Guidance Document V1.1 </a:t>
            </a:r>
            <a:r>
              <a:rPr lang="en-GB" i="1">
                <a:solidFill>
                  <a:schemeClr val="accent2">
                    <a:lumMod val="75000"/>
                    <a:lumOff val="25000"/>
                  </a:schemeClr>
                </a:solidFill>
                <a:latin typeface="Poppins"/>
              </a:rPr>
              <a:t>March</a:t>
            </a:r>
            <a:r>
              <a:rPr kumimoji="0" lang="en-GB" i="1" u="none" strike="noStrike" kern="1200" cap="none" spc="0" normalizeH="0" baseline="0" noProof="0">
                <a:ln>
                  <a:noFill/>
                </a:ln>
                <a:solidFill>
                  <a:schemeClr val="accent2">
                    <a:lumMod val="75000"/>
                    <a:lumOff val="25000"/>
                  </a:schemeClr>
                </a:solidFill>
                <a:effectLst/>
                <a:uLnTx/>
                <a:uFillTx/>
                <a:latin typeface="Poppins"/>
                <a:ea typeface="+mn-ea"/>
                <a:cs typeface="+mn-cs"/>
              </a:rPr>
              <a:t> 2026</a:t>
            </a:r>
            <a:endParaRPr kumimoji="0" lang="en-US" i="1" u="none" strike="noStrike" kern="1200" cap="none" spc="0" normalizeH="0" baseline="0" noProof="0">
              <a:ln>
                <a:noFill/>
              </a:ln>
              <a:solidFill>
                <a:schemeClr val="accent2">
                  <a:lumMod val="75000"/>
                  <a:lumOff val="25000"/>
                </a:schemeClr>
              </a:solidFill>
              <a:effectLst/>
              <a:uLnTx/>
              <a:uFillTx/>
              <a:latin typeface="Poppins"/>
              <a:ea typeface="+mn-ea"/>
              <a:cs typeface="+mn-cs"/>
            </a:endParaRPr>
          </a:p>
        </p:txBody>
      </p:sp>
      <p:sp>
        <p:nvSpPr>
          <p:cNvPr id="43" name="TextBox 42">
            <a:extLst>
              <a:ext uri="{FF2B5EF4-FFF2-40B4-BE49-F238E27FC236}">
                <a16:creationId xmlns:a16="http://schemas.microsoft.com/office/drawing/2014/main" id="{C7B853E0-841F-D680-51A0-AC2C07351638}"/>
              </a:ext>
            </a:extLst>
          </p:cNvPr>
          <p:cNvSpPr txBox="1"/>
          <p:nvPr/>
        </p:nvSpPr>
        <p:spPr>
          <a:xfrm>
            <a:off x="5995211" y="2665467"/>
            <a:ext cx="1980000" cy="1107996"/>
          </a:xfrm>
          <a:prstGeom prst="rect">
            <a:avLst/>
          </a:prstGeom>
          <a:noFill/>
        </p:spPr>
        <p:txBody>
          <a:bodyPr wrap="square" lIns="91440" tIns="91440" rIns="91440" bIns="91440" rtlCol="0" anchor="t">
            <a:spAutoFit/>
          </a:bodyPr>
          <a:lstStyle/>
          <a:p>
            <a:pPr algn="ctr"/>
            <a:r>
              <a:rPr lang="en-US" sz="1200" i="1">
                <a:solidFill>
                  <a:schemeClr val="accent2"/>
                </a:solidFill>
              </a:rPr>
              <a:t>Ideated tactics to address evidence gaps requiring near-and further-term planning / execution</a:t>
            </a:r>
          </a:p>
        </p:txBody>
      </p:sp>
      <p:sp>
        <p:nvSpPr>
          <p:cNvPr id="6" name="TextBox 5">
            <a:extLst>
              <a:ext uri="{FF2B5EF4-FFF2-40B4-BE49-F238E27FC236}">
                <a16:creationId xmlns:a16="http://schemas.microsoft.com/office/drawing/2014/main" id="{F24690E7-1931-6C00-8D11-B3E65862D24F}"/>
              </a:ext>
            </a:extLst>
          </p:cNvPr>
          <p:cNvSpPr txBox="1"/>
          <p:nvPr/>
        </p:nvSpPr>
        <p:spPr>
          <a:xfrm>
            <a:off x="9753123" y="2665468"/>
            <a:ext cx="1980000" cy="1107996"/>
          </a:xfrm>
          <a:prstGeom prst="rect">
            <a:avLst/>
          </a:prstGeom>
          <a:noFill/>
        </p:spPr>
        <p:txBody>
          <a:bodyPr wrap="square" lIns="91440" tIns="91440" rIns="91440" bIns="91440" rtlCol="0" anchor="t">
            <a:spAutoFit/>
          </a:bodyPr>
          <a:lstStyle/>
          <a:p>
            <a:pPr algn="ctr"/>
            <a:r>
              <a:rPr lang="en-US" sz="1200" i="1">
                <a:solidFill>
                  <a:schemeClr val="accent2"/>
                </a:solidFill>
              </a:rPr>
              <a:t>List of addressed gaps and planned, ongoing, and addressed evidence generation tactics</a:t>
            </a:r>
          </a:p>
        </p:txBody>
      </p:sp>
      <p:sp>
        <p:nvSpPr>
          <p:cNvPr id="7" name="TextBox 6">
            <a:extLst>
              <a:ext uri="{FF2B5EF4-FFF2-40B4-BE49-F238E27FC236}">
                <a16:creationId xmlns:a16="http://schemas.microsoft.com/office/drawing/2014/main" id="{C7A08E6A-F9C5-79C7-E0D4-0FEFBB1F5AAC}"/>
              </a:ext>
            </a:extLst>
          </p:cNvPr>
          <p:cNvSpPr txBox="1"/>
          <p:nvPr/>
        </p:nvSpPr>
        <p:spPr>
          <a:xfrm>
            <a:off x="2237295" y="2665467"/>
            <a:ext cx="1980000" cy="1107996"/>
          </a:xfrm>
          <a:prstGeom prst="rect">
            <a:avLst/>
          </a:prstGeom>
          <a:noFill/>
        </p:spPr>
        <p:txBody>
          <a:bodyPr wrap="square" lIns="91440" tIns="91440" rIns="91440" bIns="91440" rtlCol="0" anchor="t">
            <a:spAutoFit/>
          </a:bodyPr>
          <a:lstStyle/>
          <a:p>
            <a:pPr algn="ctr"/>
            <a:r>
              <a:rPr lang="en-US" sz="1200" i="1">
                <a:solidFill>
                  <a:schemeClr val="accent2"/>
                </a:solidFill>
              </a:rPr>
              <a:t>BGB-58067’s underlying cross-functional strategy acting as the foundation of the IEP </a:t>
            </a:r>
          </a:p>
        </p:txBody>
      </p:sp>
      <p:cxnSp>
        <p:nvCxnSpPr>
          <p:cNvPr id="8" name="Straight Connector 7">
            <a:extLst>
              <a:ext uri="{FF2B5EF4-FFF2-40B4-BE49-F238E27FC236}">
                <a16:creationId xmlns:a16="http://schemas.microsoft.com/office/drawing/2014/main" id="{E4CC0B17-094C-409F-F81C-19F5FDD478B3}"/>
              </a:ext>
            </a:extLst>
          </p:cNvPr>
          <p:cNvCxnSpPr>
            <a:cxnSpLocks/>
          </p:cNvCxnSpPr>
          <p:nvPr/>
        </p:nvCxnSpPr>
        <p:spPr>
          <a:xfrm>
            <a:off x="4166774" y="2683033"/>
            <a:ext cx="0" cy="2952000"/>
          </a:xfrm>
          <a:prstGeom prst="line">
            <a:avLst/>
          </a:prstGeom>
          <a:ln w="190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386F184-C9F4-15BE-9200-B14677F13463}"/>
              </a:ext>
            </a:extLst>
          </p:cNvPr>
          <p:cNvCxnSpPr>
            <a:cxnSpLocks/>
          </p:cNvCxnSpPr>
          <p:nvPr/>
        </p:nvCxnSpPr>
        <p:spPr>
          <a:xfrm>
            <a:off x="6045732" y="2683033"/>
            <a:ext cx="0" cy="2952000"/>
          </a:xfrm>
          <a:prstGeom prst="line">
            <a:avLst/>
          </a:prstGeom>
          <a:ln w="190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41C3CF4-8DF9-4613-B406-8886A8899818}"/>
              </a:ext>
            </a:extLst>
          </p:cNvPr>
          <p:cNvCxnSpPr>
            <a:cxnSpLocks/>
          </p:cNvCxnSpPr>
          <p:nvPr/>
        </p:nvCxnSpPr>
        <p:spPr>
          <a:xfrm>
            <a:off x="7924690" y="2683033"/>
            <a:ext cx="0" cy="2952000"/>
          </a:xfrm>
          <a:prstGeom prst="line">
            <a:avLst/>
          </a:prstGeom>
          <a:ln w="190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E9758AD3-00C3-6A59-2B3E-5F558503AA0B}"/>
              </a:ext>
            </a:extLst>
          </p:cNvPr>
          <p:cNvPicPr>
            <a:picLocks noChangeAspect="1"/>
          </p:cNvPicPr>
          <p:nvPr/>
        </p:nvPicPr>
        <p:blipFill>
          <a:blip r:embed="rId7"/>
          <a:srcRect/>
          <a:stretch/>
        </p:blipFill>
        <p:spPr>
          <a:xfrm>
            <a:off x="2574418" y="5163795"/>
            <a:ext cx="1437207" cy="810000"/>
          </a:xfrm>
          <a:prstGeom prst="rect">
            <a:avLst/>
          </a:prstGeom>
          <a:effectLst>
            <a:outerShdw blurRad="50800" dist="38100" dir="2700000" algn="tl" rotWithShape="0">
              <a:prstClr val="black">
                <a:alpha val="40000"/>
              </a:prstClr>
            </a:outerShdw>
          </a:effectLst>
        </p:spPr>
      </p:pic>
      <p:grpSp>
        <p:nvGrpSpPr>
          <p:cNvPr id="53" name="Group 52">
            <a:extLst>
              <a:ext uri="{FF2B5EF4-FFF2-40B4-BE49-F238E27FC236}">
                <a16:creationId xmlns:a16="http://schemas.microsoft.com/office/drawing/2014/main" id="{56081ABB-6FBC-3942-11A2-ADE3B0F46B66}"/>
              </a:ext>
            </a:extLst>
          </p:cNvPr>
          <p:cNvGrpSpPr/>
          <p:nvPr/>
        </p:nvGrpSpPr>
        <p:grpSpPr>
          <a:xfrm>
            <a:off x="358337" y="2094711"/>
            <a:ext cx="11464786" cy="540000"/>
            <a:chOff x="358337" y="2094711"/>
            <a:chExt cx="11464786" cy="540000"/>
          </a:xfrm>
        </p:grpSpPr>
        <p:sp>
          <p:nvSpPr>
            <p:cNvPr id="13" name="Arrow: Chevron 12">
              <a:hlinkClick r:id="" action="ppaction://noaction"/>
              <a:extLst>
                <a:ext uri="{FF2B5EF4-FFF2-40B4-BE49-F238E27FC236}">
                  <a16:creationId xmlns:a16="http://schemas.microsoft.com/office/drawing/2014/main" id="{BC1DC37A-791B-882E-986A-632E29390D6D}"/>
                </a:ext>
              </a:extLst>
            </p:cNvPr>
            <p:cNvSpPr/>
            <p:nvPr/>
          </p:nvSpPr>
          <p:spPr>
            <a:xfrm>
              <a:off x="9663123" y="2094711"/>
              <a:ext cx="2160000" cy="540000"/>
            </a:xfrm>
            <a:prstGeom prst="chevron">
              <a:avLst/>
            </a:prstGeom>
            <a:solidFill>
              <a:schemeClr val="tx2">
                <a:lumMod val="60000"/>
                <a:lumOff val="4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45720" rtlCol="0" anchor="ctr">
              <a:noAutofit/>
            </a:bodyPr>
            <a:lstStyle/>
            <a:p>
              <a:pPr marL="117475" algn="ctr"/>
              <a:r>
                <a:rPr lang="en-US" sz="1200" b="1">
                  <a:solidFill>
                    <a:schemeClr val="bg2"/>
                  </a:solidFill>
                </a:rPr>
                <a:t>Planned / Addressed Tactics</a:t>
              </a:r>
              <a:endParaRPr lang="en-US" sz="1200" b="1">
                <a:solidFill>
                  <a:schemeClr val="bg2"/>
                </a:solidFill>
                <a:hlinkClick r:id="" action="ppaction://noaction">
                  <a:extLst>
                    <a:ext uri="{A12FA001-AC4F-418D-AE19-62706E023703}">
                      <ahyp:hlinkClr xmlns:ahyp="http://schemas.microsoft.com/office/drawing/2018/hyperlinkcolor" val="tx"/>
                    </a:ext>
                  </a:extLst>
                </a:hlinkClick>
              </a:endParaRPr>
            </a:p>
          </p:txBody>
        </p:sp>
        <p:sp>
          <p:nvSpPr>
            <p:cNvPr id="22" name="Arrow: Chevron 21">
              <a:hlinkClick r:id="" action="ppaction://noaction"/>
              <a:extLst>
                <a:ext uri="{FF2B5EF4-FFF2-40B4-BE49-F238E27FC236}">
                  <a16:creationId xmlns:a16="http://schemas.microsoft.com/office/drawing/2014/main" id="{CE7479F6-C60D-C48E-1D43-4E459E78D856}"/>
                </a:ext>
              </a:extLst>
            </p:cNvPr>
            <p:cNvSpPr/>
            <p:nvPr/>
          </p:nvSpPr>
          <p:spPr>
            <a:xfrm>
              <a:off x="2219294" y="2094711"/>
              <a:ext cx="2160000" cy="540000"/>
            </a:xfrm>
            <a:prstGeom prst="chevron">
              <a:avLst/>
            </a:prstGeom>
            <a:solidFill>
              <a:schemeClr val="accent2">
                <a:lumMod val="75000"/>
                <a:lumOff val="2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noAutofit/>
            </a:bodyPr>
            <a:lstStyle/>
            <a:p>
              <a:pPr algn="ctr"/>
              <a:r>
                <a:rPr lang="en-US" sz="1200" b="1">
                  <a:solidFill>
                    <a:schemeClr val="bg1"/>
                  </a:solidFill>
                </a:rPr>
                <a:t>Strategic Context</a:t>
              </a:r>
              <a:endParaRPr lang="en-US" sz="1200" b="1">
                <a:solidFill>
                  <a:schemeClr val="bg1"/>
                </a:solidFill>
                <a:hlinkClick r:id="" action="ppaction://noaction">
                  <a:extLst>
                    <a:ext uri="{A12FA001-AC4F-418D-AE19-62706E023703}">
                      <ahyp:hlinkClr xmlns:ahyp="http://schemas.microsoft.com/office/drawing/2018/hyperlinkcolor" val="tx"/>
                    </a:ext>
                  </a:extLst>
                </a:hlinkClick>
              </a:endParaRPr>
            </a:p>
          </p:txBody>
        </p:sp>
        <p:sp>
          <p:nvSpPr>
            <p:cNvPr id="23" name="Arrow: Pentagon 22">
              <a:hlinkClick r:id="" action="ppaction://noaction"/>
              <a:extLst>
                <a:ext uri="{FF2B5EF4-FFF2-40B4-BE49-F238E27FC236}">
                  <a16:creationId xmlns:a16="http://schemas.microsoft.com/office/drawing/2014/main" id="{918BA42F-93E2-436D-1D1D-09BA37B55E07}"/>
                </a:ext>
              </a:extLst>
            </p:cNvPr>
            <p:cNvSpPr/>
            <p:nvPr/>
          </p:nvSpPr>
          <p:spPr>
            <a:xfrm>
              <a:off x="358337" y="2094711"/>
              <a:ext cx="2160000" cy="540000"/>
            </a:xfrm>
            <a:prstGeom prst="homePlate">
              <a:avLst/>
            </a:prstGeom>
            <a:solidFill>
              <a:schemeClr val="accent2">
                <a:lumMod val="90000"/>
                <a:lumOff val="1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noAutofit/>
            </a:bodyPr>
            <a:lstStyle/>
            <a:p>
              <a:pPr algn="ctr"/>
              <a:r>
                <a:rPr lang="en-US" sz="1200" b="1">
                  <a:solidFill>
                    <a:schemeClr val="bg1"/>
                  </a:solidFill>
                </a:rPr>
                <a:t>Executive Summary</a:t>
              </a:r>
              <a:endParaRPr lang="en-US" sz="1200" b="1">
                <a:solidFill>
                  <a:schemeClr val="bg1"/>
                </a:solidFill>
                <a:hlinkClick r:id="" action="ppaction://noaction">
                  <a:extLst>
                    <a:ext uri="{A12FA001-AC4F-418D-AE19-62706E023703}">
                      <ahyp:hlinkClr xmlns:ahyp="http://schemas.microsoft.com/office/drawing/2018/hyperlinkcolor" val="tx"/>
                    </a:ext>
                  </a:extLst>
                </a:hlinkClick>
              </a:endParaRPr>
            </a:p>
          </p:txBody>
        </p:sp>
        <p:sp>
          <p:nvSpPr>
            <p:cNvPr id="4" name="Arrow: Chevron 3">
              <a:hlinkClick r:id="" action="ppaction://noaction"/>
              <a:extLst>
                <a:ext uri="{FF2B5EF4-FFF2-40B4-BE49-F238E27FC236}">
                  <a16:creationId xmlns:a16="http://schemas.microsoft.com/office/drawing/2014/main" id="{D98080C2-C908-0854-E345-C7C06EEC1AD0}"/>
                </a:ext>
              </a:extLst>
            </p:cNvPr>
            <p:cNvSpPr/>
            <p:nvPr/>
          </p:nvSpPr>
          <p:spPr>
            <a:xfrm>
              <a:off x="4080251" y="2094711"/>
              <a:ext cx="2160000" cy="540000"/>
            </a:xfrm>
            <a:prstGeom prst="chevron">
              <a:avLst/>
            </a:prstGeom>
            <a:solidFill>
              <a:schemeClr val="accent2">
                <a:lumMod val="50000"/>
                <a:lumOff val="5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noAutofit/>
            </a:bodyPr>
            <a:lstStyle/>
            <a:p>
              <a:pPr algn="ctr"/>
              <a:r>
                <a:rPr lang="en-US" sz="1200" b="1">
                  <a:solidFill>
                    <a:schemeClr val="bg1"/>
                  </a:solidFill>
                </a:rPr>
                <a:t>Prioritized Evidence Gaps</a:t>
              </a:r>
              <a:endParaRPr lang="en-US" sz="1200" b="1">
                <a:solidFill>
                  <a:schemeClr val="bg1"/>
                </a:solidFill>
                <a:hlinkClick r:id="" action="ppaction://noaction">
                  <a:extLst>
                    <a:ext uri="{A12FA001-AC4F-418D-AE19-62706E023703}">
                      <ahyp:hlinkClr xmlns:ahyp="http://schemas.microsoft.com/office/drawing/2018/hyperlinkcolor" val="tx"/>
                    </a:ext>
                  </a:extLst>
                </a:hlinkClick>
              </a:endParaRPr>
            </a:p>
          </p:txBody>
        </p:sp>
        <p:sp>
          <p:nvSpPr>
            <p:cNvPr id="5" name="Arrow: Chevron 4">
              <a:hlinkClick r:id="" action="ppaction://noaction"/>
              <a:extLst>
                <a:ext uri="{FF2B5EF4-FFF2-40B4-BE49-F238E27FC236}">
                  <a16:creationId xmlns:a16="http://schemas.microsoft.com/office/drawing/2014/main" id="{C8BC14B3-C220-C594-0E72-49DEF68C1BA0}"/>
                </a:ext>
              </a:extLst>
            </p:cNvPr>
            <p:cNvSpPr/>
            <p:nvPr/>
          </p:nvSpPr>
          <p:spPr>
            <a:xfrm>
              <a:off x="5941208" y="2094711"/>
              <a:ext cx="2160000" cy="540000"/>
            </a:xfrm>
            <a:prstGeom prst="chevron">
              <a:avLst/>
            </a:prstGeom>
            <a:solidFill>
              <a:schemeClr val="tx2">
                <a:lumMod val="20000"/>
                <a:lumOff val="8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noAutofit/>
            </a:bodyPr>
            <a:lstStyle/>
            <a:p>
              <a:pPr marL="117475" algn="ctr"/>
              <a:r>
                <a:rPr lang="en-US" sz="1200" b="1">
                  <a:solidFill>
                    <a:schemeClr val="bg2"/>
                  </a:solidFill>
                </a:rPr>
                <a:t>Tactics Overview</a:t>
              </a:r>
              <a:endParaRPr lang="en-US" sz="1200" b="1">
                <a:solidFill>
                  <a:schemeClr val="bg2"/>
                </a:solidFill>
                <a:hlinkClick r:id="" action="ppaction://noaction">
                  <a:extLst>
                    <a:ext uri="{A12FA001-AC4F-418D-AE19-62706E023703}">
                      <ahyp:hlinkClr xmlns:ahyp="http://schemas.microsoft.com/office/drawing/2018/hyperlinkcolor" val="tx"/>
                    </a:ext>
                  </a:extLst>
                </a:hlinkClick>
              </a:endParaRPr>
            </a:p>
          </p:txBody>
        </p:sp>
        <p:sp>
          <p:nvSpPr>
            <p:cNvPr id="51" name="Arrow: Chevron 50">
              <a:hlinkClick r:id="" action="ppaction://noaction"/>
              <a:extLst>
                <a:ext uri="{FF2B5EF4-FFF2-40B4-BE49-F238E27FC236}">
                  <a16:creationId xmlns:a16="http://schemas.microsoft.com/office/drawing/2014/main" id="{AF219935-65F7-A0AD-FF8A-F5CCBFED435C}"/>
                </a:ext>
              </a:extLst>
            </p:cNvPr>
            <p:cNvSpPr/>
            <p:nvPr/>
          </p:nvSpPr>
          <p:spPr>
            <a:xfrm>
              <a:off x="7802165" y="2094711"/>
              <a:ext cx="2160000" cy="540000"/>
            </a:xfrm>
            <a:prstGeom prst="chevron">
              <a:avLst/>
            </a:prstGeom>
            <a:solidFill>
              <a:schemeClr val="tx2">
                <a:lumMod val="40000"/>
                <a:lumOff val="6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normAutofit/>
            </a:bodyPr>
            <a:lstStyle/>
            <a:p>
              <a:pPr marL="117475" algn="ctr"/>
              <a:r>
                <a:rPr lang="en-US" sz="1200" b="1">
                  <a:solidFill>
                    <a:schemeClr val="bg2"/>
                  </a:solidFill>
                </a:rPr>
                <a:t>Gated Evidence Gaps</a:t>
              </a:r>
              <a:endParaRPr lang="en-US" sz="1200" b="1">
                <a:solidFill>
                  <a:schemeClr val="bg2"/>
                </a:solidFill>
                <a:hlinkClick r:id="" action="ppaction://noaction">
                  <a:extLst>
                    <a:ext uri="{A12FA001-AC4F-418D-AE19-62706E023703}">
                      <ahyp:hlinkClr xmlns:ahyp="http://schemas.microsoft.com/office/drawing/2018/hyperlinkcolor" val="tx"/>
                    </a:ext>
                  </a:extLst>
                </a:hlinkClick>
              </a:endParaRPr>
            </a:p>
          </p:txBody>
        </p:sp>
      </p:grpSp>
      <p:cxnSp>
        <p:nvCxnSpPr>
          <p:cNvPr id="54" name="Straight Connector 53">
            <a:extLst>
              <a:ext uri="{FF2B5EF4-FFF2-40B4-BE49-F238E27FC236}">
                <a16:creationId xmlns:a16="http://schemas.microsoft.com/office/drawing/2014/main" id="{D9909DC5-356C-FA00-05F6-60B0DB827714}"/>
              </a:ext>
            </a:extLst>
          </p:cNvPr>
          <p:cNvCxnSpPr>
            <a:cxnSpLocks/>
          </p:cNvCxnSpPr>
          <p:nvPr/>
        </p:nvCxnSpPr>
        <p:spPr>
          <a:xfrm>
            <a:off x="9803648" y="2683033"/>
            <a:ext cx="0" cy="2952000"/>
          </a:xfrm>
          <a:prstGeom prst="line">
            <a:avLst/>
          </a:prstGeom>
          <a:ln w="190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F1CC89D2-CBD4-F503-2FFF-0D7D1FB3511E}"/>
              </a:ext>
            </a:extLst>
          </p:cNvPr>
          <p:cNvSpPr txBox="1"/>
          <p:nvPr/>
        </p:nvSpPr>
        <p:spPr>
          <a:xfrm>
            <a:off x="7874169" y="2672459"/>
            <a:ext cx="1980000" cy="1477328"/>
          </a:xfrm>
          <a:prstGeom prst="rect">
            <a:avLst/>
          </a:prstGeom>
          <a:noFill/>
        </p:spPr>
        <p:txBody>
          <a:bodyPr wrap="square" lIns="91440" tIns="91440" rIns="91440" bIns="91440" rtlCol="0" anchor="t">
            <a:spAutoFit/>
          </a:bodyPr>
          <a:lstStyle/>
          <a:p>
            <a:pPr algn="ctr"/>
            <a:r>
              <a:rPr lang="en-US" sz="1200" i="1">
                <a:solidFill>
                  <a:schemeClr val="accent2"/>
                </a:solidFill>
              </a:rPr>
              <a:t>Details on gated evidence gaps outlining the rationale for inclusion and the conditions under which they should be revisited</a:t>
            </a:r>
          </a:p>
        </p:txBody>
      </p:sp>
      <p:pic>
        <p:nvPicPr>
          <p:cNvPr id="16" name="Picture 15">
            <a:extLst>
              <a:ext uri="{FF2B5EF4-FFF2-40B4-BE49-F238E27FC236}">
                <a16:creationId xmlns:a16="http://schemas.microsoft.com/office/drawing/2014/main" id="{2ADC0C6A-5ABD-C5D5-8378-63A9477A885E}"/>
              </a:ext>
            </a:extLst>
          </p:cNvPr>
          <p:cNvPicPr>
            <a:picLocks noChangeAspect="1"/>
          </p:cNvPicPr>
          <p:nvPr/>
        </p:nvPicPr>
        <p:blipFill>
          <a:blip r:embed="rId8"/>
          <a:srcRect/>
          <a:stretch/>
        </p:blipFill>
        <p:spPr>
          <a:xfrm>
            <a:off x="540140" y="4515302"/>
            <a:ext cx="1445125" cy="813816"/>
          </a:xfrm>
          <a:prstGeom prst="rect">
            <a:avLst/>
          </a:prstGeom>
          <a:effectLst>
            <a:outerShdw blurRad="50800" dist="38100" dir="5400000" algn="t" rotWithShape="0">
              <a:prstClr val="black">
                <a:alpha val="40000"/>
              </a:prstClr>
            </a:outerShdw>
          </a:effectLst>
        </p:spPr>
      </p:pic>
      <p:pic>
        <p:nvPicPr>
          <p:cNvPr id="18" name="Picture 17">
            <a:extLst>
              <a:ext uri="{FF2B5EF4-FFF2-40B4-BE49-F238E27FC236}">
                <a16:creationId xmlns:a16="http://schemas.microsoft.com/office/drawing/2014/main" id="{DA27BDD2-16CF-7A3A-FACA-24AB243531AD}"/>
              </a:ext>
            </a:extLst>
          </p:cNvPr>
          <p:cNvPicPr>
            <a:picLocks noChangeAspect="1"/>
          </p:cNvPicPr>
          <p:nvPr/>
        </p:nvPicPr>
        <p:blipFill>
          <a:blip r:embed="rId9"/>
          <a:srcRect/>
          <a:stretch/>
        </p:blipFill>
        <p:spPr>
          <a:xfrm>
            <a:off x="697326" y="5159979"/>
            <a:ext cx="1444752" cy="813816"/>
          </a:xfrm>
          <a:prstGeom prst="rect">
            <a:avLst/>
          </a:prstGeom>
          <a:effectLst>
            <a:outerShdw blurRad="50800" dist="38100" dir="5400000" algn="t" rotWithShape="0">
              <a:prstClr val="black">
                <a:alpha val="40000"/>
              </a:prstClr>
            </a:outerShdw>
          </a:effectLst>
        </p:spPr>
      </p:pic>
      <p:pic>
        <p:nvPicPr>
          <p:cNvPr id="26" name="Picture 25">
            <a:extLst>
              <a:ext uri="{FF2B5EF4-FFF2-40B4-BE49-F238E27FC236}">
                <a16:creationId xmlns:a16="http://schemas.microsoft.com/office/drawing/2014/main" id="{69C181C4-FF13-95C2-B676-35AC9DD24110}"/>
              </a:ext>
            </a:extLst>
          </p:cNvPr>
          <p:cNvPicPr>
            <a:picLocks noChangeAspect="1"/>
          </p:cNvPicPr>
          <p:nvPr/>
        </p:nvPicPr>
        <p:blipFill>
          <a:blip r:embed="rId10"/>
          <a:srcRect/>
          <a:stretch/>
        </p:blipFill>
        <p:spPr>
          <a:xfrm>
            <a:off x="4308754" y="4515302"/>
            <a:ext cx="1439565" cy="813816"/>
          </a:xfrm>
          <a:prstGeom prst="rect">
            <a:avLst/>
          </a:prstGeom>
          <a:effectLst>
            <a:outerShdw blurRad="50800" dist="38100" dir="5400000" algn="t" rotWithShape="0">
              <a:prstClr val="black">
                <a:alpha val="40000"/>
              </a:prstClr>
            </a:outerShdw>
          </a:effectLst>
        </p:spPr>
      </p:pic>
      <p:pic>
        <p:nvPicPr>
          <p:cNvPr id="28" name="Picture 27">
            <a:extLst>
              <a:ext uri="{FF2B5EF4-FFF2-40B4-BE49-F238E27FC236}">
                <a16:creationId xmlns:a16="http://schemas.microsoft.com/office/drawing/2014/main" id="{E42D2C51-5782-33B2-089F-13928151C0AF}"/>
              </a:ext>
            </a:extLst>
          </p:cNvPr>
          <p:cNvPicPr>
            <a:picLocks noChangeAspect="1"/>
          </p:cNvPicPr>
          <p:nvPr/>
        </p:nvPicPr>
        <p:blipFill>
          <a:blip r:embed="rId11"/>
          <a:srcRect/>
          <a:stretch/>
        </p:blipFill>
        <p:spPr>
          <a:xfrm>
            <a:off x="4476922" y="5169269"/>
            <a:ext cx="1436751" cy="813816"/>
          </a:xfrm>
          <a:prstGeom prst="rect">
            <a:avLst/>
          </a:prstGeom>
          <a:effectLst>
            <a:outerShdw blurRad="50800" dist="38100" dir="5400000" algn="t" rotWithShape="0">
              <a:prstClr val="black">
                <a:alpha val="40000"/>
              </a:prstClr>
            </a:outerShdw>
          </a:effectLst>
        </p:spPr>
      </p:pic>
      <p:pic>
        <p:nvPicPr>
          <p:cNvPr id="30" name="Picture 29">
            <a:extLst>
              <a:ext uri="{FF2B5EF4-FFF2-40B4-BE49-F238E27FC236}">
                <a16:creationId xmlns:a16="http://schemas.microsoft.com/office/drawing/2014/main" id="{E58F4A21-CCCC-30D7-5CBB-DF11AE0C4472}"/>
              </a:ext>
            </a:extLst>
          </p:cNvPr>
          <p:cNvPicPr>
            <a:picLocks noChangeAspect="1"/>
          </p:cNvPicPr>
          <p:nvPr/>
        </p:nvPicPr>
        <p:blipFill>
          <a:blip r:embed="rId12"/>
          <a:srcRect/>
          <a:stretch/>
        </p:blipFill>
        <p:spPr>
          <a:xfrm>
            <a:off x="6206938" y="4515302"/>
            <a:ext cx="1441323" cy="813816"/>
          </a:xfrm>
          <a:prstGeom prst="rect">
            <a:avLst/>
          </a:prstGeom>
          <a:effectLst>
            <a:outerShdw blurRad="50800" dist="38100" dir="5400000" algn="t" rotWithShape="0">
              <a:prstClr val="black">
                <a:alpha val="40000"/>
              </a:prstClr>
            </a:outerShdw>
          </a:effectLst>
        </p:spPr>
      </p:pic>
      <p:pic>
        <p:nvPicPr>
          <p:cNvPr id="33" name="Picture 32">
            <a:extLst>
              <a:ext uri="{FF2B5EF4-FFF2-40B4-BE49-F238E27FC236}">
                <a16:creationId xmlns:a16="http://schemas.microsoft.com/office/drawing/2014/main" id="{D60E3A73-FA1F-2BEC-1E72-6729CE71DF35}"/>
              </a:ext>
            </a:extLst>
          </p:cNvPr>
          <p:cNvPicPr>
            <a:picLocks noChangeAspect="1"/>
          </p:cNvPicPr>
          <p:nvPr/>
        </p:nvPicPr>
        <p:blipFill>
          <a:blip r:embed="rId13"/>
          <a:srcRect/>
          <a:stretch/>
        </p:blipFill>
        <p:spPr>
          <a:xfrm>
            <a:off x="6339364" y="5169269"/>
            <a:ext cx="1446273" cy="813816"/>
          </a:xfrm>
          <a:prstGeom prst="rect">
            <a:avLst/>
          </a:prstGeom>
          <a:effectLst>
            <a:outerShdw blurRad="50800" dist="38100" dir="5400000" algn="t" rotWithShape="0">
              <a:prstClr val="black">
                <a:alpha val="40000"/>
              </a:prstClr>
            </a:outerShdw>
          </a:effectLst>
        </p:spPr>
      </p:pic>
      <p:pic>
        <p:nvPicPr>
          <p:cNvPr id="36" name="Picture 35">
            <a:extLst>
              <a:ext uri="{FF2B5EF4-FFF2-40B4-BE49-F238E27FC236}">
                <a16:creationId xmlns:a16="http://schemas.microsoft.com/office/drawing/2014/main" id="{FA00D193-E4DA-D56D-EDDF-9CC21C74D87C}"/>
              </a:ext>
            </a:extLst>
          </p:cNvPr>
          <p:cNvPicPr>
            <a:picLocks noChangeAspect="1"/>
          </p:cNvPicPr>
          <p:nvPr/>
        </p:nvPicPr>
        <p:blipFill>
          <a:blip r:embed="rId14"/>
          <a:srcRect/>
          <a:stretch/>
        </p:blipFill>
        <p:spPr>
          <a:xfrm>
            <a:off x="8101059" y="4803290"/>
            <a:ext cx="1443609" cy="813816"/>
          </a:xfrm>
          <a:prstGeom prst="rect">
            <a:avLst/>
          </a:prstGeom>
          <a:effectLst>
            <a:outerShdw blurRad="50800" dist="38100" dir="5400000" algn="t" rotWithShape="0">
              <a:prstClr val="black">
                <a:alpha val="40000"/>
              </a:prstClr>
            </a:outerShdw>
          </a:effectLst>
        </p:spPr>
      </p:pic>
      <p:pic>
        <p:nvPicPr>
          <p:cNvPr id="39" name="Picture 38">
            <a:extLst>
              <a:ext uri="{FF2B5EF4-FFF2-40B4-BE49-F238E27FC236}">
                <a16:creationId xmlns:a16="http://schemas.microsoft.com/office/drawing/2014/main" id="{76B5A1E6-0F6F-0C03-E0EC-C0653D94EE56}"/>
              </a:ext>
            </a:extLst>
          </p:cNvPr>
          <p:cNvPicPr>
            <a:picLocks noChangeAspect="1"/>
          </p:cNvPicPr>
          <p:nvPr/>
        </p:nvPicPr>
        <p:blipFill>
          <a:blip r:embed="rId15"/>
          <a:srcRect/>
          <a:stretch/>
        </p:blipFill>
        <p:spPr>
          <a:xfrm>
            <a:off x="10060346" y="4803290"/>
            <a:ext cx="1439565" cy="81381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607622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607C6-2E02-2F7E-50DF-D2AC2E19B12A}"/>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2576C5A-71FE-4343-3D2A-19932BF80E8F}"/>
              </a:ext>
            </a:extLst>
          </p:cNvPr>
          <p:cNvGraphicFramePr>
            <a:graphicFrameLocks/>
          </p:cNvGraphicFramePr>
          <p:nvPr>
            <p:custDataLst>
              <p:tags r:id="rId1"/>
            </p:custDataLst>
            <p:extLst>
              <p:ext uri="{D42A27DB-BD31-4B8C-83A1-F6EECF244321}">
                <p14:modId xmlns:p14="http://schemas.microsoft.com/office/powerpoint/2010/main" val="34874156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think-cell data - do not delete" hidden="1">
                        <a:extLst>
                          <a:ext uri="{FF2B5EF4-FFF2-40B4-BE49-F238E27FC236}">
                            <a16:creationId xmlns:a16="http://schemas.microsoft.com/office/drawing/2014/main" id="{B2576C5A-71FE-4343-3D2A-19932BF80E8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2AAC1BE-C7E3-D6A5-4924-CF15F794022C}"/>
              </a:ext>
            </a:extLst>
          </p:cNvPr>
          <p:cNvSpPr>
            <a:spLocks noGrp="1"/>
          </p:cNvSpPr>
          <p:nvPr>
            <p:ph type="ctrTitle"/>
          </p:nvPr>
        </p:nvSpPr>
        <p:spPr/>
        <p:txBody>
          <a:bodyPr vert="horz"/>
          <a:lstStyle/>
          <a:p>
            <a:r>
              <a:rPr lang="en-US"/>
              <a:t>Executive Summary</a:t>
            </a:r>
          </a:p>
        </p:txBody>
      </p:sp>
      <p:grpSp>
        <p:nvGrpSpPr>
          <p:cNvPr id="11" name="Group 10">
            <a:extLst>
              <a:ext uri="{FF2B5EF4-FFF2-40B4-BE49-F238E27FC236}">
                <a16:creationId xmlns:a16="http://schemas.microsoft.com/office/drawing/2014/main" id="{06591672-5FDD-282F-DA51-A1960D688C43}"/>
              </a:ext>
            </a:extLst>
          </p:cNvPr>
          <p:cNvGrpSpPr/>
          <p:nvPr/>
        </p:nvGrpSpPr>
        <p:grpSpPr>
          <a:xfrm>
            <a:off x="362743" y="10216"/>
            <a:ext cx="10042505" cy="252000"/>
            <a:chOff x="362743" y="10216"/>
            <a:chExt cx="10042505" cy="252000"/>
          </a:xfrm>
        </p:grpSpPr>
        <p:sp>
          <p:nvSpPr>
            <p:cNvPr id="12" name="Pentagon 47">
              <a:extLst>
                <a:ext uri="{FF2B5EF4-FFF2-40B4-BE49-F238E27FC236}">
                  <a16:creationId xmlns:a16="http://schemas.microsoft.com/office/drawing/2014/main" id="{C5F208ED-199D-AF17-E45D-6C38397C6514}"/>
                </a:ext>
              </a:extLst>
            </p:cNvPr>
            <p:cNvSpPr/>
            <p:nvPr/>
          </p:nvSpPr>
          <p:spPr>
            <a:xfrm>
              <a:off x="362743" y="10216"/>
              <a:ext cx="1695265" cy="252000"/>
            </a:xfrm>
            <a:prstGeom prst="homePlate">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13" name="Chevron 48">
              <a:extLst>
                <a:ext uri="{FF2B5EF4-FFF2-40B4-BE49-F238E27FC236}">
                  <a16:creationId xmlns:a16="http://schemas.microsoft.com/office/drawing/2014/main" id="{4BE2ED82-34C7-D9CF-A0A4-EFE828C98D25}"/>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14" name="Chevron 52">
              <a:extLst>
                <a:ext uri="{FF2B5EF4-FFF2-40B4-BE49-F238E27FC236}">
                  <a16:creationId xmlns:a16="http://schemas.microsoft.com/office/drawing/2014/main" id="{E0292434-AADC-FAD6-A482-B0B91AECBC1C}"/>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15" name="Chevron 54">
              <a:extLst>
                <a:ext uri="{FF2B5EF4-FFF2-40B4-BE49-F238E27FC236}">
                  <a16:creationId xmlns:a16="http://schemas.microsoft.com/office/drawing/2014/main" id="{6AB03A8E-A0B3-70D7-DA2B-C62F4A590B9C}"/>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6" name="Chevron 48">
              <a:extLst>
                <a:ext uri="{FF2B5EF4-FFF2-40B4-BE49-F238E27FC236}">
                  <a16:creationId xmlns:a16="http://schemas.microsoft.com/office/drawing/2014/main" id="{736034D6-6770-E14C-1852-8E30B13550E7}"/>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8" name="Chevron 48">
              <a:extLst>
                <a:ext uri="{FF2B5EF4-FFF2-40B4-BE49-F238E27FC236}">
                  <a16:creationId xmlns:a16="http://schemas.microsoft.com/office/drawing/2014/main" id="{6EEE2A06-3E14-E617-9175-FBD51809EEE9}"/>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1690255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 name="think-cell data - do not delete" hidden="1">
            <a:extLst>
              <a:ext uri="{FF2B5EF4-FFF2-40B4-BE49-F238E27FC236}">
                <a16:creationId xmlns:a16="http://schemas.microsoft.com/office/drawing/2014/main" id="{134E45F2-1E8F-6610-6AB5-BEB18E800B48}"/>
              </a:ext>
            </a:extLst>
          </p:cNvPr>
          <p:cNvGraphicFramePr>
            <a:graphicFrameLocks/>
          </p:cNvGraphicFramePr>
          <p:nvPr>
            <p:custDataLst>
              <p:tags r:id="rId1"/>
            </p:custDataLst>
            <p:extLst>
              <p:ext uri="{D42A27DB-BD31-4B8C-83A1-F6EECF244321}">
                <p14:modId xmlns:p14="http://schemas.microsoft.com/office/powerpoint/2010/main" val="5267292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55" name="think-cell data - do not delete" hidden="1">
                        <a:extLst>
                          <a:ext uri="{FF2B5EF4-FFF2-40B4-BE49-F238E27FC236}">
                            <a16:creationId xmlns:a16="http://schemas.microsoft.com/office/drawing/2014/main" id="{134E45F2-1E8F-6610-6AB5-BEB18E800B4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7" name="Rectangle: Rounded Corners 56">
            <a:extLst>
              <a:ext uri="{FF2B5EF4-FFF2-40B4-BE49-F238E27FC236}">
                <a16:creationId xmlns:a16="http://schemas.microsoft.com/office/drawing/2014/main" id="{64FC29A9-4526-9ACE-CB29-5AEB45DC3185}"/>
              </a:ext>
            </a:extLst>
          </p:cNvPr>
          <p:cNvSpPr/>
          <p:nvPr/>
        </p:nvSpPr>
        <p:spPr>
          <a:xfrm>
            <a:off x="5405673" y="1533235"/>
            <a:ext cx="6502791" cy="4694571"/>
          </a:xfrm>
          <a:prstGeom prst="roundRect">
            <a:avLst>
              <a:gd name="adj" fmla="val 2442"/>
            </a:avLst>
          </a:prstGeom>
          <a:solidFill>
            <a:schemeClr val="bg1"/>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29" name="Rectangle: Rounded Corners 28">
            <a:extLst>
              <a:ext uri="{FF2B5EF4-FFF2-40B4-BE49-F238E27FC236}">
                <a16:creationId xmlns:a16="http://schemas.microsoft.com/office/drawing/2014/main" id="{C7A7D8DB-8296-9E9F-3C14-C7551A8B8224}"/>
              </a:ext>
            </a:extLst>
          </p:cNvPr>
          <p:cNvSpPr/>
          <p:nvPr/>
        </p:nvSpPr>
        <p:spPr>
          <a:xfrm>
            <a:off x="5760148" y="3492195"/>
            <a:ext cx="5790241" cy="2277295"/>
          </a:xfrm>
          <a:prstGeom prst="roundRect">
            <a:avLst>
              <a:gd name="adj" fmla="val 6896"/>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normAutofit/>
          </a:bodyPr>
          <a:lstStyle/>
          <a:p>
            <a:pPr algn="ctr"/>
            <a:r>
              <a:rPr lang="en-US" b="1">
                <a:solidFill>
                  <a:schemeClr val="tx2"/>
                </a:solidFill>
              </a:rPr>
              <a:t>Why A Differentiated IEP is Needed</a:t>
            </a:r>
          </a:p>
          <a:p>
            <a:pPr algn="ctr"/>
            <a:r>
              <a:rPr lang="en-US" sz="1100">
                <a:solidFill>
                  <a:schemeClr val="tx2"/>
                </a:solidFill>
              </a:rPr>
              <a:t>Evidence required to ensure best-in-class positioning needs to extend beyond initial safety and efficacy and must establish:</a:t>
            </a:r>
          </a:p>
        </p:txBody>
      </p:sp>
      <p:sp>
        <p:nvSpPr>
          <p:cNvPr id="2" name="Title 1">
            <a:extLst>
              <a:ext uri="{FF2B5EF4-FFF2-40B4-BE49-F238E27FC236}">
                <a16:creationId xmlns:a16="http://schemas.microsoft.com/office/drawing/2014/main" id="{A695965A-504C-A073-5C7F-7E8DCACF3482}"/>
              </a:ext>
            </a:extLst>
          </p:cNvPr>
          <p:cNvSpPr>
            <a:spLocks noGrp="1"/>
          </p:cNvSpPr>
          <p:nvPr>
            <p:ph type="title"/>
          </p:nvPr>
        </p:nvSpPr>
        <p:spPr>
          <a:xfrm>
            <a:off x="358337" y="338328"/>
            <a:ext cx="11550128" cy="738664"/>
          </a:xfrm>
        </p:spPr>
        <p:txBody>
          <a:bodyPr vert="horz" rIns="0">
            <a:spAutoFit/>
          </a:bodyPr>
          <a:lstStyle/>
          <a:p>
            <a:r>
              <a:rPr lang="en-US" sz="2400"/>
              <a:t>BGB-58067 requires a differentiated evidence strategy to ensure best-in-class positioning in an evolving PRMT5i landscape</a:t>
            </a:r>
          </a:p>
        </p:txBody>
      </p:sp>
      <p:sp>
        <p:nvSpPr>
          <p:cNvPr id="3" name="Footer Placeholder 2">
            <a:extLst>
              <a:ext uri="{FF2B5EF4-FFF2-40B4-BE49-F238E27FC236}">
                <a16:creationId xmlns:a16="http://schemas.microsoft.com/office/drawing/2014/main" id="{75559239-26A2-F3C0-C0BA-5E4A786EF436}"/>
              </a:ext>
            </a:extLst>
          </p:cNvPr>
          <p:cNvSpPr>
            <a:spLocks noGrp="1"/>
          </p:cNvSpPr>
          <p:nvPr>
            <p:ph type="ftr" sz="quarter" idx="10"/>
          </p:nvPr>
        </p:nvSpPr>
        <p:spPr/>
        <p:txBody>
          <a:bodyPr/>
          <a:lstStyle/>
          <a:p>
            <a:r>
              <a:rPr lang="en-US">
                <a:solidFill>
                  <a:srgbClr val="595959"/>
                </a:solidFill>
              </a:rPr>
              <a:t>Note: *Current competitive landscape is as of July 29, 2026; Abbreviations: BMS: Bristol Myers Squibb; CNS: Central Nervous System; IEP: Integrated Evidence Plan; MTA: Methylthioadenosine; MTAP: Methylthioadenosine Phosphorylase; NSCLC: Non-Small Cell Lung Cancer; PRMT5i: Protein Arginine Methyltransferase 5 Inhibitor; SoC: Standard of Care</a:t>
            </a:r>
          </a:p>
        </p:txBody>
      </p:sp>
      <p:sp>
        <p:nvSpPr>
          <p:cNvPr id="11" name="Rectangle: Rounded Corners 10">
            <a:extLst>
              <a:ext uri="{FF2B5EF4-FFF2-40B4-BE49-F238E27FC236}">
                <a16:creationId xmlns:a16="http://schemas.microsoft.com/office/drawing/2014/main" id="{717ADA1A-E867-DED8-0B58-4C162E7A4B6B}"/>
              </a:ext>
            </a:extLst>
          </p:cNvPr>
          <p:cNvSpPr/>
          <p:nvPr/>
        </p:nvSpPr>
        <p:spPr>
          <a:xfrm>
            <a:off x="358337" y="1533236"/>
            <a:ext cx="4886326" cy="4694571"/>
          </a:xfrm>
          <a:prstGeom prst="roundRect">
            <a:avLst>
              <a:gd name="adj" fmla="val 2442"/>
            </a:avLst>
          </a:prstGeom>
          <a:solidFill>
            <a:schemeClr val="bg1"/>
          </a:solidFill>
          <a:ln>
            <a:solidFill>
              <a:schemeClr val="accent3">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13" name="Rectangle 12">
            <a:extLst>
              <a:ext uri="{FF2B5EF4-FFF2-40B4-BE49-F238E27FC236}">
                <a16:creationId xmlns:a16="http://schemas.microsoft.com/office/drawing/2014/main" id="{CA14504E-6ED5-59AC-F15C-450897125153}"/>
              </a:ext>
            </a:extLst>
          </p:cNvPr>
          <p:cNvSpPr/>
          <p:nvPr/>
        </p:nvSpPr>
        <p:spPr>
          <a:xfrm>
            <a:off x="1324522" y="1303034"/>
            <a:ext cx="2953950" cy="4782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r>
              <a:rPr lang="en-US" b="1">
                <a:solidFill>
                  <a:schemeClr val="tx2"/>
                </a:solidFill>
              </a:rPr>
              <a:t>BGB-58067 Overview</a:t>
            </a:r>
          </a:p>
        </p:txBody>
      </p:sp>
      <p:sp>
        <p:nvSpPr>
          <p:cNvPr id="16" name="Rectangle 15">
            <a:extLst>
              <a:ext uri="{FF2B5EF4-FFF2-40B4-BE49-F238E27FC236}">
                <a16:creationId xmlns:a16="http://schemas.microsoft.com/office/drawing/2014/main" id="{7C10B935-3E50-C3DF-35AA-EE70FA49176C}"/>
              </a:ext>
            </a:extLst>
          </p:cNvPr>
          <p:cNvSpPr/>
          <p:nvPr/>
        </p:nvSpPr>
        <p:spPr>
          <a:xfrm>
            <a:off x="1394571" y="1803393"/>
            <a:ext cx="3602302" cy="650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100" b="1">
                <a:solidFill>
                  <a:schemeClr val="tx2"/>
                </a:solidFill>
              </a:rPr>
              <a:t>BGB-58067</a:t>
            </a:r>
            <a:r>
              <a:rPr lang="en-US" sz="1100">
                <a:solidFill>
                  <a:schemeClr val="tx2"/>
                </a:solidFill>
              </a:rPr>
              <a:t> is a </a:t>
            </a:r>
            <a:r>
              <a:rPr lang="en-US" sz="1100" b="1">
                <a:solidFill>
                  <a:schemeClr val="tx2"/>
                </a:solidFill>
              </a:rPr>
              <a:t>highly-selective</a:t>
            </a:r>
            <a:r>
              <a:rPr lang="en-US" sz="1100">
                <a:solidFill>
                  <a:schemeClr val="tx2"/>
                </a:solidFill>
              </a:rPr>
              <a:t> and </a:t>
            </a:r>
            <a:r>
              <a:rPr lang="en-US" sz="1100" b="1">
                <a:solidFill>
                  <a:schemeClr val="tx2"/>
                </a:solidFill>
              </a:rPr>
              <a:t>brain-penetrant MTA-cooperative PRMT5i </a:t>
            </a:r>
            <a:r>
              <a:rPr lang="en-US" sz="1100">
                <a:solidFill>
                  <a:schemeClr val="tx2"/>
                </a:solidFill>
              </a:rPr>
              <a:t>targeting MTAP-deleted solid tumors, with a current </a:t>
            </a:r>
            <a:r>
              <a:rPr lang="en-US" sz="1100" b="1">
                <a:solidFill>
                  <a:schemeClr val="tx2"/>
                </a:solidFill>
              </a:rPr>
              <a:t>focus in 1L/2L+ NSCLC</a:t>
            </a:r>
          </a:p>
        </p:txBody>
      </p:sp>
      <p:sp>
        <p:nvSpPr>
          <p:cNvPr id="17" name="Rectangle 16">
            <a:extLst>
              <a:ext uri="{FF2B5EF4-FFF2-40B4-BE49-F238E27FC236}">
                <a16:creationId xmlns:a16="http://schemas.microsoft.com/office/drawing/2014/main" id="{BAAC856F-14A9-32B6-44E1-B4975B1C89E8}"/>
              </a:ext>
            </a:extLst>
          </p:cNvPr>
          <p:cNvSpPr/>
          <p:nvPr/>
        </p:nvSpPr>
        <p:spPr>
          <a:xfrm>
            <a:off x="6492276" y="1359291"/>
            <a:ext cx="4329584" cy="36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r>
              <a:rPr lang="en-US" b="1">
                <a:solidFill>
                  <a:schemeClr val="tx2"/>
                </a:solidFill>
              </a:rPr>
              <a:t>BGB-58067 Development Strategy</a:t>
            </a:r>
          </a:p>
        </p:txBody>
      </p:sp>
      <p:graphicFrame>
        <p:nvGraphicFramePr>
          <p:cNvPr id="32" name="Table 31">
            <a:extLst>
              <a:ext uri="{FF2B5EF4-FFF2-40B4-BE49-F238E27FC236}">
                <a16:creationId xmlns:a16="http://schemas.microsoft.com/office/drawing/2014/main" id="{68030120-958F-4053-072A-9A903865C33A}"/>
              </a:ext>
            </a:extLst>
          </p:cNvPr>
          <p:cNvGraphicFramePr>
            <a:graphicFrameLocks noGrp="1"/>
          </p:cNvGraphicFramePr>
          <p:nvPr>
            <p:extLst>
              <p:ext uri="{D42A27DB-BD31-4B8C-83A1-F6EECF244321}">
                <p14:modId xmlns:p14="http://schemas.microsoft.com/office/powerpoint/2010/main" val="3932489118"/>
              </p:ext>
            </p:extLst>
          </p:nvPr>
        </p:nvGraphicFramePr>
        <p:xfrm>
          <a:off x="577381" y="3182888"/>
          <a:ext cx="4448236" cy="1955800"/>
        </p:xfrm>
        <a:graphic>
          <a:graphicData uri="http://schemas.openxmlformats.org/drawingml/2006/table">
            <a:tbl>
              <a:tblPr firstRow="1" bandRow="1">
                <a:tableStyleId>{5C22544A-7EE6-4342-B048-85BDC9FD1C3A}</a:tableStyleId>
              </a:tblPr>
              <a:tblGrid>
                <a:gridCol w="1051560">
                  <a:extLst>
                    <a:ext uri="{9D8B030D-6E8A-4147-A177-3AD203B41FA5}">
                      <a16:colId xmlns:a16="http://schemas.microsoft.com/office/drawing/2014/main" val="3460684255"/>
                    </a:ext>
                  </a:extLst>
                </a:gridCol>
                <a:gridCol w="585216">
                  <a:extLst>
                    <a:ext uri="{9D8B030D-6E8A-4147-A177-3AD203B41FA5}">
                      <a16:colId xmlns:a16="http://schemas.microsoft.com/office/drawing/2014/main" val="2412192102"/>
                    </a:ext>
                  </a:extLst>
                </a:gridCol>
                <a:gridCol w="612648">
                  <a:extLst>
                    <a:ext uri="{9D8B030D-6E8A-4147-A177-3AD203B41FA5}">
                      <a16:colId xmlns:a16="http://schemas.microsoft.com/office/drawing/2014/main" val="2728153957"/>
                    </a:ext>
                  </a:extLst>
                </a:gridCol>
                <a:gridCol w="630936">
                  <a:extLst>
                    <a:ext uri="{9D8B030D-6E8A-4147-A177-3AD203B41FA5}">
                      <a16:colId xmlns:a16="http://schemas.microsoft.com/office/drawing/2014/main" val="627728020"/>
                    </a:ext>
                  </a:extLst>
                </a:gridCol>
                <a:gridCol w="1567876">
                  <a:extLst>
                    <a:ext uri="{9D8B030D-6E8A-4147-A177-3AD203B41FA5}">
                      <a16:colId xmlns:a16="http://schemas.microsoft.com/office/drawing/2014/main" val="716659517"/>
                    </a:ext>
                  </a:extLst>
                </a:gridCol>
              </a:tblGrid>
              <a:tr h="370840">
                <a:tc>
                  <a:txBody>
                    <a:bodyPr/>
                    <a:lstStyle/>
                    <a:p>
                      <a:endParaRPr lang="en-US" sz="1000">
                        <a:solidFill>
                          <a:schemeClr val="tx2"/>
                        </a:solidFill>
                      </a:endParaRPr>
                    </a:p>
                  </a:txBody>
                  <a:tcPr>
                    <a:lnR w="12700" cap="flat" cmpd="sng" algn="ctr">
                      <a:solidFill>
                        <a:schemeClr val="bg1">
                          <a:lumMod val="75000"/>
                        </a:schemeClr>
                      </a:solidFill>
                      <a:prstDash val="solid"/>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000">
                          <a:solidFill>
                            <a:schemeClr val="tx2"/>
                          </a:solidFill>
                        </a:rPr>
                        <a:t>Phase 1</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000">
                          <a:solidFill>
                            <a:schemeClr val="tx2"/>
                          </a:solidFill>
                        </a:rPr>
                        <a:t>Phase 2</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000">
                          <a:solidFill>
                            <a:schemeClr val="tx2"/>
                          </a:solidFill>
                        </a:rPr>
                        <a:t>Phase 3</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1000">
                        <a:solidFill>
                          <a:schemeClr val="tx2"/>
                        </a:solidFill>
                      </a:endParaRPr>
                    </a:p>
                  </a:txBody>
                  <a:tcPr>
                    <a:lnL w="12700" cap="flat" cmpd="sng" algn="ctr">
                      <a:solidFill>
                        <a:schemeClr val="bg1">
                          <a:lumMod val="75000"/>
                        </a:schemeClr>
                      </a:solidFill>
                      <a:prstDash val="sysDash"/>
                      <a:round/>
                      <a:headEnd type="none" w="med" len="med"/>
                      <a:tailEnd type="none" w="med" len="med"/>
                    </a:lnL>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98346525"/>
                  </a:ext>
                </a:extLst>
              </a:tr>
              <a:tr h="370840">
                <a:tc>
                  <a:txBody>
                    <a:bodyPr/>
                    <a:lstStyle/>
                    <a:p>
                      <a:r>
                        <a:rPr lang="en-US" sz="1000">
                          <a:solidFill>
                            <a:schemeClr val="tx2"/>
                          </a:solidFill>
                        </a:rPr>
                        <a:t>BMS-986504</a:t>
                      </a:r>
                    </a:p>
                  </a:txBody>
                  <a:tcPr anchor="ct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1000">
                        <a:solidFill>
                          <a:schemeClr val="tx2"/>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1000">
                        <a:solidFill>
                          <a:schemeClr val="tx2"/>
                        </a:solidFill>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1000">
                        <a:solidFill>
                          <a:schemeClr val="tx2"/>
                        </a:solidFill>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000">
                          <a:solidFill>
                            <a:schemeClr val="tx2"/>
                          </a:solidFill>
                        </a:rPr>
                        <a:t>2L+ MTAP-del NSCLC</a:t>
                      </a:r>
                    </a:p>
                    <a:p>
                      <a:r>
                        <a:rPr lang="en-US" sz="1000">
                          <a:solidFill>
                            <a:schemeClr val="tx2"/>
                          </a:solidFill>
                        </a:rPr>
                        <a:t>1L MTAP-del NSCLC</a:t>
                      </a:r>
                    </a:p>
                  </a:txBody>
                  <a:tcPr anchor="ctr">
                    <a:lnL w="12700" cap="flat" cmpd="sng" algn="ctr">
                      <a:solidFill>
                        <a:schemeClr val="bg1">
                          <a:lumMod val="75000"/>
                        </a:schemeClr>
                      </a:solidFill>
                      <a:prstDash val="sysDash"/>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62581508"/>
                  </a:ext>
                </a:extLst>
              </a:tr>
              <a:tr h="370840">
                <a:tc>
                  <a:txBody>
                    <a:bodyPr/>
                    <a:lstStyle/>
                    <a:p>
                      <a:r>
                        <a:rPr lang="en-US" sz="1000">
                          <a:solidFill>
                            <a:schemeClr val="tx2"/>
                          </a:solidFill>
                        </a:rPr>
                        <a:t>Vopimetostat</a:t>
                      </a:r>
                    </a:p>
                  </a:txBody>
                  <a:tcPr anchor="ct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1000">
                        <a:solidFill>
                          <a:schemeClr val="tx2"/>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1000">
                        <a:solidFill>
                          <a:schemeClr val="tx2"/>
                        </a:solidFill>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1000">
                        <a:solidFill>
                          <a:schemeClr val="tx2"/>
                        </a:solidFill>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000">
                          <a:solidFill>
                            <a:schemeClr val="tx2"/>
                          </a:solidFill>
                        </a:rPr>
                        <a:t>MTAP-del Solid tumors</a:t>
                      </a:r>
                    </a:p>
                  </a:txBody>
                  <a:tcPr anchor="ctr">
                    <a:lnL w="12700" cap="flat" cmpd="sng" algn="ctr">
                      <a:solidFill>
                        <a:schemeClr val="bg1">
                          <a:lumMod val="75000"/>
                        </a:schemeClr>
                      </a:solidFill>
                      <a:prstDash val="sysDash"/>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99585869"/>
                  </a:ext>
                </a:extLst>
              </a:tr>
              <a:tr h="370840">
                <a:tc>
                  <a:txBody>
                    <a:bodyPr/>
                    <a:lstStyle/>
                    <a:p>
                      <a:r>
                        <a:rPr lang="en-US" sz="1000">
                          <a:solidFill>
                            <a:schemeClr val="tx2"/>
                          </a:solidFill>
                        </a:rPr>
                        <a:t>AZD3470</a:t>
                      </a:r>
                    </a:p>
                  </a:txBody>
                  <a:tcPr anchor="ct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1000">
                        <a:solidFill>
                          <a:schemeClr val="tx2"/>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1000">
                        <a:solidFill>
                          <a:schemeClr val="tx2"/>
                        </a:solidFill>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1000">
                        <a:solidFill>
                          <a:schemeClr val="tx2"/>
                        </a:solidFill>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000">
                          <a:solidFill>
                            <a:schemeClr val="tx2"/>
                          </a:solidFill>
                        </a:rPr>
                        <a:t>MTAP-del Solid tumors</a:t>
                      </a:r>
                    </a:p>
                  </a:txBody>
                  <a:tcPr anchor="ctr">
                    <a:lnL w="12700" cap="flat" cmpd="sng" algn="ctr">
                      <a:solidFill>
                        <a:schemeClr val="bg1">
                          <a:lumMod val="75000"/>
                        </a:schemeClr>
                      </a:solidFill>
                      <a:prstDash val="sysDash"/>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12723778"/>
                  </a:ext>
                </a:extLst>
              </a:tr>
              <a:tr h="370840">
                <a:tc>
                  <a:txBody>
                    <a:bodyPr/>
                    <a:lstStyle/>
                    <a:p>
                      <a:r>
                        <a:rPr lang="en-US" sz="1000">
                          <a:solidFill>
                            <a:schemeClr val="tx2"/>
                          </a:solidFill>
                        </a:rPr>
                        <a:t>BGB-58067</a:t>
                      </a:r>
                    </a:p>
                  </a:txBody>
                  <a:tcPr anchor="ct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solidFill>
                      <a:schemeClr val="bg1"/>
                    </a:solidFill>
                  </a:tcPr>
                </a:tc>
                <a:tc>
                  <a:txBody>
                    <a:bodyPr/>
                    <a:lstStyle/>
                    <a:p>
                      <a:endParaRPr lang="en-US" sz="1000">
                        <a:solidFill>
                          <a:schemeClr val="tx2"/>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solidFill>
                      <a:schemeClr val="bg1"/>
                    </a:solidFill>
                  </a:tcPr>
                </a:tc>
                <a:tc>
                  <a:txBody>
                    <a:bodyPr/>
                    <a:lstStyle/>
                    <a:p>
                      <a:endParaRPr lang="en-US" sz="1000">
                        <a:solidFill>
                          <a:schemeClr val="tx2"/>
                        </a:solidFill>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solidFill>
                      <a:schemeClr val="bg1"/>
                    </a:solidFill>
                  </a:tcPr>
                </a:tc>
                <a:tc>
                  <a:txBody>
                    <a:bodyPr/>
                    <a:lstStyle/>
                    <a:p>
                      <a:endParaRPr lang="en-US" sz="1000">
                        <a:solidFill>
                          <a:schemeClr val="tx2"/>
                        </a:solidFill>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solidFill>
                      <a:schemeClr val="bg1"/>
                    </a:solidFill>
                  </a:tcPr>
                </a:tc>
                <a:tc>
                  <a:txBody>
                    <a:bodyPr/>
                    <a:lstStyle/>
                    <a:p>
                      <a:r>
                        <a:rPr lang="en-US" sz="1000">
                          <a:solidFill>
                            <a:schemeClr val="tx2"/>
                          </a:solidFill>
                        </a:rPr>
                        <a:t>MTAP-del NSCLC</a:t>
                      </a:r>
                    </a:p>
                  </a:txBody>
                  <a:tcPr anchor="ctr">
                    <a:lnL w="12700" cap="flat" cmpd="sng" algn="ctr">
                      <a:solidFill>
                        <a:schemeClr val="bg1">
                          <a:lumMod val="75000"/>
                        </a:schemeClr>
                      </a:solidFill>
                      <a:prstDash val="sysDash"/>
                      <a:round/>
                      <a:headEnd type="none" w="med" len="med"/>
                      <a:tailEnd type="none" w="med" len="med"/>
                    </a:lnL>
                    <a:lnT w="12700" cap="flat" cmpd="sng" algn="ctr">
                      <a:solidFill>
                        <a:schemeClr val="bg1">
                          <a:lumMod val="7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3941555112"/>
                  </a:ext>
                </a:extLst>
              </a:tr>
            </a:tbl>
          </a:graphicData>
        </a:graphic>
      </p:graphicFrame>
      <p:sp>
        <p:nvSpPr>
          <p:cNvPr id="34" name="Rectangle: Rounded Corners 33">
            <a:extLst>
              <a:ext uri="{FF2B5EF4-FFF2-40B4-BE49-F238E27FC236}">
                <a16:creationId xmlns:a16="http://schemas.microsoft.com/office/drawing/2014/main" id="{BEA6A258-4FC9-562C-E7EB-EF31F65410C0}"/>
              </a:ext>
            </a:extLst>
          </p:cNvPr>
          <p:cNvSpPr/>
          <p:nvPr/>
        </p:nvSpPr>
        <p:spPr>
          <a:xfrm>
            <a:off x="483172" y="5216671"/>
            <a:ext cx="4636654" cy="913459"/>
          </a:xfrm>
          <a:prstGeom prst="roundRect">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822960" rIns="0" rtlCol="0" anchor="ctr">
            <a:noAutofit/>
          </a:bodyPr>
          <a:lstStyle/>
          <a:p>
            <a:r>
              <a:rPr lang="en-US" sz="1100" b="1">
                <a:solidFill>
                  <a:schemeClr val="bg1"/>
                </a:solidFill>
              </a:rPr>
              <a:t>Strategic Implication</a:t>
            </a:r>
          </a:p>
          <a:p>
            <a:r>
              <a:rPr lang="en-US" sz="1100">
                <a:solidFill>
                  <a:schemeClr val="bg1"/>
                </a:solidFill>
              </a:rPr>
              <a:t>As BGB-58067 enters an increasingly competitive and maturing PRMT5i landscape, it is unlikely to be first-to-market, highlighting a need for clear evidence backed differentiation</a:t>
            </a:r>
          </a:p>
        </p:txBody>
      </p:sp>
      <p:sp>
        <p:nvSpPr>
          <p:cNvPr id="35" name="Arrow: Pentagon 34">
            <a:extLst>
              <a:ext uri="{FF2B5EF4-FFF2-40B4-BE49-F238E27FC236}">
                <a16:creationId xmlns:a16="http://schemas.microsoft.com/office/drawing/2014/main" id="{E923983B-F4BD-5B0A-8995-33E96D7E96CD}"/>
              </a:ext>
            </a:extLst>
          </p:cNvPr>
          <p:cNvSpPr/>
          <p:nvPr/>
        </p:nvSpPr>
        <p:spPr>
          <a:xfrm>
            <a:off x="1627632" y="3645720"/>
            <a:ext cx="877824" cy="118872"/>
          </a:xfrm>
          <a:prstGeom prst="homePlat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37" name="Arrow: Pentagon 36">
            <a:extLst>
              <a:ext uri="{FF2B5EF4-FFF2-40B4-BE49-F238E27FC236}">
                <a16:creationId xmlns:a16="http://schemas.microsoft.com/office/drawing/2014/main" id="{906FABC2-58E3-4E5C-7F7B-B662A3A73297}"/>
              </a:ext>
            </a:extLst>
          </p:cNvPr>
          <p:cNvSpPr/>
          <p:nvPr/>
        </p:nvSpPr>
        <p:spPr>
          <a:xfrm>
            <a:off x="1627632" y="4129853"/>
            <a:ext cx="576072" cy="120722"/>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39" name="Arrow: Pentagon 38">
            <a:extLst>
              <a:ext uri="{FF2B5EF4-FFF2-40B4-BE49-F238E27FC236}">
                <a16:creationId xmlns:a16="http://schemas.microsoft.com/office/drawing/2014/main" id="{444F1150-AF50-38CB-2A16-54DF4E9D0C14}"/>
              </a:ext>
            </a:extLst>
          </p:cNvPr>
          <p:cNvSpPr/>
          <p:nvPr/>
        </p:nvSpPr>
        <p:spPr>
          <a:xfrm>
            <a:off x="1623336" y="4882509"/>
            <a:ext cx="564750" cy="118872"/>
          </a:xfrm>
          <a:prstGeom prst="homePlat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41" name="Arrow: Pentagon 40">
            <a:extLst>
              <a:ext uri="{FF2B5EF4-FFF2-40B4-BE49-F238E27FC236}">
                <a16:creationId xmlns:a16="http://schemas.microsoft.com/office/drawing/2014/main" id="{0EF03022-2399-1415-98A7-3B8485FD48C1}"/>
              </a:ext>
            </a:extLst>
          </p:cNvPr>
          <p:cNvSpPr/>
          <p:nvPr/>
        </p:nvSpPr>
        <p:spPr>
          <a:xfrm>
            <a:off x="1627632" y="4506353"/>
            <a:ext cx="576072" cy="118872"/>
          </a:xfrm>
          <a:prstGeom prst="homePlat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43" name="Arrow: Pentagon 42">
            <a:extLst>
              <a:ext uri="{FF2B5EF4-FFF2-40B4-BE49-F238E27FC236}">
                <a16:creationId xmlns:a16="http://schemas.microsoft.com/office/drawing/2014/main" id="{ED0C3796-CB63-2BA1-CD6C-388356A23701}"/>
              </a:ext>
            </a:extLst>
          </p:cNvPr>
          <p:cNvSpPr/>
          <p:nvPr/>
        </p:nvSpPr>
        <p:spPr>
          <a:xfrm>
            <a:off x="1627632" y="3779277"/>
            <a:ext cx="1188720" cy="120722"/>
          </a:xfrm>
          <a:prstGeom prst="homePlat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grpSp>
        <p:nvGrpSpPr>
          <p:cNvPr id="72" name="Group 71">
            <a:extLst>
              <a:ext uri="{FF2B5EF4-FFF2-40B4-BE49-F238E27FC236}">
                <a16:creationId xmlns:a16="http://schemas.microsoft.com/office/drawing/2014/main" id="{92171ECD-1CCC-07B9-338C-D104ACE7A2C3}"/>
              </a:ext>
            </a:extLst>
          </p:cNvPr>
          <p:cNvGrpSpPr/>
          <p:nvPr/>
        </p:nvGrpSpPr>
        <p:grpSpPr>
          <a:xfrm>
            <a:off x="577381" y="2452748"/>
            <a:ext cx="4448236" cy="358213"/>
            <a:chOff x="577381" y="2655940"/>
            <a:chExt cx="4448236" cy="358213"/>
          </a:xfrm>
        </p:grpSpPr>
        <p:sp>
          <p:nvSpPr>
            <p:cNvPr id="27" name="Rectangle 26">
              <a:extLst>
                <a:ext uri="{FF2B5EF4-FFF2-40B4-BE49-F238E27FC236}">
                  <a16:creationId xmlns:a16="http://schemas.microsoft.com/office/drawing/2014/main" id="{B9B9A90C-5001-CC9F-67FC-1D43A9B7A392}"/>
                </a:ext>
              </a:extLst>
            </p:cNvPr>
            <p:cNvSpPr/>
            <p:nvPr/>
          </p:nvSpPr>
          <p:spPr>
            <a:xfrm>
              <a:off x="577384" y="2655940"/>
              <a:ext cx="4448233" cy="3582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r>
                <a:rPr lang="en-US" sz="1100" b="1">
                  <a:solidFill>
                    <a:schemeClr val="tx2"/>
                  </a:solidFill>
                </a:rPr>
                <a:t>Current Competitive Landscape*</a:t>
              </a:r>
            </a:p>
          </p:txBody>
        </p:sp>
        <p:cxnSp>
          <p:nvCxnSpPr>
            <p:cNvPr id="45" name="Straight Connector 44">
              <a:extLst>
                <a:ext uri="{FF2B5EF4-FFF2-40B4-BE49-F238E27FC236}">
                  <a16:creationId xmlns:a16="http://schemas.microsoft.com/office/drawing/2014/main" id="{F8E5F950-7BA1-8AFA-3450-533F03443CCF}"/>
                </a:ext>
              </a:extLst>
            </p:cNvPr>
            <p:cNvCxnSpPr/>
            <p:nvPr/>
          </p:nvCxnSpPr>
          <p:spPr>
            <a:xfrm>
              <a:off x="577381" y="2835564"/>
              <a:ext cx="1005840"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AA7A9F0-2949-9BF3-EC9E-E0CE8F7AF4C2}"/>
                </a:ext>
              </a:extLst>
            </p:cNvPr>
            <p:cNvCxnSpPr>
              <a:cxnSpLocks/>
            </p:cNvCxnSpPr>
            <p:nvPr/>
          </p:nvCxnSpPr>
          <p:spPr>
            <a:xfrm flipV="1">
              <a:off x="4008474" y="2835046"/>
              <a:ext cx="988399" cy="518"/>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73" name="Group 72">
            <a:extLst>
              <a:ext uri="{FF2B5EF4-FFF2-40B4-BE49-F238E27FC236}">
                <a16:creationId xmlns:a16="http://schemas.microsoft.com/office/drawing/2014/main" id="{8D6EC86C-D9E2-367E-1FAB-420FB1E12F70}"/>
              </a:ext>
            </a:extLst>
          </p:cNvPr>
          <p:cNvGrpSpPr/>
          <p:nvPr/>
        </p:nvGrpSpPr>
        <p:grpSpPr>
          <a:xfrm>
            <a:off x="583846" y="1803393"/>
            <a:ext cx="649224" cy="649224"/>
            <a:chOff x="583846" y="1969641"/>
            <a:chExt cx="649224" cy="649224"/>
          </a:xfrm>
        </p:grpSpPr>
        <p:sp>
          <p:nvSpPr>
            <p:cNvPr id="15" name="Oval 14">
              <a:extLst>
                <a:ext uri="{FF2B5EF4-FFF2-40B4-BE49-F238E27FC236}">
                  <a16:creationId xmlns:a16="http://schemas.microsoft.com/office/drawing/2014/main" id="{CFD1D5C3-03C0-716E-76A3-98B68E1135C5}"/>
                </a:ext>
              </a:extLst>
            </p:cNvPr>
            <p:cNvSpPr>
              <a:spLocks noChangeAspect="1"/>
            </p:cNvSpPr>
            <p:nvPr/>
          </p:nvSpPr>
          <p:spPr>
            <a:xfrm>
              <a:off x="583846" y="1969641"/>
              <a:ext cx="649224" cy="649224"/>
            </a:xfrm>
            <a:prstGeom prst="ellipse">
              <a:avLst/>
            </a:prstGeom>
            <a:solidFill>
              <a:schemeClr val="accent3">
                <a:lumMod val="60000"/>
                <a:lumOff val="40000"/>
              </a:schemeClr>
            </a:solidFill>
            <a:ln w="127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pic>
          <p:nvPicPr>
            <p:cNvPr id="48" name="Graphic 28">
              <a:extLst>
                <a:ext uri="{FF2B5EF4-FFF2-40B4-BE49-F238E27FC236}">
                  <a16:creationId xmlns:a16="http://schemas.microsoft.com/office/drawing/2014/main" id="{86AA4B2F-0620-51AC-2F6D-B04421DDF239}"/>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692196" y="2080150"/>
              <a:ext cx="432525" cy="428206"/>
            </a:xfrm>
            <a:prstGeom prst="rect">
              <a:avLst/>
            </a:prstGeom>
          </p:spPr>
        </p:pic>
      </p:grpSp>
      <p:grpSp>
        <p:nvGrpSpPr>
          <p:cNvPr id="74" name="Group 73">
            <a:extLst>
              <a:ext uri="{FF2B5EF4-FFF2-40B4-BE49-F238E27FC236}">
                <a16:creationId xmlns:a16="http://schemas.microsoft.com/office/drawing/2014/main" id="{170EC9C1-7EA4-13D2-75F2-4FB8CED06643}"/>
              </a:ext>
            </a:extLst>
          </p:cNvPr>
          <p:cNvGrpSpPr/>
          <p:nvPr/>
        </p:nvGrpSpPr>
        <p:grpSpPr>
          <a:xfrm>
            <a:off x="583846" y="5348552"/>
            <a:ext cx="649224" cy="649224"/>
            <a:chOff x="644183" y="5496186"/>
            <a:chExt cx="492494" cy="492494"/>
          </a:xfrm>
        </p:grpSpPr>
        <p:sp>
          <p:nvSpPr>
            <p:cNvPr id="54" name="Oval 53">
              <a:extLst>
                <a:ext uri="{FF2B5EF4-FFF2-40B4-BE49-F238E27FC236}">
                  <a16:creationId xmlns:a16="http://schemas.microsoft.com/office/drawing/2014/main" id="{D6084D54-290A-FF0B-CFE8-54E19ABE2B28}"/>
                </a:ext>
              </a:extLst>
            </p:cNvPr>
            <p:cNvSpPr>
              <a:spLocks noChangeAspect="1"/>
            </p:cNvSpPr>
            <p:nvPr/>
          </p:nvSpPr>
          <p:spPr>
            <a:xfrm>
              <a:off x="644183" y="5496186"/>
              <a:ext cx="492494" cy="492494"/>
            </a:xfrm>
            <a:prstGeom prst="ellipse">
              <a:avLst/>
            </a:prstGeom>
            <a:solidFill>
              <a:schemeClr val="bg1"/>
            </a:solidFill>
            <a:ln w="127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pic>
          <p:nvPicPr>
            <p:cNvPr id="52" name="Graphic 51" descr="Target with solid fill">
              <a:extLst>
                <a:ext uri="{FF2B5EF4-FFF2-40B4-BE49-F238E27FC236}">
                  <a16:creationId xmlns:a16="http://schemas.microsoft.com/office/drawing/2014/main" id="{247EEDB4-F955-AFF4-FFA5-F4D32691B27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61830" y="5513833"/>
              <a:ext cx="457200" cy="457200"/>
            </a:xfrm>
            <a:prstGeom prst="rect">
              <a:avLst/>
            </a:prstGeom>
          </p:spPr>
        </p:pic>
      </p:grpSp>
      <p:sp>
        <p:nvSpPr>
          <p:cNvPr id="60" name="Rectangle: Rounded Corners 59">
            <a:extLst>
              <a:ext uri="{FF2B5EF4-FFF2-40B4-BE49-F238E27FC236}">
                <a16:creationId xmlns:a16="http://schemas.microsoft.com/office/drawing/2014/main" id="{EA9ADC3E-3382-547B-2217-430201E9F04A}"/>
              </a:ext>
            </a:extLst>
          </p:cNvPr>
          <p:cNvSpPr/>
          <p:nvPr/>
        </p:nvSpPr>
        <p:spPr>
          <a:xfrm>
            <a:off x="7129575" y="1637955"/>
            <a:ext cx="1463040" cy="189858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t">
            <a:noAutofit/>
          </a:bodyPr>
          <a:lstStyle/>
          <a:p>
            <a:pPr algn="ctr"/>
            <a:r>
              <a:rPr lang="en-US" sz="1100" b="1">
                <a:solidFill>
                  <a:schemeClr val="tx2"/>
                </a:solidFill>
              </a:rPr>
              <a:t>Establish</a:t>
            </a:r>
          </a:p>
          <a:p>
            <a:pPr algn="ctr"/>
            <a:endParaRPr lang="en-US" sz="1100">
              <a:solidFill>
                <a:schemeClr val="tx1"/>
              </a:solidFill>
            </a:endParaRPr>
          </a:p>
          <a:p>
            <a:pPr algn="ctr"/>
            <a:endParaRPr lang="en-US" sz="1100">
              <a:solidFill>
                <a:schemeClr val="tx1"/>
              </a:solidFill>
            </a:endParaRPr>
          </a:p>
          <a:p>
            <a:pPr algn="ctr"/>
            <a:endParaRPr lang="en-US" sz="1100">
              <a:solidFill>
                <a:schemeClr val="tx1"/>
              </a:solidFill>
            </a:endParaRPr>
          </a:p>
          <a:p>
            <a:pPr algn="ctr"/>
            <a:endParaRPr lang="en-US" sz="1100">
              <a:solidFill>
                <a:schemeClr val="tx1"/>
              </a:solidFill>
            </a:endParaRPr>
          </a:p>
          <a:p>
            <a:pPr algn="ctr"/>
            <a:r>
              <a:rPr lang="en-US" sz="1100">
                <a:solidFill>
                  <a:schemeClr val="tx2"/>
                </a:solidFill>
              </a:rPr>
              <a:t>Anchor development in NSCLC, a high-opportunity MTAP-deleted indication</a:t>
            </a:r>
          </a:p>
        </p:txBody>
      </p:sp>
      <p:sp>
        <p:nvSpPr>
          <p:cNvPr id="62" name="Rectangle: Rounded Corners 61">
            <a:extLst>
              <a:ext uri="{FF2B5EF4-FFF2-40B4-BE49-F238E27FC236}">
                <a16:creationId xmlns:a16="http://schemas.microsoft.com/office/drawing/2014/main" id="{B48A1A69-120B-52AC-21D1-46A09696BD50}"/>
              </a:ext>
            </a:extLst>
          </p:cNvPr>
          <p:cNvSpPr/>
          <p:nvPr/>
        </p:nvSpPr>
        <p:spPr>
          <a:xfrm>
            <a:off x="8625435" y="1637955"/>
            <a:ext cx="1723784" cy="189858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5720" rIns="0" bIns="45720" rtlCol="0" anchor="t">
            <a:noAutofit/>
          </a:bodyPr>
          <a:lstStyle/>
          <a:p>
            <a:pPr algn="ctr"/>
            <a:r>
              <a:rPr lang="en-US" sz="1100" b="1">
                <a:solidFill>
                  <a:schemeClr val="tx2"/>
                </a:solidFill>
              </a:rPr>
              <a:t>Accelerate</a:t>
            </a:r>
          </a:p>
          <a:p>
            <a:pPr algn="ctr"/>
            <a:endParaRPr lang="en-US" sz="1100">
              <a:solidFill>
                <a:schemeClr val="tx1"/>
              </a:solidFill>
            </a:endParaRPr>
          </a:p>
          <a:p>
            <a:pPr algn="ctr"/>
            <a:endParaRPr lang="en-US" sz="1100">
              <a:solidFill>
                <a:schemeClr val="tx1"/>
              </a:solidFill>
            </a:endParaRPr>
          </a:p>
          <a:p>
            <a:pPr algn="ctr"/>
            <a:endParaRPr lang="en-US" sz="1100">
              <a:solidFill>
                <a:schemeClr val="tx1"/>
              </a:solidFill>
            </a:endParaRPr>
          </a:p>
          <a:p>
            <a:pPr algn="ctr"/>
            <a:endParaRPr lang="en-US" sz="1100">
              <a:solidFill>
                <a:schemeClr val="tx1"/>
              </a:solidFill>
            </a:endParaRPr>
          </a:p>
          <a:p>
            <a:pPr algn="ctr"/>
            <a:r>
              <a:rPr lang="en-US" sz="1100">
                <a:solidFill>
                  <a:schemeClr val="tx2"/>
                </a:solidFill>
              </a:rPr>
              <a:t>Achieve 1L timeline parity with BMS through an accelerated development strategy</a:t>
            </a:r>
          </a:p>
        </p:txBody>
      </p:sp>
      <p:sp>
        <p:nvSpPr>
          <p:cNvPr id="64" name="Rectangle: Rounded Corners 63">
            <a:extLst>
              <a:ext uri="{FF2B5EF4-FFF2-40B4-BE49-F238E27FC236}">
                <a16:creationId xmlns:a16="http://schemas.microsoft.com/office/drawing/2014/main" id="{6AFA6570-BBBD-A3F0-DCAC-72F8285F87F7}"/>
              </a:ext>
            </a:extLst>
          </p:cNvPr>
          <p:cNvSpPr/>
          <p:nvPr/>
        </p:nvSpPr>
        <p:spPr>
          <a:xfrm>
            <a:off x="10332523" y="1637955"/>
            <a:ext cx="1463040" cy="189858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t">
            <a:noAutofit/>
          </a:bodyPr>
          <a:lstStyle/>
          <a:p>
            <a:pPr algn="ctr"/>
            <a:r>
              <a:rPr lang="en-US" sz="1100" b="1">
                <a:solidFill>
                  <a:schemeClr val="tx2"/>
                </a:solidFill>
              </a:rPr>
              <a:t>Extend</a:t>
            </a:r>
          </a:p>
          <a:p>
            <a:pPr algn="ctr"/>
            <a:endParaRPr lang="en-US" sz="1100">
              <a:solidFill>
                <a:schemeClr val="tx1"/>
              </a:solidFill>
            </a:endParaRPr>
          </a:p>
          <a:p>
            <a:pPr algn="ctr"/>
            <a:endParaRPr lang="en-US" sz="1100">
              <a:solidFill>
                <a:schemeClr val="tx1"/>
              </a:solidFill>
            </a:endParaRPr>
          </a:p>
          <a:p>
            <a:pPr algn="ctr"/>
            <a:endParaRPr lang="en-US" sz="1100">
              <a:solidFill>
                <a:schemeClr val="tx1"/>
              </a:solidFill>
            </a:endParaRPr>
          </a:p>
          <a:p>
            <a:pPr algn="ctr"/>
            <a:endParaRPr lang="en-US" sz="1100">
              <a:solidFill>
                <a:schemeClr val="tx1"/>
              </a:solidFill>
            </a:endParaRPr>
          </a:p>
          <a:p>
            <a:pPr algn="ctr"/>
            <a:r>
              <a:rPr lang="en-US" sz="1100">
                <a:solidFill>
                  <a:schemeClr val="tx2"/>
                </a:solidFill>
              </a:rPr>
              <a:t>Expand value through selective combinations with SoC or novel drugs</a:t>
            </a:r>
          </a:p>
        </p:txBody>
      </p:sp>
      <p:sp>
        <p:nvSpPr>
          <p:cNvPr id="66" name="Rectangle: Rounded Corners 65">
            <a:extLst>
              <a:ext uri="{FF2B5EF4-FFF2-40B4-BE49-F238E27FC236}">
                <a16:creationId xmlns:a16="http://schemas.microsoft.com/office/drawing/2014/main" id="{8468DBE4-BC96-423E-2E0B-108243F394EE}"/>
              </a:ext>
            </a:extLst>
          </p:cNvPr>
          <p:cNvSpPr/>
          <p:nvPr/>
        </p:nvSpPr>
        <p:spPr>
          <a:xfrm>
            <a:off x="5528101" y="1637955"/>
            <a:ext cx="1463040" cy="189858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t">
            <a:noAutofit/>
          </a:bodyPr>
          <a:lstStyle/>
          <a:p>
            <a:pPr algn="ctr"/>
            <a:r>
              <a:rPr lang="en-US" sz="1100" b="1">
                <a:solidFill>
                  <a:schemeClr val="tx2"/>
                </a:solidFill>
              </a:rPr>
              <a:t>Differentiate</a:t>
            </a:r>
          </a:p>
          <a:p>
            <a:pPr algn="ctr"/>
            <a:endParaRPr lang="en-US" sz="1100">
              <a:solidFill>
                <a:schemeClr val="tx1"/>
              </a:solidFill>
            </a:endParaRPr>
          </a:p>
          <a:p>
            <a:pPr algn="ctr"/>
            <a:endParaRPr lang="en-US" sz="1100">
              <a:solidFill>
                <a:schemeClr val="tx1"/>
              </a:solidFill>
            </a:endParaRPr>
          </a:p>
          <a:p>
            <a:pPr algn="ctr"/>
            <a:endParaRPr lang="en-US" sz="1100">
              <a:solidFill>
                <a:schemeClr val="tx1"/>
              </a:solidFill>
            </a:endParaRPr>
          </a:p>
          <a:p>
            <a:pPr algn="ctr"/>
            <a:endParaRPr lang="en-US" sz="1100">
              <a:solidFill>
                <a:schemeClr val="tx1"/>
              </a:solidFill>
            </a:endParaRPr>
          </a:p>
          <a:p>
            <a:pPr algn="ctr"/>
            <a:r>
              <a:rPr lang="en-US" sz="1100">
                <a:solidFill>
                  <a:schemeClr val="tx2"/>
                </a:solidFill>
              </a:rPr>
              <a:t>Potential best-in-class brain penetration to treat CNS disease</a:t>
            </a:r>
          </a:p>
        </p:txBody>
      </p:sp>
      <p:sp>
        <p:nvSpPr>
          <p:cNvPr id="75" name="Rectangle 74">
            <a:extLst>
              <a:ext uri="{FF2B5EF4-FFF2-40B4-BE49-F238E27FC236}">
                <a16:creationId xmlns:a16="http://schemas.microsoft.com/office/drawing/2014/main" id="{D7303323-9D2D-1025-37C3-B8DF4336F6B0}"/>
              </a:ext>
            </a:extLst>
          </p:cNvPr>
          <p:cNvSpPr/>
          <p:nvPr/>
        </p:nvSpPr>
        <p:spPr>
          <a:xfrm>
            <a:off x="5829305" y="4299077"/>
            <a:ext cx="1357745" cy="9478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b">
            <a:normAutofit/>
          </a:bodyPr>
          <a:lstStyle/>
          <a:p>
            <a:pPr algn="ctr"/>
            <a:r>
              <a:rPr lang="en-US" sz="1000" b="1">
                <a:solidFill>
                  <a:schemeClr val="accent5"/>
                </a:solidFill>
              </a:rPr>
              <a:t>Differentiation by asset strategy</a:t>
            </a:r>
          </a:p>
        </p:txBody>
      </p:sp>
      <p:sp>
        <p:nvSpPr>
          <p:cNvPr id="77" name="Rectangle 76">
            <a:extLst>
              <a:ext uri="{FF2B5EF4-FFF2-40B4-BE49-F238E27FC236}">
                <a16:creationId xmlns:a16="http://schemas.microsoft.com/office/drawing/2014/main" id="{B224D596-82FE-A105-F288-184473C7358C}"/>
              </a:ext>
            </a:extLst>
          </p:cNvPr>
          <p:cNvSpPr/>
          <p:nvPr/>
        </p:nvSpPr>
        <p:spPr>
          <a:xfrm>
            <a:off x="7267690" y="4303340"/>
            <a:ext cx="1357745" cy="9436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b">
            <a:normAutofit/>
          </a:bodyPr>
          <a:lstStyle/>
          <a:p>
            <a:pPr algn="ctr"/>
            <a:r>
              <a:rPr lang="en-US" sz="1000" b="1">
                <a:solidFill>
                  <a:schemeClr val="accent4"/>
                </a:solidFill>
              </a:rPr>
              <a:t>Biomarker-driven patient selection</a:t>
            </a:r>
          </a:p>
        </p:txBody>
      </p:sp>
      <p:sp>
        <p:nvSpPr>
          <p:cNvPr id="79" name="Rectangle 78">
            <a:extLst>
              <a:ext uri="{FF2B5EF4-FFF2-40B4-BE49-F238E27FC236}">
                <a16:creationId xmlns:a16="http://schemas.microsoft.com/office/drawing/2014/main" id="{925BBA19-9828-018E-040E-E9DBD2E55FE3}"/>
              </a:ext>
            </a:extLst>
          </p:cNvPr>
          <p:cNvSpPr/>
          <p:nvPr/>
        </p:nvSpPr>
        <p:spPr>
          <a:xfrm>
            <a:off x="8706075" y="4299543"/>
            <a:ext cx="1357745" cy="9436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b">
            <a:normAutofit/>
          </a:bodyPr>
          <a:lstStyle/>
          <a:p>
            <a:pPr algn="ctr"/>
            <a:r>
              <a:rPr lang="en-US" sz="1000" b="1">
                <a:solidFill>
                  <a:schemeClr val="accent2">
                    <a:lumMod val="50000"/>
                    <a:lumOff val="50000"/>
                  </a:schemeClr>
                </a:solidFill>
              </a:rPr>
              <a:t>Combination and sequencing clarity</a:t>
            </a:r>
          </a:p>
        </p:txBody>
      </p:sp>
      <p:sp>
        <p:nvSpPr>
          <p:cNvPr id="81" name="Rectangle 80">
            <a:extLst>
              <a:ext uri="{FF2B5EF4-FFF2-40B4-BE49-F238E27FC236}">
                <a16:creationId xmlns:a16="http://schemas.microsoft.com/office/drawing/2014/main" id="{48AB0707-FBF8-F93C-A7E8-8C06FFD10EF1}"/>
              </a:ext>
            </a:extLst>
          </p:cNvPr>
          <p:cNvSpPr/>
          <p:nvPr/>
        </p:nvSpPr>
        <p:spPr>
          <a:xfrm>
            <a:off x="10144459" y="4299077"/>
            <a:ext cx="1357745" cy="9436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b">
            <a:normAutofit/>
          </a:bodyPr>
          <a:lstStyle/>
          <a:p>
            <a:pPr algn="ctr"/>
            <a:r>
              <a:rPr lang="en-US" sz="1000" b="1">
                <a:solidFill>
                  <a:schemeClr val="accent3"/>
                </a:solidFill>
              </a:rPr>
              <a:t>Future-proofing against resistance</a:t>
            </a:r>
          </a:p>
        </p:txBody>
      </p:sp>
      <p:sp>
        <p:nvSpPr>
          <p:cNvPr id="83" name="Rectangle: Rounded Corners 82">
            <a:extLst>
              <a:ext uri="{FF2B5EF4-FFF2-40B4-BE49-F238E27FC236}">
                <a16:creationId xmlns:a16="http://schemas.microsoft.com/office/drawing/2014/main" id="{A6C1A0E6-C149-284B-527C-2B1425CC1B73}"/>
              </a:ext>
            </a:extLst>
          </p:cNvPr>
          <p:cNvSpPr/>
          <p:nvPr/>
        </p:nvSpPr>
        <p:spPr>
          <a:xfrm>
            <a:off x="5566201" y="5282381"/>
            <a:ext cx="6159074" cy="850871"/>
          </a:xfrm>
          <a:prstGeom prst="roundRect">
            <a:avLst/>
          </a:prstGeom>
          <a:solidFill>
            <a:schemeClr val="accent2"/>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8640" rIns="0" rtlCol="0" anchor="ctr">
            <a:noAutofit/>
          </a:bodyPr>
          <a:lstStyle/>
          <a:p>
            <a:r>
              <a:rPr lang="en-US" sz="1100" b="1" i="1">
                <a:solidFill>
                  <a:schemeClr val="bg1"/>
                </a:solidFill>
              </a:rPr>
              <a:t>Without differentiation</a:t>
            </a:r>
            <a:r>
              <a:rPr lang="en-US" sz="1100" i="1">
                <a:solidFill>
                  <a:schemeClr val="bg1"/>
                </a:solidFill>
              </a:rPr>
              <a:t>, BGB-58067 faces significant </a:t>
            </a:r>
            <a:r>
              <a:rPr lang="en-US" sz="1100" b="1" i="1">
                <a:solidFill>
                  <a:schemeClr val="bg1"/>
                </a:solidFill>
              </a:rPr>
              <a:t>access, reimbursement, and adoption barriers</a:t>
            </a:r>
            <a:r>
              <a:rPr lang="en-US" sz="1100" i="1">
                <a:solidFill>
                  <a:schemeClr val="bg1"/>
                </a:solidFill>
              </a:rPr>
              <a:t>. The IEP </a:t>
            </a:r>
            <a:r>
              <a:rPr lang="en-US" sz="1100" b="1" i="1">
                <a:solidFill>
                  <a:schemeClr val="bg1"/>
                </a:solidFill>
              </a:rPr>
              <a:t>prioritizes evidence </a:t>
            </a:r>
            <a:r>
              <a:rPr lang="en-US" sz="1100" i="1">
                <a:solidFill>
                  <a:schemeClr val="bg1"/>
                </a:solidFill>
              </a:rPr>
              <a:t>establishing the asset’s </a:t>
            </a:r>
            <a:r>
              <a:rPr lang="en-US" sz="1100" b="1" i="1">
                <a:solidFill>
                  <a:schemeClr val="bg1"/>
                </a:solidFill>
              </a:rPr>
              <a:t>differentiated CNS benefit and best-in-class potential.</a:t>
            </a:r>
          </a:p>
        </p:txBody>
      </p:sp>
      <p:pic>
        <p:nvPicPr>
          <p:cNvPr id="92" name="Graphic 91">
            <a:extLst>
              <a:ext uri="{FF2B5EF4-FFF2-40B4-BE49-F238E27FC236}">
                <a16:creationId xmlns:a16="http://schemas.microsoft.com/office/drawing/2014/main" id="{B1892B27-19B0-5E5E-148C-EB0ACBEA2C6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985301" y="1983555"/>
            <a:ext cx="548640" cy="548640"/>
          </a:xfrm>
          <a:prstGeom prst="rect">
            <a:avLst/>
          </a:prstGeom>
        </p:spPr>
      </p:pic>
      <p:pic>
        <p:nvPicPr>
          <p:cNvPr id="93" name="Graphic 92">
            <a:extLst>
              <a:ext uri="{FF2B5EF4-FFF2-40B4-BE49-F238E27FC236}">
                <a16:creationId xmlns:a16="http://schemas.microsoft.com/office/drawing/2014/main" id="{6D223D7D-A40D-4511-43ED-EBDD438D424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586775" y="1983555"/>
            <a:ext cx="548640" cy="548640"/>
          </a:xfrm>
          <a:prstGeom prst="rect">
            <a:avLst/>
          </a:prstGeom>
        </p:spPr>
      </p:pic>
      <p:pic>
        <p:nvPicPr>
          <p:cNvPr id="94" name="Graphic 93">
            <a:extLst>
              <a:ext uri="{FF2B5EF4-FFF2-40B4-BE49-F238E27FC236}">
                <a16:creationId xmlns:a16="http://schemas.microsoft.com/office/drawing/2014/main" id="{FE179582-2290-49BF-000D-B293FF9718D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171176" y="1983555"/>
            <a:ext cx="548640" cy="548640"/>
          </a:xfrm>
          <a:prstGeom prst="rect">
            <a:avLst/>
          </a:prstGeom>
        </p:spPr>
      </p:pic>
      <p:pic>
        <p:nvPicPr>
          <p:cNvPr id="98" name="Graphic 97">
            <a:extLst>
              <a:ext uri="{FF2B5EF4-FFF2-40B4-BE49-F238E27FC236}">
                <a16:creationId xmlns:a16="http://schemas.microsoft.com/office/drawing/2014/main" id="{D7BCDA31-EB51-269C-A8D9-7F7F1723055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789723" y="1983555"/>
            <a:ext cx="548640" cy="548640"/>
          </a:xfrm>
          <a:prstGeom prst="rect">
            <a:avLst/>
          </a:prstGeom>
        </p:spPr>
      </p:pic>
      <p:cxnSp>
        <p:nvCxnSpPr>
          <p:cNvPr id="100" name="Straight Connector 99">
            <a:extLst>
              <a:ext uri="{FF2B5EF4-FFF2-40B4-BE49-F238E27FC236}">
                <a16:creationId xmlns:a16="http://schemas.microsoft.com/office/drawing/2014/main" id="{D5637F3C-412F-D697-2F8A-B3A2E104CD5A}"/>
              </a:ext>
            </a:extLst>
          </p:cNvPr>
          <p:cNvCxnSpPr>
            <a:cxnSpLocks/>
          </p:cNvCxnSpPr>
          <p:nvPr/>
        </p:nvCxnSpPr>
        <p:spPr>
          <a:xfrm>
            <a:off x="7060358" y="1983555"/>
            <a:ext cx="0" cy="150864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A8EA440A-4DB5-4D5C-FF0D-C22F93D7620C}"/>
              </a:ext>
            </a:extLst>
          </p:cNvPr>
          <p:cNvCxnSpPr>
            <a:cxnSpLocks/>
          </p:cNvCxnSpPr>
          <p:nvPr/>
        </p:nvCxnSpPr>
        <p:spPr>
          <a:xfrm>
            <a:off x="8607240" y="1983555"/>
            <a:ext cx="0" cy="150864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8EDEDC40-1871-01F4-2435-B0281F90D37F}"/>
              </a:ext>
            </a:extLst>
          </p:cNvPr>
          <p:cNvCxnSpPr>
            <a:cxnSpLocks/>
          </p:cNvCxnSpPr>
          <p:nvPr/>
        </p:nvCxnSpPr>
        <p:spPr>
          <a:xfrm>
            <a:off x="10358842" y="1983555"/>
            <a:ext cx="0" cy="150864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116" name="Group 115">
            <a:extLst>
              <a:ext uri="{FF2B5EF4-FFF2-40B4-BE49-F238E27FC236}">
                <a16:creationId xmlns:a16="http://schemas.microsoft.com/office/drawing/2014/main" id="{FC3136FC-4FF0-AAA0-36AD-12397D5136E6}"/>
              </a:ext>
            </a:extLst>
          </p:cNvPr>
          <p:cNvGrpSpPr/>
          <p:nvPr/>
        </p:nvGrpSpPr>
        <p:grpSpPr>
          <a:xfrm>
            <a:off x="6183565" y="4219503"/>
            <a:ext cx="649224" cy="649224"/>
            <a:chOff x="6183565" y="4514357"/>
            <a:chExt cx="649224" cy="649224"/>
          </a:xfrm>
        </p:grpSpPr>
        <p:sp>
          <p:nvSpPr>
            <p:cNvPr id="85" name="Oval 84">
              <a:extLst>
                <a:ext uri="{FF2B5EF4-FFF2-40B4-BE49-F238E27FC236}">
                  <a16:creationId xmlns:a16="http://schemas.microsoft.com/office/drawing/2014/main" id="{41ACA448-152E-2492-20C0-8AC23299AB88}"/>
                </a:ext>
              </a:extLst>
            </p:cNvPr>
            <p:cNvSpPr>
              <a:spLocks noChangeAspect="1"/>
            </p:cNvSpPr>
            <p:nvPr/>
          </p:nvSpPr>
          <p:spPr>
            <a:xfrm>
              <a:off x="6183565" y="4514357"/>
              <a:ext cx="649224" cy="649224"/>
            </a:xfrm>
            <a:prstGeom prst="ellipse">
              <a:avLst/>
            </a:prstGeom>
            <a:solidFill>
              <a:schemeClr val="accent5"/>
            </a:solidFill>
            <a:ln w="1270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pic>
          <p:nvPicPr>
            <p:cNvPr id="106" name="Graphic 105">
              <a:extLst>
                <a:ext uri="{FF2B5EF4-FFF2-40B4-BE49-F238E27FC236}">
                  <a16:creationId xmlns:a16="http://schemas.microsoft.com/office/drawing/2014/main" id="{1FD727FE-9472-ACE7-4DF7-201AACB65FB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283059" y="4613851"/>
              <a:ext cx="450236" cy="450236"/>
            </a:xfrm>
            <a:prstGeom prst="rect">
              <a:avLst/>
            </a:prstGeom>
          </p:spPr>
        </p:pic>
      </p:grpSp>
      <p:grpSp>
        <p:nvGrpSpPr>
          <p:cNvPr id="115" name="Group 114">
            <a:extLst>
              <a:ext uri="{FF2B5EF4-FFF2-40B4-BE49-F238E27FC236}">
                <a16:creationId xmlns:a16="http://schemas.microsoft.com/office/drawing/2014/main" id="{1D19053E-141A-E247-7EFF-8FF43709E670}"/>
              </a:ext>
            </a:extLst>
          </p:cNvPr>
          <p:cNvGrpSpPr/>
          <p:nvPr/>
        </p:nvGrpSpPr>
        <p:grpSpPr>
          <a:xfrm>
            <a:off x="7621950" y="4214775"/>
            <a:ext cx="649224" cy="649224"/>
            <a:chOff x="7621950" y="4509629"/>
            <a:chExt cx="649224" cy="649224"/>
          </a:xfrm>
        </p:grpSpPr>
        <p:sp>
          <p:nvSpPr>
            <p:cNvPr id="87" name="Oval 86">
              <a:extLst>
                <a:ext uri="{FF2B5EF4-FFF2-40B4-BE49-F238E27FC236}">
                  <a16:creationId xmlns:a16="http://schemas.microsoft.com/office/drawing/2014/main" id="{2EACD728-8572-5BA0-4D9D-270F313CA2BC}"/>
                </a:ext>
              </a:extLst>
            </p:cNvPr>
            <p:cNvSpPr>
              <a:spLocks noChangeAspect="1"/>
            </p:cNvSpPr>
            <p:nvPr/>
          </p:nvSpPr>
          <p:spPr>
            <a:xfrm>
              <a:off x="7621950" y="4509629"/>
              <a:ext cx="649224" cy="649224"/>
            </a:xfrm>
            <a:prstGeom prst="ellipse">
              <a:avLst/>
            </a:prstGeom>
            <a:solidFill>
              <a:schemeClr val="accent4"/>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pic>
          <p:nvPicPr>
            <p:cNvPr id="108" name="Graphic 107">
              <a:extLst>
                <a:ext uri="{FF2B5EF4-FFF2-40B4-BE49-F238E27FC236}">
                  <a16:creationId xmlns:a16="http://schemas.microsoft.com/office/drawing/2014/main" id="{229E6466-7C69-6FEE-CEBE-AA8BD470EF75}"/>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650708" y="4556974"/>
              <a:ext cx="532413" cy="532413"/>
            </a:xfrm>
            <a:prstGeom prst="rect">
              <a:avLst/>
            </a:prstGeom>
          </p:spPr>
        </p:pic>
      </p:grpSp>
      <p:grpSp>
        <p:nvGrpSpPr>
          <p:cNvPr id="114" name="Group 113">
            <a:extLst>
              <a:ext uri="{FF2B5EF4-FFF2-40B4-BE49-F238E27FC236}">
                <a16:creationId xmlns:a16="http://schemas.microsoft.com/office/drawing/2014/main" id="{60263D33-887C-2753-9033-D15AB0F43A48}"/>
              </a:ext>
            </a:extLst>
          </p:cNvPr>
          <p:cNvGrpSpPr/>
          <p:nvPr/>
        </p:nvGrpSpPr>
        <p:grpSpPr>
          <a:xfrm>
            <a:off x="9060335" y="4214775"/>
            <a:ext cx="649224" cy="649224"/>
            <a:chOff x="9060335" y="4509629"/>
            <a:chExt cx="649224" cy="649224"/>
          </a:xfrm>
        </p:grpSpPr>
        <p:sp>
          <p:nvSpPr>
            <p:cNvPr id="89" name="Oval 88">
              <a:extLst>
                <a:ext uri="{FF2B5EF4-FFF2-40B4-BE49-F238E27FC236}">
                  <a16:creationId xmlns:a16="http://schemas.microsoft.com/office/drawing/2014/main" id="{E20487B9-F374-5028-EE4A-0E0673BFE4FF}"/>
                </a:ext>
              </a:extLst>
            </p:cNvPr>
            <p:cNvSpPr>
              <a:spLocks noChangeAspect="1"/>
            </p:cNvSpPr>
            <p:nvPr/>
          </p:nvSpPr>
          <p:spPr>
            <a:xfrm>
              <a:off x="9060335" y="4509629"/>
              <a:ext cx="649224" cy="649224"/>
            </a:xfrm>
            <a:prstGeom prst="ellipse">
              <a:avLst/>
            </a:prstGeom>
            <a:solidFill>
              <a:schemeClr val="accent2">
                <a:lumMod val="50000"/>
                <a:lumOff val="50000"/>
              </a:schemeClr>
            </a:solidFill>
            <a:ln w="12700">
              <a:solidFill>
                <a:schemeClr val="accent2">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pic>
          <p:nvPicPr>
            <p:cNvPr id="110" name="Graphic 109">
              <a:extLst>
                <a:ext uri="{FF2B5EF4-FFF2-40B4-BE49-F238E27FC236}">
                  <a16:creationId xmlns:a16="http://schemas.microsoft.com/office/drawing/2014/main" id="{E787849D-B79F-06A9-7CB5-97740BDAD783}"/>
                </a:ext>
              </a:extLst>
            </p:cNvPr>
            <p:cNvPicPr>
              <a:picLocks/>
            </p:cNvPicPr>
            <p:nvPr/>
          </p:nvPicPr>
          <p:blipFill>
            <a:blip>
              <a:extLst>
                <a:ext uri="{96DAC541-7B7A-43D3-8B79-37D633B846F1}">
                  <asvg:svgBlip xmlns:asvg="http://schemas.microsoft.com/office/drawing/2016/SVG/main" r:embed="rId15"/>
                </a:ext>
              </a:extLst>
            </a:blip>
            <a:stretch>
              <a:fillRect/>
            </a:stretch>
          </p:blipFill>
          <p:spPr>
            <a:xfrm>
              <a:off x="9110082" y="4593476"/>
              <a:ext cx="549730" cy="481530"/>
            </a:xfrm>
            <a:prstGeom prst="rect">
              <a:avLst/>
            </a:prstGeom>
          </p:spPr>
        </p:pic>
      </p:grpSp>
      <p:grpSp>
        <p:nvGrpSpPr>
          <p:cNvPr id="113" name="Group 112">
            <a:extLst>
              <a:ext uri="{FF2B5EF4-FFF2-40B4-BE49-F238E27FC236}">
                <a16:creationId xmlns:a16="http://schemas.microsoft.com/office/drawing/2014/main" id="{6C2170F1-966D-C970-EACE-5682119D4E88}"/>
              </a:ext>
            </a:extLst>
          </p:cNvPr>
          <p:cNvGrpSpPr/>
          <p:nvPr/>
        </p:nvGrpSpPr>
        <p:grpSpPr>
          <a:xfrm>
            <a:off x="10498719" y="4214775"/>
            <a:ext cx="649224" cy="649224"/>
            <a:chOff x="10498719" y="4509629"/>
            <a:chExt cx="649224" cy="649224"/>
          </a:xfrm>
        </p:grpSpPr>
        <p:sp>
          <p:nvSpPr>
            <p:cNvPr id="91" name="Oval 90">
              <a:extLst>
                <a:ext uri="{FF2B5EF4-FFF2-40B4-BE49-F238E27FC236}">
                  <a16:creationId xmlns:a16="http://schemas.microsoft.com/office/drawing/2014/main" id="{C6275AC5-6C36-822C-9D46-F263396CF000}"/>
                </a:ext>
              </a:extLst>
            </p:cNvPr>
            <p:cNvSpPr>
              <a:spLocks noChangeAspect="1"/>
            </p:cNvSpPr>
            <p:nvPr/>
          </p:nvSpPr>
          <p:spPr>
            <a:xfrm>
              <a:off x="10498719" y="4509629"/>
              <a:ext cx="649224" cy="649224"/>
            </a:xfrm>
            <a:prstGeom prst="ellipse">
              <a:avLst/>
            </a:prstGeom>
            <a:solidFill>
              <a:schemeClr val="accent3"/>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pic>
          <p:nvPicPr>
            <p:cNvPr id="112" name="Graphic 111">
              <a:extLst>
                <a:ext uri="{FF2B5EF4-FFF2-40B4-BE49-F238E27FC236}">
                  <a16:creationId xmlns:a16="http://schemas.microsoft.com/office/drawing/2014/main" id="{8E474DC5-1FAE-01FC-D723-E00A9C90BA04}"/>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0612643" y="4623553"/>
              <a:ext cx="421376" cy="421376"/>
            </a:xfrm>
            <a:prstGeom prst="rect">
              <a:avLst/>
            </a:prstGeom>
          </p:spPr>
        </p:pic>
      </p:grpSp>
      <p:cxnSp>
        <p:nvCxnSpPr>
          <p:cNvPr id="117" name="Straight Connector 116">
            <a:extLst>
              <a:ext uri="{FF2B5EF4-FFF2-40B4-BE49-F238E27FC236}">
                <a16:creationId xmlns:a16="http://schemas.microsoft.com/office/drawing/2014/main" id="{4125B67F-EC08-2585-A840-5765BEC517DE}"/>
              </a:ext>
            </a:extLst>
          </p:cNvPr>
          <p:cNvCxnSpPr>
            <a:cxnSpLocks/>
          </p:cNvCxnSpPr>
          <p:nvPr/>
        </p:nvCxnSpPr>
        <p:spPr>
          <a:xfrm>
            <a:off x="5566201" y="3730454"/>
            <a:ext cx="89174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01CB715F-F47B-69C9-D2C0-E45D59BA3F0E}"/>
              </a:ext>
            </a:extLst>
          </p:cNvPr>
          <p:cNvCxnSpPr>
            <a:cxnSpLocks/>
          </p:cNvCxnSpPr>
          <p:nvPr/>
        </p:nvCxnSpPr>
        <p:spPr>
          <a:xfrm>
            <a:off x="10827823" y="3730454"/>
            <a:ext cx="897452"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22" name="Graphic 121">
            <a:extLst>
              <a:ext uri="{FF2B5EF4-FFF2-40B4-BE49-F238E27FC236}">
                <a16:creationId xmlns:a16="http://schemas.microsoft.com/office/drawing/2014/main" id="{1D0465C3-9C51-73A9-0807-A2F55C2709C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5708415" y="5467814"/>
            <a:ext cx="377781" cy="377781"/>
          </a:xfrm>
          <a:prstGeom prst="rect">
            <a:avLst/>
          </a:prstGeom>
        </p:spPr>
      </p:pic>
      <p:sp>
        <p:nvSpPr>
          <p:cNvPr id="31" name="Rectangle 30">
            <a:extLst>
              <a:ext uri="{FF2B5EF4-FFF2-40B4-BE49-F238E27FC236}">
                <a16:creationId xmlns:a16="http://schemas.microsoft.com/office/drawing/2014/main" id="{25053D41-BB1B-5832-359B-87055289506C}"/>
              </a:ext>
            </a:extLst>
          </p:cNvPr>
          <p:cNvSpPr/>
          <p:nvPr/>
        </p:nvSpPr>
        <p:spPr>
          <a:xfrm>
            <a:off x="577381" y="2765164"/>
            <a:ext cx="4448233" cy="3582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algn="ctr"/>
            <a:r>
              <a:rPr lang="en-US" sz="1100">
                <a:solidFill>
                  <a:schemeClr val="tx2"/>
                </a:solidFill>
              </a:rPr>
              <a:t>There are multiple MTA-cooperative PRMT5 inhibitors in clinical development, with BMS currently setting the pace in NSCLC</a:t>
            </a:r>
          </a:p>
        </p:txBody>
      </p:sp>
      <p:grpSp>
        <p:nvGrpSpPr>
          <p:cNvPr id="4" name="Group 3">
            <a:extLst>
              <a:ext uri="{FF2B5EF4-FFF2-40B4-BE49-F238E27FC236}">
                <a16:creationId xmlns:a16="http://schemas.microsoft.com/office/drawing/2014/main" id="{09FF8F33-3979-BE84-B91F-33D3BBD23A50}"/>
              </a:ext>
            </a:extLst>
          </p:cNvPr>
          <p:cNvGrpSpPr/>
          <p:nvPr/>
        </p:nvGrpSpPr>
        <p:grpSpPr>
          <a:xfrm>
            <a:off x="362743" y="10216"/>
            <a:ext cx="10042505" cy="252000"/>
            <a:chOff x="362743" y="10216"/>
            <a:chExt cx="10042505" cy="252000"/>
          </a:xfrm>
        </p:grpSpPr>
        <p:sp>
          <p:nvSpPr>
            <p:cNvPr id="14" name="Pentagon 47">
              <a:extLst>
                <a:ext uri="{FF2B5EF4-FFF2-40B4-BE49-F238E27FC236}">
                  <a16:creationId xmlns:a16="http://schemas.microsoft.com/office/drawing/2014/main" id="{58500F69-DE3D-CD93-3ACF-37E8A1EF1AEF}"/>
                </a:ext>
              </a:extLst>
            </p:cNvPr>
            <p:cNvSpPr/>
            <p:nvPr/>
          </p:nvSpPr>
          <p:spPr>
            <a:xfrm>
              <a:off x="362743" y="10216"/>
              <a:ext cx="1695265" cy="252000"/>
            </a:xfrm>
            <a:prstGeom prst="homePlate">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18" name="Chevron 48">
              <a:extLst>
                <a:ext uri="{FF2B5EF4-FFF2-40B4-BE49-F238E27FC236}">
                  <a16:creationId xmlns:a16="http://schemas.microsoft.com/office/drawing/2014/main" id="{0547F9B7-8C47-4D05-9943-FB95FF8A32EB}"/>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19" name="Chevron 52">
              <a:extLst>
                <a:ext uri="{FF2B5EF4-FFF2-40B4-BE49-F238E27FC236}">
                  <a16:creationId xmlns:a16="http://schemas.microsoft.com/office/drawing/2014/main" id="{C48D86A0-A901-DE48-5D6D-91300D11DD95}"/>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20" name="Chevron 54">
              <a:extLst>
                <a:ext uri="{FF2B5EF4-FFF2-40B4-BE49-F238E27FC236}">
                  <a16:creationId xmlns:a16="http://schemas.microsoft.com/office/drawing/2014/main" id="{1C6B646C-F1D2-3F7C-633C-CAD0721F1793}"/>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21" name="Chevron 48">
              <a:extLst>
                <a:ext uri="{FF2B5EF4-FFF2-40B4-BE49-F238E27FC236}">
                  <a16:creationId xmlns:a16="http://schemas.microsoft.com/office/drawing/2014/main" id="{CAEACF1E-BB1C-29F1-0F56-312E2ED3B78C}"/>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23" name="Chevron 48">
              <a:extLst>
                <a:ext uri="{FF2B5EF4-FFF2-40B4-BE49-F238E27FC236}">
                  <a16:creationId xmlns:a16="http://schemas.microsoft.com/office/drawing/2014/main" id="{065EB360-D95E-4502-F168-04F09D644C72}"/>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4235582624"/>
      </p:ext>
    </p:extLst>
  </p:cSld>
  <p:clrMapOvr>
    <a:masterClrMapping/>
  </p:clrMapOvr>
  <p:extLst>
    <p:ext uri="{6950BFC3-D8DA-4A85-94F7-54DA5524770B}">
      <p188:commentRel xmlns:p188="http://schemas.microsoft.com/office/powerpoint/2018/8/main" r:id="rId4"/>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8" name="think-cell data - do not delete" hidden="1">
            <a:extLst>
              <a:ext uri="{FF2B5EF4-FFF2-40B4-BE49-F238E27FC236}">
                <a16:creationId xmlns:a16="http://schemas.microsoft.com/office/drawing/2014/main" id="{B79DB278-2BBA-5563-43E8-4655E4FD2137}"/>
              </a:ext>
            </a:extLst>
          </p:cNvPr>
          <p:cNvGraphicFramePr>
            <a:graphicFrameLocks/>
          </p:cNvGraphicFramePr>
          <p:nvPr>
            <p:custDataLst>
              <p:tags r:id="rId1"/>
            </p:custDataLst>
            <p:extLst>
              <p:ext uri="{D42A27DB-BD31-4B8C-83A1-F6EECF244321}">
                <p14:modId xmlns:p14="http://schemas.microsoft.com/office/powerpoint/2010/main" val="24412006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68" name="think-cell data - do not delete" hidden="1">
                        <a:extLst>
                          <a:ext uri="{FF2B5EF4-FFF2-40B4-BE49-F238E27FC236}">
                            <a16:creationId xmlns:a16="http://schemas.microsoft.com/office/drawing/2014/main" id="{B79DB278-2BBA-5563-43E8-4655E4FD213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8" name="Isosceles Triangle 17">
            <a:extLst>
              <a:ext uri="{FF2B5EF4-FFF2-40B4-BE49-F238E27FC236}">
                <a16:creationId xmlns:a16="http://schemas.microsoft.com/office/drawing/2014/main" id="{504503F2-F24C-DA3F-57A6-FC8F2339C53E}"/>
              </a:ext>
            </a:extLst>
          </p:cNvPr>
          <p:cNvSpPr/>
          <p:nvPr/>
        </p:nvSpPr>
        <p:spPr>
          <a:xfrm rot="5400000">
            <a:off x="5061451" y="4172867"/>
            <a:ext cx="3690231" cy="264709"/>
          </a:xfrm>
          <a:prstGeom prst="triangle">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16" name="Isosceles Triangle 15">
            <a:extLst>
              <a:ext uri="{FF2B5EF4-FFF2-40B4-BE49-F238E27FC236}">
                <a16:creationId xmlns:a16="http://schemas.microsoft.com/office/drawing/2014/main" id="{6190F024-639A-9C3B-223F-9CE59F46FF39}"/>
              </a:ext>
            </a:extLst>
          </p:cNvPr>
          <p:cNvSpPr/>
          <p:nvPr/>
        </p:nvSpPr>
        <p:spPr>
          <a:xfrm>
            <a:off x="7054482" y="1531908"/>
            <a:ext cx="4560090" cy="887696"/>
          </a:xfrm>
          <a:prstGeom prst="triangle">
            <a:avLst>
              <a:gd name="adj" fmla="val 51417"/>
            </a:avLst>
          </a:prstGeom>
          <a:solidFill>
            <a:schemeClr val="tx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algn="ctr"/>
            <a:endParaRPr lang="en-US" sz="1200">
              <a:solidFill>
                <a:schemeClr val="tx1"/>
              </a:solidFill>
            </a:endParaRPr>
          </a:p>
        </p:txBody>
      </p:sp>
      <p:sp>
        <p:nvSpPr>
          <p:cNvPr id="14" name="Rectangle: Rounded Corners 13">
            <a:extLst>
              <a:ext uri="{FF2B5EF4-FFF2-40B4-BE49-F238E27FC236}">
                <a16:creationId xmlns:a16="http://schemas.microsoft.com/office/drawing/2014/main" id="{A2C4FDCA-129A-95D7-E04B-4E788ED5E39A}"/>
              </a:ext>
            </a:extLst>
          </p:cNvPr>
          <p:cNvSpPr/>
          <p:nvPr/>
        </p:nvSpPr>
        <p:spPr>
          <a:xfrm>
            <a:off x="7038922" y="2398621"/>
            <a:ext cx="4652082" cy="3764401"/>
          </a:xfrm>
          <a:prstGeom prst="roundRect">
            <a:avLst>
              <a:gd name="adj" fmla="val 2963"/>
            </a:avLst>
          </a:prstGeom>
          <a:solidFill>
            <a:schemeClr val="bg1"/>
          </a:solidFill>
          <a:ln>
            <a:solidFill>
              <a:schemeClr val="accent3">
                <a:lumMod val="20000"/>
                <a:lumOff val="8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algn="ctr"/>
            <a:endParaRPr lang="en-US" sz="1200">
              <a:solidFill>
                <a:schemeClr val="tx1"/>
              </a:solidFill>
              <a:highlight>
                <a:srgbClr val="FFFF00"/>
              </a:highlight>
            </a:endParaRPr>
          </a:p>
        </p:txBody>
      </p:sp>
      <p:sp>
        <p:nvSpPr>
          <p:cNvPr id="5" name="Rectangle: Rounded Corners 4">
            <a:extLst>
              <a:ext uri="{FF2B5EF4-FFF2-40B4-BE49-F238E27FC236}">
                <a16:creationId xmlns:a16="http://schemas.microsoft.com/office/drawing/2014/main" id="{C36CAEF5-42A2-0E66-8F4A-7CF18D369124}"/>
              </a:ext>
            </a:extLst>
          </p:cNvPr>
          <p:cNvSpPr/>
          <p:nvPr/>
        </p:nvSpPr>
        <p:spPr>
          <a:xfrm>
            <a:off x="412535" y="2388543"/>
            <a:ext cx="3371189" cy="3764401"/>
          </a:xfrm>
          <a:prstGeom prst="roundRect">
            <a:avLst>
              <a:gd name="adj" fmla="val 2963"/>
            </a:avLst>
          </a:prstGeom>
          <a:solidFill>
            <a:schemeClr val="bg1"/>
          </a:solidFill>
          <a:ln>
            <a:solidFill>
              <a:schemeClr val="accent3">
                <a:lumMod val="20000"/>
                <a:lumOff val="8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algn="ctr"/>
            <a:endParaRPr lang="en-US" sz="1200">
              <a:solidFill>
                <a:schemeClr val="tx1"/>
              </a:solidFill>
              <a:highlight>
                <a:srgbClr val="FFFF00"/>
              </a:highlight>
            </a:endParaRPr>
          </a:p>
        </p:txBody>
      </p:sp>
      <p:sp>
        <p:nvSpPr>
          <p:cNvPr id="6" name="Isosceles Triangle 5">
            <a:extLst>
              <a:ext uri="{FF2B5EF4-FFF2-40B4-BE49-F238E27FC236}">
                <a16:creationId xmlns:a16="http://schemas.microsoft.com/office/drawing/2014/main" id="{9A7369BC-5FFB-7E23-1248-9D66F71B56BE}"/>
              </a:ext>
            </a:extLst>
          </p:cNvPr>
          <p:cNvSpPr/>
          <p:nvPr/>
        </p:nvSpPr>
        <p:spPr>
          <a:xfrm>
            <a:off x="498455" y="1771690"/>
            <a:ext cx="6171780" cy="609218"/>
          </a:xfrm>
          <a:prstGeom prst="triangle">
            <a:avLst>
              <a:gd name="adj" fmla="val 55593"/>
            </a:avLst>
          </a:prstGeom>
          <a:solidFill>
            <a:schemeClr val="tx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algn="ctr"/>
            <a:endParaRPr lang="en-US" sz="1200">
              <a:solidFill>
                <a:schemeClr val="tx1"/>
              </a:solidFill>
            </a:endParaRPr>
          </a:p>
        </p:txBody>
      </p:sp>
      <p:sp>
        <p:nvSpPr>
          <p:cNvPr id="2" name="Title 1">
            <a:extLst>
              <a:ext uri="{FF2B5EF4-FFF2-40B4-BE49-F238E27FC236}">
                <a16:creationId xmlns:a16="http://schemas.microsoft.com/office/drawing/2014/main" id="{EAE48EA6-1C6E-77AC-E503-3D66860496FC}"/>
              </a:ext>
            </a:extLst>
          </p:cNvPr>
          <p:cNvSpPr>
            <a:spLocks noGrp="1"/>
          </p:cNvSpPr>
          <p:nvPr>
            <p:ph type="title"/>
          </p:nvPr>
        </p:nvSpPr>
        <p:spPr>
          <a:xfrm>
            <a:off x="358337" y="338328"/>
            <a:ext cx="11470125" cy="738664"/>
          </a:xfrm>
        </p:spPr>
        <p:txBody>
          <a:bodyPr vert="horz" rIns="0">
            <a:spAutoFit/>
          </a:bodyPr>
          <a:lstStyle/>
          <a:p>
            <a:r>
              <a:rPr lang="en-US" sz="2400"/>
              <a:t>BGB-58067’s IEP is a living document that serves as a strategic evidence generation planning tool across key milestones ranging from 2026-2033*</a:t>
            </a:r>
          </a:p>
        </p:txBody>
      </p:sp>
      <p:sp>
        <p:nvSpPr>
          <p:cNvPr id="27" name="TextBox 26">
            <a:extLst>
              <a:ext uri="{FF2B5EF4-FFF2-40B4-BE49-F238E27FC236}">
                <a16:creationId xmlns:a16="http://schemas.microsoft.com/office/drawing/2014/main" id="{58B24ECB-D303-1FF3-C0B8-94AEEB9F9F50}"/>
              </a:ext>
            </a:extLst>
          </p:cNvPr>
          <p:cNvSpPr txBox="1"/>
          <p:nvPr/>
        </p:nvSpPr>
        <p:spPr>
          <a:xfrm>
            <a:off x="7157872" y="2393552"/>
            <a:ext cx="4467516" cy="830997"/>
          </a:xfrm>
          <a:prstGeom prst="rect">
            <a:avLst/>
          </a:prstGeom>
          <a:noFill/>
        </p:spPr>
        <p:txBody>
          <a:bodyPr wrap="square" lIns="91440" tIns="91440" rIns="91440" bIns="91440" rtlCol="0">
            <a:spAutoFit/>
          </a:bodyPr>
          <a:lstStyle/>
          <a:p>
            <a:pPr algn="ctr"/>
            <a:r>
              <a:rPr lang="en-US" sz="1400" b="1"/>
              <a:t>The IEP will be utilized as a dynamic roadmap to guide evidence generation throughout BGB-58067’s development:</a:t>
            </a:r>
          </a:p>
        </p:txBody>
      </p:sp>
      <p:sp>
        <p:nvSpPr>
          <p:cNvPr id="30" name="Rectangle 29">
            <a:extLst>
              <a:ext uri="{FF2B5EF4-FFF2-40B4-BE49-F238E27FC236}">
                <a16:creationId xmlns:a16="http://schemas.microsoft.com/office/drawing/2014/main" id="{E01F3581-A575-6596-BD0C-E03CBF24F659}"/>
              </a:ext>
            </a:extLst>
          </p:cNvPr>
          <p:cNvSpPr/>
          <p:nvPr/>
        </p:nvSpPr>
        <p:spPr>
          <a:xfrm>
            <a:off x="7137547" y="3188933"/>
            <a:ext cx="4467516" cy="502920"/>
          </a:xfrm>
          <a:prstGeom prst="rect">
            <a:avLst/>
          </a:prstGeom>
          <a:solidFill>
            <a:schemeClr val="bg2">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457200"/>
            <a:r>
              <a:rPr lang="en-US" sz="1200">
                <a:solidFill>
                  <a:schemeClr val="tx1"/>
                </a:solidFill>
              </a:rPr>
              <a:t>Identify </a:t>
            </a:r>
            <a:r>
              <a:rPr lang="en-US" sz="1200" b="1">
                <a:solidFill>
                  <a:schemeClr val="tx1"/>
                </a:solidFill>
              </a:rPr>
              <a:t>quick wins</a:t>
            </a:r>
            <a:r>
              <a:rPr lang="en-US" sz="1200">
                <a:solidFill>
                  <a:schemeClr val="tx1"/>
                </a:solidFill>
              </a:rPr>
              <a:t> and initiate </a:t>
            </a:r>
            <a:r>
              <a:rPr lang="en-US" sz="1200" b="1">
                <a:solidFill>
                  <a:schemeClr val="tx1"/>
                </a:solidFill>
              </a:rPr>
              <a:t>critical priority and foundational tactics</a:t>
            </a:r>
          </a:p>
        </p:txBody>
      </p:sp>
      <p:sp>
        <p:nvSpPr>
          <p:cNvPr id="32" name="Rectangle 31">
            <a:extLst>
              <a:ext uri="{FF2B5EF4-FFF2-40B4-BE49-F238E27FC236}">
                <a16:creationId xmlns:a16="http://schemas.microsoft.com/office/drawing/2014/main" id="{A519F0CF-35E4-9281-4531-00908BECF1BC}"/>
              </a:ext>
            </a:extLst>
          </p:cNvPr>
          <p:cNvSpPr/>
          <p:nvPr/>
        </p:nvSpPr>
        <p:spPr>
          <a:xfrm>
            <a:off x="7147055" y="4921577"/>
            <a:ext cx="4467516" cy="548640"/>
          </a:xfrm>
          <a:prstGeom prst="rect">
            <a:avLst/>
          </a:prstGeom>
          <a:solidFill>
            <a:schemeClr val="bg2">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45720" rtlCol="0" anchor="ctr"/>
          <a:lstStyle/>
          <a:p>
            <a:pPr marL="457200"/>
            <a:r>
              <a:rPr lang="en-US" sz="1200">
                <a:solidFill>
                  <a:schemeClr val="tx1"/>
                </a:solidFill>
              </a:rPr>
              <a:t>Support access, publication, and broader stakeholder engagement </a:t>
            </a:r>
            <a:r>
              <a:rPr lang="en-US" sz="1200" b="1">
                <a:solidFill>
                  <a:schemeClr val="tx1"/>
                </a:solidFill>
              </a:rPr>
              <a:t>planning ahead of launch</a:t>
            </a:r>
          </a:p>
        </p:txBody>
      </p:sp>
      <p:sp>
        <p:nvSpPr>
          <p:cNvPr id="31" name="Rectangle 30">
            <a:extLst>
              <a:ext uri="{FF2B5EF4-FFF2-40B4-BE49-F238E27FC236}">
                <a16:creationId xmlns:a16="http://schemas.microsoft.com/office/drawing/2014/main" id="{D0AA3066-43D5-4446-583D-C53D0C631CA2}"/>
              </a:ext>
            </a:extLst>
          </p:cNvPr>
          <p:cNvSpPr/>
          <p:nvPr/>
        </p:nvSpPr>
        <p:spPr>
          <a:xfrm>
            <a:off x="7137547" y="3751241"/>
            <a:ext cx="4467516" cy="502920"/>
          </a:xfrm>
          <a:prstGeom prst="rect">
            <a:avLst/>
          </a:prstGeom>
          <a:solidFill>
            <a:schemeClr val="bg2">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45720" rIns="91440" bIns="45720" rtlCol="0" anchor="ctr"/>
          <a:lstStyle/>
          <a:p>
            <a:pPr marL="457200"/>
            <a:r>
              <a:rPr lang="en-US" sz="1200">
                <a:solidFill>
                  <a:schemeClr val="tx1"/>
                </a:solidFill>
              </a:rPr>
              <a:t>Inform </a:t>
            </a:r>
            <a:r>
              <a:rPr lang="en-US" sz="1200" b="1">
                <a:solidFill>
                  <a:schemeClr val="tx1"/>
                </a:solidFill>
              </a:rPr>
              <a:t>2027+ IIT guidance</a:t>
            </a:r>
          </a:p>
        </p:txBody>
      </p:sp>
      <p:sp>
        <p:nvSpPr>
          <p:cNvPr id="29" name="Rectangle 28">
            <a:extLst>
              <a:ext uri="{FF2B5EF4-FFF2-40B4-BE49-F238E27FC236}">
                <a16:creationId xmlns:a16="http://schemas.microsoft.com/office/drawing/2014/main" id="{BD14280C-985A-65E5-CDAC-7C8956AEA83D}"/>
              </a:ext>
            </a:extLst>
          </p:cNvPr>
          <p:cNvSpPr/>
          <p:nvPr/>
        </p:nvSpPr>
        <p:spPr>
          <a:xfrm>
            <a:off x="7147055" y="4313549"/>
            <a:ext cx="4467516" cy="548640"/>
          </a:xfrm>
          <a:prstGeom prst="rect">
            <a:avLst/>
          </a:prstGeom>
          <a:solidFill>
            <a:schemeClr val="bg2">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457200"/>
            <a:r>
              <a:rPr lang="en-US" sz="1200">
                <a:solidFill>
                  <a:schemeClr val="tx1"/>
                </a:solidFill>
              </a:rPr>
              <a:t>Refine evidence priorities </a:t>
            </a:r>
            <a:r>
              <a:rPr lang="en-US" sz="1200" b="1">
                <a:solidFill>
                  <a:schemeClr val="tx1"/>
                </a:solidFill>
              </a:rPr>
              <a:t>based on emerging data and trigger points </a:t>
            </a:r>
            <a:r>
              <a:rPr lang="en-US" sz="1200">
                <a:solidFill>
                  <a:schemeClr val="tx1"/>
                </a:solidFill>
              </a:rPr>
              <a:t>to support critical decisions (e.g., regulatory decisions, reimbursement)</a:t>
            </a:r>
          </a:p>
        </p:txBody>
      </p:sp>
      <p:sp>
        <p:nvSpPr>
          <p:cNvPr id="34" name="Rectangle 33">
            <a:extLst>
              <a:ext uri="{FF2B5EF4-FFF2-40B4-BE49-F238E27FC236}">
                <a16:creationId xmlns:a16="http://schemas.microsoft.com/office/drawing/2014/main" id="{FD9B9361-A700-32CC-98EC-8883352665B4}"/>
              </a:ext>
            </a:extLst>
          </p:cNvPr>
          <p:cNvSpPr/>
          <p:nvPr/>
        </p:nvSpPr>
        <p:spPr>
          <a:xfrm>
            <a:off x="7147055" y="5529607"/>
            <a:ext cx="4467516" cy="548640"/>
          </a:xfrm>
          <a:prstGeom prst="rect">
            <a:avLst/>
          </a:prstGeom>
          <a:solidFill>
            <a:schemeClr val="bg2">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45720" rIns="45720" bIns="45720" rtlCol="0" anchor="ctr"/>
          <a:lstStyle/>
          <a:p>
            <a:pPr marL="457200"/>
            <a:r>
              <a:rPr lang="en-US" sz="1200">
                <a:solidFill>
                  <a:schemeClr val="tx1"/>
                </a:solidFill>
              </a:rPr>
              <a:t>Identify new evidence needs, indications, combinations, sequencing, and RW opportunities </a:t>
            </a:r>
            <a:r>
              <a:rPr lang="en-US" sz="1200" b="1">
                <a:solidFill>
                  <a:schemeClr val="tx1"/>
                </a:solidFill>
              </a:rPr>
              <a:t>throughout the product lifecycle</a:t>
            </a:r>
          </a:p>
        </p:txBody>
      </p:sp>
      <p:sp>
        <p:nvSpPr>
          <p:cNvPr id="36" name="Oval 35">
            <a:extLst>
              <a:ext uri="{FF2B5EF4-FFF2-40B4-BE49-F238E27FC236}">
                <a16:creationId xmlns:a16="http://schemas.microsoft.com/office/drawing/2014/main" id="{7CE1E66E-B3FB-E22C-886E-9BB23F255ED0}"/>
              </a:ext>
            </a:extLst>
          </p:cNvPr>
          <p:cNvSpPr/>
          <p:nvPr/>
        </p:nvSpPr>
        <p:spPr>
          <a:xfrm>
            <a:off x="7229344" y="3303233"/>
            <a:ext cx="274320" cy="274320"/>
          </a:xfrm>
          <a:prstGeom prst="ellipse">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a:ea typeface="Open Sans" panose="020B0606030504020204" pitchFamily="34" charset="0"/>
                <a:cs typeface="Arial" panose="020B0604020202020204" pitchFamily="34" charset="0"/>
              </a:rPr>
              <a:t>1</a:t>
            </a:r>
          </a:p>
        </p:txBody>
      </p:sp>
      <p:sp>
        <p:nvSpPr>
          <p:cNvPr id="37" name="Oval 36">
            <a:extLst>
              <a:ext uri="{FF2B5EF4-FFF2-40B4-BE49-F238E27FC236}">
                <a16:creationId xmlns:a16="http://schemas.microsoft.com/office/drawing/2014/main" id="{BD407A83-AB8E-C5EC-BD8A-9F5173CAA6DD}"/>
              </a:ext>
            </a:extLst>
          </p:cNvPr>
          <p:cNvSpPr/>
          <p:nvPr/>
        </p:nvSpPr>
        <p:spPr>
          <a:xfrm>
            <a:off x="7229344" y="3865541"/>
            <a:ext cx="274320" cy="274320"/>
          </a:xfrm>
          <a:prstGeom prst="ellipse">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a:ea typeface="Open Sans" panose="020B0606030504020204" pitchFamily="34" charset="0"/>
                <a:cs typeface="Arial" panose="020B0604020202020204" pitchFamily="34" charset="0"/>
              </a:rPr>
              <a:t>2</a:t>
            </a:r>
          </a:p>
        </p:txBody>
      </p:sp>
      <p:sp>
        <p:nvSpPr>
          <p:cNvPr id="38" name="Oval 37">
            <a:extLst>
              <a:ext uri="{FF2B5EF4-FFF2-40B4-BE49-F238E27FC236}">
                <a16:creationId xmlns:a16="http://schemas.microsoft.com/office/drawing/2014/main" id="{1F3D1CAC-F1D9-8E27-7199-A4B72E21D89E}"/>
              </a:ext>
            </a:extLst>
          </p:cNvPr>
          <p:cNvSpPr/>
          <p:nvPr/>
        </p:nvSpPr>
        <p:spPr>
          <a:xfrm>
            <a:off x="7229344" y="4450709"/>
            <a:ext cx="274320" cy="274320"/>
          </a:xfrm>
          <a:prstGeom prst="ellipse">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a:ea typeface="Open Sans" panose="020B0606030504020204" pitchFamily="34" charset="0"/>
                <a:cs typeface="Arial" panose="020B0604020202020204" pitchFamily="34" charset="0"/>
              </a:rPr>
              <a:t>3</a:t>
            </a:r>
          </a:p>
        </p:txBody>
      </p:sp>
      <p:sp>
        <p:nvSpPr>
          <p:cNvPr id="39" name="Oval 38">
            <a:extLst>
              <a:ext uri="{FF2B5EF4-FFF2-40B4-BE49-F238E27FC236}">
                <a16:creationId xmlns:a16="http://schemas.microsoft.com/office/drawing/2014/main" id="{4A9B56B1-4EF0-AF56-1239-5AF2432841A9}"/>
              </a:ext>
            </a:extLst>
          </p:cNvPr>
          <p:cNvSpPr/>
          <p:nvPr/>
        </p:nvSpPr>
        <p:spPr>
          <a:xfrm>
            <a:off x="7229344" y="5058740"/>
            <a:ext cx="274320" cy="274320"/>
          </a:xfrm>
          <a:prstGeom prst="ellipse">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a:ea typeface="Open Sans" panose="020B0606030504020204" pitchFamily="34" charset="0"/>
                <a:cs typeface="Arial" panose="020B0604020202020204" pitchFamily="34" charset="0"/>
              </a:rPr>
              <a:t>4</a:t>
            </a:r>
          </a:p>
        </p:txBody>
      </p:sp>
      <p:sp>
        <p:nvSpPr>
          <p:cNvPr id="40" name="Oval 39">
            <a:extLst>
              <a:ext uri="{FF2B5EF4-FFF2-40B4-BE49-F238E27FC236}">
                <a16:creationId xmlns:a16="http://schemas.microsoft.com/office/drawing/2014/main" id="{2D8518DC-5DF3-F4FA-C3FA-142328F225E6}"/>
              </a:ext>
            </a:extLst>
          </p:cNvPr>
          <p:cNvSpPr/>
          <p:nvPr/>
        </p:nvSpPr>
        <p:spPr>
          <a:xfrm>
            <a:off x="7229344" y="5666767"/>
            <a:ext cx="274320" cy="274320"/>
          </a:xfrm>
          <a:prstGeom prst="ellipse">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a:ea typeface="Open Sans" panose="020B0606030504020204" pitchFamily="34" charset="0"/>
                <a:cs typeface="Arial" panose="020B0604020202020204" pitchFamily="34" charset="0"/>
              </a:rPr>
              <a:t>5</a:t>
            </a:r>
          </a:p>
        </p:txBody>
      </p:sp>
      <p:sp>
        <p:nvSpPr>
          <p:cNvPr id="9" name="Rectangle 8">
            <a:extLst>
              <a:ext uri="{FF2B5EF4-FFF2-40B4-BE49-F238E27FC236}">
                <a16:creationId xmlns:a16="http://schemas.microsoft.com/office/drawing/2014/main" id="{F5610189-9D2B-721B-DDEE-423857CE5A0E}"/>
              </a:ext>
            </a:extLst>
          </p:cNvPr>
          <p:cNvSpPr/>
          <p:nvPr/>
        </p:nvSpPr>
        <p:spPr>
          <a:xfrm>
            <a:off x="471236" y="1718467"/>
            <a:ext cx="11222309" cy="126452"/>
          </a:xfrm>
          <a:prstGeom prst="rect">
            <a:avLst/>
          </a:prstGeom>
          <a:solidFill>
            <a:schemeClr val="accent3">
              <a:lumMod val="60000"/>
              <a:lumOff val="40000"/>
            </a:schemeClr>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algn="ctr"/>
            <a:endParaRPr lang="en-US" sz="1200">
              <a:solidFill>
                <a:schemeClr val="tx1"/>
              </a:solidFill>
            </a:endParaRPr>
          </a:p>
        </p:txBody>
      </p:sp>
      <p:grpSp>
        <p:nvGrpSpPr>
          <p:cNvPr id="20" name="Group 19">
            <a:extLst>
              <a:ext uri="{FF2B5EF4-FFF2-40B4-BE49-F238E27FC236}">
                <a16:creationId xmlns:a16="http://schemas.microsoft.com/office/drawing/2014/main" id="{DB6644FC-4644-41B5-D2B3-091D9CCD663C}"/>
              </a:ext>
            </a:extLst>
          </p:cNvPr>
          <p:cNvGrpSpPr/>
          <p:nvPr/>
        </p:nvGrpSpPr>
        <p:grpSpPr>
          <a:xfrm>
            <a:off x="11464945" y="1531908"/>
            <a:ext cx="457200" cy="510568"/>
            <a:chOff x="5592325" y="1437764"/>
            <a:chExt cx="457200" cy="510568"/>
          </a:xfrm>
        </p:grpSpPr>
        <p:sp>
          <p:nvSpPr>
            <p:cNvPr id="21" name="Oval 20">
              <a:extLst>
                <a:ext uri="{FF2B5EF4-FFF2-40B4-BE49-F238E27FC236}">
                  <a16:creationId xmlns:a16="http://schemas.microsoft.com/office/drawing/2014/main" id="{22A4B9FB-0376-5218-5418-F547192879D7}"/>
                </a:ext>
              </a:extLst>
            </p:cNvPr>
            <p:cNvSpPr/>
            <p:nvPr/>
          </p:nvSpPr>
          <p:spPr>
            <a:xfrm>
              <a:off x="5592325" y="1464448"/>
              <a:ext cx="457200" cy="457200"/>
            </a:xfrm>
            <a:prstGeom prst="ellipse">
              <a:avLst/>
            </a:prstGeom>
            <a:solidFill>
              <a:schemeClr val="bg1"/>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algn="ctr"/>
              <a:endParaRPr lang="en-US" sz="1200">
                <a:solidFill>
                  <a:schemeClr val="tx1"/>
                </a:solidFill>
              </a:endParaRPr>
            </a:p>
          </p:txBody>
        </p:sp>
        <p:grpSp>
          <p:nvGrpSpPr>
            <p:cNvPr id="22" name="Group 21">
              <a:extLst>
                <a:ext uri="{FF2B5EF4-FFF2-40B4-BE49-F238E27FC236}">
                  <a16:creationId xmlns:a16="http://schemas.microsoft.com/office/drawing/2014/main" id="{9A095BB4-A6C6-5AFA-961B-AAB36E1C2982}"/>
                </a:ext>
              </a:extLst>
            </p:cNvPr>
            <p:cNvGrpSpPr/>
            <p:nvPr/>
          </p:nvGrpSpPr>
          <p:grpSpPr>
            <a:xfrm>
              <a:off x="5644698" y="1437764"/>
              <a:ext cx="352454" cy="510568"/>
              <a:chOff x="7733470" y="1204070"/>
              <a:chExt cx="352453" cy="766916"/>
            </a:xfrm>
          </p:grpSpPr>
          <p:sp>
            <p:nvSpPr>
              <p:cNvPr id="23" name="Isosceles Triangle 22">
                <a:extLst>
                  <a:ext uri="{FF2B5EF4-FFF2-40B4-BE49-F238E27FC236}">
                    <a16:creationId xmlns:a16="http://schemas.microsoft.com/office/drawing/2014/main" id="{F45C3316-263B-76BF-535A-77FF90353A03}"/>
                  </a:ext>
                </a:extLst>
              </p:cNvPr>
              <p:cNvSpPr/>
              <p:nvPr/>
            </p:nvSpPr>
            <p:spPr>
              <a:xfrm rot="5400000">
                <a:off x="7570111" y="1455174"/>
                <a:ext cx="766916" cy="264708"/>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24" name="Isosceles Triangle 23">
                <a:extLst>
                  <a:ext uri="{FF2B5EF4-FFF2-40B4-BE49-F238E27FC236}">
                    <a16:creationId xmlns:a16="http://schemas.microsoft.com/office/drawing/2014/main" id="{F96FAD87-B957-1D58-79F2-DF046A827BE8}"/>
                  </a:ext>
                </a:extLst>
              </p:cNvPr>
              <p:cNvSpPr/>
              <p:nvPr/>
            </p:nvSpPr>
            <p:spPr>
              <a:xfrm rot="5400000">
                <a:off x="7482366" y="1455174"/>
                <a:ext cx="766916" cy="264708"/>
              </a:xfrm>
              <a:prstGeom prst="triangle">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grpSp>
      </p:grpSp>
      <p:grpSp>
        <p:nvGrpSpPr>
          <p:cNvPr id="25" name="Group 24">
            <a:extLst>
              <a:ext uri="{FF2B5EF4-FFF2-40B4-BE49-F238E27FC236}">
                <a16:creationId xmlns:a16="http://schemas.microsoft.com/office/drawing/2014/main" id="{97374A6A-5D1F-D0D4-AFB0-F19005D2307B}"/>
              </a:ext>
            </a:extLst>
          </p:cNvPr>
          <p:cNvGrpSpPr/>
          <p:nvPr/>
        </p:nvGrpSpPr>
        <p:grpSpPr>
          <a:xfrm>
            <a:off x="358337" y="1531908"/>
            <a:ext cx="457200" cy="510568"/>
            <a:chOff x="5592325" y="1437764"/>
            <a:chExt cx="457200" cy="510568"/>
          </a:xfrm>
        </p:grpSpPr>
        <p:sp>
          <p:nvSpPr>
            <p:cNvPr id="26" name="Oval 25">
              <a:extLst>
                <a:ext uri="{FF2B5EF4-FFF2-40B4-BE49-F238E27FC236}">
                  <a16:creationId xmlns:a16="http://schemas.microsoft.com/office/drawing/2014/main" id="{7A7DDB80-2DA1-7D51-8764-9EDD10FFB74F}"/>
                </a:ext>
              </a:extLst>
            </p:cNvPr>
            <p:cNvSpPr/>
            <p:nvPr/>
          </p:nvSpPr>
          <p:spPr>
            <a:xfrm>
              <a:off x="5592325" y="1464448"/>
              <a:ext cx="457200" cy="457200"/>
            </a:xfrm>
            <a:prstGeom prst="ellipse">
              <a:avLst/>
            </a:prstGeom>
            <a:solidFill>
              <a:schemeClr val="bg1"/>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algn="ctr"/>
              <a:endParaRPr lang="en-US" sz="1200">
                <a:solidFill>
                  <a:schemeClr val="tx1"/>
                </a:solidFill>
              </a:endParaRPr>
            </a:p>
          </p:txBody>
        </p:sp>
        <p:grpSp>
          <p:nvGrpSpPr>
            <p:cNvPr id="35" name="Group 34">
              <a:extLst>
                <a:ext uri="{FF2B5EF4-FFF2-40B4-BE49-F238E27FC236}">
                  <a16:creationId xmlns:a16="http://schemas.microsoft.com/office/drawing/2014/main" id="{C85D35B3-4DD1-3722-A025-E8E59B4DAF9B}"/>
                </a:ext>
              </a:extLst>
            </p:cNvPr>
            <p:cNvGrpSpPr/>
            <p:nvPr/>
          </p:nvGrpSpPr>
          <p:grpSpPr>
            <a:xfrm>
              <a:off x="5644698" y="1437764"/>
              <a:ext cx="352454" cy="510568"/>
              <a:chOff x="7733470" y="1204070"/>
              <a:chExt cx="352453" cy="766916"/>
            </a:xfrm>
          </p:grpSpPr>
          <p:sp>
            <p:nvSpPr>
              <p:cNvPr id="43" name="Isosceles Triangle 42">
                <a:extLst>
                  <a:ext uri="{FF2B5EF4-FFF2-40B4-BE49-F238E27FC236}">
                    <a16:creationId xmlns:a16="http://schemas.microsoft.com/office/drawing/2014/main" id="{D3A4BC62-B4C1-ABE5-F1F3-4A3BB9121ACF}"/>
                  </a:ext>
                </a:extLst>
              </p:cNvPr>
              <p:cNvSpPr/>
              <p:nvPr/>
            </p:nvSpPr>
            <p:spPr>
              <a:xfrm rot="5400000">
                <a:off x="7570111" y="1455174"/>
                <a:ext cx="766916" cy="264708"/>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44" name="Isosceles Triangle 43">
                <a:extLst>
                  <a:ext uri="{FF2B5EF4-FFF2-40B4-BE49-F238E27FC236}">
                    <a16:creationId xmlns:a16="http://schemas.microsoft.com/office/drawing/2014/main" id="{10371F2B-F0F2-1B99-0ADC-2230FFC70B48}"/>
                  </a:ext>
                </a:extLst>
              </p:cNvPr>
              <p:cNvSpPr/>
              <p:nvPr/>
            </p:nvSpPr>
            <p:spPr>
              <a:xfrm rot="5400000">
                <a:off x="7482366" y="1455174"/>
                <a:ext cx="766916" cy="264708"/>
              </a:xfrm>
              <a:prstGeom prst="triangle">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grpSp>
      </p:grpSp>
      <p:sp>
        <p:nvSpPr>
          <p:cNvPr id="47" name="Rectangle 46">
            <a:extLst>
              <a:ext uri="{FF2B5EF4-FFF2-40B4-BE49-F238E27FC236}">
                <a16:creationId xmlns:a16="http://schemas.microsoft.com/office/drawing/2014/main" id="{84F299E7-EDE0-E7B6-7F1F-FAB4D4C18611}"/>
              </a:ext>
            </a:extLst>
          </p:cNvPr>
          <p:cNvSpPr/>
          <p:nvPr/>
        </p:nvSpPr>
        <p:spPr>
          <a:xfrm>
            <a:off x="2476162" y="1493837"/>
            <a:ext cx="2661359" cy="548640"/>
          </a:xfrm>
          <a:prstGeom prst="rect">
            <a:avLst/>
          </a:prstGeom>
          <a:solidFill>
            <a:schemeClr val="bg1"/>
          </a:solidFill>
          <a:ln>
            <a:solidFill>
              <a:srgbClr val="657CAB"/>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algn="ctr"/>
            <a:r>
              <a:rPr lang="en-US" sz="1600" b="1">
                <a:solidFill>
                  <a:schemeClr val="tx1"/>
                </a:solidFill>
              </a:rPr>
              <a:t>Q2 2026: </a:t>
            </a:r>
            <a:r>
              <a:rPr lang="en-US" sz="1600">
                <a:solidFill>
                  <a:schemeClr val="tx1"/>
                </a:solidFill>
              </a:rPr>
              <a:t>BGB-58067 IEP v1.0</a:t>
            </a:r>
          </a:p>
        </p:txBody>
      </p:sp>
      <p:sp>
        <p:nvSpPr>
          <p:cNvPr id="48" name="Rectangle 47">
            <a:extLst>
              <a:ext uri="{FF2B5EF4-FFF2-40B4-BE49-F238E27FC236}">
                <a16:creationId xmlns:a16="http://schemas.microsoft.com/office/drawing/2014/main" id="{9D69C45E-B94B-A147-8894-2C4978D2FABB}"/>
              </a:ext>
            </a:extLst>
          </p:cNvPr>
          <p:cNvSpPr/>
          <p:nvPr/>
        </p:nvSpPr>
        <p:spPr>
          <a:xfrm>
            <a:off x="8034284" y="1493837"/>
            <a:ext cx="2661359" cy="548640"/>
          </a:xfrm>
          <a:prstGeom prst="rect">
            <a:avLst/>
          </a:prstGeom>
          <a:solidFill>
            <a:schemeClr val="bg1"/>
          </a:solidFill>
          <a:ln>
            <a:solidFill>
              <a:srgbClr val="657CAB"/>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algn="ctr"/>
            <a:r>
              <a:rPr lang="en-US" sz="1600">
                <a:solidFill>
                  <a:schemeClr val="tx1"/>
                </a:solidFill>
              </a:rPr>
              <a:t>BGB-58067 IEP across key milestones</a:t>
            </a:r>
          </a:p>
        </p:txBody>
      </p:sp>
      <p:sp>
        <p:nvSpPr>
          <p:cNvPr id="49" name="TextBox 48">
            <a:extLst>
              <a:ext uri="{FF2B5EF4-FFF2-40B4-BE49-F238E27FC236}">
                <a16:creationId xmlns:a16="http://schemas.microsoft.com/office/drawing/2014/main" id="{B7EF325F-3154-4EA1-5ABE-F10231A47BF2}"/>
              </a:ext>
            </a:extLst>
          </p:cNvPr>
          <p:cNvSpPr txBox="1"/>
          <p:nvPr/>
        </p:nvSpPr>
        <p:spPr>
          <a:xfrm>
            <a:off x="2745284" y="1203878"/>
            <a:ext cx="1693549" cy="369332"/>
          </a:xfrm>
          <a:prstGeom prst="rect">
            <a:avLst/>
          </a:prstGeom>
          <a:noFill/>
        </p:spPr>
        <p:txBody>
          <a:bodyPr wrap="square" lIns="91440" tIns="91440" rIns="91440" bIns="91440" rtlCol="0">
            <a:spAutoFit/>
          </a:bodyPr>
          <a:lstStyle/>
          <a:p>
            <a:pPr algn="l"/>
            <a:r>
              <a:rPr lang="en-US" sz="1200" i="1">
                <a:solidFill>
                  <a:schemeClr val="tx2"/>
                </a:solidFill>
              </a:rPr>
              <a:t>Where we are now</a:t>
            </a:r>
          </a:p>
        </p:txBody>
      </p:sp>
      <p:sp>
        <p:nvSpPr>
          <p:cNvPr id="50" name="TextBox 49">
            <a:extLst>
              <a:ext uri="{FF2B5EF4-FFF2-40B4-BE49-F238E27FC236}">
                <a16:creationId xmlns:a16="http://schemas.microsoft.com/office/drawing/2014/main" id="{680278B8-878E-CD0F-9DBF-6CA5109BA0BC}"/>
              </a:ext>
            </a:extLst>
          </p:cNvPr>
          <p:cNvSpPr txBox="1"/>
          <p:nvPr/>
        </p:nvSpPr>
        <p:spPr>
          <a:xfrm>
            <a:off x="8399926" y="1189260"/>
            <a:ext cx="2127036" cy="369332"/>
          </a:xfrm>
          <a:prstGeom prst="rect">
            <a:avLst/>
          </a:prstGeom>
          <a:noFill/>
        </p:spPr>
        <p:txBody>
          <a:bodyPr wrap="square" lIns="91440" tIns="91440" rIns="91440" bIns="91440" rtlCol="0">
            <a:spAutoFit/>
          </a:bodyPr>
          <a:lstStyle/>
          <a:p>
            <a:pPr algn="l"/>
            <a:r>
              <a:rPr lang="en-US" sz="1200" i="1">
                <a:solidFill>
                  <a:schemeClr val="tx2"/>
                </a:solidFill>
              </a:rPr>
              <a:t>Where we are heading</a:t>
            </a:r>
          </a:p>
        </p:txBody>
      </p:sp>
      <p:sp>
        <p:nvSpPr>
          <p:cNvPr id="7" name="TextBox 6">
            <a:extLst>
              <a:ext uri="{FF2B5EF4-FFF2-40B4-BE49-F238E27FC236}">
                <a16:creationId xmlns:a16="http://schemas.microsoft.com/office/drawing/2014/main" id="{7DDD2ACF-B6A3-C16E-C9E3-4169B6CD5A4E}"/>
              </a:ext>
            </a:extLst>
          </p:cNvPr>
          <p:cNvSpPr txBox="1"/>
          <p:nvPr/>
        </p:nvSpPr>
        <p:spPr>
          <a:xfrm>
            <a:off x="515925" y="2393552"/>
            <a:ext cx="3164409" cy="830997"/>
          </a:xfrm>
          <a:prstGeom prst="rect">
            <a:avLst/>
          </a:prstGeom>
          <a:noFill/>
        </p:spPr>
        <p:txBody>
          <a:bodyPr wrap="square" lIns="91440" tIns="91440" rIns="91440" bIns="91440" rtlCol="0">
            <a:spAutoFit/>
          </a:bodyPr>
          <a:lstStyle/>
          <a:p>
            <a:pPr algn="ctr"/>
            <a:r>
              <a:rPr lang="en-US" sz="1400" b="1"/>
              <a:t>The IEP serves as a </a:t>
            </a:r>
          </a:p>
          <a:p>
            <a:pPr algn="ctr"/>
            <a:r>
              <a:rPr lang="en-US" sz="1400" b="1"/>
              <a:t>strategic evidence </a:t>
            </a:r>
          </a:p>
          <a:p>
            <a:pPr algn="ctr"/>
            <a:r>
              <a:rPr lang="en-US" sz="1400" b="1"/>
              <a:t>generation planning tool:</a:t>
            </a:r>
          </a:p>
        </p:txBody>
      </p:sp>
      <p:grpSp>
        <p:nvGrpSpPr>
          <p:cNvPr id="83" name="Group 82">
            <a:extLst>
              <a:ext uri="{FF2B5EF4-FFF2-40B4-BE49-F238E27FC236}">
                <a16:creationId xmlns:a16="http://schemas.microsoft.com/office/drawing/2014/main" id="{7A4BE408-3652-048B-706F-1FC365ECE2BC}"/>
              </a:ext>
            </a:extLst>
          </p:cNvPr>
          <p:cNvGrpSpPr/>
          <p:nvPr/>
        </p:nvGrpSpPr>
        <p:grpSpPr>
          <a:xfrm>
            <a:off x="514140" y="3221235"/>
            <a:ext cx="3133976" cy="822960"/>
            <a:chOff x="514140" y="3221235"/>
            <a:chExt cx="3133976" cy="822960"/>
          </a:xfrm>
        </p:grpSpPr>
        <p:sp>
          <p:nvSpPr>
            <p:cNvPr id="8" name="Rectangle 7">
              <a:extLst>
                <a:ext uri="{FF2B5EF4-FFF2-40B4-BE49-F238E27FC236}">
                  <a16:creationId xmlns:a16="http://schemas.microsoft.com/office/drawing/2014/main" id="{31D9518D-D6C8-FE4A-DE35-DD94B5BB4FDA}"/>
                </a:ext>
              </a:extLst>
            </p:cNvPr>
            <p:cNvSpPr/>
            <p:nvPr/>
          </p:nvSpPr>
          <p:spPr>
            <a:xfrm>
              <a:off x="514140" y="3221235"/>
              <a:ext cx="3133976" cy="822960"/>
            </a:xfrm>
            <a:prstGeom prst="rect">
              <a:avLst/>
            </a:prstGeom>
            <a:solidFill>
              <a:schemeClr val="bg2">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rIns="45720" rtlCol="0" anchor="ctr">
              <a:noAutofit/>
            </a:bodyPr>
            <a:lstStyle/>
            <a:p>
              <a:pPr marL="457200"/>
              <a:r>
                <a:rPr lang="en-US" sz="1200">
                  <a:solidFill>
                    <a:schemeClr val="tx1"/>
                  </a:solidFill>
                </a:rPr>
                <a:t>Aligns evidence generation with global product strategy and </a:t>
              </a:r>
              <a:r>
                <a:rPr lang="en-US" sz="1200" b="1">
                  <a:solidFill>
                    <a:schemeClr val="tx1"/>
                  </a:solidFill>
                </a:rPr>
                <a:t>enables proactive adaptation</a:t>
              </a:r>
              <a:r>
                <a:rPr lang="en-US" sz="1200">
                  <a:solidFill>
                    <a:schemeClr val="tx1"/>
                  </a:solidFill>
                </a:rPr>
                <a:t> as the landscape evolves</a:t>
              </a:r>
            </a:p>
          </p:txBody>
        </p:sp>
        <p:pic>
          <p:nvPicPr>
            <p:cNvPr id="61" name="Graphic 60">
              <a:extLst>
                <a:ext uri="{FF2B5EF4-FFF2-40B4-BE49-F238E27FC236}">
                  <a16:creationId xmlns:a16="http://schemas.microsoft.com/office/drawing/2014/main" id="{8BE7C820-E355-95ED-9FD9-8D26A51B125C}"/>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630963" y="3299884"/>
              <a:ext cx="262992" cy="267108"/>
            </a:xfrm>
            <a:prstGeom prst="rect">
              <a:avLst/>
            </a:prstGeom>
          </p:spPr>
        </p:pic>
      </p:grpSp>
      <p:sp>
        <p:nvSpPr>
          <p:cNvPr id="51" name="Rectangle: Rounded Corners 50">
            <a:extLst>
              <a:ext uri="{FF2B5EF4-FFF2-40B4-BE49-F238E27FC236}">
                <a16:creationId xmlns:a16="http://schemas.microsoft.com/office/drawing/2014/main" id="{FC716902-7C52-DE7D-C00F-FC076F4CEB89}"/>
              </a:ext>
            </a:extLst>
          </p:cNvPr>
          <p:cNvSpPr/>
          <p:nvPr/>
        </p:nvSpPr>
        <p:spPr>
          <a:xfrm>
            <a:off x="3913306" y="2393552"/>
            <a:ext cx="2787454" cy="3756785"/>
          </a:xfrm>
          <a:prstGeom prst="roundRect">
            <a:avLst>
              <a:gd name="adj" fmla="val 2963"/>
            </a:avLst>
          </a:prstGeom>
          <a:solidFill>
            <a:schemeClr val="bg1"/>
          </a:solidFill>
          <a:ln>
            <a:solidFill>
              <a:schemeClr val="accent3">
                <a:lumMod val="20000"/>
                <a:lumOff val="8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algn="ctr"/>
            <a:endParaRPr lang="en-US" sz="1200">
              <a:solidFill>
                <a:schemeClr val="tx1"/>
              </a:solidFill>
              <a:highlight>
                <a:srgbClr val="FFFF00"/>
              </a:highlight>
            </a:endParaRPr>
          </a:p>
        </p:txBody>
      </p:sp>
      <p:sp>
        <p:nvSpPr>
          <p:cNvPr id="57" name="TextBox 56">
            <a:extLst>
              <a:ext uri="{FF2B5EF4-FFF2-40B4-BE49-F238E27FC236}">
                <a16:creationId xmlns:a16="http://schemas.microsoft.com/office/drawing/2014/main" id="{D567F5E8-ACDD-3E0C-8824-5782F3BBAD6E}"/>
              </a:ext>
            </a:extLst>
          </p:cNvPr>
          <p:cNvSpPr txBox="1"/>
          <p:nvPr/>
        </p:nvSpPr>
        <p:spPr>
          <a:xfrm>
            <a:off x="4036615" y="2501274"/>
            <a:ext cx="2540836" cy="615553"/>
          </a:xfrm>
          <a:prstGeom prst="rect">
            <a:avLst/>
          </a:prstGeom>
          <a:noFill/>
        </p:spPr>
        <p:txBody>
          <a:bodyPr wrap="square" lIns="0" tIns="91440" rIns="0" bIns="91440" rtlCol="0">
            <a:spAutoFit/>
          </a:bodyPr>
          <a:lstStyle/>
          <a:p>
            <a:pPr algn="ctr"/>
            <a:r>
              <a:rPr lang="en-US" sz="1400" b="1"/>
              <a:t>The IEP is NOT a </a:t>
            </a:r>
          </a:p>
          <a:p>
            <a:pPr algn="ctr"/>
            <a:r>
              <a:rPr lang="en-US" sz="1400" b="1"/>
              <a:t>static study plan:</a:t>
            </a:r>
          </a:p>
        </p:txBody>
      </p:sp>
      <p:grpSp>
        <p:nvGrpSpPr>
          <p:cNvPr id="84" name="Group 83">
            <a:extLst>
              <a:ext uri="{FF2B5EF4-FFF2-40B4-BE49-F238E27FC236}">
                <a16:creationId xmlns:a16="http://schemas.microsoft.com/office/drawing/2014/main" id="{0232B659-145D-BD1B-E938-AB6BE6366FA3}"/>
              </a:ext>
            </a:extLst>
          </p:cNvPr>
          <p:cNvGrpSpPr/>
          <p:nvPr/>
        </p:nvGrpSpPr>
        <p:grpSpPr>
          <a:xfrm>
            <a:off x="506337" y="4185880"/>
            <a:ext cx="3133976" cy="822960"/>
            <a:chOff x="506337" y="4185880"/>
            <a:chExt cx="3133976" cy="822960"/>
          </a:xfrm>
        </p:grpSpPr>
        <p:sp>
          <p:nvSpPr>
            <p:cNvPr id="69" name="Rectangle 68">
              <a:extLst>
                <a:ext uri="{FF2B5EF4-FFF2-40B4-BE49-F238E27FC236}">
                  <a16:creationId xmlns:a16="http://schemas.microsoft.com/office/drawing/2014/main" id="{74177028-2B52-D99D-6492-E6F782F5F149}"/>
                </a:ext>
              </a:extLst>
            </p:cNvPr>
            <p:cNvSpPr/>
            <p:nvPr/>
          </p:nvSpPr>
          <p:spPr>
            <a:xfrm>
              <a:off x="506337" y="4185880"/>
              <a:ext cx="3133976" cy="822960"/>
            </a:xfrm>
            <a:prstGeom prst="rect">
              <a:avLst/>
            </a:prstGeom>
            <a:solidFill>
              <a:schemeClr val="bg2">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rIns="45720" rtlCol="0" anchor="ctr">
              <a:noAutofit/>
            </a:bodyPr>
            <a:lstStyle/>
            <a:p>
              <a:pPr marL="457200"/>
              <a:r>
                <a:rPr lang="en-US" sz="1200">
                  <a:solidFill>
                    <a:schemeClr val="tx1"/>
                  </a:solidFill>
                </a:rPr>
                <a:t>Prioritizes evidence gaps with </a:t>
              </a:r>
              <a:r>
                <a:rPr lang="en-US" sz="1200" b="1">
                  <a:solidFill>
                    <a:schemeClr val="tx1"/>
                  </a:solidFill>
                </a:rPr>
                <a:t>near- to mid-term tactics</a:t>
              </a:r>
              <a:r>
                <a:rPr lang="en-US" sz="1200">
                  <a:solidFill>
                    <a:schemeClr val="tx1"/>
                  </a:solidFill>
                </a:rPr>
                <a:t>, establishing a roadmap to address the most urgent priorities</a:t>
              </a:r>
            </a:p>
          </p:txBody>
        </p:sp>
        <p:pic>
          <p:nvPicPr>
            <p:cNvPr id="77" name="Graphic 76">
              <a:extLst>
                <a:ext uri="{FF2B5EF4-FFF2-40B4-BE49-F238E27FC236}">
                  <a16:creationId xmlns:a16="http://schemas.microsoft.com/office/drawing/2014/main" id="{171B11AE-0953-B66E-7D30-07F1054400C0}"/>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630963" y="4236923"/>
              <a:ext cx="262992" cy="267108"/>
            </a:xfrm>
            <a:prstGeom prst="rect">
              <a:avLst/>
            </a:prstGeom>
          </p:spPr>
        </p:pic>
      </p:grpSp>
      <p:grpSp>
        <p:nvGrpSpPr>
          <p:cNvPr id="85" name="Group 84">
            <a:extLst>
              <a:ext uri="{FF2B5EF4-FFF2-40B4-BE49-F238E27FC236}">
                <a16:creationId xmlns:a16="http://schemas.microsoft.com/office/drawing/2014/main" id="{9A295CEE-9500-5539-8849-33BDA1A720B9}"/>
              </a:ext>
            </a:extLst>
          </p:cNvPr>
          <p:cNvGrpSpPr/>
          <p:nvPr/>
        </p:nvGrpSpPr>
        <p:grpSpPr>
          <a:xfrm>
            <a:off x="506337" y="5150524"/>
            <a:ext cx="3133976" cy="822960"/>
            <a:chOff x="506337" y="5150524"/>
            <a:chExt cx="3133976" cy="822960"/>
          </a:xfrm>
        </p:grpSpPr>
        <p:sp>
          <p:nvSpPr>
            <p:cNvPr id="70" name="Rectangle 69">
              <a:extLst>
                <a:ext uri="{FF2B5EF4-FFF2-40B4-BE49-F238E27FC236}">
                  <a16:creationId xmlns:a16="http://schemas.microsoft.com/office/drawing/2014/main" id="{42A6225D-8124-6C34-236C-70726B0C5ED9}"/>
                </a:ext>
              </a:extLst>
            </p:cNvPr>
            <p:cNvSpPr/>
            <p:nvPr/>
          </p:nvSpPr>
          <p:spPr>
            <a:xfrm>
              <a:off x="506337" y="5150524"/>
              <a:ext cx="3133976" cy="822960"/>
            </a:xfrm>
            <a:prstGeom prst="rect">
              <a:avLst/>
            </a:prstGeom>
            <a:solidFill>
              <a:schemeClr val="bg2">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rIns="45720" rtlCol="0" anchor="ctr">
              <a:noAutofit/>
            </a:bodyPr>
            <a:lstStyle/>
            <a:p>
              <a:pPr marL="457200"/>
              <a:r>
                <a:rPr lang="en-US" sz="1200">
                  <a:solidFill>
                    <a:schemeClr val="tx1"/>
                  </a:solidFill>
                </a:rPr>
                <a:t>Guides</a:t>
              </a:r>
              <a:r>
                <a:rPr lang="en-US" sz="1200" b="1">
                  <a:solidFill>
                    <a:schemeClr val="tx1"/>
                  </a:solidFill>
                </a:rPr>
                <a:t> cross-functional decision making </a:t>
              </a:r>
              <a:r>
                <a:rPr lang="en-US" sz="1200">
                  <a:solidFill>
                    <a:schemeClr val="tx1"/>
                  </a:solidFill>
                </a:rPr>
                <a:t>and evidence generation activities</a:t>
              </a:r>
            </a:p>
          </p:txBody>
        </p:sp>
        <p:pic>
          <p:nvPicPr>
            <p:cNvPr id="78" name="Graphic 77">
              <a:extLst>
                <a:ext uri="{FF2B5EF4-FFF2-40B4-BE49-F238E27FC236}">
                  <a16:creationId xmlns:a16="http://schemas.microsoft.com/office/drawing/2014/main" id="{D9D3DA76-7DF7-51AB-5840-9E86FE7A5EF0}"/>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630963" y="5284732"/>
              <a:ext cx="262992" cy="267108"/>
            </a:xfrm>
            <a:prstGeom prst="rect">
              <a:avLst/>
            </a:prstGeom>
          </p:spPr>
        </p:pic>
      </p:grpSp>
      <p:sp>
        <p:nvSpPr>
          <p:cNvPr id="72" name="Rectangle 71">
            <a:extLst>
              <a:ext uri="{FF2B5EF4-FFF2-40B4-BE49-F238E27FC236}">
                <a16:creationId xmlns:a16="http://schemas.microsoft.com/office/drawing/2014/main" id="{8A8878CB-A3BB-88AF-BDB9-17AD73F9FBBE}"/>
              </a:ext>
            </a:extLst>
          </p:cNvPr>
          <p:cNvSpPr/>
          <p:nvPr/>
        </p:nvSpPr>
        <p:spPr>
          <a:xfrm>
            <a:off x="4010885" y="3225640"/>
            <a:ext cx="2620220" cy="607497"/>
          </a:xfrm>
          <a:prstGeom prst="rect">
            <a:avLst/>
          </a:prstGeom>
          <a:solidFill>
            <a:schemeClr val="bg2">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457200"/>
            <a:r>
              <a:rPr lang="en-US" sz="1200" b="1">
                <a:solidFill>
                  <a:schemeClr val="tx1"/>
                </a:solidFill>
              </a:rPr>
              <a:t>Not</a:t>
            </a:r>
            <a:r>
              <a:rPr lang="en-US" sz="1200">
                <a:solidFill>
                  <a:schemeClr val="tx1"/>
                </a:solidFill>
              </a:rPr>
              <a:t> intended to remain unchanged as new data emerges</a:t>
            </a:r>
          </a:p>
        </p:txBody>
      </p:sp>
      <p:pic>
        <p:nvPicPr>
          <p:cNvPr id="71" name="Graphic 70">
            <a:extLst>
              <a:ext uri="{FF2B5EF4-FFF2-40B4-BE49-F238E27FC236}">
                <a16:creationId xmlns:a16="http://schemas.microsoft.com/office/drawing/2014/main" id="{64E9C9FB-CC7E-F863-CE65-E157ACB62A9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78587" y="3218334"/>
            <a:ext cx="344724" cy="339501"/>
          </a:xfrm>
          <a:prstGeom prst="rect">
            <a:avLst/>
          </a:prstGeom>
        </p:spPr>
      </p:pic>
      <p:sp>
        <p:nvSpPr>
          <p:cNvPr id="73" name="Rectangle 72">
            <a:extLst>
              <a:ext uri="{FF2B5EF4-FFF2-40B4-BE49-F238E27FC236}">
                <a16:creationId xmlns:a16="http://schemas.microsoft.com/office/drawing/2014/main" id="{2B1C8760-5043-6F44-EB15-E6EB520A193B}"/>
              </a:ext>
            </a:extLst>
          </p:cNvPr>
          <p:cNvSpPr/>
          <p:nvPr/>
        </p:nvSpPr>
        <p:spPr>
          <a:xfrm>
            <a:off x="3982606" y="3941143"/>
            <a:ext cx="2620220" cy="603504"/>
          </a:xfrm>
          <a:prstGeom prst="rect">
            <a:avLst/>
          </a:prstGeom>
          <a:solidFill>
            <a:schemeClr val="bg2">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457200"/>
            <a:r>
              <a:rPr lang="en-US" sz="1200" b="1">
                <a:solidFill>
                  <a:schemeClr val="tx1"/>
                </a:solidFill>
              </a:rPr>
              <a:t>Not</a:t>
            </a:r>
            <a:r>
              <a:rPr lang="en-US" sz="1200">
                <a:solidFill>
                  <a:schemeClr val="tx1"/>
                </a:solidFill>
              </a:rPr>
              <a:t> a substitute for protocol development</a:t>
            </a:r>
          </a:p>
        </p:txBody>
      </p:sp>
      <p:pic>
        <p:nvPicPr>
          <p:cNvPr id="80" name="Graphic 79">
            <a:extLst>
              <a:ext uri="{FF2B5EF4-FFF2-40B4-BE49-F238E27FC236}">
                <a16:creationId xmlns:a16="http://schemas.microsoft.com/office/drawing/2014/main" id="{40BE179D-B445-8FB1-B4D7-540A5912EF1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78587" y="4014461"/>
            <a:ext cx="344724" cy="339501"/>
          </a:xfrm>
          <a:prstGeom prst="rect">
            <a:avLst/>
          </a:prstGeom>
        </p:spPr>
      </p:pic>
      <p:sp>
        <p:nvSpPr>
          <p:cNvPr id="74" name="Rectangle 73">
            <a:extLst>
              <a:ext uri="{FF2B5EF4-FFF2-40B4-BE49-F238E27FC236}">
                <a16:creationId xmlns:a16="http://schemas.microsoft.com/office/drawing/2014/main" id="{5299D432-9F88-E487-4E06-25C526941FD4}"/>
              </a:ext>
            </a:extLst>
          </p:cNvPr>
          <p:cNvSpPr/>
          <p:nvPr/>
        </p:nvSpPr>
        <p:spPr>
          <a:xfrm>
            <a:off x="4010885" y="4652653"/>
            <a:ext cx="2620220" cy="603504"/>
          </a:xfrm>
          <a:prstGeom prst="rect">
            <a:avLst/>
          </a:prstGeom>
          <a:solidFill>
            <a:schemeClr val="bg2">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457200"/>
            <a:r>
              <a:rPr lang="en-US" sz="1200" b="1">
                <a:solidFill>
                  <a:schemeClr val="tx1"/>
                </a:solidFill>
              </a:rPr>
              <a:t>Not</a:t>
            </a:r>
            <a:r>
              <a:rPr lang="en-US" sz="1200">
                <a:solidFill>
                  <a:schemeClr val="tx1"/>
                </a:solidFill>
              </a:rPr>
              <a:t> a commitment to execute every tactic</a:t>
            </a:r>
          </a:p>
        </p:txBody>
      </p:sp>
      <p:pic>
        <p:nvPicPr>
          <p:cNvPr id="81" name="Graphic 80">
            <a:extLst>
              <a:ext uri="{FF2B5EF4-FFF2-40B4-BE49-F238E27FC236}">
                <a16:creationId xmlns:a16="http://schemas.microsoft.com/office/drawing/2014/main" id="{A02E0B9B-9DE8-6809-184A-3B1E836B114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78587" y="4750345"/>
            <a:ext cx="344724" cy="339501"/>
          </a:xfrm>
          <a:prstGeom prst="rect">
            <a:avLst/>
          </a:prstGeom>
        </p:spPr>
      </p:pic>
      <p:sp>
        <p:nvSpPr>
          <p:cNvPr id="75" name="Rectangle 74">
            <a:extLst>
              <a:ext uri="{FF2B5EF4-FFF2-40B4-BE49-F238E27FC236}">
                <a16:creationId xmlns:a16="http://schemas.microsoft.com/office/drawing/2014/main" id="{CDEA9264-EDB3-E245-4BE9-D2998542310A}"/>
              </a:ext>
            </a:extLst>
          </p:cNvPr>
          <p:cNvSpPr/>
          <p:nvPr/>
        </p:nvSpPr>
        <p:spPr>
          <a:xfrm>
            <a:off x="3982606" y="5364163"/>
            <a:ext cx="2620220" cy="603504"/>
          </a:xfrm>
          <a:prstGeom prst="rect">
            <a:avLst/>
          </a:prstGeom>
          <a:solidFill>
            <a:schemeClr val="bg2">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457200"/>
            <a:r>
              <a:rPr lang="en-US" sz="1200" b="1">
                <a:solidFill>
                  <a:schemeClr val="tx1"/>
                </a:solidFill>
              </a:rPr>
              <a:t>Not</a:t>
            </a:r>
            <a:r>
              <a:rPr lang="en-US" sz="1200">
                <a:solidFill>
                  <a:schemeClr val="tx1"/>
                </a:solidFill>
              </a:rPr>
              <a:t> owned by a single function</a:t>
            </a:r>
          </a:p>
        </p:txBody>
      </p:sp>
      <p:pic>
        <p:nvPicPr>
          <p:cNvPr id="82" name="Graphic 81">
            <a:extLst>
              <a:ext uri="{FF2B5EF4-FFF2-40B4-BE49-F238E27FC236}">
                <a16:creationId xmlns:a16="http://schemas.microsoft.com/office/drawing/2014/main" id="{D97337CD-41EB-39CB-29F5-AADA34F7E08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78587" y="5456386"/>
            <a:ext cx="344724" cy="339501"/>
          </a:xfrm>
          <a:prstGeom prst="rect">
            <a:avLst/>
          </a:prstGeom>
        </p:spPr>
      </p:pic>
      <p:sp>
        <p:nvSpPr>
          <p:cNvPr id="15" name="Footer Placeholder 2">
            <a:extLst>
              <a:ext uri="{FF2B5EF4-FFF2-40B4-BE49-F238E27FC236}">
                <a16:creationId xmlns:a16="http://schemas.microsoft.com/office/drawing/2014/main" id="{67FE55E7-07CB-942E-9BE7-0821BE6AC239}"/>
              </a:ext>
            </a:extLst>
          </p:cNvPr>
          <p:cNvSpPr>
            <a:spLocks noGrp="1"/>
          </p:cNvSpPr>
          <p:nvPr>
            <p:ph type="ftr" sz="quarter" idx="10"/>
          </p:nvPr>
        </p:nvSpPr>
        <p:spPr>
          <a:xfrm>
            <a:off x="358337" y="6227807"/>
            <a:ext cx="7909560" cy="365760"/>
          </a:xfrm>
        </p:spPr>
        <p:txBody>
          <a:bodyPr/>
          <a:lstStyle/>
          <a:p>
            <a:r>
              <a:rPr lang="en-US"/>
              <a:t>Note: *Upper bound of IEP timeline is subject to change depending on IIT program(s) progression; Abbreviations: IEP: Integrated Evidence Plan; IIT: Investigator-Initiated Trial</a:t>
            </a:r>
          </a:p>
        </p:txBody>
      </p:sp>
      <p:grpSp>
        <p:nvGrpSpPr>
          <p:cNvPr id="3" name="Group 2">
            <a:extLst>
              <a:ext uri="{FF2B5EF4-FFF2-40B4-BE49-F238E27FC236}">
                <a16:creationId xmlns:a16="http://schemas.microsoft.com/office/drawing/2014/main" id="{D298E88D-8E31-7F7A-37F6-AB0A552706DE}"/>
              </a:ext>
            </a:extLst>
          </p:cNvPr>
          <p:cNvGrpSpPr/>
          <p:nvPr/>
        </p:nvGrpSpPr>
        <p:grpSpPr>
          <a:xfrm>
            <a:off x="362743" y="10216"/>
            <a:ext cx="10042505" cy="252000"/>
            <a:chOff x="362743" y="10216"/>
            <a:chExt cx="10042505" cy="252000"/>
          </a:xfrm>
        </p:grpSpPr>
        <p:sp>
          <p:nvSpPr>
            <p:cNvPr id="4" name="Pentagon 47">
              <a:extLst>
                <a:ext uri="{FF2B5EF4-FFF2-40B4-BE49-F238E27FC236}">
                  <a16:creationId xmlns:a16="http://schemas.microsoft.com/office/drawing/2014/main" id="{CD1E08E9-21EA-0522-A4E0-01A682A235E8}"/>
                </a:ext>
              </a:extLst>
            </p:cNvPr>
            <p:cNvSpPr/>
            <p:nvPr/>
          </p:nvSpPr>
          <p:spPr>
            <a:xfrm>
              <a:off x="362743" y="10216"/>
              <a:ext cx="1695265" cy="252000"/>
            </a:xfrm>
            <a:prstGeom prst="homePlate">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10" name="Chevron 48">
              <a:extLst>
                <a:ext uri="{FF2B5EF4-FFF2-40B4-BE49-F238E27FC236}">
                  <a16:creationId xmlns:a16="http://schemas.microsoft.com/office/drawing/2014/main" id="{B6494ECE-E79B-63B2-1051-0CC6C4C16B0B}"/>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11" name="Chevron 52">
              <a:extLst>
                <a:ext uri="{FF2B5EF4-FFF2-40B4-BE49-F238E27FC236}">
                  <a16:creationId xmlns:a16="http://schemas.microsoft.com/office/drawing/2014/main" id="{FE07C5E6-1C9A-4D7A-70D6-120D18C3E76D}"/>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12" name="Chevron 54">
              <a:extLst>
                <a:ext uri="{FF2B5EF4-FFF2-40B4-BE49-F238E27FC236}">
                  <a16:creationId xmlns:a16="http://schemas.microsoft.com/office/drawing/2014/main" id="{4F9D6556-09D5-0E03-69F4-546E14832FFD}"/>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3" name="Chevron 48">
              <a:extLst>
                <a:ext uri="{FF2B5EF4-FFF2-40B4-BE49-F238E27FC236}">
                  <a16:creationId xmlns:a16="http://schemas.microsoft.com/office/drawing/2014/main" id="{2E5C3369-9ECC-75A3-21DA-1DB8FA3B318B}"/>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52" name="Chevron 48">
              <a:extLst>
                <a:ext uri="{FF2B5EF4-FFF2-40B4-BE49-F238E27FC236}">
                  <a16:creationId xmlns:a16="http://schemas.microsoft.com/office/drawing/2014/main" id="{FA3D37C1-EC94-B2C7-91F5-08BF378055D1}"/>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2190630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4CDA07E-B80F-2A92-BDC3-7653CCFF0D6B}"/>
              </a:ext>
            </a:extLst>
          </p:cNvPr>
          <p:cNvGraphicFramePr>
            <a:graphicFrameLocks/>
          </p:cNvGraphicFramePr>
          <p:nvPr>
            <p:custDataLst>
              <p:tags r:id="rId1"/>
            </p:custDataLst>
            <p:extLst>
              <p:ext uri="{D42A27DB-BD31-4B8C-83A1-F6EECF244321}">
                <p14:modId xmlns:p14="http://schemas.microsoft.com/office/powerpoint/2010/main" val="10930443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4" name="think-cell data - do not delete" hidden="1">
                        <a:extLst>
                          <a:ext uri="{FF2B5EF4-FFF2-40B4-BE49-F238E27FC236}">
                            <a16:creationId xmlns:a16="http://schemas.microsoft.com/office/drawing/2014/main" id="{84CDA07E-B80F-2A92-BDC3-7653CCFF0D6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39" name="Group 138">
            <a:extLst>
              <a:ext uri="{FF2B5EF4-FFF2-40B4-BE49-F238E27FC236}">
                <a16:creationId xmlns:a16="http://schemas.microsoft.com/office/drawing/2014/main" id="{777A903E-C3F8-79A8-791C-22A71C03D62D}"/>
              </a:ext>
            </a:extLst>
          </p:cNvPr>
          <p:cNvGrpSpPr/>
          <p:nvPr/>
        </p:nvGrpSpPr>
        <p:grpSpPr>
          <a:xfrm>
            <a:off x="358336" y="2307783"/>
            <a:ext cx="6633013" cy="3198375"/>
            <a:chOff x="358337" y="2307783"/>
            <a:chExt cx="4973520" cy="3926245"/>
          </a:xfrm>
        </p:grpSpPr>
        <p:sp>
          <p:nvSpPr>
            <p:cNvPr id="81" name="Rectangle: Rounded Corners 80">
              <a:extLst>
                <a:ext uri="{FF2B5EF4-FFF2-40B4-BE49-F238E27FC236}">
                  <a16:creationId xmlns:a16="http://schemas.microsoft.com/office/drawing/2014/main" id="{F579EB47-6E87-8897-CABC-95FF2F4CB915}"/>
                </a:ext>
              </a:extLst>
            </p:cNvPr>
            <p:cNvSpPr/>
            <p:nvPr/>
          </p:nvSpPr>
          <p:spPr>
            <a:xfrm>
              <a:off x="358337" y="2307783"/>
              <a:ext cx="4973520" cy="3920016"/>
            </a:xfrm>
            <a:prstGeom prst="roundRect">
              <a:avLst>
                <a:gd name="adj" fmla="val 379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endParaRPr lang="en-US" sz="1100">
                <a:solidFill>
                  <a:schemeClr val="bg1"/>
                </a:solidFill>
              </a:endParaRPr>
            </a:p>
          </p:txBody>
        </p:sp>
        <p:sp>
          <p:nvSpPr>
            <p:cNvPr id="23" name="Rectangle 22">
              <a:extLst>
                <a:ext uri="{FF2B5EF4-FFF2-40B4-BE49-F238E27FC236}">
                  <a16:creationId xmlns:a16="http://schemas.microsoft.com/office/drawing/2014/main" id="{AC7BBE9D-0B53-89F0-33FA-FB5153812115}"/>
                </a:ext>
              </a:extLst>
            </p:cNvPr>
            <p:cNvSpPr/>
            <p:nvPr/>
          </p:nvSpPr>
          <p:spPr>
            <a:xfrm>
              <a:off x="1054761" y="3153351"/>
              <a:ext cx="3845250" cy="4595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noAutofit/>
            </a:bodyPr>
            <a:lstStyle/>
            <a:p>
              <a:r>
                <a:rPr lang="en-US" sz="1100" i="1">
                  <a:solidFill>
                    <a:schemeClr val="tx2"/>
                  </a:solidFill>
                </a:rPr>
                <a:t>Comprehensive materials audit and cross-functional input identified evidence gaps </a:t>
              </a:r>
            </a:p>
          </p:txBody>
        </p:sp>
        <p:sp>
          <p:nvSpPr>
            <p:cNvPr id="24" name="Rectangle 23">
              <a:extLst>
                <a:ext uri="{FF2B5EF4-FFF2-40B4-BE49-F238E27FC236}">
                  <a16:creationId xmlns:a16="http://schemas.microsoft.com/office/drawing/2014/main" id="{8BB54251-5147-84BA-36B8-AAF241DC102E}"/>
                </a:ext>
              </a:extLst>
            </p:cNvPr>
            <p:cNvSpPr/>
            <p:nvPr/>
          </p:nvSpPr>
          <p:spPr>
            <a:xfrm>
              <a:off x="1001836" y="2905574"/>
              <a:ext cx="3227263" cy="27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Ins="45720" rtlCol="0" anchor="ctr">
              <a:noAutofit/>
            </a:bodyPr>
            <a:lstStyle/>
            <a:p>
              <a:r>
                <a:rPr lang="en-US" sz="1100" b="1">
                  <a:solidFill>
                    <a:schemeClr val="accent2"/>
                  </a:solidFill>
                </a:rPr>
                <a:t>1. Evidence Gap Identification</a:t>
              </a:r>
            </a:p>
          </p:txBody>
        </p:sp>
        <p:sp>
          <p:nvSpPr>
            <p:cNvPr id="30" name="Rectangle 29">
              <a:extLst>
                <a:ext uri="{FF2B5EF4-FFF2-40B4-BE49-F238E27FC236}">
                  <a16:creationId xmlns:a16="http://schemas.microsoft.com/office/drawing/2014/main" id="{7E275A82-8BC1-9D78-DA9D-5B0A3DFA74A0}"/>
                </a:ext>
              </a:extLst>
            </p:cNvPr>
            <p:cNvSpPr/>
            <p:nvPr/>
          </p:nvSpPr>
          <p:spPr>
            <a:xfrm>
              <a:off x="1054761" y="4025951"/>
              <a:ext cx="3845250" cy="2291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noAutofit/>
            </a:bodyPr>
            <a:lstStyle/>
            <a:p>
              <a:r>
                <a:rPr lang="en-US" sz="1100" i="1">
                  <a:solidFill>
                    <a:schemeClr val="tx2"/>
                  </a:solidFill>
                </a:rPr>
                <a:t>Cross-functional survey input, core-team input, and KOL validation informed the prioritization of gaps </a:t>
              </a:r>
            </a:p>
          </p:txBody>
        </p:sp>
        <p:sp>
          <p:nvSpPr>
            <p:cNvPr id="31" name="Rectangle 30">
              <a:extLst>
                <a:ext uri="{FF2B5EF4-FFF2-40B4-BE49-F238E27FC236}">
                  <a16:creationId xmlns:a16="http://schemas.microsoft.com/office/drawing/2014/main" id="{3F6D9E12-A970-E65E-80C9-4E77DAE05400}"/>
                </a:ext>
              </a:extLst>
            </p:cNvPr>
            <p:cNvSpPr/>
            <p:nvPr/>
          </p:nvSpPr>
          <p:spPr>
            <a:xfrm>
              <a:off x="1025318" y="3772826"/>
              <a:ext cx="3227263" cy="2272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Ins="45720" rtlCol="0" anchor="ctr">
              <a:noAutofit/>
            </a:bodyPr>
            <a:lstStyle/>
            <a:p>
              <a:r>
                <a:rPr lang="en-US" sz="1100" b="1">
                  <a:solidFill>
                    <a:schemeClr val="accent4"/>
                  </a:solidFill>
                </a:rPr>
                <a:t>2. Gap Prioritization</a:t>
              </a:r>
            </a:p>
          </p:txBody>
        </p:sp>
        <p:sp>
          <p:nvSpPr>
            <p:cNvPr id="37" name="Rectangle 36">
              <a:extLst>
                <a:ext uri="{FF2B5EF4-FFF2-40B4-BE49-F238E27FC236}">
                  <a16:creationId xmlns:a16="http://schemas.microsoft.com/office/drawing/2014/main" id="{BAC70414-0366-0453-C8E8-290EF44C0BF7}"/>
                </a:ext>
              </a:extLst>
            </p:cNvPr>
            <p:cNvSpPr/>
            <p:nvPr/>
          </p:nvSpPr>
          <p:spPr>
            <a:xfrm>
              <a:off x="1054760" y="4875443"/>
              <a:ext cx="4193867" cy="4595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noAutofit/>
            </a:bodyPr>
            <a:lstStyle/>
            <a:p>
              <a:r>
                <a:rPr lang="en-US" sz="1100" i="1">
                  <a:solidFill>
                    <a:schemeClr val="tx2"/>
                  </a:solidFill>
                </a:rPr>
                <a:t>Cross-functional workshop at ASCO 2026 to build out and pressure test outlined tactics for evidence generation</a:t>
              </a:r>
            </a:p>
          </p:txBody>
        </p:sp>
        <p:sp>
          <p:nvSpPr>
            <p:cNvPr id="38" name="Rectangle 37">
              <a:extLst>
                <a:ext uri="{FF2B5EF4-FFF2-40B4-BE49-F238E27FC236}">
                  <a16:creationId xmlns:a16="http://schemas.microsoft.com/office/drawing/2014/main" id="{839227E9-9772-1819-7CE3-D110E09EBDD6}"/>
                </a:ext>
              </a:extLst>
            </p:cNvPr>
            <p:cNvSpPr/>
            <p:nvPr/>
          </p:nvSpPr>
          <p:spPr>
            <a:xfrm>
              <a:off x="1025318" y="4622409"/>
              <a:ext cx="3730562" cy="2785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Ins="45720" rtlCol="0" anchor="ctr">
              <a:noAutofit/>
            </a:bodyPr>
            <a:lstStyle/>
            <a:p>
              <a:r>
                <a:rPr lang="en-US" sz="1100" b="1">
                  <a:solidFill>
                    <a:schemeClr val="accent1"/>
                  </a:solidFill>
                </a:rPr>
                <a:t>3. Tactical Development</a:t>
              </a:r>
            </a:p>
          </p:txBody>
        </p:sp>
        <p:sp>
          <p:nvSpPr>
            <p:cNvPr id="44" name="Rectangle 43">
              <a:extLst>
                <a:ext uri="{FF2B5EF4-FFF2-40B4-BE49-F238E27FC236}">
                  <a16:creationId xmlns:a16="http://schemas.microsoft.com/office/drawing/2014/main" id="{7CD65476-C182-3DDF-3813-C18FA79AEF7D}"/>
                </a:ext>
              </a:extLst>
            </p:cNvPr>
            <p:cNvSpPr/>
            <p:nvPr/>
          </p:nvSpPr>
          <p:spPr>
            <a:xfrm>
              <a:off x="1025317" y="5718588"/>
              <a:ext cx="4223310" cy="5154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noAutofit/>
            </a:bodyPr>
            <a:lstStyle/>
            <a:p>
              <a:r>
                <a:rPr lang="en-US" sz="1100" i="1">
                  <a:solidFill>
                    <a:schemeClr val="tx2"/>
                  </a:solidFill>
                </a:rPr>
                <a:t>Workshop outputs, functional team working sessions, and core team feedback were incorporated into an initial IEP</a:t>
              </a:r>
            </a:p>
          </p:txBody>
        </p:sp>
        <p:sp>
          <p:nvSpPr>
            <p:cNvPr id="45" name="Rectangle 44">
              <a:extLst>
                <a:ext uri="{FF2B5EF4-FFF2-40B4-BE49-F238E27FC236}">
                  <a16:creationId xmlns:a16="http://schemas.microsoft.com/office/drawing/2014/main" id="{9732F50C-162F-8335-673E-38C1560BF4C1}"/>
                </a:ext>
              </a:extLst>
            </p:cNvPr>
            <p:cNvSpPr/>
            <p:nvPr/>
          </p:nvSpPr>
          <p:spPr>
            <a:xfrm>
              <a:off x="989770" y="5436267"/>
              <a:ext cx="3667057" cy="3015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Ins="45720" rtlCol="0" anchor="ctr">
              <a:noAutofit/>
            </a:bodyPr>
            <a:lstStyle/>
            <a:p>
              <a:r>
                <a:rPr lang="en-US" sz="1100" b="1">
                  <a:solidFill>
                    <a:schemeClr val="accent6"/>
                  </a:solidFill>
                </a:rPr>
                <a:t>4. IEP Development</a:t>
              </a:r>
            </a:p>
          </p:txBody>
        </p:sp>
        <p:cxnSp>
          <p:nvCxnSpPr>
            <p:cNvPr id="84" name="Straight Connector 83">
              <a:extLst>
                <a:ext uri="{FF2B5EF4-FFF2-40B4-BE49-F238E27FC236}">
                  <a16:creationId xmlns:a16="http://schemas.microsoft.com/office/drawing/2014/main" id="{2943C40F-8B8D-D22F-4B2F-BAA1572001E5}"/>
                </a:ext>
              </a:extLst>
            </p:cNvPr>
            <p:cNvCxnSpPr>
              <a:cxnSpLocks/>
            </p:cNvCxnSpPr>
            <p:nvPr/>
          </p:nvCxnSpPr>
          <p:spPr>
            <a:xfrm>
              <a:off x="625675" y="2545563"/>
              <a:ext cx="4438845"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FCBDBA56-1616-F48F-5EF6-3E3B07798CB8}"/>
                </a:ext>
              </a:extLst>
            </p:cNvPr>
            <p:cNvSpPr/>
            <p:nvPr/>
          </p:nvSpPr>
          <p:spPr>
            <a:xfrm>
              <a:off x="1762456" y="2362683"/>
              <a:ext cx="2165284" cy="3657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lnSpcReduction="10000"/>
            </a:bodyPr>
            <a:lstStyle/>
            <a:p>
              <a:pPr algn="ctr"/>
              <a:r>
                <a:rPr lang="en-US" sz="1400" b="1">
                  <a:solidFill>
                    <a:schemeClr val="tx1"/>
                  </a:solidFill>
                </a:rPr>
                <a:t>The IEP development process… </a:t>
              </a:r>
            </a:p>
          </p:txBody>
        </p:sp>
      </p:grpSp>
      <p:sp>
        <p:nvSpPr>
          <p:cNvPr id="2" name="Title 1">
            <a:extLst>
              <a:ext uri="{FF2B5EF4-FFF2-40B4-BE49-F238E27FC236}">
                <a16:creationId xmlns:a16="http://schemas.microsoft.com/office/drawing/2014/main" id="{4F26BEC6-BE6C-775D-B4FA-E66194DF1953}"/>
              </a:ext>
            </a:extLst>
          </p:cNvPr>
          <p:cNvSpPr>
            <a:spLocks noGrp="1"/>
          </p:cNvSpPr>
          <p:nvPr>
            <p:ph type="title"/>
          </p:nvPr>
        </p:nvSpPr>
        <p:spPr>
          <a:xfrm>
            <a:off x="358337" y="338328"/>
            <a:ext cx="11470125" cy="738664"/>
          </a:xfrm>
        </p:spPr>
        <p:txBody>
          <a:bodyPr vert="horz" rIns="0">
            <a:spAutoFit/>
          </a:bodyPr>
          <a:lstStyle/>
          <a:p>
            <a:r>
              <a:rPr lang="en-US" sz="2400"/>
              <a:t>The IEP was shaped by cross-functional and regional collaboration to identify, prioritize, and address BGBG-58067’s evidence gaps</a:t>
            </a:r>
          </a:p>
        </p:txBody>
      </p:sp>
      <p:sp>
        <p:nvSpPr>
          <p:cNvPr id="3" name="Footer Placeholder 2">
            <a:extLst>
              <a:ext uri="{FF2B5EF4-FFF2-40B4-BE49-F238E27FC236}">
                <a16:creationId xmlns:a16="http://schemas.microsoft.com/office/drawing/2014/main" id="{12E5B9B4-1F0B-32DE-E0D9-6CAA64C44DDF}"/>
              </a:ext>
            </a:extLst>
          </p:cNvPr>
          <p:cNvSpPr>
            <a:spLocks noGrp="1"/>
          </p:cNvSpPr>
          <p:nvPr>
            <p:ph type="ftr" sz="quarter" idx="10"/>
          </p:nvPr>
        </p:nvSpPr>
        <p:spPr/>
        <p:txBody>
          <a:bodyPr/>
          <a:lstStyle/>
          <a:p>
            <a:r>
              <a:rPr lang="en-US"/>
              <a:t>Abbreviations: ASCO: American Society of Clinical Oncology; IEP: Integrated Evidence Plan; KOL: Key Opinion Leader</a:t>
            </a:r>
          </a:p>
        </p:txBody>
      </p:sp>
      <p:sp>
        <p:nvSpPr>
          <p:cNvPr id="10" name="Rectangle: Rounded Corners 9">
            <a:extLst>
              <a:ext uri="{FF2B5EF4-FFF2-40B4-BE49-F238E27FC236}">
                <a16:creationId xmlns:a16="http://schemas.microsoft.com/office/drawing/2014/main" id="{E69E120E-8829-9592-E0D0-4F46A83BC2CA}"/>
              </a:ext>
            </a:extLst>
          </p:cNvPr>
          <p:cNvSpPr/>
          <p:nvPr/>
        </p:nvSpPr>
        <p:spPr>
          <a:xfrm>
            <a:off x="2470940" y="1362074"/>
            <a:ext cx="2160000" cy="720000"/>
          </a:xfrm>
          <a:prstGeom prst="round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noAutofit/>
          </a:bodyPr>
          <a:lstStyle/>
          <a:p>
            <a:pPr algn="ctr"/>
            <a:r>
              <a:rPr lang="en-US" b="1">
                <a:solidFill>
                  <a:schemeClr val="accent2">
                    <a:lumMod val="75000"/>
                    <a:lumOff val="25000"/>
                  </a:schemeClr>
                </a:solidFill>
              </a:rPr>
              <a:t>44</a:t>
            </a:r>
          </a:p>
          <a:p>
            <a:pPr algn="ctr"/>
            <a:r>
              <a:rPr lang="en-US" sz="1100">
                <a:solidFill>
                  <a:schemeClr val="tx1"/>
                </a:solidFill>
              </a:rPr>
              <a:t>Evidence gaps identified</a:t>
            </a:r>
          </a:p>
        </p:txBody>
      </p:sp>
      <p:sp>
        <p:nvSpPr>
          <p:cNvPr id="14" name="TextBox 13">
            <a:extLst>
              <a:ext uri="{FF2B5EF4-FFF2-40B4-BE49-F238E27FC236}">
                <a16:creationId xmlns:a16="http://schemas.microsoft.com/office/drawing/2014/main" id="{638A8A71-AD5E-8A48-B828-087D58063CF9}"/>
              </a:ext>
            </a:extLst>
          </p:cNvPr>
          <p:cNvSpPr txBox="1"/>
          <p:nvPr/>
        </p:nvSpPr>
        <p:spPr>
          <a:xfrm>
            <a:off x="358337" y="1522019"/>
            <a:ext cx="2112603" cy="400110"/>
          </a:xfrm>
          <a:prstGeom prst="rect">
            <a:avLst/>
          </a:prstGeom>
          <a:noFill/>
        </p:spPr>
        <p:txBody>
          <a:bodyPr wrap="square" lIns="91440" tIns="91440" rIns="91440" bIns="91440" rtlCol="0">
            <a:spAutoFit/>
          </a:bodyPr>
          <a:lstStyle/>
          <a:p>
            <a:pPr algn="l"/>
            <a:r>
              <a:rPr lang="en-US" sz="1400" b="1"/>
              <a:t>IEP by the Numbers:</a:t>
            </a:r>
          </a:p>
        </p:txBody>
      </p:sp>
      <p:sp>
        <p:nvSpPr>
          <p:cNvPr id="15" name="Rectangle: Rounded Corners 14">
            <a:extLst>
              <a:ext uri="{FF2B5EF4-FFF2-40B4-BE49-F238E27FC236}">
                <a16:creationId xmlns:a16="http://schemas.microsoft.com/office/drawing/2014/main" id="{EE56F06A-BCFC-3EC3-FCAA-A4D4A544144F}"/>
              </a:ext>
            </a:extLst>
          </p:cNvPr>
          <p:cNvSpPr/>
          <p:nvPr/>
        </p:nvSpPr>
        <p:spPr>
          <a:xfrm>
            <a:off x="4870114" y="1362074"/>
            <a:ext cx="2160000" cy="720000"/>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noAutofit/>
          </a:bodyPr>
          <a:lstStyle/>
          <a:p>
            <a:pPr algn="ctr"/>
            <a:r>
              <a:rPr lang="en-US" b="1">
                <a:solidFill>
                  <a:schemeClr val="accent4"/>
                </a:solidFill>
              </a:rPr>
              <a:t>20</a:t>
            </a:r>
          </a:p>
          <a:p>
            <a:pPr algn="ctr"/>
            <a:r>
              <a:rPr lang="en-US" sz="1100">
                <a:solidFill>
                  <a:schemeClr val="tx1"/>
                </a:solidFill>
              </a:rPr>
              <a:t>Evidence gaps aligned as critical/high priority</a:t>
            </a:r>
          </a:p>
        </p:txBody>
      </p:sp>
      <p:sp>
        <p:nvSpPr>
          <p:cNvPr id="16" name="Rectangle: Rounded Corners 15">
            <a:extLst>
              <a:ext uri="{FF2B5EF4-FFF2-40B4-BE49-F238E27FC236}">
                <a16:creationId xmlns:a16="http://schemas.microsoft.com/office/drawing/2014/main" id="{3767F84A-1DB4-4E3E-99D3-BB28FA2EBE56}"/>
              </a:ext>
            </a:extLst>
          </p:cNvPr>
          <p:cNvSpPr/>
          <p:nvPr/>
        </p:nvSpPr>
        <p:spPr>
          <a:xfrm>
            <a:off x="7269288" y="1362074"/>
            <a:ext cx="2160000" cy="72000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noAutofit/>
          </a:bodyPr>
          <a:lstStyle/>
          <a:p>
            <a:pPr algn="ctr"/>
            <a:r>
              <a:rPr lang="en-US" b="1">
                <a:solidFill>
                  <a:schemeClr val="accent1"/>
                </a:solidFill>
              </a:rPr>
              <a:t>45</a:t>
            </a:r>
          </a:p>
          <a:p>
            <a:pPr algn="ctr"/>
            <a:r>
              <a:rPr lang="en-US" sz="1100">
                <a:solidFill>
                  <a:schemeClr val="tx1"/>
                </a:solidFill>
              </a:rPr>
              <a:t>Tactics outlined across critical/high priority gaps</a:t>
            </a:r>
          </a:p>
        </p:txBody>
      </p:sp>
      <p:sp>
        <p:nvSpPr>
          <p:cNvPr id="17" name="Rectangle: Rounded Corners 16">
            <a:extLst>
              <a:ext uri="{FF2B5EF4-FFF2-40B4-BE49-F238E27FC236}">
                <a16:creationId xmlns:a16="http://schemas.microsoft.com/office/drawing/2014/main" id="{00F1DED8-E176-5FBF-1106-D4E67059DFBA}"/>
              </a:ext>
            </a:extLst>
          </p:cNvPr>
          <p:cNvSpPr/>
          <p:nvPr/>
        </p:nvSpPr>
        <p:spPr>
          <a:xfrm>
            <a:off x="9668462" y="1362074"/>
            <a:ext cx="2160000" cy="720000"/>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noAutofit/>
          </a:bodyPr>
          <a:lstStyle/>
          <a:p>
            <a:pPr algn="ctr"/>
            <a:r>
              <a:rPr lang="en-US" b="1">
                <a:solidFill>
                  <a:schemeClr val="accent6"/>
                </a:solidFill>
              </a:rPr>
              <a:t>36</a:t>
            </a:r>
          </a:p>
          <a:p>
            <a:pPr algn="ctr"/>
            <a:r>
              <a:rPr lang="en-US" sz="1100">
                <a:solidFill>
                  <a:schemeClr val="tx1"/>
                </a:solidFill>
              </a:rPr>
              <a:t>Consolidated tactics included in the IEP</a:t>
            </a:r>
          </a:p>
        </p:txBody>
      </p:sp>
      <p:cxnSp>
        <p:nvCxnSpPr>
          <p:cNvPr id="19" name="Straight Connector 18">
            <a:extLst>
              <a:ext uri="{FF2B5EF4-FFF2-40B4-BE49-F238E27FC236}">
                <a16:creationId xmlns:a16="http://schemas.microsoft.com/office/drawing/2014/main" id="{643F4A59-CC16-425C-C6CE-21B580231CE9}"/>
              </a:ext>
            </a:extLst>
          </p:cNvPr>
          <p:cNvCxnSpPr/>
          <p:nvPr/>
        </p:nvCxnSpPr>
        <p:spPr>
          <a:xfrm>
            <a:off x="523875" y="2200275"/>
            <a:ext cx="1094422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5E54B34A-20D8-9898-F071-4A1777FE296C}"/>
              </a:ext>
            </a:extLst>
          </p:cNvPr>
          <p:cNvGrpSpPr/>
          <p:nvPr/>
        </p:nvGrpSpPr>
        <p:grpSpPr>
          <a:xfrm>
            <a:off x="541592" y="2805546"/>
            <a:ext cx="544946" cy="523719"/>
            <a:chOff x="440918" y="1912233"/>
            <a:chExt cx="544946" cy="548640"/>
          </a:xfrm>
        </p:grpSpPr>
        <p:sp>
          <p:nvSpPr>
            <p:cNvPr id="26" name="Oval 25">
              <a:extLst>
                <a:ext uri="{FF2B5EF4-FFF2-40B4-BE49-F238E27FC236}">
                  <a16:creationId xmlns:a16="http://schemas.microsoft.com/office/drawing/2014/main" id="{6D6B40FD-DA82-E92D-BB43-810D90417AD9}"/>
                </a:ext>
              </a:extLst>
            </p:cNvPr>
            <p:cNvSpPr>
              <a:spLocks noChangeAspect="1"/>
            </p:cNvSpPr>
            <p:nvPr/>
          </p:nvSpPr>
          <p:spPr>
            <a:xfrm>
              <a:off x="440918" y="1912233"/>
              <a:ext cx="544946" cy="548640"/>
            </a:xfrm>
            <a:prstGeom prst="ellipse">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pic>
          <p:nvPicPr>
            <p:cNvPr id="27" name="Graphic 26">
              <a:extLst>
                <a:ext uri="{FF2B5EF4-FFF2-40B4-BE49-F238E27FC236}">
                  <a16:creationId xmlns:a16="http://schemas.microsoft.com/office/drawing/2014/main" id="{47D181A2-0A15-E908-7A76-1034931ECE7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30841" y="2013421"/>
              <a:ext cx="365099" cy="365099"/>
            </a:xfrm>
            <a:prstGeom prst="rect">
              <a:avLst/>
            </a:prstGeom>
          </p:spPr>
        </p:pic>
      </p:grpSp>
      <p:grpSp>
        <p:nvGrpSpPr>
          <p:cNvPr id="32" name="Group 31">
            <a:extLst>
              <a:ext uri="{FF2B5EF4-FFF2-40B4-BE49-F238E27FC236}">
                <a16:creationId xmlns:a16="http://schemas.microsoft.com/office/drawing/2014/main" id="{A4F9DF1B-B724-D2F8-644E-D8D59910EECA}"/>
              </a:ext>
            </a:extLst>
          </p:cNvPr>
          <p:cNvGrpSpPr/>
          <p:nvPr/>
        </p:nvGrpSpPr>
        <p:grpSpPr>
          <a:xfrm>
            <a:off x="541592" y="3498703"/>
            <a:ext cx="544946" cy="523719"/>
            <a:chOff x="3309920" y="1912233"/>
            <a:chExt cx="544946" cy="548640"/>
          </a:xfrm>
        </p:grpSpPr>
        <p:sp>
          <p:nvSpPr>
            <p:cNvPr id="33" name="Oval 32">
              <a:extLst>
                <a:ext uri="{FF2B5EF4-FFF2-40B4-BE49-F238E27FC236}">
                  <a16:creationId xmlns:a16="http://schemas.microsoft.com/office/drawing/2014/main" id="{7DBCD585-9794-5532-2475-9CEA42A00AE0}"/>
                </a:ext>
              </a:extLst>
            </p:cNvPr>
            <p:cNvSpPr>
              <a:spLocks noChangeAspect="1"/>
            </p:cNvSpPr>
            <p:nvPr/>
          </p:nvSpPr>
          <p:spPr>
            <a:xfrm>
              <a:off x="3309920" y="1912233"/>
              <a:ext cx="544946" cy="548640"/>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pic>
          <p:nvPicPr>
            <p:cNvPr id="34" name="Graphic 33">
              <a:extLst>
                <a:ext uri="{FF2B5EF4-FFF2-40B4-BE49-F238E27FC236}">
                  <a16:creationId xmlns:a16="http://schemas.microsoft.com/office/drawing/2014/main" id="{B8C5C5AF-E26E-9E19-3678-B4ECB988804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03799" y="2007959"/>
              <a:ext cx="357188" cy="357188"/>
            </a:xfrm>
            <a:prstGeom prst="rect">
              <a:avLst/>
            </a:prstGeom>
          </p:spPr>
        </p:pic>
      </p:grpSp>
      <p:grpSp>
        <p:nvGrpSpPr>
          <p:cNvPr id="39" name="Group 38">
            <a:extLst>
              <a:ext uri="{FF2B5EF4-FFF2-40B4-BE49-F238E27FC236}">
                <a16:creationId xmlns:a16="http://schemas.microsoft.com/office/drawing/2014/main" id="{3C202318-22CA-4763-4613-8AFF439B70E7}"/>
              </a:ext>
            </a:extLst>
          </p:cNvPr>
          <p:cNvGrpSpPr/>
          <p:nvPr/>
        </p:nvGrpSpPr>
        <p:grpSpPr>
          <a:xfrm>
            <a:off x="541592" y="4191860"/>
            <a:ext cx="544946" cy="523719"/>
            <a:chOff x="6276245" y="1912233"/>
            <a:chExt cx="544946" cy="548640"/>
          </a:xfrm>
        </p:grpSpPr>
        <p:sp>
          <p:nvSpPr>
            <p:cNvPr id="40" name="Oval 39">
              <a:extLst>
                <a:ext uri="{FF2B5EF4-FFF2-40B4-BE49-F238E27FC236}">
                  <a16:creationId xmlns:a16="http://schemas.microsoft.com/office/drawing/2014/main" id="{DD692E2E-999B-7FAF-D827-AACC6CC79D17}"/>
                </a:ext>
              </a:extLst>
            </p:cNvPr>
            <p:cNvSpPr>
              <a:spLocks noChangeAspect="1"/>
            </p:cNvSpPr>
            <p:nvPr/>
          </p:nvSpPr>
          <p:spPr>
            <a:xfrm>
              <a:off x="6276245" y="1912233"/>
              <a:ext cx="544946" cy="54864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pic>
          <p:nvPicPr>
            <p:cNvPr id="41" name="Graphic 40">
              <a:extLst>
                <a:ext uri="{FF2B5EF4-FFF2-40B4-BE49-F238E27FC236}">
                  <a16:creationId xmlns:a16="http://schemas.microsoft.com/office/drawing/2014/main" id="{F5C105BD-37DD-E736-2992-A1234B556A8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365838" y="2012760"/>
              <a:ext cx="365760" cy="365760"/>
            </a:xfrm>
            <a:prstGeom prst="rect">
              <a:avLst/>
            </a:prstGeom>
          </p:spPr>
        </p:pic>
      </p:grpSp>
      <p:grpSp>
        <p:nvGrpSpPr>
          <p:cNvPr id="46" name="Group 45">
            <a:extLst>
              <a:ext uri="{FF2B5EF4-FFF2-40B4-BE49-F238E27FC236}">
                <a16:creationId xmlns:a16="http://schemas.microsoft.com/office/drawing/2014/main" id="{BACDFE60-DF3B-EB08-57E5-0BB0647699F9}"/>
              </a:ext>
            </a:extLst>
          </p:cNvPr>
          <p:cNvGrpSpPr/>
          <p:nvPr/>
        </p:nvGrpSpPr>
        <p:grpSpPr>
          <a:xfrm>
            <a:off x="541592" y="4885018"/>
            <a:ext cx="544946" cy="523719"/>
            <a:chOff x="9228321" y="1912233"/>
            <a:chExt cx="544946" cy="548640"/>
          </a:xfrm>
        </p:grpSpPr>
        <p:sp>
          <p:nvSpPr>
            <p:cNvPr id="47" name="Oval 46">
              <a:extLst>
                <a:ext uri="{FF2B5EF4-FFF2-40B4-BE49-F238E27FC236}">
                  <a16:creationId xmlns:a16="http://schemas.microsoft.com/office/drawing/2014/main" id="{BA63204C-22EF-D3FE-88E2-4C9BEC951D8F}"/>
                </a:ext>
              </a:extLst>
            </p:cNvPr>
            <p:cNvSpPr>
              <a:spLocks noChangeAspect="1"/>
            </p:cNvSpPr>
            <p:nvPr/>
          </p:nvSpPr>
          <p:spPr>
            <a:xfrm>
              <a:off x="9228321" y="1912233"/>
              <a:ext cx="544946" cy="548640"/>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pic>
          <p:nvPicPr>
            <p:cNvPr id="48" name="Graphic 47">
              <a:extLst>
                <a:ext uri="{FF2B5EF4-FFF2-40B4-BE49-F238E27FC236}">
                  <a16:creationId xmlns:a16="http://schemas.microsoft.com/office/drawing/2014/main" id="{52D727FA-6C88-7D1B-EB55-BAFA6F556DF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04608" y="1999453"/>
              <a:ext cx="392373" cy="392373"/>
            </a:xfrm>
            <a:prstGeom prst="rect">
              <a:avLst/>
            </a:prstGeom>
          </p:spPr>
        </p:pic>
      </p:grpSp>
      <p:sp>
        <p:nvSpPr>
          <p:cNvPr id="114" name="Arrow: Chevron 113">
            <a:extLst>
              <a:ext uri="{FF2B5EF4-FFF2-40B4-BE49-F238E27FC236}">
                <a16:creationId xmlns:a16="http://schemas.microsoft.com/office/drawing/2014/main" id="{2E87AC57-8B5B-668B-4BA9-3CDBE883CBFA}"/>
              </a:ext>
            </a:extLst>
          </p:cNvPr>
          <p:cNvSpPr/>
          <p:nvPr/>
        </p:nvSpPr>
        <p:spPr>
          <a:xfrm>
            <a:off x="4696527" y="1560074"/>
            <a:ext cx="108000" cy="324000"/>
          </a:xfrm>
          <a:prstGeom prst="chevron">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92500" lnSpcReduction="20000"/>
          </a:bodyPr>
          <a:lstStyle/>
          <a:p>
            <a:pPr algn="ctr"/>
            <a:endParaRPr lang="en-US">
              <a:solidFill>
                <a:schemeClr val="bg1"/>
              </a:solidFill>
            </a:endParaRPr>
          </a:p>
        </p:txBody>
      </p:sp>
      <p:sp>
        <p:nvSpPr>
          <p:cNvPr id="115" name="Arrow: Chevron 114">
            <a:extLst>
              <a:ext uri="{FF2B5EF4-FFF2-40B4-BE49-F238E27FC236}">
                <a16:creationId xmlns:a16="http://schemas.microsoft.com/office/drawing/2014/main" id="{AC51F88A-BB0C-9C51-2C0F-6E7DE5DB952E}"/>
              </a:ext>
            </a:extLst>
          </p:cNvPr>
          <p:cNvSpPr/>
          <p:nvPr/>
        </p:nvSpPr>
        <p:spPr>
          <a:xfrm>
            <a:off x="7095701" y="1560074"/>
            <a:ext cx="108000" cy="324000"/>
          </a:xfrm>
          <a:prstGeom prst="chevron">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92500" lnSpcReduction="20000"/>
          </a:bodyPr>
          <a:lstStyle/>
          <a:p>
            <a:pPr algn="ctr"/>
            <a:endParaRPr lang="en-US">
              <a:solidFill>
                <a:schemeClr val="bg1"/>
              </a:solidFill>
            </a:endParaRPr>
          </a:p>
        </p:txBody>
      </p:sp>
      <p:sp>
        <p:nvSpPr>
          <p:cNvPr id="116" name="Arrow: Chevron 115">
            <a:extLst>
              <a:ext uri="{FF2B5EF4-FFF2-40B4-BE49-F238E27FC236}">
                <a16:creationId xmlns:a16="http://schemas.microsoft.com/office/drawing/2014/main" id="{8E95C3F7-E673-1B32-1855-1B2279906ECD}"/>
              </a:ext>
            </a:extLst>
          </p:cNvPr>
          <p:cNvSpPr/>
          <p:nvPr/>
        </p:nvSpPr>
        <p:spPr>
          <a:xfrm>
            <a:off x="9494875" y="1560074"/>
            <a:ext cx="108000" cy="324000"/>
          </a:xfrm>
          <a:prstGeom prst="chevron">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92500" lnSpcReduction="20000"/>
          </a:bodyPr>
          <a:lstStyle/>
          <a:p>
            <a:pPr algn="ctr"/>
            <a:endParaRPr lang="en-US">
              <a:solidFill>
                <a:schemeClr val="bg1"/>
              </a:solidFill>
            </a:endParaRPr>
          </a:p>
        </p:txBody>
      </p:sp>
      <p:grpSp>
        <p:nvGrpSpPr>
          <p:cNvPr id="140" name="Group 139">
            <a:extLst>
              <a:ext uri="{FF2B5EF4-FFF2-40B4-BE49-F238E27FC236}">
                <a16:creationId xmlns:a16="http://schemas.microsoft.com/office/drawing/2014/main" id="{49D906BD-482A-6E08-FE67-D5FC98648681}"/>
              </a:ext>
            </a:extLst>
          </p:cNvPr>
          <p:cNvGrpSpPr/>
          <p:nvPr/>
        </p:nvGrpSpPr>
        <p:grpSpPr>
          <a:xfrm>
            <a:off x="633590" y="5647927"/>
            <a:ext cx="10924821" cy="648000"/>
            <a:chOff x="714876" y="5581252"/>
            <a:chExt cx="10924821" cy="648000"/>
          </a:xfrm>
        </p:grpSpPr>
        <p:sp>
          <p:nvSpPr>
            <p:cNvPr id="118" name="Rectangle: Rounded Corners 117">
              <a:extLst>
                <a:ext uri="{FF2B5EF4-FFF2-40B4-BE49-F238E27FC236}">
                  <a16:creationId xmlns:a16="http://schemas.microsoft.com/office/drawing/2014/main" id="{914F09A9-EEB3-842D-D3D2-5948A45DF4D5}"/>
                </a:ext>
              </a:extLst>
            </p:cNvPr>
            <p:cNvSpPr/>
            <p:nvPr/>
          </p:nvSpPr>
          <p:spPr>
            <a:xfrm>
              <a:off x="714876" y="5581252"/>
              <a:ext cx="10924821" cy="648000"/>
            </a:xfrm>
            <a:prstGeom prst="round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err="1">
                <a:solidFill>
                  <a:schemeClr val="bg1"/>
                </a:solidFill>
              </a:endParaRPr>
            </a:p>
          </p:txBody>
        </p:sp>
        <p:grpSp>
          <p:nvGrpSpPr>
            <p:cNvPr id="128" name="Group 127">
              <a:extLst>
                <a:ext uri="{FF2B5EF4-FFF2-40B4-BE49-F238E27FC236}">
                  <a16:creationId xmlns:a16="http://schemas.microsoft.com/office/drawing/2014/main" id="{C71D57B4-D5AE-3439-BB5A-FE3ED61FC13F}"/>
                </a:ext>
              </a:extLst>
            </p:cNvPr>
            <p:cNvGrpSpPr>
              <a:grpSpLocks noChangeAspect="1"/>
            </p:cNvGrpSpPr>
            <p:nvPr/>
          </p:nvGrpSpPr>
          <p:grpSpPr>
            <a:xfrm>
              <a:off x="1045070" y="5635252"/>
              <a:ext cx="540000" cy="540000"/>
              <a:chOff x="6871881" y="5250041"/>
              <a:chExt cx="914400" cy="914400"/>
            </a:xfrm>
          </p:grpSpPr>
          <p:sp>
            <p:nvSpPr>
              <p:cNvPr id="127" name="Oval 126">
                <a:extLst>
                  <a:ext uri="{FF2B5EF4-FFF2-40B4-BE49-F238E27FC236}">
                    <a16:creationId xmlns:a16="http://schemas.microsoft.com/office/drawing/2014/main" id="{0E19C722-FB29-261B-E4C5-1B7B332CD98E}"/>
                  </a:ext>
                </a:extLst>
              </p:cNvPr>
              <p:cNvSpPr/>
              <p:nvPr/>
            </p:nvSpPr>
            <p:spPr>
              <a:xfrm>
                <a:off x="6871881" y="5250041"/>
                <a:ext cx="914400" cy="9144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err="1">
                  <a:solidFill>
                    <a:schemeClr val="bg1"/>
                  </a:solidFill>
                </a:endParaRPr>
              </a:p>
            </p:txBody>
          </p:sp>
          <p:grpSp>
            <p:nvGrpSpPr>
              <p:cNvPr id="121" name="Award3" descr="{&quot;Key&quot;:&quot;POWER_USER_SHAPE_ICON&quot;,&quot;Value&quot;:&quot;POWER_USER_SHAPE_ICON_STYLE_1&quot;}">
                <a:extLst>
                  <a:ext uri="{FF2B5EF4-FFF2-40B4-BE49-F238E27FC236}">
                    <a16:creationId xmlns:a16="http://schemas.microsoft.com/office/drawing/2014/main" id="{4D5439AF-95F0-2A80-3E44-69E9A2CC98E0}"/>
                  </a:ext>
                </a:extLst>
              </p:cNvPr>
              <p:cNvGrpSpPr>
                <a:grpSpLocks noChangeAspect="1"/>
              </p:cNvGrpSpPr>
              <p:nvPr/>
            </p:nvGrpSpPr>
            <p:grpSpPr>
              <a:xfrm>
                <a:off x="7038077" y="5326241"/>
                <a:ext cx="582009" cy="762000"/>
                <a:chOff x="4316413" y="1254126"/>
                <a:chExt cx="153988" cy="201612"/>
              </a:xfrm>
              <a:solidFill>
                <a:schemeClr val="accent2">
                  <a:lumMod val="75000"/>
                  <a:lumOff val="25000"/>
                </a:schemeClr>
              </a:solidFill>
            </p:grpSpPr>
            <p:sp>
              <p:nvSpPr>
                <p:cNvPr id="122" name="Freeform 311">
                  <a:extLst>
                    <a:ext uri="{FF2B5EF4-FFF2-40B4-BE49-F238E27FC236}">
                      <a16:creationId xmlns:a16="http://schemas.microsoft.com/office/drawing/2014/main" id="{DDD6A1FD-1A19-3CA0-D3B6-CFF28435FF57}"/>
                    </a:ext>
                  </a:extLst>
                </p:cNvPr>
                <p:cNvSpPr>
                  <a:spLocks noEditPoints="1"/>
                </p:cNvSpPr>
                <p:nvPr/>
              </p:nvSpPr>
              <p:spPr bwMode="auto">
                <a:xfrm>
                  <a:off x="4316413" y="1254126"/>
                  <a:ext cx="153988" cy="153988"/>
                </a:xfrm>
                <a:custGeom>
                  <a:avLst/>
                  <a:gdLst>
                    <a:gd name="T0" fmla="*/ 2113 w 4226"/>
                    <a:gd name="T1" fmla="*/ 200 h 4226"/>
                    <a:gd name="T2" fmla="*/ 200 w 4226"/>
                    <a:gd name="T3" fmla="*/ 2113 h 4226"/>
                    <a:gd name="T4" fmla="*/ 2113 w 4226"/>
                    <a:gd name="T5" fmla="*/ 4026 h 4226"/>
                    <a:gd name="T6" fmla="*/ 4026 w 4226"/>
                    <a:gd name="T7" fmla="*/ 2113 h 4226"/>
                    <a:gd name="T8" fmla="*/ 2113 w 4226"/>
                    <a:gd name="T9" fmla="*/ 200 h 4226"/>
                    <a:gd name="T10" fmla="*/ 2113 w 4226"/>
                    <a:gd name="T11" fmla="*/ 4226 h 4226"/>
                    <a:gd name="T12" fmla="*/ 0 w 4226"/>
                    <a:gd name="T13" fmla="*/ 2113 h 4226"/>
                    <a:gd name="T14" fmla="*/ 2113 w 4226"/>
                    <a:gd name="T15" fmla="*/ 0 h 4226"/>
                    <a:gd name="T16" fmla="*/ 4226 w 4226"/>
                    <a:gd name="T17" fmla="*/ 2113 h 4226"/>
                    <a:gd name="T18" fmla="*/ 2113 w 4226"/>
                    <a:gd name="T19" fmla="*/ 4226 h 4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26" h="4226">
                      <a:moveTo>
                        <a:pt x="2113" y="200"/>
                      </a:moveTo>
                      <a:cubicBezTo>
                        <a:pt x="1058" y="200"/>
                        <a:pt x="200" y="1058"/>
                        <a:pt x="200" y="2113"/>
                      </a:cubicBezTo>
                      <a:cubicBezTo>
                        <a:pt x="200" y="3168"/>
                        <a:pt x="1058" y="4026"/>
                        <a:pt x="2113" y="4026"/>
                      </a:cubicBezTo>
                      <a:cubicBezTo>
                        <a:pt x="3168" y="4026"/>
                        <a:pt x="4026" y="3168"/>
                        <a:pt x="4026" y="2113"/>
                      </a:cubicBezTo>
                      <a:cubicBezTo>
                        <a:pt x="4026" y="1058"/>
                        <a:pt x="3168" y="200"/>
                        <a:pt x="2113" y="200"/>
                      </a:cubicBezTo>
                      <a:close/>
                      <a:moveTo>
                        <a:pt x="2113" y="4226"/>
                      </a:moveTo>
                      <a:cubicBezTo>
                        <a:pt x="948" y="4226"/>
                        <a:pt x="0" y="3279"/>
                        <a:pt x="0" y="2113"/>
                      </a:cubicBezTo>
                      <a:cubicBezTo>
                        <a:pt x="0" y="949"/>
                        <a:pt x="948" y="0"/>
                        <a:pt x="2113" y="0"/>
                      </a:cubicBezTo>
                      <a:cubicBezTo>
                        <a:pt x="3278" y="0"/>
                        <a:pt x="4226" y="949"/>
                        <a:pt x="4226" y="2113"/>
                      </a:cubicBezTo>
                      <a:cubicBezTo>
                        <a:pt x="4226" y="3279"/>
                        <a:pt x="3278" y="4226"/>
                        <a:pt x="2113" y="422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23" name="Freeform 312">
                  <a:extLst>
                    <a:ext uri="{FF2B5EF4-FFF2-40B4-BE49-F238E27FC236}">
                      <a16:creationId xmlns:a16="http://schemas.microsoft.com/office/drawing/2014/main" id="{E03FF545-2763-B15A-8DF4-57BF606AC52D}"/>
                    </a:ext>
                  </a:extLst>
                </p:cNvPr>
                <p:cNvSpPr>
                  <a:spLocks noEditPoints="1"/>
                </p:cNvSpPr>
                <p:nvPr/>
              </p:nvSpPr>
              <p:spPr bwMode="auto">
                <a:xfrm>
                  <a:off x="4443413" y="1336676"/>
                  <a:ext cx="7938" cy="9525"/>
                </a:xfrm>
                <a:custGeom>
                  <a:avLst/>
                  <a:gdLst>
                    <a:gd name="T0" fmla="*/ 15 w 220"/>
                    <a:gd name="T1" fmla="*/ 114 h 235"/>
                    <a:gd name="T2" fmla="*/ 16 w 220"/>
                    <a:gd name="T3" fmla="*/ 128 h 235"/>
                    <a:gd name="T4" fmla="*/ 15 w 220"/>
                    <a:gd name="T5" fmla="*/ 114 h 235"/>
                    <a:gd name="T6" fmla="*/ 110 w 220"/>
                    <a:gd name="T7" fmla="*/ 235 h 235"/>
                    <a:gd name="T8" fmla="*/ 89 w 220"/>
                    <a:gd name="T9" fmla="*/ 233 h 235"/>
                    <a:gd name="T10" fmla="*/ 12 w 220"/>
                    <a:gd name="T11" fmla="*/ 114 h 235"/>
                    <a:gd name="T12" fmla="*/ 16 w 220"/>
                    <a:gd name="T13" fmla="*/ 98 h 235"/>
                    <a:gd name="T14" fmla="*/ 16 w 220"/>
                    <a:gd name="T15" fmla="*/ 95 h 235"/>
                    <a:gd name="T16" fmla="*/ 125 w 220"/>
                    <a:gd name="T17" fmla="*/ 6 h 235"/>
                    <a:gd name="T18" fmla="*/ 215 w 220"/>
                    <a:gd name="T19" fmla="*/ 114 h 235"/>
                    <a:gd name="T20" fmla="*/ 215 w 220"/>
                    <a:gd name="T21" fmla="*/ 117 h 235"/>
                    <a:gd name="T22" fmla="*/ 213 w 220"/>
                    <a:gd name="T23" fmla="*/ 140 h 235"/>
                    <a:gd name="T24" fmla="*/ 203 w 220"/>
                    <a:gd name="T25" fmla="*/ 171 h 235"/>
                    <a:gd name="T26" fmla="*/ 110 w 220"/>
                    <a:gd name="T27" fmla="*/ 23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0" h="235">
                      <a:moveTo>
                        <a:pt x="15" y="114"/>
                      </a:moveTo>
                      <a:cubicBezTo>
                        <a:pt x="15" y="118"/>
                        <a:pt x="15" y="123"/>
                        <a:pt x="16" y="128"/>
                      </a:cubicBezTo>
                      <a:cubicBezTo>
                        <a:pt x="15" y="124"/>
                        <a:pt x="15" y="119"/>
                        <a:pt x="15" y="114"/>
                      </a:cubicBezTo>
                      <a:close/>
                      <a:moveTo>
                        <a:pt x="110" y="235"/>
                      </a:moveTo>
                      <a:cubicBezTo>
                        <a:pt x="103" y="235"/>
                        <a:pt x="96" y="235"/>
                        <a:pt x="89" y="233"/>
                      </a:cubicBezTo>
                      <a:cubicBezTo>
                        <a:pt x="35" y="222"/>
                        <a:pt x="0" y="168"/>
                        <a:pt x="12" y="114"/>
                      </a:cubicBezTo>
                      <a:cubicBezTo>
                        <a:pt x="13" y="109"/>
                        <a:pt x="14" y="103"/>
                        <a:pt x="16" y="98"/>
                      </a:cubicBezTo>
                      <a:cubicBezTo>
                        <a:pt x="16" y="97"/>
                        <a:pt x="16" y="96"/>
                        <a:pt x="16" y="95"/>
                      </a:cubicBezTo>
                      <a:cubicBezTo>
                        <a:pt x="21" y="40"/>
                        <a:pt x="70" y="0"/>
                        <a:pt x="125" y="6"/>
                      </a:cubicBezTo>
                      <a:cubicBezTo>
                        <a:pt x="180" y="11"/>
                        <a:pt x="220" y="60"/>
                        <a:pt x="215" y="114"/>
                      </a:cubicBezTo>
                      <a:cubicBezTo>
                        <a:pt x="215" y="115"/>
                        <a:pt x="215" y="116"/>
                        <a:pt x="215" y="117"/>
                      </a:cubicBezTo>
                      <a:cubicBezTo>
                        <a:pt x="215" y="124"/>
                        <a:pt x="214" y="131"/>
                        <a:pt x="213" y="140"/>
                      </a:cubicBezTo>
                      <a:cubicBezTo>
                        <a:pt x="211" y="151"/>
                        <a:pt x="208" y="162"/>
                        <a:pt x="203" y="171"/>
                      </a:cubicBezTo>
                      <a:cubicBezTo>
                        <a:pt x="187" y="210"/>
                        <a:pt x="151" y="235"/>
                        <a:pt x="110" y="235"/>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24" name="Freeform 313">
                  <a:extLst>
                    <a:ext uri="{FF2B5EF4-FFF2-40B4-BE49-F238E27FC236}">
                      <a16:creationId xmlns:a16="http://schemas.microsoft.com/office/drawing/2014/main" id="{47965770-2C15-665A-5B59-4099A44AE9AE}"/>
                    </a:ext>
                  </a:extLst>
                </p:cNvPr>
                <p:cNvSpPr>
                  <a:spLocks/>
                </p:cNvSpPr>
                <p:nvPr/>
              </p:nvSpPr>
              <p:spPr bwMode="auto">
                <a:xfrm>
                  <a:off x="4333876" y="1271588"/>
                  <a:ext cx="117475" cy="117475"/>
                </a:xfrm>
                <a:custGeom>
                  <a:avLst/>
                  <a:gdLst>
                    <a:gd name="T0" fmla="*/ 1621 w 3234"/>
                    <a:gd name="T1" fmla="*/ 3243 h 3243"/>
                    <a:gd name="T2" fmla="*/ 0 w 3234"/>
                    <a:gd name="T3" fmla="*/ 1621 h 3243"/>
                    <a:gd name="T4" fmla="*/ 1621 w 3234"/>
                    <a:gd name="T5" fmla="*/ 0 h 3243"/>
                    <a:gd name="T6" fmla="*/ 2689 w 3234"/>
                    <a:gd name="T7" fmla="*/ 401 h 3243"/>
                    <a:gd name="T8" fmla="*/ 3226 w 3234"/>
                    <a:gd name="T9" fmla="*/ 1393 h 3243"/>
                    <a:gd name="T10" fmla="*/ 3141 w 3234"/>
                    <a:gd name="T11" fmla="*/ 1505 h 3243"/>
                    <a:gd name="T12" fmla="*/ 3028 w 3234"/>
                    <a:gd name="T13" fmla="*/ 1421 h 3243"/>
                    <a:gd name="T14" fmla="*/ 1621 w 3234"/>
                    <a:gd name="T15" fmla="*/ 200 h 3243"/>
                    <a:gd name="T16" fmla="*/ 200 w 3234"/>
                    <a:gd name="T17" fmla="*/ 1621 h 3243"/>
                    <a:gd name="T18" fmla="*/ 1621 w 3234"/>
                    <a:gd name="T19" fmla="*/ 3042 h 3243"/>
                    <a:gd name="T20" fmla="*/ 2858 w 3234"/>
                    <a:gd name="T21" fmla="*/ 2322 h 3243"/>
                    <a:gd name="T22" fmla="*/ 2994 w 3234"/>
                    <a:gd name="T23" fmla="*/ 2284 h 3243"/>
                    <a:gd name="T24" fmla="*/ 3032 w 3234"/>
                    <a:gd name="T25" fmla="*/ 2421 h 3243"/>
                    <a:gd name="T26" fmla="*/ 1621 w 3234"/>
                    <a:gd name="T27" fmla="*/ 3243 h 3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34" h="3243">
                      <a:moveTo>
                        <a:pt x="1621" y="3243"/>
                      </a:moveTo>
                      <a:cubicBezTo>
                        <a:pt x="727" y="3243"/>
                        <a:pt x="0" y="2515"/>
                        <a:pt x="0" y="1621"/>
                      </a:cubicBezTo>
                      <a:cubicBezTo>
                        <a:pt x="0" y="727"/>
                        <a:pt x="727" y="0"/>
                        <a:pt x="1621" y="0"/>
                      </a:cubicBezTo>
                      <a:cubicBezTo>
                        <a:pt x="2014" y="0"/>
                        <a:pt x="2393" y="142"/>
                        <a:pt x="2689" y="401"/>
                      </a:cubicBezTo>
                      <a:cubicBezTo>
                        <a:pt x="2981" y="657"/>
                        <a:pt x="3172" y="1010"/>
                        <a:pt x="3226" y="1393"/>
                      </a:cubicBezTo>
                      <a:cubicBezTo>
                        <a:pt x="3234" y="1448"/>
                        <a:pt x="3196" y="1498"/>
                        <a:pt x="3141" y="1505"/>
                      </a:cubicBezTo>
                      <a:cubicBezTo>
                        <a:pt x="3087" y="1514"/>
                        <a:pt x="3036" y="1475"/>
                        <a:pt x="3028" y="1421"/>
                      </a:cubicBezTo>
                      <a:cubicBezTo>
                        <a:pt x="2930" y="725"/>
                        <a:pt x="2325" y="200"/>
                        <a:pt x="1621" y="200"/>
                      </a:cubicBezTo>
                      <a:cubicBezTo>
                        <a:pt x="837" y="200"/>
                        <a:pt x="200" y="837"/>
                        <a:pt x="200" y="1621"/>
                      </a:cubicBezTo>
                      <a:cubicBezTo>
                        <a:pt x="200" y="2405"/>
                        <a:pt x="837" y="3042"/>
                        <a:pt x="1621" y="3042"/>
                      </a:cubicBezTo>
                      <a:cubicBezTo>
                        <a:pt x="2131" y="3042"/>
                        <a:pt x="2605" y="2766"/>
                        <a:pt x="2858" y="2322"/>
                      </a:cubicBezTo>
                      <a:cubicBezTo>
                        <a:pt x="2885" y="2274"/>
                        <a:pt x="2946" y="2257"/>
                        <a:pt x="2994" y="2284"/>
                      </a:cubicBezTo>
                      <a:cubicBezTo>
                        <a:pt x="3042" y="2311"/>
                        <a:pt x="3059" y="2373"/>
                        <a:pt x="3032" y="2421"/>
                      </a:cubicBezTo>
                      <a:cubicBezTo>
                        <a:pt x="2744" y="2927"/>
                        <a:pt x="2203" y="3243"/>
                        <a:pt x="1621" y="324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25" name="Freeform 314">
                  <a:extLst>
                    <a:ext uri="{FF2B5EF4-FFF2-40B4-BE49-F238E27FC236}">
                      <a16:creationId xmlns:a16="http://schemas.microsoft.com/office/drawing/2014/main" id="{C531F90C-06D7-6CC0-E2C6-755C1958F38A}"/>
                    </a:ext>
                  </a:extLst>
                </p:cNvPr>
                <p:cNvSpPr>
                  <a:spLocks noEditPoints="1"/>
                </p:cNvSpPr>
                <p:nvPr/>
              </p:nvSpPr>
              <p:spPr bwMode="auto">
                <a:xfrm>
                  <a:off x="4359276" y="1295401"/>
                  <a:ext cx="66675" cy="63500"/>
                </a:xfrm>
                <a:custGeom>
                  <a:avLst/>
                  <a:gdLst>
                    <a:gd name="T0" fmla="*/ 913 w 1826"/>
                    <a:gd name="T1" fmla="*/ 1271 h 1739"/>
                    <a:gd name="T2" fmla="*/ 960 w 1826"/>
                    <a:gd name="T3" fmla="*/ 1282 h 1739"/>
                    <a:gd name="T4" fmla="*/ 1278 w 1826"/>
                    <a:gd name="T5" fmla="*/ 1450 h 1739"/>
                    <a:gd name="T6" fmla="*/ 1217 w 1826"/>
                    <a:gd name="T7" fmla="*/ 1095 h 1739"/>
                    <a:gd name="T8" fmla="*/ 1246 w 1826"/>
                    <a:gd name="T9" fmla="*/ 1007 h 1739"/>
                    <a:gd name="T10" fmla="*/ 1504 w 1826"/>
                    <a:gd name="T11" fmla="*/ 755 h 1739"/>
                    <a:gd name="T12" fmla="*/ 1148 w 1826"/>
                    <a:gd name="T13" fmla="*/ 704 h 1739"/>
                    <a:gd name="T14" fmla="*/ 1072 w 1826"/>
                    <a:gd name="T15" fmla="*/ 649 h 1739"/>
                    <a:gd name="T16" fmla="*/ 913 w 1826"/>
                    <a:gd name="T17" fmla="*/ 326 h 1739"/>
                    <a:gd name="T18" fmla="*/ 754 w 1826"/>
                    <a:gd name="T19" fmla="*/ 649 h 1739"/>
                    <a:gd name="T20" fmla="*/ 678 w 1826"/>
                    <a:gd name="T21" fmla="*/ 704 h 1739"/>
                    <a:gd name="T22" fmla="*/ 322 w 1826"/>
                    <a:gd name="T23" fmla="*/ 755 h 1739"/>
                    <a:gd name="T24" fmla="*/ 580 w 1826"/>
                    <a:gd name="T25" fmla="*/ 1007 h 1739"/>
                    <a:gd name="T26" fmla="*/ 609 w 1826"/>
                    <a:gd name="T27" fmla="*/ 1095 h 1739"/>
                    <a:gd name="T28" fmla="*/ 548 w 1826"/>
                    <a:gd name="T29" fmla="*/ 1450 h 1739"/>
                    <a:gd name="T30" fmla="*/ 866 w 1826"/>
                    <a:gd name="T31" fmla="*/ 1282 h 1739"/>
                    <a:gd name="T32" fmla="*/ 913 w 1826"/>
                    <a:gd name="T33" fmla="*/ 1271 h 1739"/>
                    <a:gd name="T34" fmla="*/ 415 w 1826"/>
                    <a:gd name="T35" fmla="*/ 1733 h 1739"/>
                    <a:gd name="T36" fmla="*/ 356 w 1826"/>
                    <a:gd name="T37" fmla="*/ 1713 h 1739"/>
                    <a:gd name="T38" fmla="*/ 316 w 1826"/>
                    <a:gd name="T39" fmla="*/ 1616 h 1739"/>
                    <a:gd name="T40" fmla="*/ 403 w 1826"/>
                    <a:gd name="T41" fmla="*/ 1113 h 1739"/>
                    <a:gd name="T42" fmla="*/ 37 w 1826"/>
                    <a:gd name="T43" fmla="*/ 757 h 1739"/>
                    <a:gd name="T44" fmla="*/ 12 w 1826"/>
                    <a:gd name="T45" fmla="*/ 654 h 1739"/>
                    <a:gd name="T46" fmla="*/ 93 w 1826"/>
                    <a:gd name="T47" fmla="*/ 587 h 1739"/>
                    <a:gd name="T48" fmla="*/ 598 w 1826"/>
                    <a:gd name="T49" fmla="*/ 513 h 1739"/>
                    <a:gd name="T50" fmla="*/ 823 w 1826"/>
                    <a:gd name="T51" fmla="*/ 56 h 1739"/>
                    <a:gd name="T52" fmla="*/ 913 w 1826"/>
                    <a:gd name="T53" fmla="*/ 0 h 1739"/>
                    <a:gd name="T54" fmla="*/ 1003 w 1826"/>
                    <a:gd name="T55" fmla="*/ 56 h 1739"/>
                    <a:gd name="T56" fmla="*/ 1229 w 1826"/>
                    <a:gd name="T57" fmla="*/ 513 h 1739"/>
                    <a:gd name="T58" fmla="*/ 1733 w 1826"/>
                    <a:gd name="T59" fmla="*/ 587 h 1739"/>
                    <a:gd name="T60" fmla="*/ 1814 w 1826"/>
                    <a:gd name="T61" fmla="*/ 654 h 1739"/>
                    <a:gd name="T62" fmla="*/ 1789 w 1826"/>
                    <a:gd name="T63" fmla="*/ 757 h 1739"/>
                    <a:gd name="T64" fmla="*/ 1423 w 1826"/>
                    <a:gd name="T65" fmla="*/ 1113 h 1739"/>
                    <a:gd name="T66" fmla="*/ 1510 w 1826"/>
                    <a:gd name="T67" fmla="*/ 1616 h 1739"/>
                    <a:gd name="T68" fmla="*/ 1470 w 1826"/>
                    <a:gd name="T69" fmla="*/ 1713 h 1739"/>
                    <a:gd name="T70" fmla="*/ 1365 w 1826"/>
                    <a:gd name="T71" fmla="*/ 1721 h 1739"/>
                    <a:gd name="T72" fmla="*/ 913 w 1826"/>
                    <a:gd name="T73" fmla="*/ 1484 h 1739"/>
                    <a:gd name="T74" fmla="*/ 462 w 1826"/>
                    <a:gd name="T75" fmla="*/ 1721 h 1739"/>
                    <a:gd name="T76" fmla="*/ 415 w 1826"/>
                    <a:gd name="T77" fmla="*/ 1733 h 1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826" h="1739">
                      <a:moveTo>
                        <a:pt x="913" y="1271"/>
                      </a:moveTo>
                      <a:cubicBezTo>
                        <a:pt x="929" y="1271"/>
                        <a:pt x="945" y="1275"/>
                        <a:pt x="960" y="1282"/>
                      </a:cubicBezTo>
                      <a:lnTo>
                        <a:pt x="1278" y="1450"/>
                      </a:lnTo>
                      <a:lnTo>
                        <a:pt x="1217" y="1095"/>
                      </a:lnTo>
                      <a:cubicBezTo>
                        <a:pt x="1212" y="1063"/>
                        <a:pt x="1223" y="1029"/>
                        <a:pt x="1246" y="1007"/>
                      </a:cubicBezTo>
                      <a:lnTo>
                        <a:pt x="1504" y="755"/>
                      </a:lnTo>
                      <a:lnTo>
                        <a:pt x="1148" y="704"/>
                      </a:lnTo>
                      <a:cubicBezTo>
                        <a:pt x="1115" y="699"/>
                        <a:pt x="1087" y="679"/>
                        <a:pt x="1072" y="649"/>
                      </a:cubicBezTo>
                      <a:lnTo>
                        <a:pt x="913" y="326"/>
                      </a:lnTo>
                      <a:lnTo>
                        <a:pt x="754" y="649"/>
                      </a:lnTo>
                      <a:cubicBezTo>
                        <a:pt x="739" y="679"/>
                        <a:pt x="711" y="699"/>
                        <a:pt x="678" y="704"/>
                      </a:cubicBezTo>
                      <a:lnTo>
                        <a:pt x="322" y="755"/>
                      </a:lnTo>
                      <a:lnTo>
                        <a:pt x="580" y="1007"/>
                      </a:lnTo>
                      <a:cubicBezTo>
                        <a:pt x="604" y="1029"/>
                        <a:pt x="614" y="1063"/>
                        <a:pt x="609" y="1095"/>
                      </a:cubicBezTo>
                      <a:lnTo>
                        <a:pt x="548" y="1450"/>
                      </a:lnTo>
                      <a:lnTo>
                        <a:pt x="866" y="1282"/>
                      </a:lnTo>
                      <a:cubicBezTo>
                        <a:pt x="881" y="1275"/>
                        <a:pt x="897" y="1271"/>
                        <a:pt x="913" y="1271"/>
                      </a:cubicBezTo>
                      <a:close/>
                      <a:moveTo>
                        <a:pt x="415" y="1733"/>
                      </a:moveTo>
                      <a:cubicBezTo>
                        <a:pt x="394" y="1733"/>
                        <a:pt x="374" y="1727"/>
                        <a:pt x="356" y="1713"/>
                      </a:cubicBezTo>
                      <a:cubicBezTo>
                        <a:pt x="325" y="1691"/>
                        <a:pt x="310" y="1653"/>
                        <a:pt x="316" y="1616"/>
                      </a:cubicBezTo>
                      <a:lnTo>
                        <a:pt x="403" y="1113"/>
                      </a:lnTo>
                      <a:lnTo>
                        <a:pt x="37" y="757"/>
                      </a:lnTo>
                      <a:cubicBezTo>
                        <a:pt x="10" y="730"/>
                        <a:pt x="0" y="691"/>
                        <a:pt x="12" y="654"/>
                      </a:cubicBezTo>
                      <a:cubicBezTo>
                        <a:pt x="24" y="619"/>
                        <a:pt x="55" y="592"/>
                        <a:pt x="93" y="587"/>
                      </a:cubicBezTo>
                      <a:lnTo>
                        <a:pt x="598" y="513"/>
                      </a:lnTo>
                      <a:lnTo>
                        <a:pt x="823" y="56"/>
                      </a:lnTo>
                      <a:cubicBezTo>
                        <a:pt x="840" y="21"/>
                        <a:pt x="875" y="0"/>
                        <a:pt x="913" y="0"/>
                      </a:cubicBezTo>
                      <a:cubicBezTo>
                        <a:pt x="951" y="0"/>
                        <a:pt x="986" y="21"/>
                        <a:pt x="1003" y="56"/>
                      </a:cubicBezTo>
                      <a:lnTo>
                        <a:pt x="1229" y="513"/>
                      </a:lnTo>
                      <a:lnTo>
                        <a:pt x="1733" y="587"/>
                      </a:lnTo>
                      <a:cubicBezTo>
                        <a:pt x="1771" y="592"/>
                        <a:pt x="1802" y="619"/>
                        <a:pt x="1814" y="654"/>
                      </a:cubicBezTo>
                      <a:cubicBezTo>
                        <a:pt x="1826" y="691"/>
                        <a:pt x="1816" y="730"/>
                        <a:pt x="1789" y="757"/>
                      </a:cubicBezTo>
                      <a:lnTo>
                        <a:pt x="1423" y="1113"/>
                      </a:lnTo>
                      <a:lnTo>
                        <a:pt x="1510" y="1616"/>
                      </a:lnTo>
                      <a:cubicBezTo>
                        <a:pt x="1516" y="1653"/>
                        <a:pt x="1501" y="1691"/>
                        <a:pt x="1470" y="1713"/>
                      </a:cubicBezTo>
                      <a:cubicBezTo>
                        <a:pt x="1439" y="1736"/>
                        <a:pt x="1398" y="1739"/>
                        <a:pt x="1365" y="1721"/>
                      </a:cubicBezTo>
                      <a:lnTo>
                        <a:pt x="913" y="1484"/>
                      </a:lnTo>
                      <a:lnTo>
                        <a:pt x="462" y="1721"/>
                      </a:lnTo>
                      <a:cubicBezTo>
                        <a:pt x="447" y="1729"/>
                        <a:pt x="431" y="1733"/>
                        <a:pt x="415" y="173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26" name="Freeform 315">
                  <a:extLst>
                    <a:ext uri="{FF2B5EF4-FFF2-40B4-BE49-F238E27FC236}">
                      <a16:creationId xmlns:a16="http://schemas.microsoft.com/office/drawing/2014/main" id="{D728D96F-759D-A614-FFD0-51C51734C512}"/>
                    </a:ext>
                  </a:extLst>
                </p:cNvPr>
                <p:cNvSpPr>
                  <a:spLocks/>
                </p:cNvSpPr>
                <p:nvPr/>
              </p:nvSpPr>
              <p:spPr bwMode="auto">
                <a:xfrm>
                  <a:off x="4346576" y="1389063"/>
                  <a:ext cx="90488" cy="66675"/>
                </a:xfrm>
                <a:custGeom>
                  <a:avLst/>
                  <a:gdLst>
                    <a:gd name="T0" fmla="*/ 2381 w 2481"/>
                    <a:gd name="T1" fmla="*/ 1819 h 1819"/>
                    <a:gd name="T2" fmla="*/ 2326 w 2481"/>
                    <a:gd name="T3" fmla="*/ 1802 h 1819"/>
                    <a:gd name="T4" fmla="*/ 1231 w 2481"/>
                    <a:gd name="T5" fmla="*/ 1085 h 1819"/>
                    <a:gd name="T6" fmla="*/ 156 w 2481"/>
                    <a:gd name="T7" fmla="*/ 1796 h 1819"/>
                    <a:gd name="T8" fmla="*/ 53 w 2481"/>
                    <a:gd name="T9" fmla="*/ 1801 h 1819"/>
                    <a:gd name="T10" fmla="*/ 0 w 2481"/>
                    <a:gd name="T11" fmla="*/ 1713 h 1819"/>
                    <a:gd name="T12" fmla="*/ 3 w 2481"/>
                    <a:gd name="T13" fmla="*/ 100 h 1819"/>
                    <a:gd name="T14" fmla="*/ 103 w 2481"/>
                    <a:gd name="T15" fmla="*/ 0 h 1819"/>
                    <a:gd name="T16" fmla="*/ 103 w 2481"/>
                    <a:gd name="T17" fmla="*/ 0 h 1819"/>
                    <a:gd name="T18" fmla="*/ 203 w 2481"/>
                    <a:gd name="T19" fmla="*/ 101 h 1819"/>
                    <a:gd name="T20" fmla="*/ 201 w 2481"/>
                    <a:gd name="T21" fmla="*/ 1526 h 1819"/>
                    <a:gd name="T22" fmla="*/ 1175 w 2481"/>
                    <a:gd name="T23" fmla="*/ 882 h 1819"/>
                    <a:gd name="T24" fmla="*/ 1285 w 2481"/>
                    <a:gd name="T25" fmla="*/ 881 h 1819"/>
                    <a:gd name="T26" fmla="*/ 2281 w 2481"/>
                    <a:gd name="T27" fmla="*/ 1534 h 1819"/>
                    <a:gd name="T28" fmla="*/ 2281 w 2481"/>
                    <a:gd name="T29" fmla="*/ 140 h 1819"/>
                    <a:gd name="T30" fmla="*/ 2381 w 2481"/>
                    <a:gd name="T31" fmla="*/ 41 h 1819"/>
                    <a:gd name="T32" fmla="*/ 2481 w 2481"/>
                    <a:gd name="T33" fmla="*/ 140 h 1819"/>
                    <a:gd name="T34" fmla="*/ 2481 w 2481"/>
                    <a:gd name="T35" fmla="*/ 1718 h 1819"/>
                    <a:gd name="T36" fmla="*/ 2428 w 2481"/>
                    <a:gd name="T37" fmla="*/ 1807 h 1819"/>
                    <a:gd name="T38" fmla="*/ 2381 w 2481"/>
                    <a:gd name="T39" fmla="*/ 1819 h 18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481" h="1819">
                      <a:moveTo>
                        <a:pt x="2381" y="1819"/>
                      </a:moveTo>
                      <a:cubicBezTo>
                        <a:pt x="2361" y="1819"/>
                        <a:pt x="2342" y="1813"/>
                        <a:pt x="2326" y="1802"/>
                      </a:cubicBezTo>
                      <a:lnTo>
                        <a:pt x="1231" y="1085"/>
                      </a:lnTo>
                      <a:lnTo>
                        <a:pt x="156" y="1796"/>
                      </a:lnTo>
                      <a:cubicBezTo>
                        <a:pt x="125" y="1817"/>
                        <a:pt x="85" y="1819"/>
                        <a:pt x="53" y="1801"/>
                      </a:cubicBezTo>
                      <a:cubicBezTo>
                        <a:pt x="20" y="1784"/>
                        <a:pt x="0" y="1749"/>
                        <a:pt x="0" y="1713"/>
                      </a:cubicBezTo>
                      <a:lnTo>
                        <a:pt x="3" y="100"/>
                      </a:lnTo>
                      <a:cubicBezTo>
                        <a:pt x="3" y="44"/>
                        <a:pt x="48" y="0"/>
                        <a:pt x="103" y="0"/>
                      </a:cubicBezTo>
                      <a:lnTo>
                        <a:pt x="103" y="0"/>
                      </a:lnTo>
                      <a:cubicBezTo>
                        <a:pt x="158" y="0"/>
                        <a:pt x="203" y="45"/>
                        <a:pt x="203" y="101"/>
                      </a:cubicBezTo>
                      <a:lnTo>
                        <a:pt x="201" y="1526"/>
                      </a:lnTo>
                      <a:lnTo>
                        <a:pt x="1175" y="882"/>
                      </a:lnTo>
                      <a:cubicBezTo>
                        <a:pt x="1208" y="860"/>
                        <a:pt x="1252" y="860"/>
                        <a:pt x="1285" y="881"/>
                      </a:cubicBezTo>
                      <a:lnTo>
                        <a:pt x="2281" y="1534"/>
                      </a:lnTo>
                      <a:lnTo>
                        <a:pt x="2281" y="140"/>
                      </a:lnTo>
                      <a:cubicBezTo>
                        <a:pt x="2281" y="85"/>
                        <a:pt x="2325" y="41"/>
                        <a:pt x="2381" y="41"/>
                      </a:cubicBezTo>
                      <a:cubicBezTo>
                        <a:pt x="2436" y="41"/>
                        <a:pt x="2481" y="85"/>
                        <a:pt x="2481" y="140"/>
                      </a:cubicBezTo>
                      <a:lnTo>
                        <a:pt x="2481" y="1718"/>
                      </a:lnTo>
                      <a:cubicBezTo>
                        <a:pt x="2481" y="1755"/>
                        <a:pt x="2461" y="1789"/>
                        <a:pt x="2428" y="1807"/>
                      </a:cubicBezTo>
                      <a:cubicBezTo>
                        <a:pt x="2413" y="1815"/>
                        <a:pt x="2397" y="1819"/>
                        <a:pt x="2381" y="1819"/>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a:p>
              </p:txBody>
            </p:sp>
          </p:grpSp>
        </p:grpSp>
        <p:sp>
          <p:nvSpPr>
            <p:cNvPr id="129" name="Rectangle 128">
              <a:extLst>
                <a:ext uri="{FF2B5EF4-FFF2-40B4-BE49-F238E27FC236}">
                  <a16:creationId xmlns:a16="http://schemas.microsoft.com/office/drawing/2014/main" id="{86C10A18-DDED-680E-26E8-AF6593B92A50}"/>
                </a:ext>
              </a:extLst>
            </p:cNvPr>
            <p:cNvSpPr/>
            <p:nvPr/>
          </p:nvSpPr>
          <p:spPr>
            <a:xfrm>
              <a:off x="1652395" y="5701716"/>
              <a:ext cx="9494536" cy="4070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noAutofit/>
            </a:bodyPr>
            <a:lstStyle/>
            <a:p>
              <a:pPr algn="ctr"/>
              <a:r>
                <a:rPr lang="en-US" sz="1200" b="1">
                  <a:solidFill>
                    <a:schemeClr val="tx2"/>
                  </a:solidFill>
                </a:rPr>
                <a:t>This IEP narrows a broad evidence landscape into a focused, actionable evidence generation plan with consolidated tactics across prioritized gaps and clear ownership needed to advance BGB-58067’s evidence strategy </a:t>
              </a:r>
            </a:p>
          </p:txBody>
        </p:sp>
      </p:grpSp>
      <p:grpSp>
        <p:nvGrpSpPr>
          <p:cNvPr id="137" name="Group 136">
            <a:extLst>
              <a:ext uri="{FF2B5EF4-FFF2-40B4-BE49-F238E27FC236}">
                <a16:creationId xmlns:a16="http://schemas.microsoft.com/office/drawing/2014/main" id="{5E887805-2375-5098-D2FF-C998E0C99671}"/>
              </a:ext>
            </a:extLst>
          </p:cNvPr>
          <p:cNvGrpSpPr/>
          <p:nvPr/>
        </p:nvGrpSpPr>
        <p:grpSpPr>
          <a:xfrm>
            <a:off x="7659206" y="2309031"/>
            <a:ext cx="4056073" cy="2864550"/>
            <a:chOff x="5899280" y="2362683"/>
            <a:chExt cx="5760000" cy="2864550"/>
          </a:xfrm>
        </p:grpSpPr>
        <p:cxnSp>
          <p:nvCxnSpPr>
            <p:cNvPr id="112" name="Straight Connector 111">
              <a:extLst>
                <a:ext uri="{FF2B5EF4-FFF2-40B4-BE49-F238E27FC236}">
                  <a16:creationId xmlns:a16="http://schemas.microsoft.com/office/drawing/2014/main" id="{1D3B35AD-6CF3-1FF6-5CB0-4DCBC74B489A}"/>
                </a:ext>
              </a:extLst>
            </p:cNvPr>
            <p:cNvCxnSpPr>
              <a:cxnSpLocks/>
            </p:cNvCxnSpPr>
            <p:nvPr/>
          </p:nvCxnSpPr>
          <p:spPr>
            <a:xfrm>
              <a:off x="5899280" y="2545563"/>
              <a:ext cx="5760000" cy="0"/>
            </a:xfrm>
            <a:prstGeom prst="line">
              <a:avLst/>
            </a:prstGeom>
            <a:ln w="38100">
              <a:solidFill>
                <a:schemeClr val="accent2">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13" name="Rectangle 112">
              <a:extLst>
                <a:ext uri="{FF2B5EF4-FFF2-40B4-BE49-F238E27FC236}">
                  <a16:creationId xmlns:a16="http://schemas.microsoft.com/office/drawing/2014/main" id="{A6E61580-6748-EE89-9EAF-7A49B74897FF}"/>
                </a:ext>
              </a:extLst>
            </p:cNvPr>
            <p:cNvSpPr/>
            <p:nvPr/>
          </p:nvSpPr>
          <p:spPr>
            <a:xfrm>
              <a:off x="6982297" y="2362683"/>
              <a:ext cx="3950159" cy="4950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lnSpcReduction="10000"/>
            </a:bodyPr>
            <a:lstStyle/>
            <a:p>
              <a:pPr algn="ctr"/>
              <a:r>
                <a:rPr lang="en-US" sz="1400" b="1">
                  <a:solidFill>
                    <a:schemeClr val="tx1"/>
                  </a:solidFill>
                </a:rPr>
                <a:t>…Resulted in an Integrated Tactical Roadmap</a:t>
              </a:r>
            </a:p>
          </p:txBody>
        </p:sp>
        <p:sp>
          <p:nvSpPr>
            <p:cNvPr id="134" name="TextBox 133">
              <a:extLst>
                <a:ext uri="{FF2B5EF4-FFF2-40B4-BE49-F238E27FC236}">
                  <a16:creationId xmlns:a16="http://schemas.microsoft.com/office/drawing/2014/main" id="{B95455F2-FFC0-B893-4AF3-5B34AA964BC7}"/>
                </a:ext>
              </a:extLst>
            </p:cNvPr>
            <p:cNvSpPr txBox="1"/>
            <p:nvPr/>
          </p:nvSpPr>
          <p:spPr>
            <a:xfrm>
              <a:off x="5899280" y="2980867"/>
              <a:ext cx="5760000" cy="738664"/>
            </a:xfrm>
            <a:prstGeom prst="rect">
              <a:avLst/>
            </a:prstGeom>
            <a:noFill/>
          </p:spPr>
          <p:txBody>
            <a:bodyPr wrap="square" lIns="91440" tIns="91440" rIns="91440" bIns="91440" rtlCol="0">
              <a:spAutoFit/>
            </a:bodyPr>
            <a:lstStyle/>
            <a:p>
              <a:pPr marL="171450" indent="-171450" algn="l">
                <a:buFont typeface="Arial" panose="020B0604020202020204" pitchFamily="34" charset="0"/>
                <a:buChar char="•"/>
              </a:pPr>
              <a:r>
                <a:rPr lang="en-US" sz="1200" b="1">
                  <a:solidFill>
                    <a:schemeClr val="accent2">
                      <a:lumMod val="75000"/>
                      <a:lumOff val="25000"/>
                    </a:schemeClr>
                  </a:solidFill>
                </a:rPr>
                <a:t>Consolidated key tactics </a:t>
              </a:r>
              <a:r>
                <a:rPr lang="en-US" sz="1200"/>
                <a:t>addressing critical and high priority gaps to enable efficient planning and execution</a:t>
              </a:r>
            </a:p>
          </p:txBody>
        </p:sp>
        <p:sp>
          <p:nvSpPr>
            <p:cNvPr id="131" name="TextBox 130">
              <a:extLst>
                <a:ext uri="{FF2B5EF4-FFF2-40B4-BE49-F238E27FC236}">
                  <a16:creationId xmlns:a16="http://schemas.microsoft.com/office/drawing/2014/main" id="{CD671813-ADA4-E71B-DDA6-F750CD97FD7A}"/>
                </a:ext>
              </a:extLst>
            </p:cNvPr>
            <p:cNvSpPr txBox="1"/>
            <p:nvPr/>
          </p:nvSpPr>
          <p:spPr>
            <a:xfrm>
              <a:off x="5899280" y="3919384"/>
              <a:ext cx="5760000" cy="553998"/>
            </a:xfrm>
            <a:prstGeom prst="rect">
              <a:avLst/>
            </a:prstGeom>
            <a:noFill/>
          </p:spPr>
          <p:txBody>
            <a:bodyPr wrap="square" lIns="91440" tIns="91440" rIns="91440" bIns="91440" rtlCol="0">
              <a:spAutoFit/>
            </a:bodyPr>
            <a:lstStyle/>
            <a:p>
              <a:pPr marL="171450" indent="-171450" algn="l">
                <a:buFont typeface="Arial" panose="020B0604020202020204" pitchFamily="34" charset="0"/>
                <a:buChar char="•"/>
              </a:pPr>
              <a:r>
                <a:rPr lang="en-US" sz="1200" b="1">
                  <a:solidFill>
                    <a:schemeClr val="accent2">
                      <a:lumMod val="75000"/>
                      <a:lumOff val="25000"/>
                    </a:schemeClr>
                  </a:solidFill>
                </a:rPr>
                <a:t>Mapped the critical dependencies </a:t>
              </a:r>
              <a:r>
                <a:rPr lang="en-US" sz="1200"/>
                <a:t>across tactics and identified trigger points for initiation </a:t>
              </a:r>
            </a:p>
          </p:txBody>
        </p:sp>
        <p:sp>
          <p:nvSpPr>
            <p:cNvPr id="133" name="TextBox 132">
              <a:extLst>
                <a:ext uri="{FF2B5EF4-FFF2-40B4-BE49-F238E27FC236}">
                  <a16:creationId xmlns:a16="http://schemas.microsoft.com/office/drawing/2014/main" id="{DD5BD91D-31FF-4826-B95B-7306DF575FE6}"/>
                </a:ext>
              </a:extLst>
            </p:cNvPr>
            <p:cNvSpPr txBox="1"/>
            <p:nvPr/>
          </p:nvSpPr>
          <p:spPr>
            <a:xfrm>
              <a:off x="5899280" y="4673235"/>
              <a:ext cx="5760000" cy="553998"/>
            </a:xfrm>
            <a:prstGeom prst="rect">
              <a:avLst/>
            </a:prstGeom>
            <a:noFill/>
          </p:spPr>
          <p:txBody>
            <a:bodyPr wrap="square" lIns="91440" tIns="91440" rIns="91440" bIns="91440" rtlCol="0">
              <a:spAutoFit/>
            </a:bodyPr>
            <a:lstStyle/>
            <a:p>
              <a:pPr marL="171450" indent="-171450" algn="l">
                <a:buFont typeface="Arial" panose="020B0604020202020204" pitchFamily="34" charset="0"/>
                <a:buChar char="•"/>
              </a:pPr>
              <a:r>
                <a:rPr lang="en-US" sz="1200" b="1">
                  <a:solidFill>
                    <a:schemeClr val="accent2">
                      <a:lumMod val="75000"/>
                      <a:lumOff val="25000"/>
                    </a:schemeClr>
                  </a:solidFill>
                </a:rPr>
                <a:t>Sequenced evidence generation </a:t>
              </a:r>
              <a:r>
                <a:rPr lang="en-US" sz="1200"/>
                <a:t>activities across near- and long-term key development milestones </a:t>
              </a:r>
            </a:p>
          </p:txBody>
        </p:sp>
      </p:grpSp>
      <p:sp>
        <p:nvSpPr>
          <p:cNvPr id="136" name="Isosceles Triangle 135">
            <a:extLst>
              <a:ext uri="{FF2B5EF4-FFF2-40B4-BE49-F238E27FC236}">
                <a16:creationId xmlns:a16="http://schemas.microsoft.com/office/drawing/2014/main" id="{94308AB6-8CF6-2625-50A8-7CA71DC9699C}"/>
              </a:ext>
            </a:extLst>
          </p:cNvPr>
          <p:cNvSpPr/>
          <p:nvPr/>
        </p:nvSpPr>
        <p:spPr>
          <a:xfrm rot="5400000">
            <a:off x="6065278" y="3932474"/>
            <a:ext cx="2520000" cy="1800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err="1">
              <a:solidFill>
                <a:schemeClr val="bg1"/>
              </a:solidFill>
            </a:endParaRPr>
          </a:p>
        </p:txBody>
      </p:sp>
      <p:grpSp>
        <p:nvGrpSpPr>
          <p:cNvPr id="5" name="Group 4">
            <a:extLst>
              <a:ext uri="{FF2B5EF4-FFF2-40B4-BE49-F238E27FC236}">
                <a16:creationId xmlns:a16="http://schemas.microsoft.com/office/drawing/2014/main" id="{9056657E-821F-CFEF-4E1C-30E1146D12D7}"/>
              </a:ext>
            </a:extLst>
          </p:cNvPr>
          <p:cNvGrpSpPr/>
          <p:nvPr/>
        </p:nvGrpSpPr>
        <p:grpSpPr>
          <a:xfrm>
            <a:off x="362743" y="10216"/>
            <a:ext cx="10042505" cy="252000"/>
            <a:chOff x="362743" y="10216"/>
            <a:chExt cx="10042505" cy="252000"/>
          </a:xfrm>
        </p:grpSpPr>
        <p:sp>
          <p:nvSpPr>
            <p:cNvPr id="6" name="Pentagon 47">
              <a:extLst>
                <a:ext uri="{FF2B5EF4-FFF2-40B4-BE49-F238E27FC236}">
                  <a16:creationId xmlns:a16="http://schemas.microsoft.com/office/drawing/2014/main" id="{9B44C69A-14DB-84EF-5820-16720A5A4C7C}"/>
                </a:ext>
              </a:extLst>
            </p:cNvPr>
            <p:cNvSpPr/>
            <p:nvPr/>
          </p:nvSpPr>
          <p:spPr>
            <a:xfrm>
              <a:off x="362743" y="10216"/>
              <a:ext cx="1695265" cy="252000"/>
            </a:xfrm>
            <a:prstGeom prst="homePlate">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7" name="Chevron 48">
              <a:extLst>
                <a:ext uri="{FF2B5EF4-FFF2-40B4-BE49-F238E27FC236}">
                  <a16:creationId xmlns:a16="http://schemas.microsoft.com/office/drawing/2014/main" id="{489F3685-AA2A-37C0-BAAB-2E7B75E1BF12}"/>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8" name="Chevron 52">
              <a:extLst>
                <a:ext uri="{FF2B5EF4-FFF2-40B4-BE49-F238E27FC236}">
                  <a16:creationId xmlns:a16="http://schemas.microsoft.com/office/drawing/2014/main" id="{675D8DD0-2354-24C0-3C66-73C864FE465D}"/>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9" name="Chevron 54">
              <a:extLst>
                <a:ext uri="{FF2B5EF4-FFF2-40B4-BE49-F238E27FC236}">
                  <a16:creationId xmlns:a16="http://schemas.microsoft.com/office/drawing/2014/main" id="{4A62EAA1-DC24-AECE-5D2D-932339CB660C}"/>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1" name="Chevron 48">
              <a:extLst>
                <a:ext uri="{FF2B5EF4-FFF2-40B4-BE49-F238E27FC236}">
                  <a16:creationId xmlns:a16="http://schemas.microsoft.com/office/drawing/2014/main" id="{349F6E3C-F667-F274-F8CD-70782C7B3D4E}"/>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3" name="Chevron 48">
              <a:extLst>
                <a:ext uri="{FF2B5EF4-FFF2-40B4-BE49-F238E27FC236}">
                  <a16:creationId xmlns:a16="http://schemas.microsoft.com/office/drawing/2014/main" id="{2D197E4F-27B0-717D-B944-3865DC9D5926}"/>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864688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575C3-432E-6159-FC41-2A4B7D92E4AE}"/>
            </a:ext>
          </a:extLst>
        </p:cNvPr>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3D53619-FDF3-94E9-B5B2-2CFA256300D2}"/>
              </a:ext>
            </a:extLst>
          </p:cNvPr>
          <p:cNvGraphicFramePr>
            <a:graphicFrameLocks/>
          </p:cNvGraphicFramePr>
          <p:nvPr>
            <p:custDataLst>
              <p:tags r:id="rId1"/>
            </p:custDataLst>
            <p:extLst>
              <p:ext uri="{D42A27DB-BD31-4B8C-83A1-F6EECF244321}">
                <p14:modId xmlns:p14="http://schemas.microsoft.com/office/powerpoint/2010/main" val="593577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10" name="think-cell data - do not delete" hidden="1">
                        <a:extLst>
                          <a:ext uri="{FF2B5EF4-FFF2-40B4-BE49-F238E27FC236}">
                            <a16:creationId xmlns:a16="http://schemas.microsoft.com/office/drawing/2014/main" id="{E3D53619-FDF3-94E9-B5B2-2CFA256300D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3" name="Rectangle 32">
            <a:extLst>
              <a:ext uri="{FF2B5EF4-FFF2-40B4-BE49-F238E27FC236}">
                <a16:creationId xmlns:a16="http://schemas.microsoft.com/office/drawing/2014/main" id="{AD806A91-842F-7514-D626-48C367A6C195}"/>
              </a:ext>
            </a:extLst>
          </p:cNvPr>
          <p:cNvSpPr/>
          <p:nvPr/>
        </p:nvSpPr>
        <p:spPr>
          <a:xfrm>
            <a:off x="9427879" y="2175064"/>
            <a:ext cx="2400584" cy="1215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50" i="1">
                <a:solidFill>
                  <a:schemeClr val="accent3"/>
                </a:solidFill>
              </a:rPr>
              <a:t>Characterize the impact of maintenance strategy on resistance development and efficacy in resistant patient populations</a:t>
            </a:r>
          </a:p>
        </p:txBody>
      </p:sp>
      <p:sp>
        <p:nvSpPr>
          <p:cNvPr id="32" name="Rectangle 31">
            <a:extLst>
              <a:ext uri="{FF2B5EF4-FFF2-40B4-BE49-F238E27FC236}">
                <a16:creationId xmlns:a16="http://schemas.microsoft.com/office/drawing/2014/main" id="{993FA157-643D-3FDC-B294-41F7323CAAAF}"/>
              </a:ext>
            </a:extLst>
          </p:cNvPr>
          <p:cNvSpPr/>
          <p:nvPr/>
        </p:nvSpPr>
        <p:spPr>
          <a:xfrm>
            <a:off x="6852895" y="2175064"/>
            <a:ext cx="2379474" cy="1215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50" i="1">
                <a:solidFill>
                  <a:schemeClr val="accent2">
                    <a:lumMod val="50000"/>
                    <a:lumOff val="50000"/>
                  </a:schemeClr>
                </a:solidFill>
              </a:rPr>
              <a:t>Generate evidence to optimize combination and sequencing strategies for BGB-58067 across immunotherapy and targeted therapy treatment settings</a:t>
            </a:r>
          </a:p>
        </p:txBody>
      </p:sp>
      <p:sp>
        <p:nvSpPr>
          <p:cNvPr id="31" name="Rectangle 30">
            <a:extLst>
              <a:ext uri="{FF2B5EF4-FFF2-40B4-BE49-F238E27FC236}">
                <a16:creationId xmlns:a16="http://schemas.microsoft.com/office/drawing/2014/main" id="{B2006E55-7A3E-DC67-91C5-D12239CE8069}"/>
              </a:ext>
            </a:extLst>
          </p:cNvPr>
          <p:cNvSpPr/>
          <p:nvPr/>
        </p:nvSpPr>
        <p:spPr>
          <a:xfrm>
            <a:off x="4241379" y="2175064"/>
            <a:ext cx="2410862" cy="1215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r>
              <a:rPr lang="en-US" sz="1050" i="1">
                <a:solidFill>
                  <a:schemeClr val="accent4"/>
                </a:solidFill>
              </a:rPr>
              <a:t>Refine patient identification and treatment selection by characterizing the impact of testing approaches, MTAP-deletion heterogeneity, co-mutation status, and PD-L1 expression on BGB-58067 efficacy</a:t>
            </a:r>
          </a:p>
        </p:txBody>
      </p:sp>
      <p:sp>
        <p:nvSpPr>
          <p:cNvPr id="30" name="Rectangle 29">
            <a:extLst>
              <a:ext uri="{FF2B5EF4-FFF2-40B4-BE49-F238E27FC236}">
                <a16:creationId xmlns:a16="http://schemas.microsoft.com/office/drawing/2014/main" id="{F2A9F51D-7399-6330-6321-0FC3BCBFE1BB}"/>
              </a:ext>
            </a:extLst>
          </p:cNvPr>
          <p:cNvSpPr/>
          <p:nvPr/>
        </p:nvSpPr>
        <p:spPr>
          <a:xfrm>
            <a:off x="1605911" y="2175064"/>
            <a:ext cx="2510713" cy="1215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45720" rtlCol="0" anchor="ctr">
            <a:noAutofit/>
          </a:bodyPr>
          <a:lstStyle/>
          <a:p>
            <a:pPr algn="ctr"/>
            <a:r>
              <a:rPr lang="en-US" sz="1050" i="1">
                <a:solidFill>
                  <a:schemeClr val="accent5"/>
                </a:solidFill>
              </a:rPr>
              <a:t>Demonstrate BGB-58067's differentiated clinical value through CNS activity, durable outcomes, COE, and efficacy across key patient populations and evolving treatment landscapes in NSCLC and other tumor types</a:t>
            </a:r>
          </a:p>
        </p:txBody>
      </p:sp>
      <p:sp>
        <p:nvSpPr>
          <p:cNvPr id="166" name="Rectangle 165">
            <a:extLst>
              <a:ext uri="{FF2B5EF4-FFF2-40B4-BE49-F238E27FC236}">
                <a16:creationId xmlns:a16="http://schemas.microsoft.com/office/drawing/2014/main" id="{1EBB9B8C-0001-148F-B17C-9C560A3181B4}"/>
              </a:ext>
            </a:extLst>
          </p:cNvPr>
          <p:cNvSpPr/>
          <p:nvPr/>
        </p:nvSpPr>
        <p:spPr>
          <a:xfrm>
            <a:off x="173645" y="4260435"/>
            <a:ext cx="1335838" cy="1912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chemeClr val="tx2"/>
                </a:solidFill>
                <a:effectLst/>
                <a:uLnTx/>
                <a:uFillTx/>
                <a:latin typeface="Poppins"/>
                <a:ea typeface="+mn-ea"/>
                <a:cs typeface="+mn-cs"/>
              </a:rPr>
              <a:t>Top Priority Gaps</a:t>
            </a:r>
          </a:p>
          <a:p>
            <a:pPr marL="0" marR="0" lvl="0" indent="0" algn="ctr" defTabSz="457200" rtl="0" eaLnBrk="1" fontAlgn="auto" latinLnBrk="0" hangingPunct="1">
              <a:lnSpc>
                <a:spcPct val="100000"/>
              </a:lnSpc>
              <a:spcBef>
                <a:spcPts val="0"/>
              </a:spcBef>
              <a:spcAft>
                <a:spcPts val="0"/>
              </a:spcAft>
              <a:buClrTx/>
              <a:buSzTx/>
              <a:buFontTx/>
              <a:buNone/>
              <a:tabLst/>
              <a:defRPr/>
            </a:pPr>
            <a:endParaRPr lang="en-GB" sz="1200" b="1" i="1">
              <a:solidFill>
                <a:schemeClr val="tx2"/>
              </a:solidFill>
              <a:latin typeface="Poppin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GB" sz="1050" i="1">
                <a:solidFill>
                  <a:schemeClr val="tx2"/>
                </a:solidFill>
                <a:latin typeface="Poppins"/>
              </a:rPr>
              <a:t>Top gaps shown reflect the most strategically critical and near-term actionable evidence needs</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600" b="0" i="1" u="none" strike="noStrike" kern="1200" cap="none" spc="0" normalizeH="0" baseline="0" noProof="0">
              <a:ln>
                <a:noFill/>
              </a:ln>
              <a:solidFill>
                <a:schemeClr val="tx2"/>
              </a:solidFill>
              <a:effectLst/>
              <a:uLnTx/>
              <a:uFillTx/>
              <a:latin typeface="Poppins"/>
              <a:ea typeface="+mn-ea"/>
              <a:cs typeface="+mn-cs"/>
            </a:endParaRPr>
          </a:p>
        </p:txBody>
      </p:sp>
      <p:sp>
        <p:nvSpPr>
          <p:cNvPr id="2" name="Title 1">
            <a:extLst>
              <a:ext uri="{FF2B5EF4-FFF2-40B4-BE49-F238E27FC236}">
                <a16:creationId xmlns:a16="http://schemas.microsoft.com/office/drawing/2014/main" id="{B15B355C-FAAB-B43D-C753-09372045ED2B}"/>
              </a:ext>
            </a:extLst>
          </p:cNvPr>
          <p:cNvSpPr>
            <a:spLocks noGrp="1"/>
          </p:cNvSpPr>
          <p:nvPr>
            <p:ph type="title"/>
          </p:nvPr>
        </p:nvSpPr>
        <p:spPr>
          <a:xfrm>
            <a:off x="358337" y="338987"/>
            <a:ext cx="11550128" cy="738664"/>
          </a:xfrm>
        </p:spPr>
        <p:txBody>
          <a:bodyPr vert="horz" rIns="0">
            <a:spAutoFit/>
          </a:bodyPr>
          <a:lstStyle/>
          <a:p>
            <a:r>
              <a:rPr lang="en-US" sz="2400"/>
              <a:t>This IEP prioritizes 22 evidence gaps, aligned with the asset vision and strategic imperatives, to differentiate BGB-58067's value proposition</a:t>
            </a:r>
          </a:p>
        </p:txBody>
      </p:sp>
      <p:sp>
        <p:nvSpPr>
          <p:cNvPr id="3" name="Footer Placeholder 2">
            <a:extLst>
              <a:ext uri="{FF2B5EF4-FFF2-40B4-BE49-F238E27FC236}">
                <a16:creationId xmlns:a16="http://schemas.microsoft.com/office/drawing/2014/main" id="{07F64373-D4CA-0A40-04A0-47B5E62E1C05}"/>
              </a:ext>
            </a:extLst>
          </p:cNvPr>
          <p:cNvSpPr>
            <a:spLocks noGrp="1"/>
          </p:cNvSpPr>
          <p:nvPr>
            <p:ph type="ftr" sz="quarter" idx="10"/>
          </p:nvPr>
        </p:nvSpPr>
        <p:spPr>
          <a:xfrm>
            <a:off x="358337" y="6309360"/>
            <a:ext cx="6855243" cy="365760"/>
          </a:xfrm>
        </p:spPr>
        <p:txBody>
          <a:bodyPr/>
          <a:lstStyle/>
          <a:p>
            <a:r>
              <a:rPr lang="en-US"/>
              <a:t>Abbreviations: CDP: Clinical Development Plan; CNS: Central Nervous System; COE: Contribution of Effect; CTA: Clinical Trial Assay; IO: Immuno-oncology; MTAP: </a:t>
            </a:r>
            <a:r>
              <a:rPr lang="en-US" err="1"/>
              <a:t>Methylthioadenosine</a:t>
            </a:r>
            <a:r>
              <a:rPr lang="en-US"/>
              <a:t> Phosphorylase; NSCLC: Non-Small Cell Lung Cancer; PD-L1: Programmed Death-Ligand 1; PRMT5i: Protein Arginine Methyltransferase 5 inhibitor; SoC: Standard of Care</a:t>
            </a:r>
          </a:p>
        </p:txBody>
      </p:sp>
      <p:grpSp>
        <p:nvGrpSpPr>
          <p:cNvPr id="168" name="Group 167">
            <a:extLst>
              <a:ext uri="{FF2B5EF4-FFF2-40B4-BE49-F238E27FC236}">
                <a16:creationId xmlns:a16="http://schemas.microsoft.com/office/drawing/2014/main" id="{182AD91F-CE48-B63E-7D04-D47DFB562D37}"/>
              </a:ext>
            </a:extLst>
          </p:cNvPr>
          <p:cNvGrpSpPr/>
          <p:nvPr/>
        </p:nvGrpSpPr>
        <p:grpSpPr>
          <a:xfrm>
            <a:off x="6984980" y="4201035"/>
            <a:ext cx="2115305" cy="2194560"/>
            <a:chOff x="6900713" y="4132796"/>
            <a:chExt cx="2115305" cy="2194560"/>
          </a:xfrm>
        </p:grpSpPr>
        <p:sp>
          <p:nvSpPr>
            <p:cNvPr id="88" name="Rectangle 87">
              <a:extLst>
                <a:ext uri="{FF2B5EF4-FFF2-40B4-BE49-F238E27FC236}">
                  <a16:creationId xmlns:a16="http://schemas.microsoft.com/office/drawing/2014/main" id="{206F8A71-8A25-800E-9B96-8049AADB29F2}"/>
                </a:ext>
              </a:extLst>
            </p:cNvPr>
            <p:cNvSpPr/>
            <p:nvPr/>
          </p:nvSpPr>
          <p:spPr>
            <a:xfrm>
              <a:off x="6900713" y="4132796"/>
              <a:ext cx="2115305" cy="2194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noAutofit/>
            </a:bodyPr>
            <a:lstStyle/>
            <a:p>
              <a:pPr marL="285750" indent="-285750">
                <a:spcAft>
                  <a:spcPts val="1200"/>
                </a:spcAft>
                <a:buFont typeface="Arial" panose="020B0604020202020204" pitchFamily="34" charset="0"/>
                <a:buChar char="•"/>
              </a:pPr>
              <a:r>
                <a:rPr lang="en-US" sz="1050">
                  <a:solidFill>
                    <a:schemeClr val="tx2"/>
                  </a:solidFill>
                </a:rPr>
                <a:t>Efficacy, safety, and tolerability with concurrent vs. sequential SoC combinations </a:t>
              </a:r>
            </a:p>
            <a:p>
              <a:pPr marL="285750" indent="-285750">
                <a:spcAft>
                  <a:spcPts val="1200"/>
                </a:spcAft>
                <a:buFont typeface="Arial" panose="020B0604020202020204" pitchFamily="34" charset="0"/>
                <a:buChar char="•"/>
              </a:pPr>
              <a:r>
                <a:rPr lang="en-US" sz="1050">
                  <a:solidFill>
                    <a:schemeClr val="tx2"/>
                  </a:solidFill>
                </a:rPr>
                <a:t>Clinical benefit of triplet therapy across PD-L1 strata vs. doublet or anti- PD-1 monotherapy</a:t>
              </a:r>
            </a:p>
            <a:p>
              <a:pPr marL="285750" indent="-285750">
                <a:spcAft>
                  <a:spcPts val="1200"/>
                </a:spcAft>
                <a:buFont typeface="Arial" panose="020B0604020202020204" pitchFamily="34" charset="0"/>
                <a:buChar char="•"/>
              </a:pPr>
              <a:r>
                <a:rPr lang="en-US" sz="1050">
                  <a:solidFill>
                    <a:schemeClr val="tx2"/>
                  </a:solidFill>
                </a:rPr>
                <a:t>Efficacy and safety in combination with targeted therapies</a:t>
              </a:r>
              <a:endParaRPr lang="en-US" sz="1600">
                <a:solidFill>
                  <a:schemeClr val="bg1"/>
                </a:solidFill>
              </a:endParaRPr>
            </a:p>
            <a:p>
              <a:pPr marL="285750" indent="-285750">
                <a:spcAft>
                  <a:spcPts val="600"/>
                </a:spcAft>
                <a:buFont typeface="Arial" panose="020B0604020202020204" pitchFamily="34" charset="0"/>
                <a:buChar char="•"/>
              </a:pPr>
              <a:endParaRPr lang="en-US">
                <a:solidFill>
                  <a:schemeClr val="bg1"/>
                </a:solidFill>
              </a:endParaRPr>
            </a:p>
            <a:p>
              <a:pPr marL="342900" indent="-342900">
                <a:spcAft>
                  <a:spcPts val="600"/>
                </a:spcAft>
                <a:buFont typeface="Arial" panose="020B0604020202020204" pitchFamily="34" charset="0"/>
                <a:buChar char="•"/>
              </a:pPr>
              <a:endParaRPr lang="en-US">
                <a:solidFill>
                  <a:schemeClr val="bg1"/>
                </a:solidFill>
              </a:endParaRPr>
            </a:p>
          </p:txBody>
        </p:sp>
        <p:sp>
          <p:nvSpPr>
            <p:cNvPr id="124" name="Oval 123">
              <a:extLst>
                <a:ext uri="{FF2B5EF4-FFF2-40B4-BE49-F238E27FC236}">
                  <a16:creationId xmlns:a16="http://schemas.microsoft.com/office/drawing/2014/main" id="{EAF6AA6C-AD51-87ED-CF5E-3101BE4ABF05}"/>
                </a:ext>
              </a:extLst>
            </p:cNvPr>
            <p:cNvSpPr/>
            <p:nvPr/>
          </p:nvSpPr>
          <p:spPr>
            <a:xfrm>
              <a:off x="6900714" y="4146444"/>
              <a:ext cx="228600" cy="228600"/>
            </a:xfrm>
            <a:prstGeom prst="ellipse">
              <a:avLst/>
            </a:prstGeom>
            <a:solidFill>
              <a:schemeClr val="accent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200" b="1">
                  <a:solidFill>
                    <a:schemeClr val="bg1"/>
                  </a:solidFill>
                </a:rPr>
                <a:t>1</a:t>
              </a:r>
            </a:p>
          </p:txBody>
        </p:sp>
        <p:sp>
          <p:nvSpPr>
            <p:cNvPr id="126" name="Oval 125">
              <a:extLst>
                <a:ext uri="{FF2B5EF4-FFF2-40B4-BE49-F238E27FC236}">
                  <a16:creationId xmlns:a16="http://schemas.microsoft.com/office/drawing/2014/main" id="{39F0E28A-AD47-F0CA-760D-E6E063E24DA5}"/>
                </a:ext>
              </a:extLst>
            </p:cNvPr>
            <p:cNvSpPr/>
            <p:nvPr/>
          </p:nvSpPr>
          <p:spPr>
            <a:xfrm>
              <a:off x="6900714" y="4948359"/>
              <a:ext cx="228600" cy="228600"/>
            </a:xfrm>
            <a:prstGeom prst="ellipse">
              <a:avLst/>
            </a:prstGeom>
            <a:solidFill>
              <a:schemeClr val="accent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200" b="1">
                  <a:solidFill>
                    <a:schemeClr val="bg1"/>
                  </a:solidFill>
                </a:rPr>
                <a:t>2</a:t>
              </a:r>
            </a:p>
          </p:txBody>
        </p:sp>
        <p:sp>
          <p:nvSpPr>
            <p:cNvPr id="128" name="Oval 127">
              <a:extLst>
                <a:ext uri="{FF2B5EF4-FFF2-40B4-BE49-F238E27FC236}">
                  <a16:creationId xmlns:a16="http://schemas.microsoft.com/office/drawing/2014/main" id="{86DA2C92-8B1C-BA54-C228-F548D0A94F01}"/>
                </a:ext>
              </a:extLst>
            </p:cNvPr>
            <p:cNvSpPr/>
            <p:nvPr/>
          </p:nvSpPr>
          <p:spPr>
            <a:xfrm>
              <a:off x="6900714" y="5735054"/>
              <a:ext cx="228600" cy="228600"/>
            </a:xfrm>
            <a:prstGeom prst="ellipse">
              <a:avLst/>
            </a:prstGeom>
            <a:solidFill>
              <a:schemeClr val="accent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200" b="1">
                  <a:solidFill>
                    <a:schemeClr val="bg1"/>
                  </a:solidFill>
                </a:rPr>
                <a:t>3</a:t>
              </a:r>
            </a:p>
          </p:txBody>
        </p:sp>
      </p:grpSp>
      <p:sp>
        <p:nvSpPr>
          <p:cNvPr id="100" name="Rectangle 99">
            <a:extLst>
              <a:ext uri="{FF2B5EF4-FFF2-40B4-BE49-F238E27FC236}">
                <a16:creationId xmlns:a16="http://schemas.microsoft.com/office/drawing/2014/main" id="{DE9196CC-D56B-B40A-DBAB-C8456F918316}"/>
              </a:ext>
            </a:extLst>
          </p:cNvPr>
          <p:cNvSpPr/>
          <p:nvPr/>
        </p:nvSpPr>
        <p:spPr>
          <a:xfrm>
            <a:off x="9514005" y="4201035"/>
            <a:ext cx="2231136" cy="15759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spcAft>
                <a:spcPts val="1200"/>
              </a:spcAft>
            </a:pPr>
            <a:r>
              <a:rPr lang="en-US" sz="1050">
                <a:solidFill>
                  <a:schemeClr val="tx2"/>
                </a:solidFill>
              </a:rPr>
              <a:t>Resistance-related gaps have been deprioritized in this version of the IEP</a:t>
            </a:r>
          </a:p>
        </p:txBody>
      </p:sp>
      <p:sp>
        <p:nvSpPr>
          <p:cNvPr id="76" name="Rectangle 75">
            <a:extLst>
              <a:ext uri="{FF2B5EF4-FFF2-40B4-BE49-F238E27FC236}">
                <a16:creationId xmlns:a16="http://schemas.microsoft.com/office/drawing/2014/main" id="{44ABE1CE-5946-801D-A0BC-7C7CE986414E}"/>
              </a:ext>
            </a:extLst>
          </p:cNvPr>
          <p:cNvSpPr/>
          <p:nvPr/>
        </p:nvSpPr>
        <p:spPr>
          <a:xfrm>
            <a:off x="4331242" y="4201035"/>
            <a:ext cx="2231136" cy="15759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noAutofit/>
          </a:bodyPr>
          <a:lstStyle/>
          <a:p>
            <a:pPr marL="285750" indent="-285750">
              <a:spcAft>
                <a:spcPts val="1200"/>
              </a:spcAft>
              <a:buFont typeface="Arial" panose="020B0604020202020204" pitchFamily="34" charset="0"/>
              <a:buChar char="•"/>
            </a:pPr>
            <a:r>
              <a:rPr lang="en-US" sz="1050">
                <a:solidFill>
                  <a:schemeClr val="tx2"/>
                </a:solidFill>
              </a:rPr>
              <a:t>Response rates across MTAP-deletion heterogeneity levels</a:t>
            </a:r>
          </a:p>
          <a:p>
            <a:pPr marL="285750" indent="-285750">
              <a:spcAft>
                <a:spcPts val="1200"/>
              </a:spcAft>
              <a:buFont typeface="Arial" panose="020B0604020202020204" pitchFamily="34" charset="0"/>
              <a:buChar char="•"/>
            </a:pPr>
            <a:r>
              <a:rPr lang="en-US" sz="1050">
                <a:solidFill>
                  <a:schemeClr val="tx2"/>
                </a:solidFill>
              </a:rPr>
              <a:t>Regulation of PD-L1 expression and efficacy across PD-L1 strata</a:t>
            </a:r>
          </a:p>
          <a:p>
            <a:pPr marL="285750" indent="-285750">
              <a:spcAft>
                <a:spcPts val="1200"/>
              </a:spcAft>
              <a:buFont typeface="Arial" panose="020B0604020202020204" pitchFamily="34" charset="0"/>
              <a:buChar char="•"/>
            </a:pPr>
            <a:r>
              <a:rPr lang="en-US" sz="1050">
                <a:solidFill>
                  <a:schemeClr val="tx2"/>
                </a:solidFill>
              </a:rPr>
              <a:t>Impact of CTA turnaround time on efficacy</a:t>
            </a:r>
          </a:p>
          <a:p>
            <a:pPr marL="285750" indent="-285750">
              <a:spcAft>
                <a:spcPts val="1200"/>
              </a:spcAft>
              <a:buFont typeface="Arial" panose="020B0604020202020204" pitchFamily="34" charset="0"/>
              <a:buChar char="•"/>
            </a:pPr>
            <a:r>
              <a:rPr lang="en-US" sz="1050">
                <a:solidFill>
                  <a:schemeClr val="tx2"/>
                </a:solidFill>
              </a:rPr>
              <a:t>Efficacy in MTAP-del patients with co-mutations</a:t>
            </a:r>
            <a:endParaRPr lang="en-US">
              <a:solidFill>
                <a:schemeClr val="bg1"/>
              </a:solidFill>
            </a:endParaRPr>
          </a:p>
        </p:txBody>
      </p:sp>
      <p:sp>
        <p:nvSpPr>
          <p:cNvPr id="118" name="Oval 117">
            <a:extLst>
              <a:ext uri="{FF2B5EF4-FFF2-40B4-BE49-F238E27FC236}">
                <a16:creationId xmlns:a16="http://schemas.microsoft.com/office/drawing/2014/main" id="{19EB5B96-F1EF-351F-C1E8-FEC141BC31DC}"/>
              </a:ext>
            </a:extLst>
          </p:cNvPr>
          <p:cNvSpPr/>
          <p:nvPr/>
        </p:nvSpPr>
        <p:spPr>
          <a:xfrm>
            <a:off x="4350045" y="4228331"/>
            <a:ext cx="228600" cy="228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200" b="1">
                <a:solidFill>
                  <a:schemeClr val="bg1"/>
                </a:solidFill>
              </a:rPr>
              <a:t>1</a:t>
            </a:r>
          </a:p>
        </p:txBody>
      </p:sp>
      <p:sp>
        <p:nvSpPr>
          <p:cNvPr id="120" name="Oval 119">
            <a:extLst>
              <a:ext uri="{FF2B5EF4-FFF2-40B4-BE49-F238E27FC236}">
                <a16:creationId xmlns:a16="http://schemas.microsoft.com/office/drawing/2014/main" id="{3435A810-83E7-E45C-F6D2-C10B60983F7F}"/>
              </a:ext>
            </a:extLst>
          </p:cNvPr>
          <p:cNvSpPr/>
          <p:nvPr/>
        </p:nvSpPr>
        <p:spPr>
          <a:xfrm>
            <a:off x="4350045" y="4853812"/>
            <a:ext cx="228600" cy="228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200" b="1">
                <a:solidFill>
                  <a:schemeClr val="bg1"/>
                </a:solidFill>
              </a:rPr>
              <a:t>2</a:t>
            </a:r>
          </a:p>
        </p:txBody>
      </p:sp>
      <p:sp>
        <p:nvSpPr>
          <p:cNvPr id="146" name="Oval 145">
            <a:extLst>
              <a:ext uri="{FF2B5EF4-FFF2-40B4-BE49-F238E27FC236}">
                <a16:creationId xmlns:a16="http://schemas.microsoft.com/office/drawing/2014/main" id="{CC17D8FE-C8CA-98D5-9B89-516BEEF71D6B}"/>
              </a:ext>
            </a:extLst>
          </p:cNvPr>
          <p:cNvSpPr/>
          <p:nvPr/>
        </p:nvSpPr>
        <p:spPr>
          <a:xfrm>
            <a:off x="4350045" y="5499001"/>
            <a:ext cx="228600" cy="228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200" b="1">
                <a:solidFill>
                  <a:schemeClr val="bg1"/>
                </a:solidFill>
              </a:rPr>
              <a:t>3</a:t>
            </a:r>
          </a:p>
        </p:txBody>
      </p:sp>
      <p:sp>
        <p:nvSpPr>
          <p:cNvPr id="148" name="Rectangle 147">
            <a:extLst>
              <a:ext uri="{FF2B5EF4-FFF2-40B4-BE49-F238E27FC236}">
                <a16:creationId xmlns:a16="http://schemas.microsoft.com/office/drawing/2014/main" id="{1DDCBD1C-1F1C-55BA-0B37-43ADA80CBEF0}"/>
              </a:ext>
            </a:extLst>
          </p:cNvPr>
          <p:cNvSpPr/>
          <p:nvPr/>
        </p:nvSpPr>
        <p:spPr>
          <a:xfrm>
            <a:off x="1660976" y="1444659"/>
            <a:ext cx="2400583" cy="664887"/>
          </a:xfrm>
          <a:prstGeom prst="rect">
            <a:avLst/>
          </a:prstGeom>
          <a:solidFill>
            <a:schemeClr val="accent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Poppins"/>
                <a:ea typeface="+mn-ea"/>
                <a:cs typeface="+mn-cs"/>
              </a:rPr>
              <a:t>    </a:t>
            </a:r>
            <a:r>
              <a:rPr kumimoji="0" lang="en-GB" sz="1050" b="1" i="0" u="none" strike="noStrike" kern="1200" cap="none" spc="0" normalizeH="0" baseline="0" noProof="0">
                <a:ln>
                  <a:noFill/>
                </a:ln>
                <a:solidFill>
                  <a:srgbClr val="FFFFFF"/>
                </a:solidFill>
                <a:effectLst/>
                <a:uLnTx/>
                <a:uFillTx/>
                <a:latin typeface="Poppins"/>
                <a:ea typeface="+mn-ea"/>
                <a:cs typeface="+mn-cs"/>
              </a:rPr>
              <a:t>Drive differentiation of BGB-58067 as a brain-penetrant, highly selective and potent PRMT5i</a:t>
            </a:r>
          </a:p>
        </p:txBody>
      </p:sp>
      <p:sp>
        <p:nvSpPr>
          <p:cNvPr id="150" name="Flowchart: Connector 149">
            <a:extLst>
              <a:ext uri="{FF2B5EF4-FFF2-40B4-BE49-F238E27FC236}">
                <a16:creationId xmlns:a16="http://schemas.microsoft.com/office/drawing/2014/main" id="{0935E97A-1D64-103C-402B-D155DB00F521}"/>
              </a:ext>
            </a:extLst>
          </p:cNvPr>
          <p:cNvSpPr/>
          <p:nvPr/>
        </p:nvSpPr>
        <p:spPr>
          <a:xfrm>
            <a:off x="1551846" y="1367226"/>
            <a:ext cx="288000" cy="288000"/>
          </a:xfrm>
          <a:prstGeom prst="flowChartConnector">
            <a:avLst/>
          </a:prstGeom>
          <a:solidFill>
            <a:schemeClr val="accent5"/>
          </a:solidFill>
          <a:ln w="3810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Poppins"/>
                <a:ea typeface="+mn-ea"/>
                <a:cs typeface="+mn-cs"/>
              </a:rPr>
              <a:t>1</a:t>
            </a:r>
          </a:p>
        </p:txBody>
      </p:sp>
      <p:sp>
        <p:nvSpPr>
          <p:cNvPr id="152" name="Rectangle 151">
            <a:extLst>
              <a:ext uri="{FF2B5EF4-FFF2-40B4-BE49-F238E27FC236}">
                <a16:creationId xmlns:a16="http://schemas.microsoft.com/office/drawing/2014/main" id="{44AD3C0B-169F-E8C3-261D-D973965EA4A7}"/>
              </a:ext>
            </a:extLst>
          </p:cNvPr>
          <p:cNvSpPr/>
          <p:nvPr/>
        </p:nvSpPr>
        <p:spPr>
          <a:xfrm>
            <a:off x="4236240" y="1444659"/>
            <a:ext cx="2421145" cy="664887"/>
          </a:xfrm>
          <a:prstGeom prst="rect">
            <a:avLst/>
          </a:prstGeom>
          <a:solidFill>
            <a:schemeClr val="accent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1000" b="1">
                <a:solidFill>
                  <a:srgbClr val="FFFFFF"/>
                </a:solidFill>
                <a:latin typeface="Poppins"/>
              </a:rPr>
              <a:t>        </a:t>
            </a:r>
            <a:r>
              <a:rPr kumimoji="0" lang="en-GB" sz="1050" b="1" i="0" u="none" strike="noStrike" kern="1200" cap="none" spc="0" normalizeH="0" baseline="0" noProof="0">
                <a:ln>
                  <a:noFill/>
                </a:ln>
                <a:solidFill>
                  <a:srgbClr val="FFFFFF"/>
                </a:solidFill>
                <a:effectLst/>
                <a:uLnTx/>
                <a:uFillTx/>
                <a:latin typeface="Poppins"/>
                <a:ea typeface="+mn-ea"/>
                <a:cs typeface="+mn-cs"/>
              </a:rPr>
              <a:t>Drive global awareness of MTAP deletion as a predictive biomarker for PRMT5i</a:t>
            </a:r>
          </a:p>
        </p:txBody>
      </p:sp>
      <p:sp>
        <p:nvSpPr>
          <p:cNvPr id="154" name="Flowchart: Connector 153">
            <a:extLst>
              <a:ext uri="{FF2B5EF4-FFF2-40B4-BE49-F238E27FC236}">
                <a16:creationId xmlns:a16="http://schemas.microsoft.com/office/drawing/2014/main" id="{508A36D5-48AF-97A3-2FEA-745B56519C99}"/>
              </a:ext>
            </a:extLst>
          </p:cNvPr>
          <p:cNvSpPr/>
          <p:nvPr/>
        </p:nvSpPr>
        <p:spPr>
          <a:xfrm>
            <a:off x="4137385" y="1367226"/>
            <a:ext cx="288000" cy="288000"/>
          </a:xfrm>
          <a:prstGeom prst="flowChartConnector">
            <a:avLst/>
          </a:prstGeom>
          <a:solidFill>
            <a:schemeClr val="accent4"/>
          </a:solidFill>
          <a:ln w="3810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Poppins"/>
                <a:ea typeface="+mn-ea"/>
                <a:cs typeface="+mn-cs"/>
              </a:rPr>
              <a:t>2</a:t>
            </a:r>
          </a:p>
        </p:txBody>
      </p:sp>
      <p:sp>
        <p:nvSpPr>
          <p:cNvPr id="156" name="Rectangle 155">
            <a:extLst>
              <a:ext uri="{FF2B5EF4-FFF2-40B4-BE49-F238E27FC236}">
                <a16:creationId xmlns:a16="http://schemas.microsoft.com/office/drawing/2014/main" id="{CC20D76F-6244-35D3-9235-189A5DB80BA2}"/>
              </a:ext>
            </a:extLst>
          </p:cNvPr>
          <p:cNvSpPr/>
          <p:nvPr/>
        </p:nvSpPr>
        <p:spPr>
          <a:xfrm>
            <a:off x="9427879" y="1444659"/>
            <a:ext cx="2400583" cy="664887"/>
          </a:xfrm>
          <a:prstGeom prst="rect">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lvl="0" algn="ctr" defTabSz="609585">
              <a:defRPr/>
            </a:pPr>
            <a:r>
              <a:rPr lang="en-US" sz="1000" b="1">
                <a:solidFill>
                  <a:srgbClr val="FFFFFF"/>
                </a:solidFill>
                <a:ea typeface="+mn-lt"/>
                <a:cs typeface="+mn-lt"/>
                <a:sym typeface="+mn-lt"/>
              </a:rPr>
              <a:t>    </a:t>
            </a:r>
            <a:r>
              <a:rPr lang="en-US" sz="1050" b="1">
                <a:solidFill>
                  <a:srgbClr val="FFFFFF"/>
                </a:solidFill>
                <a:ea typeface="+mn-lt"/>
                <a:cs typeface="+mn-lt"/>
                <a:sym typeface="+mn-lt"/>
              </a:rPr>
              <a:t>Understand primary vs secondary mechanisms of resistance for PRMT5i</a:t>
            </a:r>
          </a:p>
        </p:txBody>
      </p:sp>
      <p:sp>
        <p:nvSpPr>
          <p:cNvPr id="158" name="Flowchart: Connector 157">
            <a:extLst>
              <a:ext uri="{FF2B5EF4-FFF2-40B4-BE49-F238E27FC236}">
                <a16:creationId xmlns:a16="http://schemas.microsoft.com/office/drawing/2014/main" id="{C9342F63-48AD-CDD8-39E0-2D41A4A610BB}"/>
              </a:ext>
            </a:extLst>
          </p:cNvPr>
          <p:cNvSpPr/>
          <p:nvPr/>
        </p:nvSpPr>
        <p:spPr>
          <a:xfrm>
            <a:off x="9308462" y="1367226"/>
            <a:ext cx="288000" cy="288000"/>
          </a:xfrm>
          <a:prstGeom prst="flowChartConnector">
            <a:avLst/>
          </a:prstGeom>
          <a:solidFill>
            <a:schemeClr val="accent3"/>
          </a:solidFill>
          <a:ln w="3810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b="1">
                <a:solidFill>
                  <a:srgbClr val="FFFFFF"/>
                </a:solidFill>
                <a:latin typeface="Poppins"/>
              </a:rPr>
              <a:t>4</a:t>
            </a:r>
            <a:endParaRPr kumimoji="0" lang="en-US" sz="1400" b="1" i="0" u="none" strike="noStrike" kern="1200" cap="none" spc="0" normalizeH="0" baseline="0" noProof="0">
              <a:ln>
                <a:noFill/>
              </a:ln>
              <a:solidFill>
                <a:srgbClr val="FFFFFF"/>
              </a:solidFill>
              <a:effectLst/>
              <a:uLnTx/>
              <a:uFillTx/>
              <a:latin typeface="Poppins"/>
              <a:ea typeface="+mn-ea"/>
              <a:cs typeface="+mn-cs"/>
            </a:endParaRPr>
          </a:p>
        </p:txBody>
      </p:sp>
      <p:sp>
        <p:nvSpPr>
          <p:cNvPr id="160" name="Rectangle 159">
            <a:extLst>
              <a:ext uri="{FF2B5EF4-FFF2-40B4-BE49-F238E27FC236}">
                <a16:creationId xmlns:a16="http://schemas.microsoft.com/office/drawing/2014/main" id="{CA508A88-7AC7-DDE1-6ED3-BF83EF2DD849}"/>
              </a:ext>
            </a:extLst>
          </p:cNvPr>
          <p:cNvSpPr/>
          <p:nvPr/>
        </p:nvSpPr>
        <p:spPr>
          <a:xfrm>
            <a:off x="6842341" y="1444659"/>
            <a:ext cx="2400583" cy="664887"/>
          </a:xfrm>
          <a:prstGeom prst="rect">
            <a:avLst/>
          </a:prstGeom>
          <a:solidFill>
            <a:schemeClr val="accent2">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rIns="45720" rtlCol="0" anchor="ctr">
            <a:noAutofit/>
          </a:bodyPr>
          <a:lstStyle/>
          <a:p>
            <a:pPr lvl="0" algn="ctr" defTabSz="609585">
              <a:defRPr/>
            </a:pPr>
            <a:r>
              <a:rPr lang="en-US" sz="1050" b="1">
                <a:solidFill>
                  <a:srgbClr val="FFFFFF"/>
                </a:solidFill>
                <a:ea typeface="+mn-lt"/>
                <a:cs typeface="+mn-lt"/>
                <a:sym typeface="+mn-lt"/>
              </a:rPr>
              <a:t>Support scientific rationale for combination treatment and sequencing for BGB-58067</a:t>
            </a:r>
          </a:p>
        </p:txBody>
      </p:sp>
      <p:sp>
        <p:nvSpPr>
          <p:cNvPr id="162" name="Flowchart: Connector 161">
            <a:extLst>
              <a:ext uri="{FF2B5EF4-FFF2-40B4-BE49-F238E27FC236}">
                <a16:creationId xmlns:a16="http://schemas.microsoft.com/office/drawing/2014/main" id="{D7C0E033-4CF8-383B-5A99-4BA8310F4B59}"/>
              </a:ext>
            </a:extLst>
          </p:cNvPr>
          <p:cNvSpPr/>
          <p:nvPr/>
        </p:nvSpPr>
        <p:spPr>
          <a:xfrm>
            <a:off x="6722924" y="1367226"/>
            <a:ext cx="288000" cy="288000"/>
          </a:xfrm>
          <a:prstGeom prst="flowChartConnector">
            <a:avLst/>
          </a:prstGeom>
          <a:solidFill>
            <a:schemeClr val="accent2">
              <a:lumMod val="50000"/>
              <a:lumOff val="50000"/>
            </a:schemeClr>
          </a:solidFill>
          <a:ln w="3810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Poppins"/>
                <a:ea typeface="+mn-ea"/>
                <a:cs typeface="+mn-cs"/>
              </a:rPr>
              <a:t>3</a:t>
            </a:r>
          </a:p>
        </p:txBody>
      </p:sp>
      <p:sp>
        <p:nvSpPr>
          <p:cNvPr id="172" name="Rectangle 171">
            <a:extLst>
              <a:ext uri="{FF2B5EF4-FFF2-40B4-BE49-F238E27FC236}">
                <a16:creationId xmlns:a16="http://schemas.microsoft.com/office/drawing/2014/main" id="{5964D7F2-F11D-E33D-3EFD-0F0DE2BE7294}"/>
              </a:ext>
            </a:extLst>
          </p:cNvPr>
          <p:cNvSpPr/>
          <p:nvPr/>
        </p:nvSpPr>
        <p:spPr>
          <a:xfrm>
            <a:off x="216008" y="3491916"/>
            <a:ext cx="1335838" cy="5519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1200" b="1" i="1">
                <a:solidFill>
                  <a:schemeClr val="tx2"/>
                </a:solidFill>
                <a:latin typeface="Poppins"/>
              </a:rPr>
              <a:t>Gap Distribution</a:t>
            </a:r>
            <a:endParaRPr kumimoji="0" lang="en-GB" sz="1200" b="1" i="1" u="none" strike="noStrike" kern="1200" cap="none" spc="0" normalizeH="0" baseline="0" noProof="0">
              <a:ln>
                <a:noFill/>
              </a:ln>
              <a:solidFill>
                <a:schemeClr val="tx2"/>
              </a:solidFill>
              <a:effectLst/>
              <a:uLnTx/>
              <a:uFillTx/>
              <a:latin typeface="Poppins"/>
              <a:ea typeface="+mn-ea"/>
              <a:cs typeface="+mn-cs"/>
            </a:endParaRPr>
          </a:p>
        </p:txBody>
      </p:sp>
      <p:cxnSp>
        <p:nvCxnSpPr>
          <p:cNvPr id="174" name="Straight Connector 173">
            <a:extLst>
              <a:ext uri="{FF2B5EF4-FFF2-40B4-BE49-F238E27FC236}">
                <a16:creationId xmlns:a16="http://schemas.microsoft.com/office/drawing/2014/main" id="{DFEA428B-5455-6D5F-C481-8813A8EC00DE}"/>
              </a:ext>
            </a:extLst>
          </p:cNvPr>
          <p:cNvCxnSpPr>
            <a:cxnSpLocks/>
          </p:cNvCxnSpPr>
          <p:nvPr/>
        </p:nvCxnSpPr>
        <p:spPr>
          <a:xfrm>
            <a:off x="1877328" y="4043867"/>
            <a:ext cx="196787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5419893A-FC11-A263-80A9-3DE4ABBF6FAF}"/>
              </a:ext>
            </a:extLst>
          </p:cNvPr>
          <p:cNvCxnSpPr>
            <a:cxnSpLocks/>
          </p:cNvCxnSpPr>
          <p:nvPr/>
        </p:nvCxnSpPr>
        <p:spPr>
          <a:xfrm>
            <a:off x="4462871" y="4043867"/>
            <a:ext cx="196787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02E2B4A5-7D74-67A2-ACE9-1BBFBD2E4076}"/>
              </a:ext>
            </a:extLst>
          </p:cNvPr>
          <p:cNvCxnSpPr>
            <a:cxnSpLocks/>
          </p:cNvCxnSpPr>
          <p:nvPr/>
        </p:nvCxnSpPr>
        <p:spPr>
          <a:xfrm>
            <a:off x="7058693" y="4043867"/>
            <a:ext cx="196787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BBF30CFB-F7F1-5367-A28A-82BDD0F3CE2B}"/>
              </a:ext>
            </a:extLst>
          </p:cNvPr>
          <p:cNvCxnSpPr>
            <a:cxnSpLocks/>
          </p:cNvCxnSpPr>
          <p:nvPr/>
        </p:nvCxnSpPr>
        <p:spPr>
          <a:xfrm>
            <a:off x="9644232" y="4043867"/>
            <a:ext cx="196787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53D0C840-3E96-DE20-C47A-30EA9A731A3D}"/>
              </a:ext>
            </a:extLst>
          </p:cNvPr>
          <p:cNvCxnSpPr>
            <a:cxnSpLocks/>
          </p:cNvCxnSpPr>
          <p:nvPr/>
        </p:nvCxnSpPr>
        <p:spPr>
          <a:xfrm>
            <a:off x="1877328" y="3456296"/>
            <a:ext cx="196787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EAA23BD0-0F74-178C-3CC7-A4400AB36240}"/>
              </a:ext>
            </a:extLst>
          </p:cNvPr>
          <p:cNvCxnSpPr>
            <a:cxnSpLocks/>
          </p:cNvCxnSpPr>
          <p:nvPr/>
        </p:nvCxnSpPr>
        <p:spPr>
          <a:xfrm>
            <a:off x="4462871" y="3456296"/>
            <a:ext cx="196787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70146697-26D3-CFE8-6B14-ACD830E7B014}"/>
              </a:ext>
            </a:extLst>
          </p:cNvPr>
          <p:cNvCxnSpPr>
            <a:cxnSpLocks/>
          </p:cNvCxnSpPr>
          <p:nvPr/>
        </p:nvCxnSpPr>
        <p:spPr>
          <a:xfrm>
            <a:off x="7058693" y="3456296"/>
            <a:ext cx="196787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E9F26F01-3B44-A889-35F9-54E20DC5D7B9}"/>
              </a:ext>
            </a:extLst>
          </p:cNvPr>
          <p:cNvCxnSpPr>
            <a:cxnSpLocks/>
          </p:cNvCxnSpPr>
          <p:nvPr/>
        </p:nvCxnSpPr>
        <p:spPr>
          <a:xfrm>
            <a:off x="9644232" y="3456296"/>
            <a:ext cx="196787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218" name="Group 217">
            <a:extLst>
              <a:ext uri="{FF2B5EF4-FFF2-40B4-BE49-F238E27FC236}">
                <a16:creationId xmlns:a16="http://schemas.microsoft.com/office/drawing/2014/main" id="{5A1AD374-1001-6DC1-934E-43C81234057D}"/>
              </a:ext>
            </a:extLst>
          </p:cNvPr>
          <p:cNvGrpSpPr/>
          <p:nvPr/>
        </p:nvGrpSpPr>
        <p:grpSpPr>
          <a:xfrm>
            <a:off x="1748071" y="4201035"/>
            <a:ext cx="2226393" cy="1977293"/>
            <a:chOff x="1748071" y="4337515"/>
            <a:chExt cx="2226393" cy="1977293"/>
          </a:xfrm>
        </p:grpSpPr>
        <p:grpSp>
          <p:nvGrpSpPr>
            <p:cNvPr id="167" name="Group 166">
              <a:extLst>
                <a:ext uri="{FF2B5EF4-FFF2-40B4-BE49-F238E27FC236}">
                  <a16:creationId xmlns:a16="http://schemas.microsoft.com/office/drawing/2014/main" id="{79538814-0514-6F8D-49BC-77A0A524B6F7}"/>
                </a:ext>
              </a:extLst>
            </p:cNvPr>
            <p:cNvGrpSpPr/>
            <p:nvPr/>
          </p:nvGrpSpPr>
          <p:grpSpPr>
            <a:xfrm>
              <a:off x="1748071" y="4337515"/>
              <a:ext cx="2226393" cy="1640691"/>
              <a:chOff x="1794105" y="4132795"/>
              <a:chExt cx="2226393" cy="1640691"/>
            </a:xfrm>
          </p:grpSpPr>
          <p:sp>
            <p:nvSpPr>
              <p:cNvPr id="28" name="Rectangle 27">
                <a:extLst>
                  <a:ext uri="{FF2B5EF4-FFF2-40B4-BE49-F238E27FC236}">
                    <a16:creationId xmlns:a16="http://schemas.microsoft.com/office/drawing/2014/main" id="{5798B3E4-F767-8E92-927F-5A4047960E3D}"/>
                  </a:ext>
                </a:extLst>
              </p:cNvPr>
              <p:cNvSpPr/>
              <p:nvPr/>
            </p:nvSpPr>
            <p:spPr>
              <a:xfrm>
                <a:off x="1794105" y="4132795"/>
                <a:ext cx="2226393" cy="16406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noAutofit/>
              </a:bodyPr>
              <a:lstStyle/>
              <a:p>
                <a:pPr marL="285750" indent="-285750">
                  <a:spcAft>
                    <a:spcPts val="1200"/>
                  </a:spcAft>
                  <a:buFont typeface="Arial" panose="020B0604020202020204" pitchFamily="34" charset="0"/>
                  <a:buChar char="•"/>
                </a:pPr>
                <a:r>
                  <a:rPr lang="en-US" sz="1050">
                    <a:solidFill>
                      <a:schemeClr val="tx2"/>
                    </a:solidFill>
                  </a:rPr>
                  <a:t>Impact on CNS metastases</a:t>
                </a:r>
              </a:p>
              <a:p>
                <a:pPr marL="285750" indent="-285750">
                  <a:spcAft>
                    <a:spcPts val="1200"/>
                  </a:spcAft>
                  <a:buFont typeface="Arial" panose="020B0604020202020204" pitchFamily="34" charset="0"/>
                  <a:buChar char="•"/>
                </a:pPr>
                <a:r>
                  <a:rPr lang="en-US" sz="1050">
                    <a:solidFill>
                      <a:schemeClr val="tx2"/>
                    </a:solidFill>
                  </a:rPr>
                  <a:t>Contribution of effect beyond the PD-1 backbone in 1L setting</a:t>
                </a:r>
              </a:p>
              <a:p>
                <a:pPr marL="285750" indent="-285750">
                  <a:spcAft>
                    <a:spcPts val="1200"/>
                  </a:spcAft>
                  <a:buFont typeface="Arial" panose="020B0604020202020204" pitchFamily="34" charset="0"/>
                  <a:buChar char="•"/>
                </a:pPr>
                <a:r>
                  <a:rPr lang="en-US" sz="1050">
                    <a:solidFill>
                      <a:schemeClr val="tx2"/>
                    </a:solidFill>
                  </a:rPr>
                  <a:t>Efficacy and safety in MTAP-deleted tumors beyond those investigated in the CDP</a:t>
                </a:r>
              </a:p>
              <a:p>
                <a:pPr marL="285750" indent="-285750">
                  <a:spcAft>
                    <a:spcPts val="1200"/>
                  </a:spcAft>
                  <a:buFont typeface="Arial" panose="020B0604020202020204" pitchFamily="34" charset="0"/>
                  <a:buChar char="•"/>
                </a:pPr>
                <a:r>
                  <a:rPr lang="en-US" sz="1050">
                    <a:solidFill>
                      <a:schemeClr val="tx2"/>
                    </a:solidFill>
                  </a:rPr>
                  <a:t>Long-term efficacy, safety, and tolerability</a:t>
                </a:r>
                <a:endParaRPr lang="en-US" sz="1600">
                  <a:solidFill>
                    <a:schemeClr val="bg1"/>
                  </a:solidFill>
                </a:endParaRPr>
              </a:p>
              <a:p>
                <a:pPr marL="342900" indent="-342900">
                  <a:spcAft>
                    <a:spcPts val="600"/>
                  </a:spcAft>
                  <a:buFont typeface="Arial" panose="020B0604020202020204" pitchFamily="34" charset="0"/>
                  <a:buChar char="•"/>
                </a:pPr>
                <a:endParaRPr lang="en-US">
                  <a:solidFill>
                    <a:schemeClr val="bg1"/>
                  </a:solidFill>
                </a:endParaRPr>
              </a:p>
            </p:txBody>
          </p:sp>
          <p:sp>
            <p:nvSpPr>
              <p:cNvPr id="112" name="Oval 111">
                <a:extLst>
                  <a:ext uri="{FF2B5EF4-FFF2-40B4-BE49-F238E27FC236}">
                    <a16:creationId xmlns:a16="http://schemas.microsoft.com/office/drawing/2014/main" id="{27F40CE8-EBC0-7C3A-CB96-BFE510BDCB0F}"/>
                  </a:ext>
                </a:extLst>
              </p:cNvPr>
              <p:cNvSpPr/>
              <p:nvPr/>
            </p:nvSpPr>
            <p:spPr>
              <a:xfrm>
                <a:off x="1825182" y="4146444"/>
                <a:ext cx="228600" cy="2286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200" b="1">
                    <a:solidFill>
                      <a:schemeClr val="bg1"/>
                    </a:solidFill>
                  </a:rPr>
                  <a:t>1</a:t>
                </a:r>
              </a:p>
            </p:txBody>
          </p:sp>
          <p:sp>
            <p:nvSpPr>
              <p:cNvPr id="114" name="Oval 113">
                <a:extLst>
                  <a:ext uri="{FF2B5EF4-FFF2-40B4-BE49-F238E27FC236}">
                    <a16:creationId xmlns:a16="http://schemas.microsoft.com/office/drawing/2014/main" id="{97B7DB6D-2F54-A8DE-7B48-A93776B99C64}"/>
                  </a:ext>
                </a:extLst>
              </p:cNvPr>
              <p:cNvSpPr/>
              <p:nvPr/>
            </p:nvSpPr>
            <p:spPr>
              <a:xfrm>
                <a:off x="1825182" y="4471127"/>
                <a:ext cx="228600" cy="2286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200" b="1">
                    <a:solidFill>
                      <a:schemeClr val="bg1"/>
                    </a:solidFill>
                  </a:rPr>
                  <a:t>2</a:t>
                </a:r>
              </a:p>
            </p:txBody>
          </p:sp>
          <p:sp>
            <p:nvSpPr>
              <p:cNvPr id="116" name="Oval 115">
                <a:extLst>
                  <a:ext uri="{FF2B5EF4-FFF2-40B4-BE49-F238E27FC236}">
                    <a16:creationId xmlns:a16="http://schemas.microsoft.com/office/drawing/2014/main" id="{FFAE970C-363A-CF71-8B1A-F899DE99092B}"/>
                  </a:ext>
                </a:extLst>
              </p:cNvPr>
              <p:cNvSpPr/>
              <p:nvPr/>
            </p:nvSpPr>
            <p:spPr>
              <a:xfrm>
                <a:off x="1825182" y="5112815"/>
                <a:ext cx="228600" cy="2286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200" b="1">
                    <a:solidFill>
                      <a:schemeClr val="bg1"/>
                    </a:solidFill>
                  </a:rPr>
                  <a:t>3</a:t>
                </a:r>
              </a:p>
            </p:txBody>
          </p:sp>
        </p:grpSp>
        <p:sp>
          <p:nvSpPr>
            <p:cNvPr id="184" name="Oval 183">
              <a:extLst>
                <a:ext uri="{FF2B5EF4-FFF2-40B4-BE49-F238E27FC236}">
                  <a16:creationId xmlns:a16="http://schemas.microsoft.com/office/drawing/2014/main" id="{26FDA29A-6EBA-2399-E7B1-125F65522782}"/>
                </a:ext>
              </a:extLst>
            </p:cNvPr>
            <p:cNvSpPr/>
            <p:nvPr/>
          </p:nvSpPr>
          <p:spPr>
            <a:xfrm>
              <a:off x="1779148" y="6086208"/>
              <a:ext cx="228600" cy="2286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200" b="1">
                  <a:solidFill>
                    <a:schemeClr val="bg1"/>
                  </a:solidFill>
                </a:rPr>
                <a:t>4</a:t>
              </a:r>
            </a:p>
          </p:txBody>
        </p:sp>
      </p:grpSp>
      <p:grpSp>
        <p:nvGrpSpPr>
          <p:cNvPr id="192" name="Group 191">
            <a:extLst>
              <a:ext uri="{FF2B5EF4-FFF2-40B4-BE49-F238E27FC236}">
                <a16:creationId xmlns:a16="http://schemas.microsoft.com/office/drawing/2014/main" id="{A512F48C-3C29-C387-73FD-20F7036BCA9E}"/>
              </a:ext>
            </a:extLst>
          </p:cNvPr>
          <p:cNvGrpSpPr/>
          <p:nvPr/>
        </p:nvGrpSpPr>
        <p:grpSpPr>
          <a:xfrm>
            <a:off x="2137521" y="3586755"/>
            <a:ext cx="1447492" cy="326652"/>
            <a:chOff x="2151115" y="3738159"/>
            <a:chExt cx="1447492" cy="326652"/>
          </a:xfrm>
        </p:grpSpPr>
        <p:sp>
          <p:nvSpPr>
            <p:cNvPr id="185" name="Rectangle 184">
              <a:extLst>
                <a:ext uri="{FF2B5EF4-FFF2-40B4-BE49-F238E27FC236}">
                  <a16:creationId xmlns:a16="http://schemas.microsoft.com/office/drawing/2014/main" id="{DE2245EA-B47F-E271-A1B7-B9C63BD12665}"/>
                </a:ext>
              </a:extLst>
            </p:cNvPr>
            <p:cNvSpPr/>
            <p:nvPr/>
          </p:nvSpPr>
          <p:spPr>
            <a:xfrm>
              <a:off x="2151115" y="3738159"/>
              <a:ext cx="484702" cy="326652"/>
            </a:xfrm>
            <a:prstGeom prst="rect">
              <a:avLst/>
            </a:prstGeom>
            <a:solidFill>
              <a:srgbClr val="CCE6E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45720" tIns="0" rIns="45720" bIns="0" rtlCol="0" anchor="ctr">
              <a:normAutofit/>
            </a:bodyPr>
            <a:lstStyle/>
            <a:p>
              <a:pPr algn="ctr"/>
              <a:r>
                <a:rPr lang="en-GB" sz="1400" b="1">
                  <a:solidFill>
                    <a:schemeClr val="accent4"/>
                  </a:solidFill>
                </a:rPr>
                <a:t>4</a:t>
              </a:r>
            </a:p>
          </p:txBody>
        </p:sp>
        <p:sp>
          <p:nvSpPr>
            <p:cNvPr id="187" name="Rectangle 186">
              <a:extLst>
                <a:ext uri="{FF2B5EF4-FFF2-40B4-BE49-F238E27FC236}">
                  <a16:creationId xmlns:a16="http://schemas.microsoft.com/office/drawing/2014/main" id="{D1786EB3-FC16-364E-B0EA-C624DB2B8192}"/>
                </a:ext>
              </a:extLst>
            </p:cNvPr>
            <p:cNvSpPr/>
            <p:nvPr/>
          </p:nvSpPr>
          <p:spPr>
            <a:xfrm>
              <a:off x="2629203" y="3738159"/>
              <a:ext cx="484702" cy="326652"/>
            </a:xfrm>
            <a:prstGeom prst="rect">
              <a:avLst/>
            </a:prstGeom>
            <a:solidFill>
              <a:srgbClr val="FCE0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45720" tIns="0" rIns="45720" bIns="0" rtlCol="0" anchor="ctr">
              <a:normAutofit/>
            </a:bodyPr>
            <a:lstStyle/>
            <a:p>
              <a:pPr algn="ctr"/>
              <a:r>
                <a:rPr lang="en-GB" sz="1400" b="1">
                  <a:solidFill>
                    <a:schemeClr val="accent1"/>
                  </a:solidFill>
                </a:rPr>
                <a:t>8</a:t>
              </a:r>
            </a:p>
          </p:txBody>
        </p:sp>
        <p:sp>
          <p:nvSpPr>
            <p:cNvPr id="191" name="Rectangle 190">
              <a:extLst>
                <a:ext uri="{FF2B5EF4-FFF2-40B4-BE49-F238E27FC236}">
                  <a16:creationId xmlns:a16="http://schemas.microsoft.com/office/drawing/2014/main" id="{A980ADE9-2D45-387F-1975-F524E7D4BC91}"/>
                </a:ext>
              </a:extLst>
            </p:cNvPr>
            <p:cNvSpPr/>
            <p:nvPr/>
          </p:nvSpPr>
          <p:spPr>
            <a:xfrm>
              <a:off x="3113905" y="3738159"/>
              <a:ext cx="484702" cy="326652"/>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45720" tIns="0" rIns="45720" bIns="0" rtlCol="0" anchor="ctr">
              <a:normAutofit/>
            </a:bodyPr>
            <a:lstStyle/>
            <a:p>
              <a:pPr algn="ctr"/>
              <a:r>
                <a:rPr lang="en-GB" sz="1400" b="1">
                  <a:solidFill>
                    <a:schemeClr val="accent2"/>
                  </a:solidFill>
                </a:rPr>
                <a:t>12</a:t>
              </a:r>
            </a:p>
          </p:txBody>
        </p:sp>
      </p:grpSp>
      <p:grpSp>
        <p:nvGrpSpPr>
          <p:cNvPr id="197" name="Group 196">
            <a:extLst>
              <a:ext uri="{FF2B5EF4-FFF2-40B4-BE49-F238E27FC236}">
                <a16:creationId xmlns:a16="http://schemas.microsoft.com/office/drawing/2014/main" id="{61AAEBD0-42A4-20B8-D6DE-CA176BA93A9E}"/>
              </a:ext>
            </a:extLst>
          </p:cNvPr>
          <p:cNvGrpSpPr/>
          <p:nvPr/>
        </p:nvGrpSpPr>
        <p:grpSpPr>
          <a:xfrm>
            <a:off x="4723064" y="3586755"/>
            <a:ext cx="1447492" cy="326652"/>
            <a:chOff x="2151115" y="3738159"/>
            <a:chExt cx="1447492" cy="326652"/>
          </a:xfrm>
        </p:grpSpPr>
        <p:sp>
          <p:nvSpPr>
            <p:cNvPr id="198" name="Rectangle 197">
              <a:extLst>
                <a:ext uri="{FF2B5EF4-FFF2-40B4-BE49-F238E27FC236}">
                  <a16:creationId xmlns:a16="http://schemas.microsoft.com/office/drawing/2014/main" id="{ADBD3BC5-5EC5-5879-C5DE-C6957DF22970}"/>
                </a:ext>
              </a:extLst>
            </p:cNvPr>
            <p:cNvSpPr/>
            <p:nvPr/>
          </p:nvSpPr>
          <p:spPr>
            <a:xfrm>
              <a:off x="2151115" y="3738159"/>
              <a:ext cx="484702" cy="326652"/>
            </a:xfrm>
            <a:prstGeom prst="rect">
              <a:avLst/>
            </a:prstGeom>
            <a:solidFill>
              <a:srgbClr val="CCE6E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45720" tIns="0" rIns="45720" bIns="0" rtlCol="0" anchor="ctr">
              <a:normAutofit/>
            </a:bodyPr>
            <a:lstStyle/>
            <a:p>
              <a:pPr algn="ctr"/>
              <a:r>
                <a:rPr lang="en-GB" sz="1400" b="1">
                  <a:solidFill>
                    <a:schemeClr val="accent4"/>
                  </a:solidFill>
                </a:rPr>
                <a:t>0</a:t>
              </a:r>
            </a:p>
          </p:txBody>
        </p:sp>
        <p:sp>
          <p:nvSpPr>
            <p:cNvPr id="199" name="Rectangle 198">
              <a:extLst>
                <a:ext uri="{FF2B5EF4-FFF2-40B4-BE49-F238E27FC236}">
                  <a16:creationId xmlns:a16="http://schemas.microsoft.com/office/drawing/2014/main" id="{BEA113BF-B0C0-3B9F-25CF-9E9FD8EC3771}"/>
                </a:ext>
              </a:extLst>
            </p:cNvPr>
            <p:cNvSpPr/>
            <p:nvPr/>
          </p:nvSpPr>
          <p:spPr>
            <a:xfrm>
              <a:off x="2629203" y="3738159"/>
              <a:ext cx="484702" cy="326652"/>
            </a:xfrm>
            <a:prstGeom prst="rect">
              <a:avLst/>
            </a:prstGeom>
            <a:solidFill>
              <a:srgbClr val="FCE0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45720" tIns="0" rIns="45720" bIns="0" rtlCol="0" anchor="ctr">
              <a:normAutofit/>
            </a:bodyPr>
            <a:lstStyle/>
            <a:p>
              <a:pPr algn="ctr"/>
              <a:r>
                <a:rPr lang="en-GB" sz="1400" b="1">
                  <a:solidFill>
                    <a:schemeClr val="accent1"/>
                  </a:solidFill>
                </a:rPr>
                <a:t>5</a:t>
              </a:r>
            </a:p>
          </p:txBody>
        </p:sp>
        <p:sp>
          <p:nvSpPr>
            <p:cNvPr id="200" name="Rectangle 199">
              <a:extLst>
                <a:ext uri="{FF2B5EF4-FFF2-40B4-BE49-F238E27FC236}">
                  <a16:creationId xmlns:a16="http://schemas.microsoft.com/office/drawing/2014/main" id="{3FC2A676-0C32-DF47-D205-D08EB01FFA1E}"/>
                </a:ext>
              </a:extLst>
            </p:cNvPr>
            <p:cNvSpPr/>
            <p:nvPr/>
          </p:nvSpPr>
          <p:spPr>
            <a:xfrm>
              <a:off x="3113905" y="3738159"/>
              <a:ext cx="484702" cy="326652"/>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45720" tIns="0" rIns="45720" bIns="0" rtlCol="0" anchor="ctr">
              <a:normAutofit/>
            </a:bodyPr>
            <a:lstStyle/>
            <a:p>
              <a:pPr algn="ctr"/>
              <a:r>
                <a:rPr lang="en-GB" sz="1400" b="1">
                  <a:solidFill>
                    <a:schemeClr val="accent2"/>
                  </a:solidFill>
                </a:rPr>
                <a:t>5</a:t>
              </a:r>
            </a:p>
          </p:txBody>
        </p:sp>
      </p:grpSp>
      <p:grpSp>
        <p:nvGrpSpPr>
          <p:cNvPr id="201" name="Group 200">
            <a:extLst>
              <a:ext uri="{FF2B5EF4-FFF2-40B4-BE49-F238E27FC236}">
                <a16:creationId xmlns:a16="http://schemas.microsoft.com/office/drawing/2014/main" id="{18BB229F-9A68-67C5-A300-F4469F17530B}"/>
              </a:ext>
            </a:extLst>
          </p:cNvPr>
          <p:cNvGrpSpPr/>
          <p:nvPr/>
        </p:nvGrpSpPr>
        <p:grpSpPr>
          <a:xfrm>
            <a:off x="7318886" y="3586755"/>
            <a:ext cx="1447492" cy="326652"/>
            <a:chOff x="2151115" y="3738159"/>
            <a:chExt cx="1447492" cy="326652"/>
          </a:xfrm>
        </p:grpSpPr>
        <p:sp>
          <p:nvSpPr>
            <p:cNvPr id="202" name="Rectangle 201">
              <a:extLst>
                <a:ext uri="{FF2B5EF4-FFF2-40B4-BE49-F238E27FC236}">
                  <a16:creationId xmlns:a16="http://schemas.microsoft.com/office/drawing/2014/main" id="{2DA299A1-6F64-C531-7C13-E1A7960D98D5}"/>
                </a:ext>
              </a:extLst>
            </p:cNvPr>
            <p:cNvSpPr/>
            <p:nvPr/>
          </p:nvSpPr>
          <p:spPr>
            <a:xfrm>
              <a:off x="2151115" y="3738159"/>
              <a:ext cx="484702" cy="326652"/>
            </a:xfrm>
            <a:prstGeom prst="rect">
              <a:avLst/>
            </a:prstGeom>
            <a:solidFill>
              <a:srgbClr val="CCE6E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45720" tIns="0" rIns="45720" bIns="0" rtlCol="0" anchor="ctr">
              <a:normAutofit/>
            </a:bodyPr>
            <a:lstStyle/>
            <a:p>
              <a:pPr algn="ctr"/>
              <a:r>
                <a:rPr lang="en-GB" sz="1400" b="1">
                  <a:solidFill>
                    <a:schemeClr val="accent4"/>
                  </a:solidFill>
                </a:rPr>
                <a:t>1</a:t>
              </a:r>
            </a:p>
          </p:txBody>
        </p:sp>
        <p:sp>
          <p:nvSpPr>
            <p:cNvPr id="203" name="Rectangle 202">
              <a:extLst>
                <a:ext uri="{FF2B5EF4-FFF2-40B4-BE49-F238E27FC236}">
                  <a16:creationId xmlns:a16="http://schemas.microsoft.com/office/drawing/2014/main" id="{5D04FA00-C6D5-9480-68A9-2886E788DDFC}"/>
                </a:ext>
              </a:extLst>
            </p:cNvPr>
            <p:cNvSpPr/>
            <p:nvPr/>
          </p:nvSpPr>
          <p:spPr>
            <a:xfrm>
              <a:off x="2629203" y="3738159"/>
              <a:ext cx="484702" cy="326652"/>
            </a:xfrm>
            <a:prstGeom prst="rect">
              <a:avLst/>
            </a:prstGeom>
            <a:solidFill>
              <a:srgbClr val="FCE0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45720" tIns="0" rIns="45720" bIns="0" rtlCol="0" anchor="ctr">
              <a:normAutofit/>
            </a:bodyPr>
            <a:lstStyle/>
            <a:p>
              <a:pPr algn="ctr"/>
              <a:r>
                <a:rPr lang="en-GB" sz="1400" b="1">
                  <a:solidFill>
                    <a:schemeClr val="accent1"/>
                  </a:solidFill>
                </a:rPr>
                <a:t>2</a:t>
              </a:r>
            </a:p>
          </p:txBody>
        </p:sp>
        <p:sp>
          <p:nvSpPr>
            <p:cNvPr id="204" name="Rectangle 203">
              <a:extLst>
                <a:ext uri="{FF2B5EF4-FFF2-40B4-BE49-F238E27FC236}">
                  <a16:creationId xmlns:a16="http://schemas.microsoft.com/office/drawing/2014/main" id="{399A585F-CF6A-76DA-ACCC-A1292EA29C8B}"/>
                </a:ext>
              </a:extLst>
            </p:cNvPr>
            <p:cNvSpPr/>
            <p:nvPr/>
          </p:nvSpPr>
          <p:spPr>
            <a:xfrm>
              <a:off x="3113905" y="3738159"/>
              <a:ext cx="484702" cy="326652"/>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45720" tIns="0" rIns="45720" bIns="0" rtlCol="0" anchor="ctr">
              <a:normAutofit/>
            </a:bodyPr>
            <a:lstStyle/>
            <a:p>
              <a:pPr algn="ctr"/>
              <a:r>
                <a:rPr lang="en-GB" sz="1400" b="1">
                  <a:solidFill>
                    <a:schemeClr val="accent2"/>
                  </a:solidFill>
                </a:rPr>
                <a:t>3</a:t>
              </a:r>
            </a:p>
          </p:txBody>
        </p:sp>
      </p:grpSp>
      <p:grpSp>
        <p:nvGrpSpPr>
          <p:cNvPr id="205" name="Group 204">
            <a:extLst>
              <a:ext uri="{FF2B5EF4-FFF2-40B4-BE49-F238E27FC236}">
                <a16:creationId xmlns:a16="http://schemas.microsoft.com/office/drawing/2014/main" id="{BF4ABE31-B9B6-1B8D-8812-F3E88D5FF54F}"/>
              </a:ext>
            </a:extLst>
          </p:cNvPr>
          <p:cNvGrpSpPr/>
          <p:nvPr/>
        </p:nvGrpSpPr>
        <p:grpSpPr>
          <a:xfrm>
            <a:off x="9904425" y="3586755"/>
            <a:ext cx="1447492" cy="326652"/>
            <a:chOff x="2151115" y="3738159"/>
            <a:chExt cx="1447492" cy="326652"/>
          </a:xfrm>
        </p:grpSpPr>
        <p:sp>
          <p:nvSpPr>
            <p:cNvPr id="206" name="Rectangle 205">
              <a:extLst>
                <a:ext uri="{FF2B5EF4-FFF2-40B4-BE49-F238E27FC236}">
                  <a16:creationId xmlns:a16="http://schemas.microsoft.com/office/drawing/2014/main" id="{5FEBB1FA-2A9B-366A-B2E0-34B129A6F882}"/>
                </a:ext>
              </a:extLst>
            </p:cNvPr>
            <p:cNvSpPr/>
            <p:nvPr/>
          </p:nvSpPr>
          <p:spPr>
            <a:xfrm>
              <a:off x="2151115" y="3738159"/>
              <a:ext cx="484702" cy="326652"/>
            </a:xfrm>
            <a:prstGeom prst="rect">
              <a:avLst/>
            </a:prstGeom>
            <a:solidFill>
              <a:srgbClr val="CCE6E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45720" tIns="0" rIns="45720" bIns="0" rtlCol="0" anchor="ctr">
              <a:normAutofit/>
            </a:bodyPr>
            <a:lstStyle/>
            <a:p>
              <a:pPr algn="ctr"/>
              <a:r>
                <a:rPr lang="en-GB" sz="1400" b="1">
                  <a:solidFill>
                    <a:schemeClr val="accent4"/>
                  </a:solidFill>
                </a:rPr>
                <a:t>0</a:t>
              </a:r>
            </a:p>
          </p:txBody>
        </p:sp>
        <p:sp>
          <p:nvSpPr>
            <p:cNvPr id="207" name="Rectangle 206">
              <a:extLst>
                <a:ext uri="{FF2B5EF4-FFF2-40B4-BE49-F238E27FC236}">
                  <a16:creationId xmlns:a16="http://schemas.microsoft.com/office/drawing/2014/main" id="{B747689B-254D-95EA-8151-AE7C669FE0F4}"/>
                </a:ext>
              </a:extLst>
            </p:cNvPr>
            <p:cNvSpPr/>
            <p:nvPr/>
          </p:nvSpPr>
          <p:spPr>
            <a:xfrm>
              <a:off x="2629203" y="3738159"/>
              <a:ext cx="484702" cy="326652"/>
            </a:xfrm>
            <a:prstGeom prst="rect">
              <a:avLst/>
            </a:prstGeom>
            <a:solidFill>
              <a:srgbClr val="FCE0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45720" tIns="0" rIns="45720" bIns="0" rtlCol="0" anchor="ctr">
              <a:normAutofit/>
            </a:bodyPr>
            <a:lstStyle/>
            <a:p>
              <a:pPr algn="ctr"/>
              <a:r>
                <a:rPr lang="en-GB" sz="1400" b="1">
                  <a:solidFill>
                    <a:schemeClr val="accent1"/>
                  </a:solidFill>
                </a:rPr>
                <a:t>0</a:t>
              </a:r>
            </a:p>
          </p:txBody>
        </p:sp>
        <p:sp>
          <p:nvSpPr>
            <p:cNvPr id="208" name="Rectangle 207">
              <a:extLst>
                <a:ext uri="{FF2B5EF4-FFF2-40B4-BE49-F238E27FC236}">
                  <a16:creationId xmlns:a16="http://schemas.microsoft.com/office/drawing/2014/main" id="{2C1BE081-00AE-245D-7D0E-64C7E9890185}"/>
                </a:ext>
              </a:extLst>
            </p:cNvPr>
            <p:cNvSpPr/>
            <p:nvPr/>
          </p:nvSpPr>
          <p:spPr>
            <a:xfrm>
              <a:off x="3113905" y="3738159"/>
              <a:ext cx="484702" cy="326652"/>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45720" tIns="0" rIns="45720" bIns="0" rtlCol="0" anchor="ctr">
              <a:normAutofit/>
            </a:bodyPr>
            <a:lstStyle/>
            <a:p>
              <a:pPr algn="ctr"/>
              <a:r>
                <a:rPr lang="en-GB" sz="1400" b="1">
                  <a:solidFill>
                    <a:schemeClr val="accent2"/>
                  </a:solidFill>
                </a:rPr>
                <a:t>0</a:t>
              </a:r>
            </a:p>
          </p:txBody>
        </p:sp>
      </p:grpSp>
      <p:cxnSp>
        <p:nvCxnSpPr>
          <p:cNvPr id="211" name="Straight Connector 210">
            <a:extLst>
              <a:ext uri="{FF2B5EF4-FFF2-40B4-BE49-F238E27FC236}">
                <a16:creationId xmlns:a16="http://schemas.microsoft.com/office/drawing/2014/main" id="{F2F17496-30C1-CD59-EBD7-2FA27435E1D7}"/>
              </a:ext>
            </a:extLst>
          </p:cNvPr>
          <p:cNvCxnSpPr>
            <a:cxnSpLocks/>
          </p:cNvCxnSpPr>
          <p:nvPr/>
        </p:nvCxnSpPr>
        <p:spPr>
          <a:xfrm>
            <a:off x="4148898" y="2288068"/>
            <a:ext cx="0" cy="386144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44E1EFD3-473C-743C-3277-7170FC1733D3}"/>
              </a:ext>
            </a:extLst>
          </p:cNvPr>
          <p:cNvCxnSpPr>
            <a:cxnSpLocks/>
          </p:cNvCxnSpPr>
          <p:nvPr/>
        </p:nvCxnSpPr>
        <p:spPr>
          <a:xfrm>
            <a:off x="6749862" y="2288068"/>
            <a:ext cx="0" cy="386144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8383E35C-487D-A015-C2EB-1C15AA71ABF2}"/>
              </a:ext>
            </a:extLst>
          </p:cNvPr>
          <p:cNvCxnSpPr>
            <a:cxnSpLocks/>
          </p:cNvCxnSpPr>
          <p:nvPr/>
        </p:nvCxnSpPr>
        <p:spPr>
          <a:xfrm>
            <a:off x="9335402" y="2288068"/>
            <a:ext cx="0" cy="386144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17" name="Rectangle 216">
            <a:extLst>
              <a:ext uri="{FF2B5EF4-FFF2-40B4-BE49-F238E27FC236}">
                <a16:creationId xmlns:a16="http://schemas.microsoft.com/office/drawing/2014/main" id="{E83208C0-2091-3F58-4075-FACA94DDCF44}"/>
              </a:ext>
            </a:extLst>
          </p:cNvPr>
          <p:cNvSpPr/>
          <p:nvPr/>
        </p:nvSpPr>
        <p:spPr>
          <a:xfrm>
            <a:off x="212097" y="2534724"/>
            <a:ext cx="1335838" cy="708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1200" b="1" i="1">
                <a:solidFill>
                  <a:schemeClr val="tx2"/>
                </a:solidFill>
                <a:latin typeface="Poppins"/>
              </a:rPr>
              <a:t>Evidence</a:t>
            </a:r>
          </a:p>
          <a:p>
            <a:pPr marL="0" marR="0" lvl="0" indent="0" algn="ctr" defTabSz="457200" rtl="0" eaLnBrk="1" fontAlgn="auto" latinLnBrk="0" hangingPunct="1">
              <a:lnSpc>
                <a:spcPct val="100000"/>
              </a:lnSpc>
              <a:spcBef>
                <a:spcPts val="0"/>
              </a:spcBef>
              <a:spcAft>
                <a:spcPts val="0"/>
              </a:spcAft>
              <a:buClrTx/>
              <a:buSzTx/>
              <a:buFontTx/>
              <a:buNone/>
              <a:tabLst/>
              <a:defRPr/>
            </a:pPr>
            <a:r>
              <a:rPr lang="en-GB" sz="1200" b="1" i="1">
                <a:solidFill>
                  <a:schemeClr val="tx2"/>
                </a:solidFill>
                <a:latin typeface="Poppins"/>
              </a:rPr>
              <a:t> Needs</a:t>
            </a:r>
            <a:endParaRPr kumimoji="0" lang="en-GB" sz="1200" b="1" i="1" u="none" strike="noStrike" kern="1200" cap="none" spc="0" normalizeH="0" baseline="0" noProof="0">
              <a:ln>
                <a:noFill/>
              </a:ln>
              <a:solidFill>
                <a:schemeClr val="tx2"/>
              </a:solidFill>
              <a:effectLst/>
              <a:uLnTx/>
              <a:uFillTx/>
              <a:latin typeface="Poppins"/>
              <a:ea typeface="+mn-ea"/>
              <a:cs typeface="+mn-cs"/>
            </a:endParaRPr>
          </a:p>
        </p:txBody>
      </p:sp>
      <p:grpSp>
        <p:nvGrpSpPr>
          <p:cNvPr id="225" name="Group 224">
            <a:extLst>
              <a:ext uri="{FF2B5EF4-FFF2-40B4-BE49-F238E27FC236}">
                <a16:creationId xmlns:a16="http://schemas.microsoft.com/office/drawing/2014/main" id="{D92EA47E-FC78-AD4C-EEEC-B0CC844FC47F}"/>
              </a:ext>
            </a:extLst>
          </p:cNvPr>
          <p:cNvGrpSpPr/>
          <p:nvPr/>
        </p:nvGrpSpPr>
        <p:grpSpPr>
          <a:xfrm>
            <a:off x="6933702" y="6535593"/>
            <a:ext cx="4333165" cy="366758"/>
            <a:chOff x="3349633" y="6556572"/>
            <a:chExt cx="5452870" cy="307777"/>
          </a:xfrm>
        </p:grpSpPr>
        <p:grpSp>
          <p:nvGrpSpPr>
            <p:cNvPr id="219" name="Group 218">
              <a:extLst>
                <a:ext uri="{FF2B5EF4-FFF2-40B4-BE49-F238E27FC236}">
                  <a16:creationId xmlns:a16="http://schemas.microsoft.com/office/drawing/2014/main" id="{64A49BEE-0B17-340D-4575-60E7C281420C}"/>
                </a:ext>
              </a:extLst>
            </p:cNvPr>
            <p:cNvGrpSpPr/>
            <p:nvPr/>
          </p:nvGrpSpPr>
          <p:grpSpPr>
            <a:xfrm>
              <a:off x="4116626" y="6619359"/>
              <a:ext cx="4685877" cy="161845"/>
              <a:chOff x="2151115" y="3738159"/>
              <a:chExt cx="1447492" cy="326652"/>
            </a:xfrm>
          </p:grpSpPr>
          <p:sp>
            <p:nvSpPr>
              <p:cNvPr id="220" name="Rectangle 219">
                <a:extLst>
                  <a:ext uri="{FF2B5EF4-FFF2-40B4-BE49-F238E27FC236}">
                    <a16:creationId xmlns:a16="http://schemas.microsoft.com/office/drawing/2014/main" id="{89EE70D9-6EE2-35D0-5DD2-F1A7F01118AA}"/>
                  </a:ext>
                </a:extLst>
              </p:cNvPr>
              <p:cNvSpPr/>
              <p:nvPr/>
            </p:nvSpPr>
            <p:spPr>
              <a:xfrm>
                <a:off x="2151115" y="3738159"/>
                <a:ext cx="484702" cy="326652"/>
              </a:xfrm>
              <a:prstGeom prst="rect">
                <a:avLst/>
              </a:prstGeom>
              <a:solidFill>
                <a:srgbClr val="CCE6E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45720" tIns="0" rIns="45720" bIns="0" rtlCol="0" anchor="ctr">
                <a:normAutofit/>
              </a:bodyPr>
              <a:lstStyle/>
              <a:p>
                <a:pPr algn="ctr"/>
                <a:r>
                  <a:rPr lang="en-GB" sz="800" b="1">
                    <a:solidFill>
                      <a:schemeClr val="accent4"/>
                    </a:solidFill>
                  </a:rPr>
                  <a:t>Critical Priority Gaps</a:t>
                </a:r>
              </a:p>
            </p:txBody>
          </p:sp>
          <p:sp>
            <p:nvSpPr>
              <p:cNvPr id="221" name="Rectangle 220">
                <a:extLst>
                  <a:ext uri="{FF2B5EF4-FFF2-40B4-BE49-F238E27FC236}">
                    <a16:creationId xmlns:a16="http://schemas.microsoft.com/office/drawing/2014/main" id="{CA4AE394-594E-3BB3-7CF2-07D1EACDAB2B}"/>
                  </a:ext>
                </a:extLst>
              </p:cNvPr>
              <p:cNvSpPr/>
              <p:nvPr/>
            </p:nvSpPr>
            <p:spPr>
              <a:xfrm>
                <a:off x="2629203" y="3738159"/>
                <a:ext cx="484702" cy="326652"/>
              </a:xfrm>
              <a:prstGeom prst="rect">
                <a:avLst/>
              </a:prstGeom>
              <a:solidFill>
                <a:srgbClr val="FCE0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45720" tIns="0" rIns="45720" bIns="0" rtlCol="0" anchor="ctr">
                <a:normAutofit/>
              </a:bodyPr>
              <a:lstStyle/>
              <a:p>
                <a:pPr algn="ctr"/>
                <a:r>
                  <a:rPr lang="en-GB" sz="800" b="1">
                    <a:solidFill>
                      <a:schemeClr val="accent1"/>
                    </a:solidFill>
                  </a:rPr>
                  <a:t>High Priority Gaps</a:t>
                </a:r>
              </a:p>
            </p:txBody>
          </p:sp>
          <p:sp>
            <p:nvSpPr>
              <p:cNvPr id="222" name="Rectangle 221">
                <a:extLst>
                  <a:ext uri="{FF2B5EF4-FFF2-40B4-BE49-F238E27FC236}">
                    <a16:creationId xmlns:a16="http://schemas.microsoft.com/office/drawing/2014/main" id="{6A333165-000C-7D8A-F721-9C308D38C158}"/>
                  </a:ext>
                </a:extLst>
              </p:cNvPr>
              <p:cNvSpPr/>
              <p:nvPr/>
            </p:nvSpPr>
            <p:spPr>
              <a:xfrm>
                <a:off x="3113905" y="3738159"/>
                <a:ext cx="484702" cy="326652"/>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45720" tIns="0" rIns="45720" bIns="0" rtlCol="0" anchor="ctr">
                <a:normAutofit/>
              </a:bodyPr>
              <a:lstStyle/>
              <a:p>
                <a:pPr algn="ctr"/>
                <a:r>
                  <a:rPr lang="en-GB" sz="800" b="1">
                    <a:solidFill>
                      <a:schemeClr val="accent2"/>
                    </a:solidFill>
                  </a:rPr>
                  <a:t>Total Priority Gaps</a:t>
                </a:r>
              </a:p>
            </p:txBody>
          </p:sp>
        </p:grpSp>
        <p:sp>
          <p:nvSpPr>
            <p:cNvPr id="224" name="TextBox 223">
              <a:extLst>
                <a:ext uri="{FF2B5EF4-FFF2-40B4-BE49-F238E27FC236}">
                  <a16:creationId xmlns:a16="http://schemas.microsoft.com/office/drawing/2014/main" id="{C460F4D4-5176-E329-607C-536347568A13}"/>
                </a:ext>
              </a:extLst>
            </p:cNvPr>
            <p:cNvSpPr txBox="1"/>
            <p:nvPr/>
          </p:nvSpPr>
          <p:spPr>
            <a:xfrm>
              <a:off x="3349633" y="6556572"/>
              <a:ext cx="1071704" cy="307777"/>
            </a:xfrm>
            <a:prstGeom prst="rect">
              <a:avLst/>
            </a:prstGeom>
            <a:noFill/>
          </p:spPr>
          <p:txBody>
            <a:bodyPr wrap="square" lIns="36000" tIns="91440" rIns="36000" bIns="91440" rtlCol="0">
              <a:spAutoFit/>
            </a:bodyPr>
            <a:lstStyle/>
            <a:p>
              <a:pPr algn="ctr"/>
              <a:r>
                <a:rPr lang="en-US" sz="800" b="1"/>
                <a:t>Key:</a:t>
              </a:r>
              <a:endParaRPr lang="en-US" sz="800"/>
            </a:p>
          </p:txBody>
        </p:sp>
      </p:grpSp>
      <p:cxnSp>
        <p:nvCxnSpPr>
          <p:cNvPr id="226" name="Straight Connector 225">
            <a:extLst>
              <a:ext uri="{FF2B5EF4-FFF2-40B4-BE49-F238E27FC236}">
                <a16:creationId xmlns:a16="http://schemas.microsoft.com/office/drawing/2014/main" id="{F15D8C43-7698-D6A2-B8A1-A8700D2E6F97}"/>
              </a:ext>
            </a:extLst>
          </p:cNvPr>
          <p:cNvCxnSpPr>
            <a:cxnSpLocks/>
          </p:cNvCxnSpPr>
          <p:nvPr/>
        </p:nvCxnSpPr>
        <p:spPr>
          <a:xfrm>
            <a:off x="169642" y="4043867"/>
            <a:ext cx="1378293"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E0771408-A953-A7CB-99CC-B6B7DD245D00}"/>
              </a:ext>
            </a:extLst>
          </p:cNvPr>
          <p:cNvCxnSpPr>
            <a:cxnSpLocks/>
          </p:cNvCxnSpPr>
          <p:nvPr/>
        </p:nvCxnSpPr>
        <p:spPr>
          <a:xfrm>
            <a:off x="212097" y="3456296"/>
            <a:ext cx="1378293"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E3E7D50B-0C38-2DA0-D19D-42AD8B9196BC}"/>
              </a:ext>
            </a:extLst>
          </p:cNvPr>
          <p:cNvSpPr/>
          <p:nvPr/>
        </p:nvSpPr>
        <p:spPr>
          <a:xfrm>
            <a:off x="4350045" y="5960967"/>
            <a:ext cx="228600" cy="228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200" b="1">
                <a:solidFill>
                  <a:schemeClr val="bg1"/>
                </a:solidFill>
              </a:rPr>
              <a:t>4</a:t>
            </a:r>
          </a:p>
        </p:txBody>
      </p:sp>
      <p:grpSp>
        <p:nvGrpSpPr>
          <p:cNvPr id="4" name="Group 3">
            <a:extLst>
              <a:ext uri="{FF2B5EF4-FFF2-40B4-BE49-F238E27FC236}">
                <a16:creationId xmlns:a16="http://schemas.microsoft.com/office/drawing/2014/main" id="{10DCC624-446B-3517-92E7-9430E5E48AD8}"/>
              </a:ext>
            </a:extLst>
          </p:cNvPr>
          <p:cNvGrpSpPr/>
          <p:nvPr/>
        </p:nvGrpSpPr>
        <p:grpSpPr>
          <a:xfrm>
            <a:off x="362743" y="10216"/>
            <a:ext cx="10042505" cy="252000"/>
            <a:chOff x="362743" y="10216"/>
            <a:chExt cx="10042505" cy="252000"/>
          </a:xfrm>
        </p:grpSpPr>
        <p:sp>
          <p:nvSpPr>
            <p:cNvPr id="6" name="Pentagon 47">
              <a:extLst>
                <a:ext uri="{FF2B5EF4-FFF2-40B4-BE49-F238E27FC236}">
                  <a16:creationId xmlns:a16="http://schemas.microsoft.com/office/drawing/2014/main" id="{009EDB02-FF36-B815-7263-5AEAFA7ACE7A}"/>
                </a:ext>
              </a:extLst>
            </p:cNvPr>
            <p:cNvSpPr/>
            <p:nvPr/>
          </p:nvSpPr>
          <p:spPr>
            <a:xfrm>
              <a:off x="362743" y="10216"/>
              <a:ext cx="1695265" cy="252000"/>
            </a:xfrm>
            <a:prstGeom prst="homePlate">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7" name="Chevron 48">
              <a:extLst>
                <a:ext uri="{FF2B5EF4-FFF2-40B4-BE49-F238E27FC236}">
                  <a16:creationId xmlns:a16="http://schemas.microsoft.com/office/drawing/2014/main" id="{BAF7720D-717F-E7DF-8919-649957D428C6}"/>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8" name="Chevron 52">
              <a:extLst>
                <a:ext uri="{FF2B5EF4-FFF2-40B4-BE49-F238E27FC236}">
                  <a16:creationId xmlns:a16="http://schemas.microsoft.com/office/drawing/2014/main" id="{B5EC3BD1-0D9D-D538-FBFA-2CF142112B82}"/>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9" name="Chevron 54">
              <a:extLst>
                <a:ext uri="{FF2B5EF4-FFF2-40B4-BE49-F238E27FC236}">
                  <a16:creationId xmlns:a16="http://schemas.microsoft.com/office/drawing/2014/main" id="{2664617B-DFFF-058C-2035-909B30B87241}"/>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1" name="Chevron 48">
              <a:extLst>
                <a:ext uri="{FF2B5EF4-FFF2-40B4-BE49-F238E27FC236}">
                  <a16:creationId xmlns:a16="http://schemas.microsoft.com/office/drawing/2014/main" id="{BFC98442-495D-C84E-C156-FAB0F897AE4A}"/>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3" name="Chevron 48">
              <a:extLst>
                <a:ext uri="{FF2B5EF4-FFF2-40B4-BE49-F238E27FC236}">
                  <a16:creationId xmlns:a16="http://schemas.microsoft.com/office/drawing/2014/main" id="{6FC817F1-E56F-A12D-5D3B-C74489AA9F0B}"/>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2778052159"/>
      </p:ext>
    </p:extLst>
  </p:cSld>
  <p:clrMapOvr>
    <a:masterClrMapping/>
  </p:clrMapOvr>
  <p:extLst>
    <p:ext uri="{6950BFC3-D8DA-4A85-94F7-54DA5524770B}">
      <p188:commentRel xmlns:p188="http://schemas.microsoft.com/office/powerpoint/2018/8/main" r:id="rId4"/>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9811D-2960-536A-5C7D-3B977AEA22D4}"/>
            </a:ext>
          </a:extLst>
        </p:cNvPr>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DC157B8C-494A-BFD4-B37F-A3123A660775}"/>
              </a:ext>
            </a:extLst>
          </p:cNvPr>
          <p:cNvGraphicFramePr>
            <a:graphicFrameLocks/>
          </p:cNvGraphicFramePr>
          <p:nvPr>
            <p:custDataLst>
              <p:tags r:id="rId1"/>
            </p:custDataLst>
            <p:extLst>
              <p:ext uri="{D42A27DB-BD31-4B8C-83A1-F6EECF244321}">
                <p14:modId xmlns:p14="http://schemas.microsoft.com/office/powerpoint/2010/main" val="12053087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404" imgH="405" progId="TCLayout.ActiveDocument.1">
                  <p:embed/>
                </p:oleObj>
              </mc:Choice>
              <mc:Fallback>
                <p:oleObj name="think-cell Slide" r:id="rId6" imgW="404" imgH="405" progId="TCLayout.ActiveDocument.1">
                  <p:embed/>
                  <p:pic>
                    <p:nvPicPr>
                      <p:cNvPr id="10" name="think-cell data - do not delete" hidden="1">
                        <a:extLst>
                          <a:ext uri="{FF2B5EF4-FFF2-40B4-BE49-F238E27FC236}">
                            <a16:creationId xmlns:a16="http://schemas.microsoft.com/office/drawing/2014/main" id="{DC157B8C-494A-BFD4-B37F-A3123A660775}"/>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C4668D1-4ADD-A1DB-90B6-F2FA54E578D3}"/>
              </a:ext>
            </a:extLst>
          </p:cNvPr>
          <p:cNvSpPr>
            <a:spLocks noGrp="1"/>
          </p:cNvSpPr>
          <p:nvPr>
            <p:ph type="title"/>
          </p:nvPr>
        </p:nvSpPr>
        <p:spPr>
          <a:xfrm>
            <a:off x="358337" y="338328"/>
            <a:ext cx="11470125" cy="738664"/>
          </a:xfrm>
        </p:spPr>
        <p:txBody>
          <a:bodyPr vert="horz" rIns="0">
            <a:spAutoFit/>
          </a:bodyPr>
          <a:lstStyle/>
          <a:p>
            <a:r>
              <a:rPr lang="en-US" sz="2400"/>
              <a:t>The IEP leverages seven tactical approaches for evidence generation that address priority gaps</a:t>
            </a:r>
          </a:p>
        </p:txBody>
      </p:sp>
      <p:sp>
        <p:nvSpPr>
          <p:cNvPr id="3" name="Footer Placeholder 2">
            <a:extLst>
              <a:ext uri="{FF2B5EF4-FFF2-40B4-BE49-F238E27FC236}">
                <a16:creationId xmlns:a16="http://schemas.microsoft.com/office/drawing/2014/main" id="{4CF7E5ED-F837-4A49-F37D-297AFAE86201}"/>
              </a:ext>
            </a:extLst>
          </p:cNvPr>
          <p:cNvSpPr>
            <a:spLocks noGrp="1"/>
          </p:cNvSpPr>
          <p:nvPr>
            <p:ph type="ftr" sz="quarter" idx="10"/>
          </p:nvPr>
        </p:nvSpPr>
        <p:spPr>
          <a:xfrm>
            <a:off x="358337" y="6309360"/>
            <a:ext cx="7909560" cy="365760"/>
          </a:xfrm>
        </p:spPr>
        <p:txBody>
          <a:bodyPr/>
          <a:lstStyle/>
          <a:p>
            <a:r>
              <a:rPr lang="en-US"/>
              <a:t>Abbreviations: AE: Adverse Event; CNS: Central Nervous System; COE: Contribution of Effect; HCP: Healthcare Professional; HCRU: Healthcare Resource Utilization; IIT: Investigator-Initiated Trial; ITC: Indirect Treatment Comparison; MTAP: Methylthioadenosine Phosphorylase; PD-1i: Programmed Cell Death Protein-1 Inhibitor; PRMT5i: Protein Arginine Methyltransferase 5 Inhibitor; QoL: Quality of Life; RWE: Real-World Evidence; SLR: Systematic Literature Review; SoC: Standard of Care</a:t>
            </a:r>
          </a:p>
        </p:txBody>
      </p:sp>
      <p:graphicFrame>
        <p:nvGraphicFramePr>
          <p:cNvPr id="47" name="Chart 46">
            <a:extLst>
              <a:ext uri="{FF2B5EF4-FFF2-40B4-BE49-F238E27FC236}">
                <a16:creationId xmlns:a16="http://schemas.microsoft.com/office/drawing/2014/main" id="{968477C9-ABD5-3DBB-E31F-BDCA28890EDC}"/>
              </a:ext>
            </a:extLst>
          </p:cNvPr>
          <p:cNvGraphicFramePr/>
          <p:nvPr>
            <p:custDataLst>
              <p:tags r:id="rId2"/>
            </p:custDataLst>
            <p:extLst>
              <p:ext uri="{D42A27DB-BD31-4B8C-83A1-F6EECF244321}">
                <p14:modId xmlns:p14="http://schemas.microsoft.com/office/powerpoint/2010/main" val="3478005091"/>
              </p:ext>
            </p:extLst>
          </p:nvPr>
        </p:nvGraphicFramePr>
        <p:xfrm>
          <a:off x="4584700" y="2019300"/>
          <a:ext cx="3022600" cy="3022600"/>
        </p:xfrm>
        <a:graphic>
          <a:graphicData uri="http://schemas.openxmlformats.org/drawingml/2006/chart">
            <c:chart xmlns:c="http://schemas.openxmlformats.org/drawingml/2006/chart" xmlns:r="http://schemas.openxmlformats.org/officeDocument/2006/relationships" r:id="rId8"/>
          </a:graphicData>
        </a:graphic>
      </p:graphicFrame>
      <p:pic>
        <p:nvPicPr>
          <p:cNvPr id="1045" name="Graphic 1044">
            <a:extLst>
              <a:ext uri="{FF2B5EF4-FFF2-40B4-BE49-F238E27FC236}">
                <a16:creationId xmlns:a16="http://schemas.microsoft.com/office/drawing/2014/main" id="{A40B56DC-57E9-AD17-A656-667C527C0E6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586010" y="2554288"/>
            <a:ext cx="1042988" cy="1042988"/>
          </a:xfrm>
          <a:prstGeom prst="rect">
            <a:avLst/>
          </a:prstGeom>
        </p:spPr>
      </p:pic>
      <p:sp>
        <p:nvSpPr>
          <p:cNvPr id="1046" name="Rectangle 1045">
            <a:extLst>
              <a:ext uri="{FF2B5EF4-FFF2-40B4-BE49-F238E27FC236}">
                <a16:creationId xmlns:a16="http://schemas.microsoft.com/office/drawing/2014/main" id="{BD90071C-4AED-25E5-61C3-66D9D8F7B105}"/>
              </a:ext>
            </a:extLst>
          </p:cNvPr>
          <p:cNvSpPr/>
          <p:nvPr/>
        </p:nvSpPr>
        <p:spPr>
          <a:xfrm>
            <a:off x="361950" y="1353179"/>
            <a:ext cx="3752850" cy="1005840"/>
          </a:xfrm>
          <a:prstGeom prst="rect">
            <a:avLst/>
          </a:prstGeom>
          <a:solidFill>
            <a:schemeClr val="bg1"/>
          </a:solidFill>
          <a:ln w="28575">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45720" rtlCol="0" anchor="ctr">
            <a:noAutofit/>
          </a:bodyPr>
          <a:lstStyle/>
          <a:p>
            <a:pPr algn="ctr">
              <a:spcAft>
                <a:spcPts val="300"/>
              </a:spcAft>
            </a:pPr>
            <a:r>
              <a:rPr lang="en-US" sz="1100" b="1">
                <a:solidFill>
                  <a:schemeClr val="tx1"/>
                </a:solidFill>
              </a:rPr>
              <a:t>Systematic Literature Reviews (SLRs)</a:t>
            </a:r>
          </a:p>
          <a:p>
            <a:pPr algn="ctr"/>
            <a:r>
              <a:rPr lang="en-US" sz="1000" i="1">
                <a:solidFill>
                  <a:schemeClr val="accent4">
                    <a:lumMod val="60000"/>
                    <a:lumOff val="40000"/>
                  </a:schemeClr>
                </a:solidFill>
              </a:rPr>
              <a:t>Build the foundation to establish unmet need</a:t>
            </a:r>
          </a:p>
          <a:p>
            <a:pPr algn="ctr">
              <a:spcAft>
                <a:spcPts val="300"/>
              </a:spcAft>
            </a:pPr>
            <a:r>
              <a:rPr lang="en-US" sz="1000" i="1">
                <a:solidFill>
                  <a:schemeClr val="accent4">
                    <a:lumMod val="60000"/>
                    <a:lumOff val="40000"/>
                  </a:schemeClr>
                </a:solidFill>
              </a:rPr>
              <a:t> and support indirect treatment comparisons</a:t>
            </a:r>
          </a:p>
          <a:p>
            <a:pPr marL="365760" indent="-171450">
              <a:spcAft>
                <a:spcPts val="300"/>
              </a:spcAft>
              <a:buFont typeface="Arial" panose="020B0604020202020204" pitchFamily="34" charset="0"/>
              <a:buChar char="•"/>
            </a:pPr>
            <a:r>
              <a:rPr lang="en-US" sz="1000">
                <a:solidFill>
                  <a:schemeClr val="tx1"/>
                </a:solidFill>
              </a:rPr>
              <a:t>MTAP-del natural history and epidemiology</a:t>
            </a:r>
          </a:p>
          <a:p>
            <a:pPr marL="365760" indent="-171450">
              <a:spcAft>
                <a:spcPts val="300"/>
              </a:spcAft>
              <a:buFont typeface="Arial" panose="020B0604020202020204" pitchFamily="34" charset="0"/>
              <a:buChar char="•"/>
            </a:pPr>
            <a:r>
              <a:rPr lang="en-US" sz="1000">
                <a:solidFill>
                  <a:schemeClr val="tx1"/>
                </a:solidFill>
              </a:rPr>
              <a:t>Treatment outcomes under current SoC</a:t>
            </a:r>
          </a:p>
        </p:txBody>
      </p:sp>
      <p:sp>
        <p:nvSpPr>
          <p:cNvPr id="1048" name="Rectangle 1047">
            <a:extLst>
              <a:ext uri="{FF2B5EF4-FFF2-40B4-BE49-F238E27FC236}">
                <a16:creationId xmlns:a16="http://schemas.microsoft.com/office/drawing/2014/main" id="{4436949B-A329-760B-0373-C71F6E2EE5AC}"/>
              </a:ext>
            </a:extLst>
          </p:cNvPr>
          <p:cNvSpPr/>
          <p:nvPr/>
        </p:nvSpPr>
        <p:spPr>
          <a:xfrm>
            <a:off x="361950" y="2450130"/>
            <a:ext cx="3752850" cy="1005840"/>
          </a:xfrm>
          <a:prstGeom prst="rect">
            <a:avLst/>
          </a:prstGeom>
          <a:solidFill>
            <a:schemeClr val="bg1"/>
          </a:solidFill>
          <a:ln w="28575">
            <a:solidFill>
              <a:srgbClr val="E4AAAE"/>
            </a:solidFill>
          </a:ln>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algn="ctr">
              <a:spcAft>
                <a:spcPts val="300"/>
              </a:spcAft>
            </a:pPr>
            <a:r>
              <a:rPr lang="en-US" sz="1100" b="1">
                <a:solidFill>
                  <a:schemeClr val="tx1"/>
                </a:solidFill>
              </a:rPr>
              <a:t>Indirect Treatment Comparisons (ITCs)</a:t>
            </a:r>
          </a:p>
          <a:p>
            <a:pPr algn="ctr"/>
            <a:r>
              <a:rPr lang="en-US" sz="1000" i="1">
                <a:solidFill>
                  <a:schemeClr val="accent5">
                    <a:lumMod val="60000"/>
                    <a:lumOff val="40000"/>
                  </a:schemeClr>
                </a:solidFill>
              </a:rPr>
              <a:t>Benchmark BGB-58067 against evolving 1L and </a:t>
            </a:r>
          </a:p>
          <a:p>
            <a:pPr algn="ctr">
              <a:spcAft>
                <a:spcPts val="300"/>
              </a:spcAft>
            </a:pPr>
            <a:r>
              <a:rPr lang="en-US" sz="1000" i="1">
                <a:solidFill>
                  <a:schemeClr val="accent5">
                    <a:lumMod val="60000"/>
                    <a:lumOff val="40000"/>
                  </a:schemeClr>
                </a:solidFill>
              </a:rPr>
              <a:t>2L+ NSCLC treatment landscape</a:t>
            </a:r>
          </a:p>
          <a:p>
            <a:pPr marL="274320" indent="-171450">
              <a:lnSpc>
                <a:spcPct val="120000"/>
              </a:lnSpc>
              <a:spcAft>
                <a:spcPts val="300"/>
              </a:spcAft>
              <a:buFont typeface="Arial" panose="020B0604020202020204" pitchFamily="34" charset="0"/>
              <a:buChar char="•"/>
            </a:pPr>
            <a:r>
              <a:rPr lang="en-US" sz="1000">
                <a:solidFill>
                  <a:schemeClr val="tx1"/>
                </a:solidFill>
              </a:rPr>
              <a:t>Comparative data vs. emerging SoC / PRMT5i</a:t>
            </a:r>
          </a:p>
          <a:p>
            <a:pPr marL="274320" indent="-171450">
              <a:spcAft>
                <a:spcPts val="300"/>
              </a:spcAft>
              <a:buFont typeface="Arial" panose="020B0604020202020204" pitchFamily="34" charset="0"/>
              <a:buChar char="•"/>
            </a:pPr>
            <a:r>
              <a:rPr lang="en-US" sz="1000">
                <a:solidFill>
                  <a:schemeClr val="tx1"/>
                </a:solidFill>
              </a:rPr>
              <a:t>Comparison across different PD-1i therapies</a:t>
            </a:r>
          </a:p>
        </p:txBody>
      </p:sp>
      <p:sp>
        <p:nvSpPr>
          <p:cNvPr id="1050" name="Rectangle 1049">
            <a:extLst>
              <a:ext uri="{FF2B5EF4-FFF2-40B4-BE49-F238E27FC236}">
                <a16:creationId xmlns:a16="http://schemas.microsoft.com/office/drawing/2014/main" id="{2DB5B95D-9E15-52FE-1F5F-503F3E0EB89C}"/>
              </a:ext>
            </a:extLst>
          </p:cNvPr>
          <p:cNvSpPr/>
          <p:nvPr/>
        </p:nvSpPr>
        <p:spPr>
          <a:xfrm>
            <a:off x="361950" y="3545747"/>
            <a:ext cx="3752850" cy="1005840"/>
          </a:xfrm>
          <a:prstGeom prst="rect">
            <a:avLst/>
          </a:prstGeom>
          <a:solidFill>
            <a:schemeClr val="bg1"/>
          </a:solidFill>
          <a:ln w="28575">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spcAft>
                <a:spcPts val="300"/>
              </a:spcAft>
            </a:pPr>
            <a:r>
              <a:rPr lang="en-US" sz="1100" b="1">
                <a:solidFill>
                  <a:schemeClr val="tx1"/>
                </a:solidFill>
              </a:rPr>
              <a:t>Modeling Studies</a:t>
            </a:r>
          </a:p>
          <a:p>
            <a:pPr algn="ctr"/>
            <a:r>
              <a:rPr lang="en-US" sz="1000" i="1">
                <a:solidFill>
                  <a:schemeClr val="bg1">
                    <a:lumMod val="50000"/>
                  </a:schemeClr>
                </a:solidFill>
              </a:rPr>
              <a:t>Quantify the clinical and economic impact of</a:t>
            </a:r>
          </a:p>
          <a:p>
            <a:pPr algn="ctr">
              <a:spcAft>
                <a:spcPts val="300"/>
              </a:spcAft>
            </a:pPr>
            <a:r>
              <a:rPr lang="en-US" sz="1000" i="1">
                <a:solidFill>
                  <a:schemeClr val="bg1">
                    <a:lumMod val="50000"/>
                  </a:schemeClr>
                </a:solidFill>
              </a:rPr>
              <a:t> BGB-58067 and MTAP testing methodologies</a:t>
            </a:r>
          </a:p>
          <a:p>
            <a:pPr marL="274320" indent="-171450">
              <a:spcAft>
                <a:spcPts val="300"/>
              </a:spcAft>
              <a:buFont typeface="Arial" panose="020B0604020202020204" pitchFamily="34" charset="0"/>
              <a:buChar char="•"/>
            </a:pPr>
            <a:r>
              <a:rPr lang="en-US" sz="1000">
                <a:solidFill>
                  <a:schemeClr val="tx1"/>
                </a:solidFill>
              </a:rPr>
              <a:t>Cost effectiveness &amp; budget impact modeling</a:t>
            </a:r>
          </a:p>
          <a:p>
            <a:pPr marL="274320" indent="-171450">
              <a:spcAft>
                <a:spcPts val="300"/>
              </a:spcAft>
              <a:buFont typeface="Arial" panose="020B0604020202020204" pitchFamily="34" charset="0"/>
              <a:buChar char="•"/>
            </a:pPr>
            <a:r>
              <a:rPr lang="en-US" sz="1000">
                <a:solidFill>
                  <a:schemeClr val="tx1"/>
                </a:solidFill>
              </a:rPr>
              <a:t>Time-to-treatment modeling</a:t>
            </a:r>
          </a:p>
        </p:txBody>
      </p:sp>
      <p:sp>
        <p:nvSpPr>
          <p:cNvPr id="1052" name="Rectangle 1051">
            <a:extLst>
              <a:ext uri="{FF2B5EF4-FFF2-40B4-BE49-F238E27FC236}">
                <a16:creationId xmlns:a16="http://schemas.microsoft.com/office/drawing/2014/main" id="{8647E4C2-0F40-D877-CD4D-8B4E460ADDA9}"/>
              </a:ext>
            </a:extLst>
          </p:cNvPr>
          <p:cNvSpPr/>
          <p:nvPr/>
        </p:nvSpPr>
        <p:spPr>
          <a:xfrm>
            <a:off x="8111385" y="1350963"/>
            <a:ext cx="3752850" cy="1371600"/>
          </a:xfrm>
          <a:prstGeom prst="rect">
            <a:avLst/>
          </a:prstGeom>
          <a:solidFill>
            <a:schemeClr val="bg1"/>
          </a:solidFill>
          <a:ln w="28575">
            <a:solidFill>
              <a:srgbClr val="FFC89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92500" lnSpcReduction="20000"/>
          </a:bodyPr>
          <a:lstStyle/>
          <a:p>
            <a:pPr algn="ctr">
              <a:spcAft>
                <a:spcPts val="300"/>
              </a:spcAft>
            </a:pPr>
            <a:r>
              <a:rPr lang="en-US" sz="1100" b="1">
                <a:solidFill>
                  <a:schemeClr val="tx1"/>
                </a:solidFill>
              </a:rPr>
              <a:t>Real-World Evidence</a:t>
            </a:r>
          </a:p>
          <a:p>
            <a:pPr algn="ctr"/>
            <a:r>
              <a:rPr lang="en-US" sz="1000" i="1">
                <a:solidFill>
                  <a:schemeClr val="accent6"/>
                </a:solidFill>
              </a:rPr>
              <a:t>Validate unmet need and extend clinical trial </a:t>
            </a:r>
          </a:p>
          <a:p>
            <a:pPr algn="ctr">
              <a:spcAft>
                <a:spcPts val="300"/>
              </a:spcAft>
            </a:pPr>
            <a:r>
              <a:rPr lang="en-US" sz="1000" i="1">
                <a:solidFill>
                  <a:schemeClr val="accent6"/>
                </a:solidFill>
              </a:rPr>
              <a:t>findings in real-world settings</a:t>
            </a:r>
          </a:p>
          <a:p>
            <a:pPr marL="457200" indent="-171450">
              <a:spcAft>
                <a:spcPts val="300"/>
              </a:spcAft>
              <a:buFont typeface="Arial" panose="020B0604020202020204" pitchFamily="34" charset="0"/>
              <a:buChar char="•"/>
            </a:pPr>
            <a:r>
              <a:rPr lang="en-US" sz="1000">
                <a:solidFill>
                  <a:schemeClr val="tx1"/>
                </a:solidFill>
              </a:rPr>
              <a:t>Retrospective RWE</a:t>
            </a:r>
          </a:p>
          <a:p>
            <a:pPr marL="685800" lvl="1" indent="-171450">
              <a:spcAft>
                <a:spcPts val="300"/>
              </a:spcAft>
              <a:buFont typeface="Arial" panose="020B0604020202020204" pitchFamily="34" charset="0"/>
              <a:buChar char="•"/>
            </a:pPr>
            <a:r>
              <a:rPr lang="en-US" sz="1000">
                <a:solidFill>
                  <a:schemeClr val="tx1"/>
                </a:solidFill>
              </a:rPr>
              <a:t>Natural history and treatment patterns</a:t>
            </a:r>
          </a:p>
          <a:p>
            <a:pPr marL="685800" lvl="1" indent="-171450">
              <a:spcAft>
                <a:spcPts val="300"/>
              </a:spcAft>
              <a:buFont typeface="Arial" panose="020B0604020202020204" pitchFamily="34" charset="0"/>
              <a:buChar char="•"/>
            </a:pPr>
            <a:r>
              <a:rPr lang="en-US" sz="1000">
                <a:solidFill>
                  <a:schemeClr val="tx1"/>
                </a:solidFill>
              </a:rPr>
              <a:t>Real-world validity across broader populations</a:t>
            </a:r>
          </a:p>
          <a:p>
            <a:pPr marL="685800" lvl="1" indent="-171450">
              <a:spcAft>
                <a:spcPts val="300"/>
              </a:spcAft>
              <a:buFont typeface="Arial" panose="020B0604020202020204" pitchFamily="34" charset="0"/>
              <a:buChar char="•"/>
            </a:pPr>
            <a:r>
              <a:rPr lang="en-US" sz="1000">
                <a:solidFill>
                  <a:schemeClr val="tx1"/>
                </a:solidFill>
              </a:rPr>
              <a:t>HCRU utilization and costs</a:t>
            </a:r>
          </a:p>
          <a:p>
            <a:pPr marL="457200" indent="-171450">
              <a:spcAft>
                <a:spcPts val="300"/>
              </a:spcAft>
              <a:buFont typeface="Arial" panose="020B0604020202020204" pitchFamily="34" charset="0"/>
              <a:buChar char="•"/>
            </a:pPr>
            <a:r>
              <a:rPr lang="en-US" sz="1000">
                <a:solidFill>
                  <a:schemeClr val="tx1"/>
                </a:solidFill>
              </a:rPr>
              <a:t>Prospective / observational post-launch comparative efficacy/safety</a:t>
            </a:r>
          </a:p>
        </p:txBody>
      </p:sp>
      <p:sp>
        <p:nvSpPr>
          <p:cNvPr id="1054" name="Rectangle 1053">
            <a:extLst>
              <a:ext uri="{FF2B5EF4-FFF2-40B4-BE49-F238E27FC236}">
                <a16:creationId xmlns:a16="http://schemas.microsoft.com/office/drawing/2014/main" id="{9F74D79E-4C7B-7CC3-AD34-6A6A8790CC7D}"/>
              </a:ext>
            </a:extLst>
          </p:cNvPr>
          <p:cNvSpPr/>
          <p:nvPr/>
        </p:nvSpPr>
        <p:spPr>
          <a:xfrm>
            <a:off x="8111385" y="2813050"/>
            <a:ext cx="3752850" cy="1371600"/>
          </a:xfrm>
          <a:prstGeom prst="rect">
            <a:avLst/>
          </a:prstGeom>
          <a:solidFill>
            <a:schemeClr val="bg1"/>
          </a:solidFill>
          <a:ln w="28575">
            <a:solidFill>
              <a:srgbClr val="7CB0BE"/>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spcAft>
                <a:spcPts val="300"/>
              </a:spcAft>
            </a:pPr>
            <a:r>
              <a:rPr lang="en-US" sz="1100" b="1">
                <a:solidFill>
                  <a:schemeClr val="tx1"/>
                </a:solidFill>
              </a:rPr>
              <a:t>Investigator-Initiated Trials (IITs)</a:t>
            </a:r>
          </a:p>
          <a:p>
            <a:pPr algn="ctr"/>
            <a:r>
              <a:rPr lang="en-US" sz="1000" i="1">
                <a:solidFill>
                  <a:srgbClr val="5599AB"/>
                </a:solidFill>
              </a:rPr>
              <a:t>Expand efficacy, safety, and QoL data generation </a:t>
            </a:r>
          </a:p>
          <a:p>
            <a:pPr algn="ctr">
              <a:spcAft>
                <a:spcPts val="300"/>
              </a:spcAft>
            </a:pPr>
            <a:r>
              <a:rPr lang="en-US" sz="1000" i="1">
                <a:solidFill>
                  <a:srgbClr val="5599AB"/>
                </a:solidFill>
              </a:rPr>
              <a:t>beyond the registrational program</a:t>
            </a:r>
          </a:p>
          <a:p>
            <a:pPr marL="457200" indent="-171450">
              <a:spcAft>
                <a:spcPts val="300"/>
              </a:spcAft>
              <a:buFont typeface="Arial" panose="020B0604020202020204" pitchFamily="34" charset="0"/>
              <a:buChar char="•"/>
            </a:pPr>
            <a:r>
              <a:rPr lang="en-US" sz="1000">
                <a:solidFill>
                  <a:schemeClr val="tx1"/>
                </a:solidFill>
              </a:rPr>
              <a:t>Efficacy in expanded patient populations and indications</a:t>
            </a:r>
          </a:p>
          <a:p>
            <a:pPr marL="457200" indent="-171450">
              <a:spcAft>
                <a:spcPts val="300"/>
              </a:spcAft>
              <a:buFont typeface="Arial" panose="020B0604020202020204" pitchFamily="34" charset="0"/>
              <a:buChar char="•"/>
            </a:pPr>
            <a:r>
              <a:rPr lang="en-US" sz="1000">
                <a:solidFill>
                  <a:schemeClr val="tx1"/>
                </a:solidFill>
              </a:rPr>
              <a:t>Combination strategies</a:t>
            </a:r>
          </a:p>
          <a:p>
            <a:pPr marL="457200" indent="-171450">
              <a:spcAft>
                <a:spcPts val="300"/>
              </a:spcAft>
              <a:buFont typeface="Arial" panose="020B0604020202020204" pitchFamily="34" charset="0"/>
              <a:buChar char="•"/>
            </a:pPr>
            <a:r>
              <a:rPr lang="en-US" sz="1000">
                <a:solidFill>
                  <a:schemeClr val="tx1"/>
                </a:solidFill>
              </a:rPr>
              <a:t>Sequencing strategies</a:t>
            </a:r>
            <a:endParaRPr lang="en-US" sz="1050">
              <a:solidFill>
                <a:schemeClr val="tx1"/>
              </a:solidFill>
            </a:endParaRPr>
          </a:p>
        </p:txBody>
      </p:sp>
      <p:sp>
        <p:nvSpPr>
          <p:cNvPr id="1056" name="Rectangle 1055">
            <a:extLst>
              <a:ext uri="{FF2B5EF4-FFF2-40B4-BE49-F238E27FC236}">
                <a16:creationId xmlns:a16="http://schemas.microsoft.com/office/drawing/2014/main" id="{DCE58587-A4E9-0C81-D643-056192FD514C}"/>
              </a:ext>
            </a:extLst>
          </p:cNvPr>
          <p:cNvSpPr/>
          <p:nvPr/>
        </p:nvSpPr>
        <p:spPr>
          <a:xfrm>
            <a:off x="8111385" y="4279900"/>
            <a:ext cx="3752850" cy="1371600"/>
          </a:xfrm>
          <a:prstGeom prst="rect">
            <a:avLst/>
          </a:prstGeom>
          <a:solidFill>
            <a:schemeClr val="bg1"/>
          </a:solidFill>
          <a:ln w="28575">
            <a:solidFill>
              <a:srgbClr val="98A8C7"/>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spcAft>
                <a:spcPts val="300"/>
              </a:spcAft>
            </a:pPr>
            <a:r>
              <a:rPr lang="en-US" sz="1100" b="1">
                <a:solidFill>
                  <a:schemeClr val="tx1"/>
                </a:solidFill>
              </a:rPr>
              <a:t>Planned and Post-hoc Analyses</a:t>
            </a:r>
          </a:p>
          <a:p>
            <a:pPr algn="ctr">
              <a:spcAft>
                <a:spcPts val="300"/>
              </a:spcAft>
            </a:pPr>
            <a:r>
              <a:rPr lang="en-US" sz="1000" i="1">
                <a:solidFill>
                  <a:schemeClr val="accent3">
                    <a:lumMod val="60000"/>
                    <a:lumOff val="40000"/>
                  </a:schemeClr>
                </a:solidFill>
              </a:rPr>
              <a:t>Maximize the value of pivotal trial data to demonstrate differentiated clinical benefit</a:t>
            </a:r>
          </a:p>
          <a:p>
            <a:pPr marL="457200" indent="-171450">
              <a:spcAft>
                <a:spcPts val="300"/>
              </a:spcAft>
              <a:buFont typeface="Arial" panose="020B0604020202020204" pitchFamily="34" charset="0"/>
              <a:buChar char="•"/>
            </a:pPr>
            <a:r>
              <a:rPr lang="en-US" sz="1000">
                <a:solidFill>
                  <a:schemeClr val="tx1"/>
                </a:solidFill>
              </a:rPr>
              <a:t>CNS activity</a:t>
            </a:r>
          </a:p>
          <a:p>
            <a:pPr marL="457200" indent="-171450">
              <a:spcAft>
                <a:spcPts val="300"/>
              </a:spcAft>
              <a:buFont typeface="Arial" panose="020B0604020202020204" pitchFamily="34" charset="0"/>
              <a:buChar char="•"/>
            </a:pPr>
            <a:r>
              <a:rPr lang="en-US" sz="1000">
                <a:solidFill>
                  <a:schemeClr val="tx1"/>
                </a:solidFill>
              </a:rPr>
              <a:t>Durability and long-term outcomes</a:t>
            </a:r>
          </a:p>
          <a:p>
            <a:pPr marL="457200" indent="-171450">
              <a:spcAft>
                <a:spcPts val="300"/>
              </a:spcAft>
              <a:buFont typeface="Arial" panose="020B0604020202020204" pitchFamily="34" charset="0"/>
              <a:buChar char="•"/>
            </a:pPr>
            <a:r>
              <a:rPr lang="en-US" sz="1000">
                <a:solidFill>
                  <a:schemeClr val="tx1"/>
                </a:solidFill>
              </a:rPr>
              <a:t>Subgroup-specific clinical and QoL outcomes</a:t>
            </a:r>
          </a:p>
          <a:p>
            <a:pPr marL="457200" indent="-171450">
              <a:spcAft>
                <a:spcPts val="300"/>
              </a:spcAft>
              <a:buFont typeface="Arial" panose="020B0604020202020204" pitchFamily="34" charset="0"/>
              <a:buChar char="•"/>
            </a:pPr>
            <a:r>
              <a:rPr lang="en-US" sz="1000">
                <a:solidFill>
                  <a:schemeClr val="tx1"/>
                </a:solidFill>
              </a:rPr>
              <a:t>HCRU, AE burden, and treatment burden</a:t>
            </a:r>
          </a:p>
        </p:txBody>
      </p:sp>
      <p:grpSp>
        <p:nvGrpSpPr>
          <p:cNvPr id="1027" name="Group 1026">
            <a:extLst>
              <a:ext uri="{FF2B5EF4-FFF2-40B4-BE49-F238E27FC236}">
                <a16:creationId xmlns:a16="http://schemas.microsoft.com/office/drawing/2014/main" id="{2DD7870D-7D27-7390-B7EB-A8618AAD0175}"/>
              </a:ext>
            </a:extLst>
          </p:cNvPr>
          <p:cNvGrpSpPr/>
          <p:nvPr/>
        </p:nvGrpSpPr>
        <p:grpSpPr>
          <a:xfrm>
            <a:off x="6682762" y="1746250"/>
            <a:ext cx="1727581" cy="649588"/>
            <a:chOff x="6682762" y="1883258"/>
            <a:chExt cx="1727581" cy="649588"/>
          </a:xfrm>
        </p:grpSpPr>
        <p:sp>
          <p:nvSpPr>
            <p:cNvPr id="15" name="Oval 14">
              <a:extLst>
                <a:ext uri="{FF2B5EF4-FFF2-40B4-BE49-F238E27FC236}">
                  <a16:creationId xmlns:a16="http://schemas.microsoft.com/office/drawing/2014/main" id="{B9E40159-6443-2128-39B8-5F3C29B746F4}"/>
                </a:ext>
              </a:extLst>
            </p:cNvPr>
            <p:cNvSpPr/>
            <p:nvPr/>
          </p:nvSpPr>
          <p:spPr>
            <a:xfrm>
              <a:off x="7812427" y="1883258"/>
              <a:ext cx="597916" cy="614985"/>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err="1">
                <a:solidFill>
                  <a:schemeClr val="bg1"/>
                </a:solidFill>
              </a:endParaRPr>
            </a:p>
          </p:txBody>
        </p:sp>
        <p:pic>
          <p:nvPicPr>
            <p:cNvPr id="19" name="Graphic 18">
              <a:extLst>
                <a:ext uri="{FF2B5EF4-FFF2-40B4-BE49-F238E27FC236}">
                  <a16:creationId xmlns:a16="http://schemas.microsoft.com/office/drawing/2014/main" id="{7EFE48FB-C7CD-38F4-D17F-67CD641208B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882785" y="1955438"/>
              <a:ext cx="457200" cy="457200"/>
            </a:xfrm>
            <a:prstGeom prst="rect">
              <a:avLst/>
            </a:prstGeom>
          </p:spPr>
        </p:pic>
        <p:grpSp>
          <p:nvGrpSpPr>
            <p:cNvPr id="50" name="Group 49">
              <a:extLst>
                <a:ext uri="{FF2B5EF4-FFF2-40B4-BE49-F238E27FC236}">
                  <a16:creationId xmlns:a16="http://schemas.microsoft.com/office/drawing/2014/main" id="{9A7B4C12-2F33-DFA6-804A-7DC163E4021C}"/>
                </a:ext>
              </a:extLst>
            </p:cNvPr>
            <p:cNvGrpSpPr/>
            <p:nvPr/>
          </p:nvGrpSpPr>
          <p:grpSpPr>
            <a:xfrm flipH="1">
              <a:off x="6682762" y="2184038"/>
              <a:ext cx="1140446" cy="348808"/>
              <a:chOff x="4413758" y="2184038"/>
              <a:chExt cx="1140446" cy="348808"/>
            </a:xfrm>
          </p:grpSpPr>
          <p:cxnSp>
            <p:nvCxnSpPr>
              <p:cNvPr id="51" name="Straight Connector 50">
                <a:extLst>
                  <a:ext uri="{FF2B5EF4-FFF2-40B4-BE49-F238E27FC236}">
                    <a16:creationId xmlns:a16="http://schemas.microsoft.com/office/drawing/2014/main" id="{D58E3255-B6A5-0F26-72C3-9579E2138A31}"/>
                  </a:ext>
                </a:extLst>
              </p:cNvPr>
              <p:cNvCxnSpPr>
                <a:cxnSpLocks/>
              </p:cNvCxnSpPr>
              <p:nvPr/>
            </p:nvCxnSpPr>
            <p:spPr>
              <a:xfrm flipV="1">
                <a:off x="4413758" y="2190750"/>
                <a:ext cx="776594" cy="1"/>
              </a:xfrm>
              <a:prstGeom prst="line">
                <a:avLst/>
              </a:prstGeom>
              <a:ln w="28575">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FEB11F1-AD74-A49F-C30F-AC7A8BB6F967}"/>
                  </a:ext>
                </a:extLst>
              </p:cNvPr>
              <p:cNvCxnSpPr>
                <a:cxnSpLocks/>
              </p:cNvCxnSpPr>
              <p:nvPr/>
            </p:nvCxnSpPr>
            <p:spPr>
              <a:xfrm>
                <a:off x="5172353" y="2184038"/>
                <a:ext cx="381851" cy="348808"/>
              </a:xfrm>
              <a:prstGeom prst="line">
                <a:avLst/>
              </a:prstGeom>
              <a:ln w="28575">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grpSp>
        <p:nvGrpSpPr>
          <p:cNvPr id="1127" name="Group 1126">
            <a:extLst>
              <a:ext uri="{FF2B5EF4-FFF2-40B4-BE49-F238E27FC236}">
                <a16:creationId xmlns:a16="http://schemas.microsoft.com/office/drawing/2014/main" id="{188ADD79-B575-6EEA-8C26-CEB43667A020}"/>
              </a:ext>
            </a:extLst>
          </p:cNvPr>
          <p:cNvGrpSpPr/>
          <p:nvPr/>
        </p:nvGrpSpPr>
        <p:grpSpPr>
          <a:xfrm>
            <a:off x="3815842" y="1548607"/>
            <a:ext cx="1759969" cy="847231"/>
            <a:chOff x="3815842" y="1548607"/>
            <a:chExt cx="1759969" cy="847231"/>
          </a:xfrm>
        </p:grpSpPr>
        <p:grpSp>
          <p:nvGrpSpPr>
            <p:cNvPr id="49" name="Group 48">
              <a:extLst>
                <a:ext uri="{FF2B5EF4-FFF2-40B4-BE49-F238E27FC236}">
                  <a16:creationId xmlns:a16="http://schemas.microsoft.com/office/drawing/2014/main" id="{0282709E-E72B-2CF7-FAFB-B24317E650A5}"/>
                </a:ext>
              </a:extLst>
            </p:cNvPr>
            <p:cNvGrpSpPr/>
            <p:nvPr/>
          </p:nvGrpSpPr>
          <p:grpSpPr>
            <a:xfrm>
              <a:off x="4413758" y="1856097"/>
              <a:ext cx="1162053" cy="539741"/>
              <a:chOff x="4413758" y="1993105"/>
              <a:chExt cx="1162053" cy="539741"/>
            </a:xfrm>
          </p:grpSpPr>
          <p:cxnSp>
            <p:nvCxnSpPr>
              <p:cNvPr id="41" name="Straight Connector 40">
                <a:extLst>
                  <a:ext uri="{FF2B5EF4-FFF2-40B4-BE49-F238E27FC236}">
                    <a16:creationId xmlns:a16="http://schemas.microsoft.com/office/drawing/2014/main" id="{F3D4AE4F-EB97-C763-CDA2-2D1887AFB276}"/>
                  </a:ext>
                </a:extLst>
              </p:cNvPr>
              <p:cNvCxnSpPr>
                <a:cxnSpLocks/>
                <a:stCxn id="4" idx="6"/>
              </p:cNvCxnSpPr>
              <p:nvPr/>
            </p:nvCxnSpPr>
            <p:spPr>
              <a:xfrm flipV="1">
                <a:off x="4413758" y="1993106"/>
                <a:ext cx="811261" cy="2"/>
              </a:xfrm>
              <a:prstGeom prst="line">
                <a:avLst/>
              </a:prstGeom>
              <a:ln w="28575">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EEB256A-ACF0-0CD4-3CC4-8DCBC630B7A6}"/>
                  </a:ext>
                </a:extLst>
              </p:cNvPr>
              <p:cNvCxnSpPr>
                <a:cxnSpLocks/>
              </p:cNvCxnSpPr>
              <p:nvPr/>
            </p:nvCxnSpPr>
            <p:spPr>
              <a:xfrm>
                <a:off x="5218531" y="1993105"/>
                <a:ext cx="357280" cy="539741"/>
              </a:xfrm>
              <a:prstGeom prst="line">
                <a:avLst/>
              </a:prstGeom>
              <a:ln w="28575">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1059" name="Group 1058">
              <a:extLst>
                <a:ext uri="{FF2B5EF4-FFF2-40B4-BE49-F238E27FC236}">
                  <a16:creationId xmlns:a16="http://schemas.microsoft.com/office/drawing/2014/main" id="{23479567-AED7-66C5-9563-A954D67A321A}"/>
                </a:ext>
              </a:extLst>
            </p:cNvPr>
            <p:cNvGrpSpPr/>
            <p:nvPr/>
          </p:nvGrpSpPr>
          <p:grpSpPr>
            <a:xfrm>
              <a:off x="3815842" y="1548607"/>
              <a:ext cx="597916" cy="614985"/>
              <a:chOff x="3815842" y="1548607"/>
              <a:chExt cx="597916" cy="614985"/>
            </a:xfrm>
          </p:grpSpPr>
          <p:sp>
            <p:nvSpPr>
              <p:cNvPr id="4" name="Oval 3">
                <a:extLst>
                  <a:ext uri="{FF2B5EF4-FFF2-40B4-BE49-F238E27FC236}">
                    <a16:creationId xmlns:a16="http://schemas.microsoft.com/office/drawing/2014/main" id="{42646D64-06AC-1888-6000-B65F548F0547}"/>
                  </a:ext>
                </a:extLst>
              </p:cNvPr>
              <p:cNvSpPr/>
              <p:nvPr/>
            </p:nvSpPr>
            <p:spPr>
              <a:xfrm>
                <a:off x="3815842" y="1548607"/>
                <a:ext cx="597916" cy="614985"/>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err="1">
                  <a:solidFill>
                    <a:schemeClr val="bg1"/>
                  </a:solidFill>
                </a:endParaRPr>
              </a:p>
            </p:txBody>
          </p:sp>
          <p:pic>
            <p:nvPicPr>
              <p:cNvPr id="24" name="Graphic 23">
                <a:extLst>
                  <a:ext uri="{FF2B5EF4-FFF2-40B4-BE49-F238E27FC236}">
                    <a16:creationId xmlns:a16="http://schemas.microsoft.com/office/drawing/2014/main" id="{19EBFE02-51F3-460A-F27A-625450FCD28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931920" y="1673219"/>
                <a:ext cx="365760" cy="365760"/>
              </a:xfrm>
              <a:prstGeom prst="rect">
                <a:avLst/>
              </a:prstGeom>
            </p:spPr>
          </p:pic>
        </p:grpSp>
      </p:grpSp>
      <p:pic>
        <p:nvPicPr>
          <p:cNvPr id="27" name="Graphic 26">
            <a:extLst>
              <a:ext uri="{FF2B5EF4-FFF2-40B4-BE49-F238E27FC236}">
                <a16:creationId xmlns:a16="http://schemas.microsoft.com/office/drawing/2014/main" id="{B45CAF86-2036-0978-14F4-266F1740DF9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928505" y="3332950"/>
            <a:ext cx="365760" cy="365760"/>
          </a:xfrm>
          <a:prstGeom prst="rect">
            <a:avLst/>
          </a:prstGeom>
        </p:spPr>
      </p:pic>
      <p:sp>
        <p:nvSpPr>
          <p:cNvPr id="1055" name="Rectangle 1054">
            <a:extLst>
              <a:ext uri="{FF2B5EF4-FFF2-40B4-BE49-F238E27FC236}">
                <a16:creationId xmlns:a16="http://schemas.microsoft.com/office/drawing/2014/main" id="{07B1CD7B-20F5-84D0-8027-2D2FC1A31825}"/>
              </a:ext>
            </a:extLst>
          </p:cNvPr>
          <p:cNvSpPr/>
          <p:nvPr/>
        </p:nvSpPr>
        <p:spPr>
          <a:xfrm>
            <a:off x="5448522" y="3502025"/>
            <a:ext cx="1329140" cy="98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92500"/>
          </a:bodyPr>
          <a:lstStyle/>
          <a:p>
            <a:pPr algn="ctr"/>
            <a:r>
              <a:rPr lang="en-US" b="1">
                <a:solidFill>
                  <a:schemeClr val="accent3"/>
                </a:solidFill>
              </a:rPr>
              <a:t>Integrated Evidence Strategy</a:t>
            </a:r>
          </a:p>
        </p:txBody>
      </p:sp>
      <p:grpSp>
        <p:nvGrpSpPr>
          <p:cNvPr id="1071" name="Group 1070">
            <a:extLst>
              <a:ext uri="{FF2B5EF4-FFF2-40B4-BE49-F238E27FC236}">
                <a16:creationId xmlns:a16="http://schemas.microsoft.com/office/drawing/2014/main" id="{463C0A3F-42C8-8233-6DD0-83E1FF51E5F9}"/>
              </a:ext>
            </a:extLst>
          </p:cNvPr>
          <p:cNvGrpSpPr/>
          <p:nvPr/>
        </p:nvGrpSpPr>
        <p:grpSpPr>
          <a:xfrm>
            <a:off x="358337" y="5750089"/>
            <a:ext cx="11505898" cy="519926"/>
            <a:chOff x="358337" y="5846355"/>
            <a:chExt cx="11505898" cy="519926"/>
          </a:xfrm>
        </p:grpSpPr>
        <p:sp>
          <p:nvSpPr>
            <p:cNvPr id="1044" name="Rectangle 1043">
              <a:extLst>
                <a:ext uri="{FF2B5EF4-FFF2-40B4-BE49-F238E27FC236}">
                  <a16:creationId xmlns:a16="http://schemas.microsoft.com/office/drawing/2014/main" id="{36CA37FA-10F2-66B0-BA30-D0CAF34B6D60}"/>
                </a:ext>
              </a:extLst>
            </p:cNvPr>
            <p:cNvSpPr/>
            <p:nvPr/>
          </p:nvSpPr>
          <p:spPr>
            <a:xfrm>
              <a:off x="358337" y="5846355"/>
              <a:ext cx="11505898" cy="519926"/>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Ins="0" rtlCol="0" anchor="ctr">
              <a:noAutofit/>
            </a:bodyPr>
            <a:lstStyle/>
            <a:p>
              <a:r>
                <a:rPr lang="en-US" sz="1100" b="1">
                  <a:solidFill>
                    <a:schemeClr val="bg1"/>
                  </a:solidFill>
                </a:rPr>
                <a:t>Together, these complementary tactics generate  the  evidence needed to position BGB-58067 as a best-in-class therapy by demonstrating differentiated clinical value, enabling biomarker-informed patient selection, optimizing treatment strategies, and reinforcing durable clinical benefit</a:t>
              </a:r>
            </a:p>
          </p:txBody>
        </p:sp>
        <p:pic>
          <p:nvPicPr>
            <p:cNvPr id="1070" name="Graphic 1069">
              <a:extLst>
                <a:ext uri="{FF2B5EF4-FFF2-40B4-BE49-F238E27FC236}">
                  <a16:creationId xmlns:a16="http://schemas.microsoft.com/office/drawing/2014/main" id="{C7D7B8CE-0BF8-6A38-B8D4-265B77BD289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15802" y="5913621"/>
              <a:ext cx="375602" cy="377781"/>
            </a:xfrm>
            <a:prstGeom prst="rect">
              <a:avLst/>
            </a:prstGeom>
          </p:spPr>
        </p:pic>
      </p:grpSp>
      <p:sp>
        <p:nvSpPr>
          <p:cNvPr id="34" name="Rectangle 33">
            <a:extLst>
              <a:ext uri="{FF2B5EF4-FFF2-40B4-BE49-F238E27FC236}">
                <a16:creationId xmlns:a16="http://schemas.microsoft.com/office/drawing/2014/main" id="{9BE6916E-6E70-32F5-4DE4-2325E42CF658}"/>
              </a:ext>
            </a:extLst>
          </p:cNvPr>
          <p:cNvSpPr/>
          <p:nvPr/>
        </p:nvSpPr>
        <p:spPr>
          <a:xfrm>
            <a:off x="361950" y="4643138"/>
            <a:ext cx="3752850" cy="1005840"/>
          </a:xfrm>
          <a:prstGeom prst="rect">
            <a:avLst/>
          </a:prstGeom>
          <a:solidFill>
            <a:schemeClr val="bg1"/>
          </a:solidFill>
          <a:ln w="28575">
            <a:solidFill>
              <a:srgbClr val="D4C0E2"/>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spcAft>
                <a:spcPts val="300"/>
              </a:spcAft>
            </a:pPr>
            <a:r>
              <a:rPr lang="en-US" sz="1100" b="1">
                <a:solidFill>
                  <a:schemeClr val="tx1"/>
                </a:solidFill>
              </a:rPr>
              <a:t>Surveys</a:t>
            </a:r>
          </a:p>
          <a:p>
            <a:pPr algn="ctr"/>
            <a:r>
              <a:rPr lang="en-US" sz="1000" i="1">
                <a:solidFill>
                  <a:srgbClr val="A87EC4"/>
                </a:solidFill>
              </a:rPr>
              <a:t>Capture stakeholder perspectives to inform </a:t>
            </a:r>
          </a:p>
          <a:p>
            <a:pPr algn="ctr">
              <a:spcAft>
                <a:spcPts val="300"/>
              </a:spcAft>
            </a:pPr>
            <a:r>
              <a:rPr lang="en-US" sz="1000" i="1">
                <a:solidFill>
                  <a:srgbClr val="A87EC4"/>
                </a:solidFill>
              </a:rPr>
              <a:t>unmet needs, adoption, and payer negotiations</a:t>
            </a:r>
          </a:p>
          <a:p>
            <a:pPr marL="274320" indent="-171450">
              <a:spcAft>
                <a:spcPts val="300"/>
              </a:spcAft>
              <a:buFont typeface="Arial" panose="020B0604020202020204" pitchFamily="34" charset="0"/>
              <a:buChar char="•"/>
            </a:pPr>
            <a:r>
              <a:rPr lang="en-US" sz="1000">
                <a:solidFill>
                  <a:schemeClr val="tx1"/>
                </a:solidFill>
              </a:rPr>
              <a:t>Patient and caregiver preferences / experience</a:t>
            </a:r>
          </a:p>
          <a:p>
            <a:pPr marL="274320" indent="-171450">
              <a:spcAft>
                <a:spcPts val="300"/>
              </a:spcAft>
              <a:buFont typeface="Arial" panose="020B0604020202020204" pitchFamily="34" charset="0"/>
              <a:buChar char="•"/>
            </a:pPr>
            <a:r>
              <a:rPr lang="en-US" sz="1000">
                <a:solidFill>
                  <a:schemeClr val="tx1"/>
                </a:solidFill>
              </a:rPr>
              <a:t>AE management and administrative burden</a:t>
            </a:r>
          </a:p>
        </p:txBody>
      </p:sp>
      <p:grpSp>
        <p:nvGrpSpPr>
          <p:cNvPr id="1132" name="Group 1131">
            <a:extLst>
              <a:ext uri="{FF2B5EF4-FFF2-40B4-BE49-F238E27FC236}">
                <a16:creationId xmlns:a16="http://schemas.microsoft.com/office/drawing/2014/main" id="{27260439-E401-F7AF-9D44-4FABFAB5FCC2}"/>
              </a:ext>
            </a:extLst>
          </p:cNvPr>
          <p:cNvGrpSpPr/>
          <p:nvPr/>
        </p:nvGrpSpPr>
        <p:grpSpPr>
          <a:xfrm>
            <a:off x="7152916" y="4458139"/>
            <a:ext cx="1257427" cy="866507"/>
            <a:chOff x="7152916" y="4458139"/>
            <a:chExt cx="1257427" cy="866507"/>
          </a:xfrm>
        </p:grpSpPr>
        <p:cxnSp>
          <p:nvCxnSpPr>
            <p:cNvPr id="56" name="Straight Connector 55">
              <a:extLst>
                <a:ext uri="{FF2B5EF4-FFF2-40B4-BE49-F238E27FC236}">
                  <a16:creationId xmlns:a16="http://schemas.microsoft.com/office/drawing/2014/main" id="{05B551A5-B76D-2050-6E70-EEDC218FFB7A}"/>
                </a:ext>
              </a:extLst>
            </p:cNvPr>
            <p:cNvCxnSpPr>
              <a:cxnSpLocks/>
            </p:cNvCxnSpPr>
            <p:nvPr/>
          </p:nvCxnSpPr>
          <p:spPr>
            <a:xfrm flipH="1">
              <a:off x="7627731" y="5019805"/>
              <a:ext cx="211112" cy="0"/>
            </a:xfrm>
            <a:prstGeom prst="line">
              <a:avLst/>
            </a:prstGeom>
            <a:ln w="28575">
              <a:solidFill>
                <a:srgbClr val="98A8C7"/>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15D439BD-BBF3-203D-E961-78DEFB0D9A85}"/>
                </a:ext>
              </a:extLst>
            </p:cNvPr>
            <p:cNvCxnSpPr>
              <a:cxnSpLocks/>
            </p:cNvCxnSpPr>
            <p:nvPr/>
          </p:nvCxnSpPr>
          <p:spPr>
            <a:xfrm flipH="1" flipV="1">
              <a:off x="7152916" y="4458139"/>
              <a:ext cx="484005" cy="561666"/>
            </a:xfrm>
            <a:prstGeom prst="line">
              <a:avLst/>
            </a:prstGeom>
            <a:ln w="28575">
              <a:solidFill>
                <a:srgbClr val="98A8C7"/>
              </a:solidFill>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E30E33CD-0087-DD22-3D1C-A250754C52D0}"/>
                </a:ext>
              </a:extLst>
            </p:cNvPr>
            <p:cNvGrpSpPr/>
            <p:nvPr/>
          </p:nvGrpSpPr>
          <p:grpSpPr>
            <a:xfrm>
              <a:off x="7812427" y="4709661"/>
              <a:ext cx="597916" cy="614985"/>
              <a:chOff x="7812427" y="4709661"/>
              <a:chExt cx="597916" cy="614985"/>
            </a:xfrm>
          </p:grpSpPr>
          <p:sp>
            <p:nvSpPr>
              <p:cNvPr id="11" name="Oval 10">
                <a:extLst>
                  <a:ext uri="{FF2B5EF4-FFF2-40B4-BE49-F238E27FC236}">
                    <a16:creationId xmlns:a16="http://schemas.microsoft.com/office/drawing/2014/main" id="{FD79A38B-AF6E-6961-3EC9-FD8124F03E85}"/>
                  </a:ext>
                </a:extLst>
              </p:cNvPr>
              <p:cNvSpPr/>
              <p:nvPr/>
            </p:nvSpPr>
            <p:spPr>
              <a:xfrm>
                <a:off x="7812427" y="4709661"/>
                <a:ext cx="597916" cy="614985"/>
              </a:xfrm>
              <a:prstGeom prst="ellipse">
                <a:avLst/>
              </a:prstGeom>
              <a:solidFill>
                <a:srgbClr val="98A8C7"/>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err="1">
                  <a:solidFill>
                    <a:schemeClr val="bg1"/>
                  </a:solidFill>
                </a:endParaRPr>
              </a:p>
            </p:txBody>
          </p:sp>
          <p:pic>
            <p:nvPicPr>
              <p:cNvPr id="17" name="Graphic 16">
                <a:extLst>
                  <a:ext uri="{FF2B5EF4-FFF2-40B4-BE49-F238E27FC236}">
                    <a16:creationId xmlns:a16="http://schemas.microsoft.com/office/drawing/2014/main" id="{3CE78B83-94CC-6D8C-1C8E-5A28BCC5AE74}"/>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918163" y="4795679"/>
                <a:ext cx="365760" cy="365760"/>
              </a:xfrm>
              <a:prstGeom prst="rect">
                <a:avLst/>
              </a:prstGeom>
            </p:spPr>
          </p:pic>
        </p:grpSp>
      </p:grpSp>
      <p:grpSp>
        <p:nvGrpSpPr>
          <p:cNvPr id="1128" name="Group 1127">
            <a:extLst>
              <a:ext uri="{FF2B5EF4-FFF2-40B4-BE49-F238E27FC236}">
                <a16:creationId xmlns:a16="http://schemas.microsoft.com/office/drawing/2014/main" id="{8748FF4C-C4ED-215D-47F4-5CBAB63778CA}"/>
              </a:ext>
            </a:extLst>
          </p:cNvPr>
          <p:cNvGrpSpPr/>
          <p:nvPr/>
        </p:nvGrpSpPr>
        <p:grpSpPr>
          <a:xfrm>
            <a:off x="3815842" y="2645558"/>
            <a:ext cx="927072" cy="614985"/>
            <a:chOff x="3815842" y="2645558"/>
            <a:chExt cx="927072" cy="614985"/>
          </a:xfrm>
        </p:grpSpPr>
        <p:grpSp>
          <p:nvGrpSpPr>
            <p:cNvPr id="1060" name="Group 1059">
              <a:extLst>
                <a:ext uri="{FF2B5EF4-FFF2-40B4-BE49-F238E27FC236}">
                  <a16:creationId xmlns:a16="http://schemas.microsoft.com/office/drawing/2014/main" id="{A3BBFA47-E0DD-2E96-19EC-CC3AA3E16D73}"/>
                </a:ext>
              </a:extLst>
            </p:cNvPr>
            <p:cNvGrpSpPr/>
            <p:nvPr/>
          </p:nvGrpSpPr>
          <p:grpSpPr>
            <a:xfrm>
              <a:off x="3815842" y="2645558"/>
              <a:ext cx="597916" cy="614985"/>
              <a:chOff x="3815842" y="4709661"/>
              <a:chExt cx="597916" cy="614985"/>
            </a:xfrm>
          </p:grpSpPr>
          <p:sp>
            <p:nvSpPr>
              <p:cNvPr id="8" name="Oval 7">
                <a:extLst>
                  <a:ext uri="{FF2B5EF4-FFF2-40B4-BE49-F238E27FC236}">
                    <a16:creationId xmlns:a16="http://schemas.microsoft.com/office/drawing/2014/main" id="{834948ED-2680-8F4B-988E-9B9E55EA4141}"/>
                  </a:ext>
                </a:extLst>
              </p:cNvPr>
              <p:cNvSpPr/>
              <p:nvPr/>
            </p:nvSpPr>
            <p:spPr>
              <a:xfrm>
                <a:off x="3815842" y="4709661"/>
                <a:ext cx="597916" cy="614985"/>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err="1">
                  <a:solidFill>
                    <a:schemeClr val="bg1"/>
                  </a:solidFill>
                </a:endParaRPr>
              </a:p>
            </p:txBody>
          </p:sp>
          <p:pic>
            <p:nvPicPr>
              <p:cNvPr id="35" name="Graphic 34">
                <a:extLst>
                  <a:ext uri="{FF2B5EF4-FFF2-40B4-BE49-F238E27FC236}">
                    <a16:creationId xmlns:a16="http://schemas.microsoft.com/office/drawing/2014/main" id="{8845ACC5-EA6B-421F-EB4A-15F43C12DBAC}"/>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3886200" y="4788553"/>
                <a:ext cx="457200" cy="457200"/>
              </a:xfrm>
              <a:prstGeom prst="rect">
                <a:avLst/>
              </a:prstGeom>
            </p:spPr>
          </p:pic>
        </p:grpSp>
        <p:cxnSp>
          <p:nvCxnSpPr>
            <p:cNvPr id="62" name="Straight Connector 61">
              <a:extLst>
                <a:ext uri="{FF2B5EF4-FFF2-40B4-BE49-F238E27FC236}">
                  <a16:creationId xmlns:a16="http://schemas.microsoft.com/office/drawing/2014/main" id="{A15B6ADB-E867-B5AF-7F12-F75C4F2A8B05}"/>
                </a:ext>
              </a:extLst>
            </p:cNvPr>
            <p:cNvCxnSpPr>
              <a:cxnSpLocks/>
            </p:cNvCxnSpPr>
            <p:nvPr/>
          </p:nvCxnSpPr>
          <p:spPr>
            <a:xfrm>
              <a:off x="4544588" y="2946631"/>
              <a:ext cx="198326" cy="299633"/>
            </a:xfrm>
            <a:prstGeom prst="line">
              <a:avLst/>
            </a:prstGeom>
            <a:ln w="28575">
              <a:solidFill>
                <a:srgbClr val="E4AAAE"/>
              </a:solidFill>
            </a:ln>
          </p:spPr>
          <p:style>
            <a:lnRef idx="1">
              <a:schemeClr val="accent1"/>
            </a:lnRef>
            <a:fillRef idx="0">
              <a:schemeClr val="accent1"/>
            </a:fillRef>
            <a:effectRef idx="0">
              <a:schemeClr val="accent1"/>
            </a:effectRef>
            <a:fontRef idx="minor">
              <a:schemeClr val="tx1"/>
            </a:fontRef>
          </p:style>
        </p:cxnSp>
        <p:cxnSp>
          <p:nvCxnSpPr>
            <p:cNvPr id="1064" name="Straight Connector 1063">
              <a:extLst>
                <a:ext uri="{FF2B5EF4-FFF2-40B4-BE49-F238E27FC236}">
                  <a16:creationId xmlns:a16="http://schemas.microsoft.com/office/drawing/2014/main" id="{F5C8A5D8-CD3E-AFEB-425B-75DDA3BD5740}"/>
                </a:ext>
              </a:extLst>
            </p:cNvPr>
            <p:cNvCxnSpPr>
              <a:cxnSpLocks/>
            </p:cNvCxnSpPr>
            <p:nvPr/>
          </p:nvCxnSpPr>
          <p:spPr>
            <a:xfrm>
              <a:off x="4339695" y="2953050"/>
              <a:ext cx="212501" cy="0"/>
            </a:xfrm>
            <a:prstGeom prst="line">
              <a:avLst/>
            </a:prstGeom>
            <a:ln w="28575">
              <a:solidFill>
                <a:srgbClr val="E4AAAE"/>
              </a:solidFill>
            </a:ln>
          </p:spPr>
          <p:style>
            <a:lnRef idx="1">
              <a:schemeClr val="accent1"/>
            </a:lnRef>
            <a:fillRef idx="0">
              <a:schemeClr val="accent1"/>
            </a:fillRef>
            <a:effectRef idx="0">
              <a:schemeClr val="accent1"/>
            </a:effectRef>
            <a:fontRef idx="minor">
              <a:schemeClr val="tx1"/>
            </a:fontRef>
          </p:style>
        </p:cxnSp>
      </p:grpSp>
      <p:grpSp>
        <p:nvGrpSpPr>
          <p:cNvPr id="1130" name="Group 1129">
            <a:extLst>
              <a:ext uri="{FF2B5EF4-FFF2-40B4-BE49-F238E27FC236}">
                <a16:creationId xmlns:a16="http://schemas.microsoft.com/office/drawing/2014/main" id="{E853D0D0-FEA2-A461-598E-0C1816A7F40F}"/>
              </a:ext>
            </a:extLst>
          </p:cNvPr>
          <p:cNvGrpSpPr/>
          <p:nvPr/>
        </p:nvGrpSpPr>
        <p:grpSpPr>
          <a:xfrm>
            <a:off x="3812137" y="4838566"/>
            <a:ext cx="2332517" cy="614985"/>
            <a:chOff x="3812137" y="4838566"/>
            <a:chExt cx="2332517" cy="614985"/>
          </a:xfrm>
        </p:grpSpPr>
        <p:cxnSp>
          <p:nvCxnSpPr>
            <p:cNvPr id="59" name="Straight Connector 58">
              <a:extLst>
                <a:ext uri="{FF2B5EF4-FFF2-40B4-BE49-F238E27FC236}">
                  <a16:creationId xmlns:a16="http://schemas.microsoft.com/office/drawing/2014/main" id="{49785547-3685-A3C6-E49A-466C944BFA37}"/>
                </a:ext>
              </a:extLst>
            </p:cNvPr>
            <p:cNvCxnSpPr>
              <a:cxnSpLocks/>
            </p:cNvCxnSpPr>
            <p:nvPr/>
          </p:nvCxnSpPr>
          <p:spPr>
            <a:xfrm>
              <a:off x="4382826" y="5142216"/>
              <a:ext cx="1446474" cy="3842"/>
            </a:xfrm>
            <a:prstGeom prst="line">
              <a:avLst/>
            </a:prstGeom>
            <a:ln w="28575">
              <a:solidFill>
                <a:srgbClr val="D4C0E2"/>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5353434C-6AF7-3455-32C4-DA0346AF9371}"/>
                </a:ext>
              </a:extLst>
            </p:cNvPr>
            <p:cNvCxnSpPr>
              <a:cxnSpLocks/>
            </p:cNvCxnSpPr>
            <p:nvPr/>
          </p:nvCxnSpPr>
          <p:spPr>
            <a:xfrm flipV="1">
              <a:off x="5826103" y="4879126"/>
              <a:ext cx="318551" cy="267757"/>
            </a:xfrm>
            <a:prstGeom prst="line">
              <a:avLst/>
            </a:prstGeom>
            <a:ln w="28575">
              <a:solidFill>
                <a:srgbClr val="D4C0E2"/>
              </a:solidFill>
            </a:ln>
          </p:spPr>
          <p:style>
            <a:lnRef idx="1">
              <a:schemeClr val="accent1"/>
            </a:lnRef>
            <a:fillRef idx="0">
              <a:schemeClr val="accent1"/>
            </a:fillRef>
            <a:effectRef idx="0">
              <a:schemeClr val="accent1"/>
            </a:effectRef>
            <a:fontRef idx="minor">
              <a:schemeClr val="tx1"/>
            </a:fontRef>
          </p:style>
        </p:cxnSp>
        <p:grpSp>
          <p:nvGrpSpPr>
            <p:cNvPr id="1074" name="Group 1073">
              <a:extLst>
                <a:ext uri="{FF2B5EF4-FFF2-40B4-BE49-F238E27FC236}">
                  <a16:creationId xmlns:a16="http://schemas.microsoft.com/office/drawing/2014/main" id="{5AC88578-BCA1-051A-CBE7-9555BE8BC027}"/>
                </a:ext>
              </a:extLst>
            </p:cNvPr>
            <p:cNvGrpSpPr/>
            <p:nvPr/>
          </p:nvGrpSpPr>
          <p:grpSpPr>
            <a:xfrm>
              <a:off x="3812137" y="4838566"/>
              <a:ext cx="597916" cy="614985"/>
              <a:chOff x="3812137" y="4838566"/>
              <a:chExt cx="597916" cy="614985"/>
            </a:xfrm>
          </p:grpSpPr>
          <p:sp>
            <p:nvSpPr>
              <p:cNvPr id="1073" name="Oval 1072">
                <a:extLst>
                  <a:ext uri="{FF2B5EF4-FFF2-40B4-BE49-F238E27FC236}">
                    <a16:creationId xmlns:a16="http://schemas.microsoft.com/office/drawing/2014/main" id="{06300F91-D373-259E-63C2-F5B3CB44076F}"/>
                  </a:ext>
                </a:extLst>
              </p:cNvPr>
              <p:cNvSpPr/>
              <p:nvPr/>
            </p:nvSpPr>
            <p:spPr>
              <a:xfrm>
                <a:off x="3812137" y="4838566"/>
                <a:ext cx="597916" cy="614985"/>
              </a:xfrm>
              <a:prstGeom prst="ellipse">
                <a:avLst/>
              </a:prstGeom>
              <a:solidFill>
                <a:srgbClr val="D4C0E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err="1">
                  <a:solidFill>
                    <a:schemeClr val="bg1"/>
                  </a:solidFill>
                </a:endParaRPr>
              </a:p>
            </p:txBody>
          </p:sp>
          <p:pic>
            <p:nvPicPr>
              <p:cNvPr id="33" name="Graphic 32">
                <a:extLst>
                  <a:ext uri="{FF2B5EF4-FFF2-40B4-BE49-F238E27FC236}">
                    <a16:creationId xmlns:a16="http://schemas.microsoft.com/office/drawing/2014/main" id="{5610A091-A632-0CC7-EC22-9A89DC330C40}"/>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3882495" y="4917458"/>
                <a:ext cx="457200" cy="457200"/>
              </a:xfrm>
              <a:prstGeom prst="rect">
                <a:avLst/>
              </a:prstGeom>
            </p:spPr>
          </p:pic>
        </p:grpSp>
      </p:grpSp>
      <p:grpSp>
        <p:nvGrpSpPr>
          <p:cNvPr id="1129" name="Group 1128">
            <a:extLst>
              <a:ext uri="{FF2B5EF4-FFF2-40B4-BE49-F238E27FC236}">
                <a16:creationId xmlns:a16="http://schemas.microsoft.com/office/drawing/2014/main" id="{85A8E877-BCA7-AB7B-C87D-D224A65C7F77}"/>
              </a:ext>
            </a:extLst>
          </p:cNvPr>
          <p:cNvGrpSpPr/>
          <p:nvPr/>
        </p:nvGrpSpPr>
        <p:grpSpPr>
          <a:xfrm>
            <a:off x="3812137" y="3742656"/>
            <a:ext cx="1174233" cy="614985"/>
            <a:chOff x="3812137" y="3742656"/>
            <a:chExt cx="1174233" cy="614985"/>
          </a:xfrm>
        </p:grpSpPr>
        <p:grpSp>
          <p:nvGrpSpPr>
            <p:cNvPr id="1077" name="Group 1076">
              <a:extLst>
                <a:ext uri="{FF2B5EF4-FFF2-40B4-BE49-F238E27FC236}">
                  <a16:creationId xmlns:a16="http://schemas.microsoft.com/office/drawing/2014/main" id="{777357DD-161A-E69B-CFE7-9A9FA1CC6B4B}"/>
                </a:ext>
              </a:extLst>
            </p:cNvPr>
            <p:cNvGrpSpPr/>
            <p:nvPr/>
          </p:nvGrpSpPr>
          <p:grpSpPr>
            <a:xfrm>
              <a:off x="3812137" y="3742656"/>
              <a:ext cx="597916" cy="614985"/>
              <a:chOff x="3812137" y="3742656"/>
              <a:chExt cx="597916" cy="614985"/>
            </a:xfrm>
          </p:grpSpPr>
          <p:sp>
            <p:nvSpPr>
              <p:cNvPr id="6" name="Oval 5">
                <a:extLst>
                  <a:ext uri="{FF2B5EF4-FFF2-40B4-BE49-F238E27FC236}">
                    <a16:creationId xmlns:a16="http://schemas.microsoft.com/office/drawing/2014/main" id="{3368E3B9-0091-1EBD-9624-93EF2BA2D8ED}"/>
                  </a:ext>
                </a:extLst>
              </p:cNvPr>
              <p:cNvSpPr/>
              <p:nvPr/>
            </p:nvSpPr>
            <p:spPr>
              <a:xfrm>
                <a:off x="3812137" y="3742656"/>
                <a:ext cx="597916" cy="614985"/>
              </a:xfrm>
              <a:prstGeom prst="ellipse">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err="1">
                  <a:solidFill>
                    <a:schemeClr val="bg1"/>
                  </a:solidFill>
                </a:endParaRPr>
              </a:p>
            </p:txBody>
          </p:sp>
          <p:pic>
            <p:nvPicPr>
              <p:cNvPr id="1076" name="Graphic 1075" descr="Exponential Graph with solid fill">
                <a:extLst>
                  <a:ext uri="{FF2B5EF4-FFF2-40B4-BE49-F238E27FC236}">
                    <a16:creationId xmlns:a16="http://schemas.microsoft.com/office/drawing/2014/main" id="{0549CFF6-0725-C7FA-297A-3A28AD3144D3}"/>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3882495" y="3821548"/>
                <a:ext cx="457200" cy="457200"/>
              </a:xfrm>
              <a:prstGeom prst="rect">
                <a:avLst/>
              </a:prstGeom>
            </p:spPr>
          </p:pic>
        </p:grpSp>
        <p:cxnSp>
          <p:nvCxnSpPr>
            <p:cNvPr id="1100" name="Straight Connector 1099">
              <a:extLst>
                <a:ext uri="{FF2B5EF4-FFF2-40B4-BE49-F238E27FC236}">
                  <a16:creationId xmlns:a16="http://schemas.microsoft.com/office/drawing/2014/main" id="{35C42E1A-E1CC-7E32-C336-22633D6A0674}"/>
                </a:ext>
              </a:extLst>
            </p:cNvPr>
            <p:cNvCxnSpPr>
              <a:cxnSpLocks/>
            </p:cNvCxnSpPr>
            <p:nvPr/>
          </p:nvCxnSpPr>
          <p:spPr>
            <a:xfrm>
              <a:off x="4372199" y="4048667"/>
              <a:ext cx="212501" cy="299889"/>
            </a:xfrm>
            <a:prstGeom prst="line">
              <a:avLst/>
            </a:prstGeom>
            <a:ln w="28575">
              <a:solidFill>
                <a:srgbClr val="C0C0C0"/>
              </a:solidFill>
            </a:ln>
          </p:spPr>
          <p:style>
            <a:lnRef idx="1">
              <a:schemeClr val="accent1"/>
            </a:lnRef>
            <a:fillRef idx="0">
              <a:schemeClr val="accent1"/>
            </a:fillRef>
            <a:effectRef idx="0">
              <a:schemeClr val="accent1"/>
            </a:effectRef>
            <a:fontRef idx="minor">
              <a:schemeClr val="tx1"/>
            </a:fontRef>
          </p:style>
        </p:cxnSp>
        <p:cxnSp>
          <p:nvCxnSpPr>
            <p:cNvPr id="1101" name="Straight Connector 1100">
              <a:extLst>
                <a:ext uri="{FF2B5EF4-FFF2-40B4-BE49-F238E27FC236}">
                  <a16:creationId xmlns:a16="http://schemas.microsoft.com/office/drawing/2014/main" id="{697C963F-2DE1-C435-49A6-1E11226C7CED}"/>
                </a:ext>
              </a:extLst>
            </p:cNvPr>
            <p:cNvCxnSpPr>
              <a:cxnSpLocks/>
            </p:cNvCxnSpPr>
            <p:nvPr/>
          </p:nvCxnSpPr>
          <p:spPr>
            <a:xfrm flipH="1">
              <a:off x="4573695" y="4345414"/>
              <a:ext cx="412675" cy="0"/>
            </a:xfrm>
            <a:prstGeom prst="line">
              <a:avLst/>
            </a:prstGeom>
            <a:ln w="28575">
              <a:solidFill>
                <a:srgbClr val="C0C0C0"/>
              </a:solidFill>
            </a:ln>
          </p:spPr>
          <p:style>
            <a:lnRef idx="1">
              <a:schemeClr val="accent1"/>
            </a:lnRef>
            <a:fillRef idx="0">
              <a:schemeClr val="accent1"/>
            </a:fillRef>
            <a:effectRef idx="0">
              <a:schemeClr val="accent1"/>
            </a:effectRef>
            <a:fontRef idx="minor">
              <a:schemeClr val="tx1"/>
            </a:fontRef>
          </p:style>
        </p:cxnSp>
      </p:grpSp>
      <p:grpSp>
        <p:nvGrpSpPr>
          <p:cNvPr id="1131" name="Group 1130">
            <a:extLst>
              <a:ext uri="{FF2B5EF4-FFF2-40B4-BE49-F238E27FC236}">
                <a16:creationId xmlns:a16="http://schemas.microsoft.com/office/drawing/2014/main" id="{63BECD9B-5387-E373-ABEA-95D458B20FE3}"/>
              </a:ext>
            </a:extLst>
          </p:cNvPr>
          <p:cNvGrpSpPr/>
          <p:nvPr/>
        </p:nvGrpSpPr>
        <p:grpSpPr>
          <a:xfrm>
            <a:off x="7415230" y="3208338"/>
            <a:ext cx="995113" cy="614985"/>
            <a:chOff x="7415230" y="3208338"/>
            <a:chExt cx="995113" cy="614985"/>
          </a:xfrm>
        </p:grpSpPr>
        <p:sp>
          <p:nvSpPr>
            <p:cNvPr id="13" name="Oval 12">
              <a:extLst>
                <a:ext uri="{FF2B5EF4-FFF2-40B4-BE49-F238E27FC236}">
                  <a16:creationId xmlns:a16="http://schemas.microsoft.com/office/drawing/2014/main" id="{57AAB35E-4DD2-05BC-FAD8-C355F485E302}"/>
                </a:ext>
              </a:extLst>
            </p:cNvPr>
            <p:cNvSpPr/>
            <p:nvPr/>
          </p:nvSpPr>
          <p:spPr>
            <a:xfrm>
              <a:off x="7812427" y="3208338"/>
              <a:ext cx="597916" cy="614985"/>
            </a:xfrm>
            <a:prstGeom prst="ellipse">
              <a:avLst/>
            </a:prstGeom>
            <a:solidFill>
              <a:srgbClr val="7CB0BE"/>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cxnSp>
          <p:nvCxnSpPr>
            <p:cNvPr id="63" name="Straight Connector 62">
              <a:extLst>
                <a:ext uri="{FF2B5EF4-FFF2-40B4-BE49-F238E27FC236}">
                  <a16:creationId xmlns:a16="http://schemas.microsoft.com/office/drawing/2014/main" id="{7CE053D2-3623-3BF8-04FC-84A57D1D9378}"/>
                </a:ext>
              </a:extLst>
            </p:cNvPr>
            <p:cNvCxnSpPr>
              <a:cxnSpLocks/>
            </p:cNvCxnSpPr>
            <p:nvPr/>
          </p:nvCxnSpPr>
          <p:spPr>
            <a:xfrm>
              <a:off x="7611424" y="3314992"/>
              <a:ext cx="211784" cy="199764"/>
            </a:xfrm>
            <a:prstGeom prst="line">
              <a:avLst/>
            </a:prstGeom>
            <a:ln w="28575">
              <a:solidFill>
                <a:srgbClr val="7CB0BE"/>
              </a:solidFill>
            </a:ln>
          </p:spPr>
          <p:style>
            <a:lnRef idx="1">
              <a:schemeClr val="accent1"/>
            </a:lnRef>
            <a:fillRef idx="0">
              <a:schemeClr val="accent1"/>
            </a:fillRef>
            <a:effectRef idx="0">
              <a:schemeClr val="accent1"/>
            </a:effectRef>
            <a:fontRef idx="minor">
              <a:schemeClr val="tx1"/>
            </a:fontRef>
          </p:style>
        </p:cxnSp>
        <p:cxnSp>
          <p:nvCxnSpPr>
            <p:cNvPr id="1112" name="Straight Connector 1111">
              <a:extLst>
                <a:ext uri="{FF2B5EF4-FFF2-40B4-BE49-F238E27FC236}">
                  <a16:creationId xmlns:a16="http://schemas.microsoft.com/office/drawing/2014/main" id="{C0F73BEC-18E8-4646-A180-55BDAD24D056}"/>
                </a:ext>
              </a:extLst>
            </p:cNvPr>
            <p:cNvCxnSpPr>
              <a:cxnSpLocks/>
            </p:cNvCxnSpPr>
            <p:nvPr/>
          </p:nvCxnSpPr>
          <p:spPr>
            <a:xfrm>
              <a:off x="7415230" y="3318404"/>
              <a:ext cx="212501" cy="0"/>
            </a:xfrm>
            <a:prstGeom prst="line">
              <a:avLst/>
            </a:prstGeom>
            <a:ln w="28575">
              <a:solidFill>
                <a:srgbClr val="7CB0BE"/>
              </a:solidFill>
            </a:ln>
          </p:spPr>
          <p:style>
            <a:lnRef idx="1">
              <a:schemeClr val="accent1"/>
            </a:lnRef>
            <a:fillRef idx="0">
              <a:schemeClr val="accent1"/>
            </a:fillRef>
            <a:effectRef idx="0">
              <a:schemeClr val="accent1"/>
            </a:effectRef>
            <a:fontRef idx="minor">
              <a:schemeClr val="tx1"/>
            </a:fontRef>
          </p:style>
        </p:cxnSp>
      </p:grpSp>
      <p:pic>
        <p:nvPicPr>
          <p:cNvPr id="1134" name="Graphic 1133">
            <a:extLst>
              <a:ext uri="{FF2B5EF4-FFF2-40B4-BE49-F238E27FC236}">
                <a16:creationId xmlns:a16="http://schemas.microsoft.com/office/drawing/2014/main" id="{DD56B2D7-11E2-0F6C-2AE4-4C78CAF8781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928653" y="3336402"/>
            <a:ext cx="365760" cy="365760"/>
          </a:xfrm>
          <a:prstGeom prst="rect">
            <a:avLst/>
          </a:prstGeom>
        </p:spPr>
      </p:pic>
      <p:grpSp>
        <p:nvGrpSpPr>
          <p:cNvPr id="1135" name="Group 1134">
            <a:extLst>
              <a:ext uri="{FF2B5EF4-FFF2-40B4-BE49-F238E27FC236}">
                <a16:creationId xmlns:a16="http://schemas.microsoft.com/office/drawing/2014/main" id="{B8BBB1BB-4B3D-6A11-B1CF-3A50986ECB4D}"/>
              </a:ext>
            </a:extLst>
          </p:cNvPr>
          <p:cNvGrpSpPr/>
          <p:nvPr/>
        </p:nvGrpSpPr>
        <p:grpSpPr>
          <a:xfrm>
            <a:off x="362743" y="10216"/>
            <a:ext cx="10042505" cy="252000"/>
            <a:chOff x="362743" y="10216"/>
            <a:chExt cx="10042505" cy="252000"/>
          </a:xfrm>
        </p:grpSpPr>
        <p:sp>
          <p:nvSpPr>
            <p:cNvPr id="1136" name="Pentagon 47">
              <a:extLst>
                <a:ext uri="{FF2B5EF4-FFF2-40B4-BE49-F238E27FC236}">
                  <a16:creationId xmlns:a16="http://schemas.microsoft.com/office/drawing/2014/main" id="{A23CA9C0-8FFE-90B6-0B68-E64C7C4ED09F}"/>
                </a:ext>
              </a:extLst>
            </p:cNvPr>
            <p:cNvSpPr/>
            <p:nvPr/>
          </p:nvSpPr>
          <p:spPr>
            <a:xfrm>
              <a:off x="362743" y="10216"/>
              <a:ext cx="1695265" cy="252000"/>
            </a:xfrm>
            <a:prstGeom prst="homePlate">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1137" name="Chevron 48">
              <a:extLst>
                <a:ext uri="{FF2B5EF4-FFF2-40B4-BE49-F238E27FC236}">
                  <a16:creationId xmlns:a16="http://schemas.microsoft.com/office/drawing/2014/main" id="{5A21371B-3CD7-CA11-8056-CCF4535F44B7}"/>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1138" name="Chevron 52">
              <a:extLst>
                <a:ext uri="{FF2B5EF4-FFF2-40B4-BE49-F238E27FC236}">
                  <a16:creationId xmlns:a16="http://schemas.microsoft.com/office/drawing/2014/main" id="{DC8C7539-4BFD-C82F-AE9C-F0475C2036FA}"/>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1139" name="Chevron 54">
              <a:extLst>
                <a:ext uri="{FF2B5EF4-FFF2-40B4-BE49-F238E27FC236}">
                  <a16:creationId xmlns:a16="http://schemas.microsoft.com/office/drawing/2014/main" id="{8FB5ADBE-5101-A3A0-035D-CD09811D2E13}"/>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140" name="Chevron 48">
              <a:extLst>
                <a:ext uri="{FF2B5EF4-FFF2-40B4-BE49-F238E27FC236}">
                  <a16:creationId xmlns:a16="http://schemas.microsoft.com/office/drawing/2014/main" id="{0BEB4D28-0287-05D2-6F91-53F15B6C8AD2}"/>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142" name="Chevron 48">
              <a:extLst>
                <a:ext uri="{FF2B5EF4-FFF2-40B4-BE49-F238E27FC236}">
                  <a16:creationId xmlns:a16="http://schemas.microsoft.com/office/drawing/2014/main" id="{604A09DC-30CE-0394-FC0F-0BF78F060101}"/>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1607315830"/>
      </p:ext>
    </p:extLst>
  </p:cSld>
  <p:clrMapOvr>
    <a:masterClrMapping/>
  </p:clrMapOvr>
  <p:extLst>
    <p:ext uri="{6950BFC3-D8DA-4A85-94F7-54DA5524770B}">
      <p188:commentRel xmlns:p188="http://schemas.microsoft.com/office/powerpoint/2018/8/main" r:id="rId5"/>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C94FA-5AD7-27F2-2D43-69D50018E08C}"/>
            </a:ext>
          </a:extLst>
        </p:cNvPr>
        <p:cNvGrpSpPr/>
        <p:nvPr/>
      </p:nvGrpSpPr>
      <p:grpSpPr>
        <a:xfrm>
          <a:off x="0" y="0"/>
          <a:ext cx="0" cy="0"/>
          <a:chOff x="0" y="0"/>
          <a:chExt cx="0" cy="0"/>
        </a:xfrm>
      </p:grpSpPr>
      <p:graphicFrame>
        <p:nvGraphicFramePr>
          <p:cNvPr id="26" name="think-cell data - do not delete" hidden="1">
            <a:extLst>
              <a:ext uri="{FF2B5EF4-FFF2-40B4-BE49-F238E27FC236}">
                <a16:creationId xmlns:a16="http://schemas.microsoft.com/office/drawing/2014/main" id="{84523329-DBAE-37B4-7CAA-097EFE29CB41}"/>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26" name="think-cell data - do not delete" hidden="1">
                        <a:extLst>
                          <a:ext uri="{FF2B5EF4-FFF2-40B4-BE49-F238E27FC236}">
                            <a16:creationId xmlns:a16="http://schemas.microsoft.com/office/drawing/2014/main" id="{84523329-DBAE-37B4-7CAA-097EFE29CB4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0" name="Rectangle 49">
            <a:extLst>
              <a:ext uri="{FF2B5EF4-FFF2-40B4-BE49-F238E27FC236}">
                <a16:creationId xmlns:a16="http://schemas.microsoft.com/office/drawing/2014/main" id="{6399376E-2E09-2E2F-B389-B06DC2A3AD74}"/>
              </a:ext>
            </a:extLst>
          </p:cNvPr>
          <p:cNvSpPr/>
          <p:nvPr/>
        </p:nvSpPr>
        <p:spPr>
          <a:xfrm>
            <a:off x="7572976" y="6008390"/>
            <a:ext cx="4459396" cy="66816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algn="ctr"/>
            <a:endParaRPr lang="en-US" sz="1200">
              <a:solidFill>
                <a:schemeClr val="tx1"/>
              </a:solidFill>
            </a:endParaRPr>
          </a:p>
        </p:txBody>
      </p:sp>
      <p:sp>
        <p:nvSpPr>
          <p:cNvPr id="25" name="Rectangle 24">
            <a:extLst>
              <a:ext uri="{FF2B5EF4-FFF2-40B4-BE49-F238E27FC236}">
                <a16:creationId xmlns:a16="http://schemas.microsoft.com/office/drawing/2014/main" id="{6B1DB7E8-578F-B4E8-4B58-3DEDE07219B6}"/>
              </a:ext>
            </a:extLst>
          </p:cNvPr>
          <p:cNvSpPr/>
          <p:nvPr/>
        </p:nvSpPr>
        <p:spPr>
          <a:xfrm>
            <a:off x="247650" y="1091116"/>
            <a:ext cx="11715743" cy="25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algn="ctr"/>
            <a:endParaRPr lang="en-US">
              <a:solidFill>
                <a:schemeClr val="bg1"/>
              </a:solidFill>
            </a:endParaRPr>
          </a:p>
        </p:txBody>
      </p:sp>
      <p:sp>
        <p:nvSpPr>
          <p:cNvPr id="2" name="Title 1">
            <a:extLst>
              <a:ext uri="{FF2B5EF4-FFF2-40B4-BE49-F238E27FC236}">
                <a16:creationId xmlns:a16="http://schemas.microsoft.com/office/drawing/2014/main" id="{4135821C-ECAE-6B1B-66FE-F64451B5DA09}"/>
              </a:ext>
            </a:extLst>
          </p:cNvPr>
          <p:cNvSpPr>
            <a:spLocks noGrp="1"/>
          </p:cNvSpPr>
          <p:nvPr>
            <p:ph type="title"/>
          </p:nvPr>
        </p:nvSpPr>
        <p:spPr>
          <a:xfrm>
            <a:off x="358337" y="338328"/>
            <a:ext cx="11470125" cy="738664"/>
          </a:xfrm>
        </p:spPr>
        <p:txBody>
          <a:bodyPr vert="horz" rIns="0">
            <a:spAutoFit/>
          </a:bodyPr>
          <a:lstStyle/>
          <a:p>
            <a:r>
              <a:rPr lang="en-US" sz="2400"/>
              <a:t>The IEP roadmap sequences tactics to address priority evidence gaps across key development milestones</a:t>
            </a:r>
          </a:p>
        </p:txBody>
      </p:sp>
      <p:graphicFrame>
        <p:nvGraphicFramePr>
          <p:cNvPr id="13" name="Table 12">
            <a:extLst>
              <a:ext uri="{FF2B5EF4-FFF2-40B4-BE49-F238E27FC236}">
                <a16:creationId xmlns:a16="http://schemas.microsoft.com/office/drawing/2014/main" id="{059B9F16-192D-A2F9-C25A-69EEA473B57B}"/>
              </a:ext>
            </a:extLst>
          </p:cNvPr>
          <p:cNvGraphicFramePr>
            <a:graphicFrameLocks noGrp="1"/>
          </p:cNvGraphicFramePr>
          <p:nvPr>
            <p:extLst>
              <p:ext uri="{D42A27DB-BD31-4B8C-83A1-F6EECF244321}">
                <p14:modId xmlns:p14="http://schemas.microsoft.com/office/powerpoint/2010/main" val="1521249230"/>
              </p:ext>
            </p:extLst>
          </p:nvPr>
        </p:nvGraphicFramePr>
        <p:xfrm>
          <a:off x="358274" y="1033880"/>
          <a:ext cx="11470129" cy="5492496"/>
        </p:xfrm>
        <a:graphic>
          <a:graphicData uri="http://schemas.openxmlformats.org/drawingml/2006/table">
            <a:tbl>
              <a:tblPr firstRow="1" bandRow="1">
                <a:tableStyleId>{5C22544A-7EE6-4342-B048-85BDC9FD1C3A}</a:tableStyleId>
              </a:tblPr>
              <a:tblGrid>
                <a:gridCol w="663025">
                  <a:extLst>
                    <a:ext uri="{9D8B030D-6E8A-4147-A177-3AD203B41FA5}">
                      <a16:colId xmlns:a16="http://schemas.microsoft.com/office/drawing/2014/main" val="826550188"/>
                    </a:ext>
                  </a:extLst>
                </a:gridCol>
                <a:gridCol w="1350888">
                  <a:extLst>
                    <a:ext uri="{9D8B030D-6E8A-4147-A177-3AD203B41FA5}">
                      <a16:colId xmlns:a16="http://schemas.microsoft.com/office/drawing/2014/main" val="3541360985"/>
                    </a:ext>
                  </a:extLst>
                </a:gridCol>
                <a:gridCol w="1350888">
                  <a:extLst>
                    <a:ext uri="{9D8B030D-6E8A-4147-A177-3AD203B41FA5}">
                      <a16:colId xmlns:a16="http://schemas.microsoft.com/office/drawing/2014/main" val="2989308665"/>
                    </a:ext>
                  </a:extLst>
                </a:gridCol>
                <a:gridCol w="1350888">
                  <a:extLst>
                    <a:ext uri="{9D8B030D-6E8A-4147-A177-3AD203B41FA5}">
                      <a16:colId xmlns:a16="http://schemas.microsoft.com/office/drawing/2014/main" val="1012466335"/>
                    </a:ext>
                  </a:extLst>
                </a:gridCol>
                <a:gridCol w="1350888">
                  <a:extLst>
                    <a:ext uri="{9D8B030D-6E8A-4147-A177-3AD203B41FA5}">
                      <a16:colId xmlns:a16="http://schemas.microsoft.com/office/drawing/2014/main" val="895252381"/>
                    </a:ext>
                  </a:extLst>
                </a:gridCol>
                <a:gridCol w="1350888">
                  <a:extLst>
                    <a:ext uri="{9D8B030D-6E8A-4147-A177-3AD203B41FA5}">
                      <a16:colId xmlns:a16="http://schemas.microsoft.com/office/drawing/2014/main" val="2189402733"/>
                    </a:ext>
                  </a:extLst>
                </a:gridCol>
                <a:gridCol w="1350888">
                  <a:extLst>
                    <a:ext uri="{9D8B030D-6E8A-4147-A177-3AD203B41FA5}">
                      <a16:colId xmlns:a16="http://schemas.microsoft.com/office/drawing/2014/main" val="3536107254"/>
                    </a:ext>
                  </a:extLst>
                </a:gridCol>
                <a:gridCol w="1350888">
                  <a:extLst>
                    <a:ext uri="{9D8B030D-6E8A-4147-A177-3AD203B41FA5}">
                      <a16:colId xmlns:a16="http://schemas.microsoft.com/office/drawing/2014/main" val="4065498421"/>
                    </a:ext>
                  </a:extLst>
                </a:gridCol>
                <a:gridCol w="1350888">
                  <a:extLst>
                    <a:ext uri="{9D8B030D-6E8A-4147-A177-3AD203B41FA5}">
                      <a16:colId xmlns:a16="http://schemas.microsoft.com/office/drawing/2014/main" val="75069239"/>
                    </a:ext>
                  </a:extLst>
                </a:gridCol>
              </a:tblGrid>
              <a:tr h="274320">
                <a:tc>
                  <a:txBody>
                    <a:bodyPr/>
                    <a:lstStyle/>
                    <a:p>
                      <a:pPr algn="ctr"/>
                      <a:endParaRPr lang="en-US" sz="1000" b="1">
                        <a:solidFill>
                          <a:schemeClr val="tx1"/>
                        </a:solidFill>
                      </a:endParaRPr>
                    </a:p>
                  </a:txBody>
                  <a:tcPr marL="36000" marR="72000" anchor="ctr">
                    <a:lnL w="57150"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b="1">
                          <a:solidFill>
                            <a:schemeClr val="tx1"/>
                          </a:solidFill>
                        </a:rPr>
                        <a:t>2026</a:t>
                      </a:r>
                    </a:p>
                  </a:txBody>
                  <a:tcPr marL="36000" marR="7200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b="1">
                          <a:solidFill>
                            <a:schemeClr val="tx1"/>
                          </a:solidFill>
                        </a:rPr>
                        <a:t>2027</a:t>
                      </a:r>
                    </a:p>
                  </a:txBody>
                  <a:tcPr marL="36000" marR="7200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b="1">
                          <a:solidFill>
                            <a:schemeClr val="tx1"/>
                          </a:solidFill>
                        </a:rPr>
                        <a:t>2028</a:t>
                      </a:r>
                    </a:p>
                  </a:txBody>
                  <a:tcPr marL="36000" marR="7200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b="1">
                          <a:solidFill>
                            <a:schemeClr val="tx1"/>
                          </a:solidFill>
                        </a:rPr>
                        <a:t>2029</a:t>
                      </a:r>
                    </a:p>
                  </a:txBody>
                  <a:tcPr marL="36000" marR="7200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b="1">
                          <a:solidFill>
                            <a:schemeClr val="tx1"/>
                          </a:solidFill>
                        </a:rPr>
                        <a:t>2030</a:t>
                      </a:r>
                    </a:p>
                  </a:txBody>
                  <a:tcPr marL="36000" marR="7200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b="1">
                          <a:solidFill>
                            <a:schemeClr val="tx1"/>
                          </a:solidFill>
                        </a:rPr>
                        <a:t>2031</a:t>
                      </a:r>
                    </a:p>
                  </a:txBody>
                  <a:tcPr marL="36000" marR="7200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b="1">
                          <a:solidFill>
                            <a:schemeClr val="tx1"/>
                          </a:solidFill>
                        </a:rPr>
                        <a:t>2032</a:t>
                      </a:r>
                    </a:p>
                  </a:txBody>
                  <a:tcPr marL="36000" marR="7200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b="1">
                          <a:solidFill>
                            <a:schemeClr val="tx1"/>
                          </a:solidFill>
                        </a:rPr>
                        <a:t>2033+</a:t>
                      </a:r>
                    </a:p>
                  </a:txBody>
                  <a:tcPr marL="36000" marR="7200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0372000"/>
                  </a:ext>
                </a:extLst>
              </a:tr>
              <a:tr h="4114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chemeClr val="bg1"/>
                          </a:solidFill>
                        </a:rPr>
                        <a:t>CDP</a:t>
                      </a:r>
                    </a:p>
                  </a:txBody>
                  <a:tcPr marL="36000" marR="36000" vert="vert270" anchor="ctr">
                    <a:lnL w="57150" cap="flat" cmpd="sng" algn="ctr">
                      <a:solidFill>
                        <a:schemeClr val="bg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57150" cap="flat" cmpd="sng" algn="ctr">
                      <a:noFill/>
                      <a:prstDash val="solid"/>
                      <a:round/>
                      <a:headEnd type="none" w="med" len="med"/>
                      <a:tailEnd type="none" w="med" len="med"/>
                    </a:lnT>
                    <a:lnB w="12700" cap="flat" cmpd="sng" algn="ctr">
                      <a:solidFill>
                        <a:schemeClr val="accent3">
                          <a:lumMod val="40000"/>
                          <a:lumOff val="60000"/>
                        </a:schemeClr>
                      </a:solidFill>
                      <a:prstDash val="solid"/>
                      <a:round/>
                      <a:headEnd type="none" w="med" len="med"/>
                      <a:tailEnd type="none" w="med" len="med"/>
                    </a:lnB>
                    <a:solidFill>
                      <a:schemeClr val="accent5"/>
                    </a:solidFill>
                  </a:tcPr>
                </a:tc>
                <a:tc>
                  <a:txBody>
                    <a:bodyPr/>
                    <a:lstStyle/>
                    <a:p>
                      <a:endParaRPr lang="en-US" sz="1000"/>
                    </a:p>
                  </a:txBody>
                  <a:tcPr marL="36000" marR="36000" anchor="ctr">
                    <a:lnL w="12700" cap="flat" cmpd="sng" algn="ctr">
                      <a:solidFill>
                        <a:schemeClr val="bg1">
                          <a:lumMod val="50000"/>
                        </a:schemeClr>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3">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3">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3">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3">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3">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3">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3">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3">
                          <a:lumMod val="40000"/>
                          <a:lumOff val="6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66837292"/>
                  </a:ext>
                </a:extLst>
              </a:tr>
              <a:tr h="8229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chemeClr val="tx1"/>
                          </a:solidFill>
                        </a:rPr>
                        <a:t>Post-hoc</a:t>
                      </a:r>
                    </a:p>
                  </a:txBody>
                  <a:tcPr marL="36000" marR="36000" vert="vert270" anchor="ctr">
                    <a:lnL w="57150" cap="flat" cmpd="sng" algn="ctr">
                      <a:solidFill>
                        <a:schemeClr val="bg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rgbClr val="CCD3E3"/>
                    </a:solidFill>
                  </a:tcPr>
                </a:tc>
                <a:tc>
                  <a:txBody>
                    <a:bodyPr/>
                    <a:lstStyle/>
                    <a:p>
                      <a:endParaRPr lang="en-US" sz="1000"/>
                    </a:p>
                  </a:txBody>
                  <a:tcPr marL="36000" marR="36000" anchor="ctr">
                    <a:lnL w="12700" cap="flat" cmpd="sng" algn="ctr">
                      <a:solidFill>
                        <a:schemeClr val="bg1">
                          <a:lumMod val="50000"/>
                        </a:schemeClr>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93207634"/>
                  </a:ext>
                </a:extLst>
              </a:tr>
              <a:tr h="3840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ysClr val="windowText" lastClr="000000"/>
                          </a:solidFill>
                        </a:rPr>
                        <a:t>SLR</a:t>
                      </a:r>
                    </a:p>
                  </a:txBody>
                  <a:tcPr marL="36000" marR="36000" vert="vert270" anchor="ctr">
                    <a:lnL w="57150" cap="flat" cmpd="sng" algn="ctr">
                      <a:solidFill>
                        <a:schemeClr val="bg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accent4">
                        <a:lumMod val="20000"/>
                        <a:lumOff val="80000"/>
                      </a:schemeClr>
                    </a:solidFill>
                  </a:tcPr>
                </a:tc>
                <a:tc>
                  <a:txBody>
                    <a:bodyPr/>
                    <a:lstStyle/>
                    <a:p>
                      <a:endParaRPr lang="en-US" sz="1000"/>
                    </a:p>
                  </a:txBody>
                  <a:tcPr marL="36000" marR="36000" anchor="ctr">
                    <a:lnL w="12700" cap="flat" cmpd="sng" algn="ctr">
                      <a:solidFill>
                        <a:schemeClr val="bg1">
                          <a:lumMod val="50000"/>
                        </a:schemeClr>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12131323"/>
                  </a:ext>
                </a:extLst>
              </a:tr>
              <a:tr h="228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ysClr val="windowText" lastClr="000000"/>
                          </a:solidFill>
                        </a:rPr>
                        <a:t>M</a:t>
                      </a:r>
                    </a:p>
                  </a:txBody>
                  <a:tcPr marL="36000" marR="36000" vert="vert270" anchor="ctr">
                    <a:lnL w="57150" cap="flat" cmpd="sng" algn="ctr">
                      <a:solidFill>
                        <a:schemeClr val="bg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2">
                        <a:lumMod val="85000"/>
                      </a:schemeClr>
                    </a:solidFill>
                  </a:tcPr>
                </a:tc>
                <a:tc>
                  <a:txBody>
                    <a:bodyPr/>
                    <a:lstStyle/>
                    <a:p>
                      <a:endParaRPr lang="en-US" sz="1000"/>
                    </a:p>
                  </a:txBody>
                  <a:tcPr marL="36000" marR="36000" anchor="ctr">
                    <a:lnL w="12700" cap="flat" cmpd="sng" algn="ctr">
                      <a:solidFill>
                        <a:schemeClr val="bg1">
                          <a:lumMod val="50000"/>
                        </a:schemeClr>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30114525"/>
                  </a:ext>
                </a:extLst>
              </a:tr>
              <a:tr h="4114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ysClr val="windowText" lastClr="000000"/>
                          </a:solidFill>
                        </a:rPr>
                        <a:t>ITC</a:t>
                      </a:r>
                    </a:p>
                  </a:txBody>
                  <a:tcPr marL="36000" marR="36000" vert="vert270" anchor="ctr">
                    <a:lnL w="57150" cap="flat" cmpd="sng" algn="ctr">
                      <a:solidFill>
                        <a:schemeClr val="bg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rgbClr val="F1D2D4"/>
                    </a:solidFill>
                  </a:tcPr>
                </a:tc>
                <a:tc>
                  <a:txBody>
                    <a:bodyPr/>
                    <a:lstStyle/>
                    <a:p>
                      <a:endParaRPr lang="en-US" sz="1000"/>
                    </a:p>
                  </a:txBody>
                  <a:tcPr marL="36000" marR="36000" anchor="ctr">
                    <a:lnL w="12700" cap="flat" cmpd="sng" algn="ctr">
                      <a:solidFill>
                        <a:schemeClr val="bg1">
                          <a:lumMod val="50000"/>
                        </a:schemeClr>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72520781"/>
                  </a:ext>
                </a:extLst>
              </a:tr>
              <a:tr h="65836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ysClr val="windowText" lastClr="000000"/>
                          </a:solidFill>
                        </a:rPr>
                        <a:t>RWE</a:t>
                      </a:r>
                    </a:p>
                  </a:txBody>
                  <a:tcPr marL="36000" marR="36000" vert="vert270" anchor="ctr">
                    <a:lnL w="57150" cap="flat" cmpd="sng" algn="ctr">
                      <a:solidFill>
                        <a:schemeClr val="bg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rgbClr val="FFC891"/>
                    </a:solidFill>
                  </a:tcPr>
                </a:tc>
                <a:tc>
                  <a:txBody>
                    <a:bodyPr/>
                    <a:lstStyle/>
                    <a:p>
                      <a:endParaRPr lang="en-US" sz="1000"/>
                    </a:p>
                  </a:txBody>
                  <a:tcPr marL="36000" marR="36000" anchor="ctr">
                    <a:lnL w="12700" cap="flat" cmpd="sng" algn="ctr">
                      <a:solidFill>
                        <a:schemeClr val="bg1">
                          <a:lumMod val="50000"/>
                        </a:schemeClr>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62553694"/>
                  </a:ext>
                </a:extLst>
              </a:tr>
              <a:tr h="18288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ysClr val="windowText" lastClr="000000"/>
                          </a:solidFill>
                        </a:rPr>
                        <a:t>IIT</a:t>
                      </a:r>
                    </a:p>
                  </a:txBody>
                  <a:tcPr marL="36000" marR="36000" vert="vert270" anchor="ctr">
                    <a:lnL w="57150" cap="flat" cmpd="sng" algn="ctr">
                      <a:solidFill>
                        <a:schemeClr val="bg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rgbClr val="B2D1D9"/>
                    </a:solidFill>
                  </a:tcPr>
                </a:tc>
                <a:tc>
                  <a:txBody>
                    <a:bodyPr/>
                    <a:lstStyle/>
                    <a:p>
                      <a:endParaRPr lang="en-US" sz="1000"/>
                    </a:p>
                  </a:txBody>
                  <a:tcPr marL="36000" marR="36000" anchor="ctr">
                    <a:lnL w="12700" cap="flat" cmpd="sng" algn="ctr">
                      <a:solidFill>
                        <a:schemeClr val="bg1">
                          <a:lumMod val="50000"/>
                        </a:schemeClr>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33089936"/>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ysClr val="windowText" lastClr="000000"/>
                          </a:solidFill>
                        </a:rPr>
                        <a:t>Survey</a:t>
                      </a:r>
                    </a:p>
                  </a:txBody>
                  <a:tcPr marL="0" marR="0" marT="0" marB="0" vert="vert270" anchor="ctr">
                    <a:lnL w="57150" cap="flat" cmpd="sng" algn="ctr">
                      <a:solidFill>
                        <a:schemeClr val="bg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4C0E2"/>
                    </a:solidFill>
                  </a:tcPr>
                </a:tc>
                <a:tc>
                  <a:txBody>
                    <a:bodyPr/>
                    <a:lstStyle/>
                    <a:p>
                      <a:endParaRPr lang="en-US" sz="1000"/>
                    </a:p>
                  </a:txBody>
                  <a:tcPr marL="36000" marR="36000" anchor="ctr">
                    <a:lnL w="12700" cap="flat" cmpd="sng" algn="ctr">
                      <a:solidFill>
                        <a:schemeClr val="bg1">
                          <a:lumMod val="50000"/>
                        </a:schemeClr>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endParaRPr lang="en-US" sz="1000"/>
                    </a:p>
                  </a:txBody>
                  <a:tcPr marL="36000" marR="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53285298"/>
                  </a:ext>
                </a:extLst>
              </a:tr>
            </a:tbl>
          </a:graphicData>
        </a:graphic>
      </p:graphicFrame>
      <p:sp>
        <p:nvSpPr>
          <p:cNvPr id="24" name="Arrow: Pentagon 23">
            <a:extLst>
              <a:ext uri="{FF2B5EF4-FFF2-40B4-BE49-F238E27FC236}">
                <a16:creationId xmlns:a16="http://schemas.microsoft.com/office/drawing/2014/main" id="{C38DF2FF-7ECE-8B0B-0665-6E0F85BEB071}"/>
              </a:ext>
            </a:extLst>
          </p:cNvPr>
          <p:cNvSpPr/>
          <p:nvPr/>
        </p:nvSpPr>
        <p:spPr>
          <a:xfrm>
            <a:off x="6490451" y="1942390"/>
            <a:ext cx="2011680" cy="164592"/>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b="1">
                <a:solidFill>
                  <a:schemeClr val="tx1"/>
                </a:solidFill>
              </a:rPr>
              <a:t>2) </a:t>
            </a:r>
            <a:r>
              <a:rPr lang="en-US" sz="1000">
                <a:solidFill>
                  <a:schemeClr val="tx1"/>
                </a:solidFill>
              </a:rPr>
              <a:t>CNS-specific outcomes</a:t>
            </a:r>
          </a:p>
        </p:txBody>
      </p:sp>
      <p:sp>
        <p:nvSpPr>
          <p:cNvPr id="30" name="Arrow: Pentagon 29">
            <a:extLst>
              <a:ext uri="{FF2B5EF4-FFF2-40B4-BE49-F238E27FC236}">
                <a16:creationId xmlns:a16="http://schemas.microsoft.com/office/drawing/2014/main" id="{7360674A-07B5-C44F-9908-EC911D2A6E08}"/>
              </a:ext>
            </a:extLst>
          </p:cNvPr>
          <p:cNvSpPr/>
          <p:nvPr/>
        </p:nvSpPr>
        <p:spPr>
          <a:xfrm>
            <a:off x="6490450" y="2141493"/>
            <a:ext cx="2011680" cy="164592"/>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b="1">
                <a:solidFill>
                  <a:schemeClr val="tx1"/>
                </a:solidFill>
              </a:rPr>
              <a:t>3, 4, 6-7) </a:t>
            </a:r>
            <a:r>
              <a:rPr lang="en-US" sz="1000">
                <a:solidFill>
                  <a:schemeClr val="tx1"/>
                </a:solidFill>
              </a:rPr>
              <a:t>Subgroup analyses</a:t>
            </a:r>
          </a:p>
        </p:txBody>
      </p:sp>
      <p:sp>
        <p:nvSpPr>
          <p:cNvPr id="31" name="Arrow: Pentagon 30">
            <a:extLst>
              <a:ext uri="{FF2B5EF4-FFF2-40B4-BE49-F238E27FC236}">
                <a16:creationId xmlns:a16="http://schemas.microsoft.com/office/drawing/2014/main" id="{8C9083ED-0B99-1DF3-2174-3805DE34062B}"/>
              </a:ext>
            </a:extLst>
          </p:cNvPr>
          <p:cNvSpPr/>
          <p:nvPr/>
        </p:nvSpPr>
        <p:spPr>
          <a:xfrm>
            <a:off x="1621368" y="2560794"/>
            <a:ext cx="1737360" cy="164592"/>
          </a:xfrm>
          <a:prstGeom prst="homePlat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b="1">
                <a:solidFill>
                  <a:schemeClr val="tx1"/>
                </a:solidFill>
              </a:rPr>
              <a:t>8) </a:t>
            </a:r>
            <a:r>
              <a:rPr lang="en-US" sz="1000">
                <a:solidFill>
                  <a:schemeClr val="tx1"/>
                </a:solidFill>
              </a:rPr>
              <a:t>MTAP-del history</a:t>
            </a:r>
          </a:p>
        </p:txBody>
      </p:sp>
      <p:sp>
        <p:nvSpPr>
          <p:cNvPr id="35" name="Arrow: Pentagon 34">
            <a:extLst>
              <a:ext uri="{FF2B5EF4-FFF2-40B4-BE49-F238E27FC236}">
                <a16:creationId xmlns:a16="http://schemas.microsoft.com/office/drawing/2014/main" id="{C2BDC96B-37AC-7D39-C7A6-1251F9EB1690}"/>
              </a:ext>
            </a:extLst>
          </p:cNvPr>
          <p:cNvSpPr/>
          <p:nvPr/>
        </p:nvSpPr>
        <p:spPr>
          <a:xfrm>
            <a:off x="1621368" y="2734108"/>
            <a:ext cx="1737360" cy="164592"/>
          </a:xfrm>
          <a:prstGeom prst="homePlat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45720" rIns="0" rtlCol="0" anchor="ctr">
            <a:noAutofit/>
          </a:bodyPr>
          <a:lstStyle/>
          <a:p>
            <a:r>
              <a:rPr lang="en-US" sz="1000" b="1">
                <a:solidFill>
                  <a:schemeClr val="tx1"/>
                </a:solidFill>
              </a:rPr>
              <a:t>9) </a:t>
            </a:r>
            <a:r>
              <a:rPr lang="en-US" sz="1000">
                <a:solidFill>
                  <a:schemeClr val="tx1"/>
                </a:solidFill>
              </a:rPr>
              <a:t>SoC/emerging PRMT5i</a:t>
            </a:r>
          </a:p>
        </p:txBody>
      </p:sp>
      <p:sp>
        <p:nvSpPr>
          <p:cNvPr id="36" name="Arrow: Pentagon 35">
            <a:extLst>
              <a:ext uri="{FF2B5EF4-FFF2-40B4-BE49-F238E27FC236}">
                <a16:creationId xmlns:a16="http://schemas.microsoft.com/office/drawing/2014/main" id="{724DABA8-0663-D391-2ADD-B0BAA7D8E2E2}"/>
              </a:ext>
            </a:extLst>
          </p:cNvPr>
          <p:cNvSpPr/>
          <p:nvPr/>
        </p:nvSpPr>
        <p:spPr>
          <a:xfrm>
            <a:off x="7845398" y="2964843"/>
            <a:ext cx="2286000" cy="164592"/>
          </a:xfrm>
          <a:prstGeom prst="homePlate">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b="1">
                <a:solidFill>
                  <a:schemeClr val="tx1"/>
                </a:solidFill>
              </a:rPr>
              <a:t>10) </a:t>
            </a:r>
            <a:r>
              <a:rPr lang="en-US" sz="1000">
                <a:solidFill>
                  <a:schemeClr val="tx1"/>
                </a:solidFill>
              </a:rPr>
              <a:t>HE modeling* </a:t>
            </a:r>
          </a:p>
        </p:txBody>
      </p:sp>
      <p:sp>
        <p:nvSpPr>
          <p:cNvPr id="38" name="Arrow: Pentagon 37">
            <a:extLst>
              <a:ext uri="{FF2B5EF4-FFF2-40B4-BE49-F238E27FC236}">
                <a16:creationId xmlns:a16="http://schemas.microsoft.com/office/drawing/2014/main" id="{9546EDDC-0EE3-16F5-B3BC-CF3A8BD1B635}"/>
              </a:ext>
            </a:extLst>
          </p:cNvPr>
          <p:cNvSpPr/>
          <p:nvPr/>
        </p:nvSpPr>
        <p:spPr>
          <a:xfrm>
            <a:off x="7160272" y="3202717"/>
            <a:ext cx="2651760" cy="164592"/>
          </a:xfrm>
          <a:prstGeom prst="homePlate">
            <a:avLst/>
          </a:prstGeom>
          <a:solidFill>
            <a:srgbClr val="F1D2D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b="1">
                <a:solidFill>
                  <a:schemeClr val="tx1"/>
                </a:solidFill>
              </a:rPr>
              <a:t>11, 14) </a:t>
            </a:r>
            <a:r>
              <a:rPr lang="en-US" sz="1000">
                <a:solidFill>
                  <a:schemeClr val="tx1"/>
                </a:solidFill>
              </a:rPr>
              <a:t>PD-L1 class-level ITCs</a:t>
            </a:r>
          </a:p>
        </p:txBody>
      </p:sp>
      <p:sp>
        <p:nvSpPr>
          <p:cNvPr id="41" name="Arrow: Pentagon 40">
            <a:extLst>
              <a:ext uri="{FF2B5EF4-FFF2-40B4-BE49-F238E27FC236}">
                <a16:creationId xmlns:a16="http://schemas.microsoft.com/office/drawing/2014/main" id="{C1D99EB9-D595-2248-D572-6E69537D40DA}"/>
              </a:ext>
            </a:extLst>
          </p:cNvPr>
          <p:cNvSpPr/>
          <p:nvPr/>
        </p:nvSpPr>
        <p:spPr>
          <a:xfrm>
            <a:off x="9245334" y="3394033"/>
            <a:ext cx="2560320" cy="155448"/>
          </a:xfrm>
          <a:prstGeom prst="homePlate">
            <a:avLst/>
          </a:prstGeom>
          <a:solidFill>
            <a:srgbClr val="F1D2D4">
              <a:alpha val="30196"/>
            </a:srgb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endParaRPr lang="en-US" sz="1000">
              <a:solidFill>
                <a:schemeClr val="tx1"/>
              </a:solidFill>
            </a:endParaRPr>
          </a:p>
        </p:txBody>
      </p:sp>
      <p:sp>
        <p:nvSpPr>
          <p:cNvPr id="42" name="Arrow: Pentagon 41">
            <a:extLst>
              <a:ext uri="{FF2B5EF4-FFF2-40B4-BE49-F238E27FC236}">
                <a16:creationId xmlns:a16="http://schemas.microsoft.com/office/drawing/2014/main" id="{F04B139F-4F74-4A8B-20E4-DBDF8294209E}"/>
              </a:ext>
            </a:extLst>
          </p:cNvPr>
          <p:cNvSpPr/>
          <p:nvPr/>
        </p:nvSpPr>
        <p:spPr>
          <a:xfrm>
            <a:off x="7160271" y="3394033"/>
            <a:ext cx="2560320" cy="164592"/>
          </a:xfrm>
          <a:prstGeom prst="homePlate">
            <a:avLst/>
          </a:prstGeom>
          <a:solidFill>
            <a:srgbClr val="F1D2D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b="1">
                <a:solidFill>
                  <a:schemeClr val="tx1"/>
                </a:solidFill>
              </a:rPr>
              <a:t>12-13) </a:t>
            </a:r>
            <a:r>
              <a:rPr lang="en-US" sz="1000">
                <a:solidFill>
                  <a:schemeClr val="tx1"/>
                </a:solidFill>
              </a:rPr>
              <a:t>ITCs vs. emerging SoC / PRMT5i</a:t>
            </a:r>
          </a:p>
        </p:txBody>
      </p:sp>
      <p:sp>
        <p:nvSpPr>
          <p:cNvPr id="49" name="Arrow: Pentagon 48">
            <a:extLst>
              <a:ext uri="{FF2B5EF4-FFF2-40B4-BE49-F238E27FC236}">
                <a16:creationId xmlns:a16="http://schemas.microsoft.com/office/drawing/2014/main" id="{05AB6A29-9CF6-8F33-9B09-8F2F932C399F}"/>
              </a:ext>
            </a:extLst>
          </p:cNvPr>
          <p:cNvSpPr/>
          <p:nvPr/>
        </p:nvSpPr>
        <p:spPr>
          <a:xfrm>
            <a:off x="7151558" y="4029769"/>
            <a:ext cx="4023360" cy="180000"/>
          </a:xfrm>
          <a:prstGeom prst="homePlate">
            <a:avLst/>
          </a:prstGeom>
          <a:solidFill>
            <a:srgbClr val="FFC89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0" rtlCol="0" anchor="ctr">
            <a:noAutofit/>
          </a:bodyPr>
          <a:lstStyle/>
          <a:p>
            <a:r>
              <a:rPr lang="en-US" sz="1000" b="1">
                <a:solidFill>
                  <a:schemeClr val="tx1"/>
                </a:solidFill>
              </a:rPr>
              <a:t>18) </a:t>
            </a:r>
            <a:r>
              <a:rPr lang="en-US" sz="1000">
                <a:solidFill>
                  <a:schemeClr val="tx1"/>
                </a:solidFill>
              </a:rPr>
              <a:t>RWE in expanded indications </a:t>
            </a:r>
          </a:p>
        </p:txBody>
      </p:sp>
      <p:sp>
        <p:nvSpPr>
          <p:cNvPr id="69" name="Arrow: Pentagon 68">
            <a:extLst>
              <a:ext uri="{FF2B5EF4-FFF2-40B4-BE49-F238E27FC236}">
                <a16:creationId xmlns:a16="http://schemas.microsoft.com/office/drawing/2014/main" id="{45F53103-7460-8DF5-828C-994CD91E62E8}"/>
              </a:ext>
            </a:extLst>
          </p:cNvPr>
          <p:cNvSpPr/>
          <p:nvPr/>
        </p:nvSpPr>
        <p:spPr>
          <a:xfrm>
            <a:off x="3797363" y="5441097"/>
            <a:ext cx="3931920" cy="164592"/>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b="1">
                <a:solidFill>
                  <a:schemeClr val="tx1"/>
                </a:solidFill>
              </a:rPr>
              <a:t>28) </a:t>
            </a:r>
            <a:r>
              <a:rPr lang="en-US" sz="1000">
                <a:solidFill>
                  <a:schemeClr val="tx1"/>
                </a:solidFill>
              </a:rPr>
              <a:t>CNS tumor populations with embedded PK sampling</a:t>
            </a:r>
          </a:p>
        </p:txBody>
      </p:sp>
      <p:sp>
        <p:nvSpPr>
          <p:cNvPr id="79" name="Arrow: Pentagon 78">
            <a:extLst>
              <a:ext uri="{FF2B5EF4-FFF2-40B4-BE49-F238E27FC236}">
                <a16:creationId xmlns:a16="http://schemas.microsoft.com/office/drawing/2014/main" id="{7DF15A1F-38CE-377D-9532-BD0EF7464307}"/>
              </a:ext>
            </a:extLst>
          </p:cNvPr>
          <p:cNvSpPr/>
          <p:nvPr/>
        </p:nvSpPr>
        <p:spPr>
          <a:xfrm>
            <a:off x="5817680" y="5850407"/>
            <a:ext cx="4023360" cy="164592"/>
          </a:xfrm>
          <a:prstGeom prst="homePlate">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b="1">
                <a:solidFill>
                  <a:schemeClr val="tx1"/>
                </a:solidFill>
              </a:rPr>
              <a:t>34) </a:t>
            </a:r>
            <a:r>
              <a:rPr lang="en-US" sz="1000">
                <a:solidFill>
                  <a:schemeClr val="tx1"/>
                </a:solidFill>
              </a:rPr>
              <a:t>Bridging studies</a:t>
            </a:r>
          </a:p>
        </p:txBody>
      </p:sp>
      <p:sp>
        <p:nvSpPr>
          <p:cNvPr id="82" name="Arrow: Pentagon 81">
            <a:extLst>
              <a:ext uri="{FF2B5EF4-FFF2-40B4-BE49-F238E27FC236}">
                <a16:creationId xmlns:a16="http://schemas.microsoft.com/office/drawing/2014/main" id="{1EA5657E-6A96-8A8F-4AD9-3D567610BA05}"/>
              </a:ext>
            </a:extLst>
          </p:cNvPr>
          <p:cNvSpPr/>
          <p:nvPr/>
        </p:nvSpPr>
        <p:spPr>
          <a:xfrm>
            <a:off x="8546598" y="4471804"/>
            <a:ext cx="3200400" cy="164592"/>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b="1">
                <a:solidFill>
                  <a:schemeClr val="tx1"/>
                </a:solidFill>
              </a:rPr>
              <a:t>30) </a:t>
            </a:r>
            <a:r>
              <a:rPr lang="en-US" sz="1000">
                <a:solidFill>
                  <a:schemeClr val="tx1"/>
                </a:solidFill>
              </a:rPr>
              <a:t>Demographic subgroup IIT</a:t>
            </a:r>
          </a:p>
        </p:txBody>
      </p:sp>
      <p:sp>
        <p:nvSpPr>
          <p:cNvPr id="84" name="Arrow: Pentagon 83">
            <a:extLst>
              <a:ext uri="{FF2B5EF4-FFF2-40B4-BE49-F238E27FC236}">
                <a16:creationId xmlns:a16="http://schemas.microsoft.com/office/drawing/2014/main" id="{803DF30C-AA5B-D7DC-8FF0-8766F1EAF68E}"/>
              </a:ext>
            </a:extLst>
          </p:cNvPr>
          <p:cNvSpPr/>
          <p:nvPr/>
        </p:nvSpPr>
        <p:spPr>
          <a:xfrm>
            <a:off x="2419062" y="4274671"/>
            <a:ext cx="6035040" cy="164592"/>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b="1">
                <a:solidFill>
                  <a:schemeClr val="tx1"/>
                </a:solidFill>
              </a:rPr>
              <a:t>21) </a:t>
            </a:r>
            <a:r>
              <a:rPr lang="en-US" sz="1000">
                <a:solidFill>
                  <a:schemeClr val="tx1"/>
                </a:solidFill>
              </a:rPr>
              <a:t>Expanded tumor types</a:t>
            </a:r>
          </a:p>
        </p:txBody>
      </p:sp>
      <p:sp>
        <p:nvSpPr>
          <p:cNvPr id="93" name="Arrow: Pentagon 92">
            <a:extLst>
              <a:ext uri="{FF2B5EF4-FFF2-40B4-BE49-F238E27FC236}">
                <a16:creationId xmlns:a16="http://schemas.microsoft.com/office/drawing/2014/main" id="{280C34CC-D87D-8A11-9C84-9A05C6A77FC6}"/>
              </a:ext>
            </a:extLst>
          </p:cNvPr>
          <p:cNvSpPr/>
          <p:nvPr/>
        </p:nvSpPr>
        <p:spPr>
          <a:xfrm>
            <a:off x="5118531" y="6110659"/>
            <a:ext cx="2103120" cy="164592"/>
          </a:xfrm>
          <a:prstGeom prst="homePlate">
            <a:avLst/>
          </a:prstGeom>
          <a:solidFill>
            <a:srgbClr val="D4C0E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b="1">
                <a:solidFill>
                  <a:schemeClr val="tx1"/>
                </a:solidFill>
              </a:rPr>
              <a:t>35) </a:t>
            </a:r>
            <a:r>
              <a:rPr lang="en-US" sz="1000">
                <a:solidFill>
                  <a:schemeClr val="tx1"/>
                </a:solidFill>
              </a:rPr>
              <a:t>Integrated patient survey</a:t>
            </a:r>
          </a:p>
        </p:txBody>
      </p:sp>
      <p:sp>
        <p:nvSpPr>
          <p:cNvPr id="94" name="Arrow: Pentagon 93">
            <a:extLst>
              <a:ext uri="{FF2B5EF4-FFF2-40B4-BE49-F238E27FC236}">
                <a16:creationId xmlns:a16="http://schemas.microsoft.com/office/drawing/2014/main" id="{6DFD4838-EC9B-52EC-C0D3-07116CA0AC50}"/>
              </a:ext>
            </a:extLst>
          </p:cNvPr>
          <p:cNvSpPr/>
          <p:nvPr/>
        </p:nvSpPr>
        <p:spPr>
          <a:xfrm>
            <a:off x="5118531" y="6318516"/>
            <a:ext cx="2103120" cy="164592"/>
          </a:xfrm>
          <a:prstGeom prst="homePlate">
            <a:avLst/>
          </a:prstGeom>
          <a:solidFill>
            <a:srgbClr val="D4C0E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b="1">
                <a:solidFill>
                  <a:schemeClr val="tx1"/>
                </a:solidFill>
              </a:rPr>
              <a:t>36) </a:t>
            </a:r>
            <a:r>
              <a:rPr lang="en-US" sz="1000">
                <a:solidFill>
                  <a:schemeClr val="tx1"/>
                </a:solidFill>
              </a:rPr>
              <a:t>HCP and caregiver survey</a:t>
            </a:r>
          </a:p>
        </p:txBody>
      </p:sp>
      <p:sp>
        <p:nvSpPr>
          <p:cNvPr id="106" name="Rectangle 105">
            <a:extLst>
              <a:ext uri="{FF2B5EF4-FFF2-40B4-BE49-F238E27FC236}">
                <a16:creationId xmlns:a16="http://schemas.microsoft.com/office/drawing/2014/main" id="{C6AA7299-94B1-36CB-27B4-18A2377A6CF9}"/>
              </a:ext>
            </a:extLst>
          </p:cNvPr>
          <p:cNvSpPr/>
          <p:nvPr/>
        </p:nvSpPr>
        <p:spPr>
          <a:xfrm>
            <a:off x="1105786" y="3551885"/>
            <a:ext cx="1153029" cy="5390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r"/>
            <a:r>
              <a:rPr lang="en-US" sz="800" i="1">
                <a:solidFill>
                  <a:schemeClr val="accent2">
                    <a:lumMod val="75000"/>
                    <a:lumOff val="25000"/>
                  </a:schemeClr>
                </a:solidFill>
              </a:rPr>
              <a:t>SLR &amp; post-hoc can inform the design/need for RWE</a:t>
            </a:r>
          </a:p>
        </p:txBody>
      </p:sp>
      <p:sp>
        <p:nvSpPr>
          <p:cNvPr id="109" name="Rectangle 108">
            <a:extLst>
              <a:ext uri="{FF2B5EF4-FFF2-40B4-BE49-F238E27FC236}">
                <a16:creationId xmlns:a16="http://schemas.microsoft.com/office/drawing/2014/main" id="{74B714BF-6012-A973-A973-9E97922074DA}"/>
              </a:ext>
            </a:extLst>
          </p:cNvPr>
          <p:cNvSpPr/>
          <p:nvPr/>
        </p:nvSpPr>
        <p:spPr>
          <a:xfrm>
            <a:off x="1212433" y="2009520"/>
            <a:ext cx="1398756" cy="3710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800" i="1">
                <a:solidFill>
                  <a:schemeClr val="accent2">
                    <a:lumMod val="75000"/>
                    <a:lumOff val="25000"/>
                  </a:schemeClr>
                </a:solidFill>
              </a:rPr>
              <a:t>Post hoc analyses will further enrich the SLRs</a:t>
            </a:r>
          </a:p>
        </p:txBody>
      </p:sp>
      <p:cxnSp>
        <p:nvCxnSpPr>
          <p:cNvPr id="124" name="Straight Arrow Connector 123">
            <a:extLst>
              <a:ext uri="{FF2B5EF4-FFF2-40B4-BE49-F238E27FC236}">
                <a16:creationId xmlns:a16="http://schemas.microsoft.com/office/drawing/2014/main" id="{AA6E0FF0-2B26-8DED-7179-E8E39513B8FE}"/>
              </a:ext>
            </a:extLst>
          </p:cNvPr>
          <p:cNvCxnSpPr>
            <a:cxnSpLocks/>
          </p:cNvCxnSpPr>
          <p:nvPr/>
        </p:nvCxnSpPr>
        <p:spPr>
          <a:xfrm>
            <a:off x="2524125" y="2205701"/>
            <a:ext cx="3931920"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5A41F20F-ED73-FC4A-0D22-674B14A325AF}"/>
              </a:ext>
            </a:extLst>
          </p:cNvPr>
          <p:cNvCxnSpPr>
            <a:cxnSpLocks/>
          </p:cNvCxnSpPr>
          <p:nvPr/>
        </p:nvCxnSpPr>
        <p:spPr>
          <a:xfrm rot="5400000">
            <a:off x="1640794" y="2406597"/>
            <a:ext cx="182880" cy="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3" name="Rectangle 132">
            <a:extLst>
              <a:ext uri="{FF2B5EF4-FFF2-40B4-BE49-F238E27FC236}">
                <a16:creationId xmlns:a16="http://schemas.microsoft.com/office/drawing/2014/main" id="{F2CA426D-3AD0-1265-8B16-5D9CA54ACBAD}"/>
              </a:ext>
            </a:extLst>
          </p:cNvPr>
          <p:cNvSpPr/>
          <p:nvPr/>
        </p:nvSpPr>
        <p:spPr>
          <a:xfrm>
            <a:off x="3315900" y="3209654"/>
            <a:ext cx="3650821" cy="332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800" i="1">
                <a:solidFill>
                  <a:schemeClr val="accent2">
                    <a:lumMod val="75000"/>
                    <a:lumOff val="25000"/>
                  </a:schemeClr>
                </a:solidFill>
              </a:rPr>
              <a:t>ITC can be supported by SLR with baseline information but would need to be regularly supplemented by new data from emerging SOC</a:t>
            </a:r>
          </a:p>
        </p:txBody>
      </p:sp>
      <p:sp>
        <p:nvSpPr>
          <p:cNvPr id="135" name="Diamond 134">
            <a:extLst>
              <a:ext uri="{FF2B5EF4-FFF2-40B4-BE49-F238E27FC236}">
                <a16:creationId xmlns:a16="http://schemas.microsoft.com/office/drawing/2014/main" id="{F925AAA1-B157-D2A0-168C-428B43B7FC68}"/>
              </a:ext>
            </a:extLst>
          </p:cNvPr>
          <p:cNvSpPr/>
          <p:nvPr/>
        </p:nvSpPr>
        <p:spPr>
          <a:xfrm>
            <a:off x="7010412" y="3394038"/>
            <a:ext cx="180000" cy="180000"/>
          </a:xfrm>
          <a:prstGeom prst="diamond">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136" name="Rectangle 135">
            <a:extLst>
              <a:ext uri="{FF2B5EF4-FFF2-40B4-BE49-F238E27FC236}">
                <a16:creationId xmlns:a16="http://schemas.microsoft.com/office/drawing/2014/main" id="{0AC0C0B7-47C2-2227-77DD-9547193AE8FE}"/>
              </a:ext>
            </a:extLst>
          </p:cNvPr>
          <p:cNvSpPr/>
          <p:nvPr/>
        </p:nvSpPr>
        <p:spPr>
          <a:xfrm>
            <a:off x="8642471" y="5535709"/>
            <a:ext cx="1270267" cy="2254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800" i="1">
                <a:solidFill>
                  <a:schemeClr val="accent2">
                    <a:lumMod val="75000"/>
                    <a:lumOff val="25000"/>
                  </a:schemeClr>
                </a:solidFill>
              </a:rPr>
              <a:t>ITC will further inform the need for COE and comparative IITs</a:t>
            </a:r>
          </a:p>
        </p:txBody>
      </p:sp>
      <p:sp>
        <p:nvSpPr>
          <p:cNvPr id="141" name="Rectangle 140">
            <a:extLst>
              <a:ext uri="{FF2B5EF4-FFF2-40B4-BE49-F238E27FC236}">
                <a16:creationId xmlns:a16="http://schemas.microsoft.com/office/drawing/2014/main" id="{52FF558B-4E96-ED20-188C-FDDFF2583B48}"/>
              </a:ext>
            </a:extLst>
          </p:cNvPr>
          <p:cNvSpPr/>
          <p:nvPr/>
        </p:nvSpPr>
        <p:spPr>
          <a:xfrm>
            <a:off x="2344491" y="5103895"/>
            <a:ext cx="3784147" cy="2415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800" i="1">
                <a:solidFill>
                  <a:schemeClr val="accent2">
                    <a:lumMod val="75000"/>
                    <a:lumOff val="25000"/>
                  </a:schemeClr>
                </a:solidFill>
              </a:rPr>
              <a:t>Post-hoc analyses will inform the need for IITs &amp; the selection of priority populations</a:t>
            </a:r>
          </a:p>
        </p:txBody>
      </p:sp>
      <p:sp>
        <p:nvSpPr>
          <p:cNvPr id="142" name="Diamond 141">
            <a:extLst>
              <a:ext uri="{FF2B5EF4-FFF2-40B4-BE49-F238E27FC236}">
                <a16:creationId xmlns:a16="http://schemas.microsoft.com/office/drawing/2014/main" id="{8C5F907C-EF18-9B7B-49A0-ABB8454E1837}"/>
              </a:ext>
            </a:extLst>
          </p:cNvPr>
          <p:cNvSpPr/>
          <p:nvPr/>
        </p:nvSpPr>
        <p:spPr>
          <a:xfrm>
            <a:off x="8395750" y="4452382"/>
            <a:ext cx="180000" cy="180000"/>
          </a:xfrm>
          <a:prstGeom prst="diamond">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grpSp>
        <p:nvGrpSpPr>
          <p:cNvPr id="3" name="Group 2">
            <a:extLst>
              <a:ext uri="{FF2B5EF4-FFF2-40B4-BE49-F238E27FC236}">
                <a16:creationId xmlns:a16="http://schemas.microsoft.com/office/drawing/2014/main" id="{312DEE8A-D08C-07C0-D736-0DB5B3AB7014}"/>
              </a:ext>
            </a:extLst>
          </p:cNvPr>
          <p:cNvGrpSpPr/>
          <p:nvPr/>
        </p:nvGrpSpPr>
        <p:grpSpPr>
          <a:xfrm>
            <a:off x="8595676" y="734355"/>
            <a:ext cx="3214546" cy="293274"/>
            <a:chOff x="313870" y="6405100"/>
            <a:chExt cx="3214546" cy="293274"/>
          </a:xfrm>
        </p:grpSpPr>
        <p:sp>
          <p:nvSpPr>
            <p:cNvPr id="59" name="Arrow: Pentagon 58">
              <a:extLst>
                <a:ext uri="{FF2B5EF4-FFF2-40B4-BE49-F238E27FC236}">
                  <a16:creationId xmlns:a16="http://schemas.microsoft.com/office/drawing/2014/main" id="{6946E62C-1DAE-2BC7-EF23-FA2571A8FEDB}"/>
                </a:ext>
              </a:extLst>
            </p:cNvPr>
            <p:cNvSpPr/>
            <p:nvPr/>
          </p:nvSpPr>
          <p:spPr>
            <a:xfrm>
              <a:off x="2461845" y="6461437"/>
              <a:ext cx="1066571" cy="181486"/>
            </a:xfrm>
            <a:prstGeom prst="homePlate">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700">
                  <a:solidFill>
                    <a:schemeClr val="tx1"/>
                  </a:solidFill>
                </a:rPr>
                <a:t>Other study types</a:t>
              </a:r>
            </a:p>
          </p:txBody>
        </p:sp>
        <p:sp>
          <p:nvSpPr>
            <p:cNvPr id="61" name="TextBox 60">
              <a:extLst>
                <a:ext uri="{FF2B5EF4-FFF2-40B4-BE49-F238E27FC236}">
                  <a16:creationId xmlns:a16="http://schemas.microsoft.com/office/drawing/2014/main" id="{6ABFCAB1-D4E8-DE90-D925-6E1DD690DFEF}"/>
                </a:ext>
              </a:extLst>
            </p:cNvPr>
            <p:cNvSpPr txBox="1"/>
            <p:nvPr/>
          </p:nvSpPr>
          <p:spPr>
            <a:xfrm>
              <a:off x="313870" y="6405986"/>
              <a:ext cx="397875" cy="292388"/>
            </a:xfrm>
            <a:prstGeom prst="rect">
              <a:avLst/>
            </a:prstGeom>
            <a:noFill/>
          </p:spPr>
          <p:txBody>
            <a:bodyPr wrap="square" lIns="91440" tIns="91440" rIns="91440" bIns="91440"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Poppins"/>
                  <a:ea typeface="+mn-ea"/>
                  <a:cs typeface="+mn-cs"/>
                </a:rPr>
                <a:t>Key:</a:t>
              </a:r>
            </a:p>
          </p:txBody>
        </p:sp>
        <p:sp>
          <p:nvSpPr>
            <p:cNvPr id="95" name="Diamond 94">
              <a:extLst>
                <a:ext uri="{FF2B5EF4-FFF2-40B4-BE49-F238E27FC236}">
                  <a16:creationId xmlns:a16="http://schemas.microsoft.com/office/drawing/2014/main" id="{BBD6F7AB-6C5E-8677-D1F4-51BC43E73FF0}"/>
                </a:ext>
              </a:extLst>
            </p:cNvPr>
            <p:cNvSpPr/>
            <p:nvPr/>
          </p:nvSpPr>
          <p:spPr>
            <a:xfrm>
              <a:off x="1505164" y="6462180"/>
              <a:ext cx="180000" cy="180000"/>
            </a:xfrm>
            <a:prstGeom prst="diamond">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96" name="TextBox 95">
              <a:extLst>
                <a:ext uri="{FF2B5EF4-FFF2-40B4-BE49-F238E27FC236}">
                  <a16:creationId xmlns:a16="http://schemas.microsoft.com/office/drawing/2014/main" id="{D519AC53-A5BA-9040-EDF8-EC7F154E6F6F}"/>
                </a:ext>
              </a:extLst>
            </p:cNvPr>
            <p:cNvSpPr txBox="1"/>
            <p:nvPr/>
          </p:nvSpPr>
          <p:spPr>
            <a:xfrm>
              <a:off x="1618805" y="6405986"/>
              <a:ext cx="841725" cy="292388"/>
            </a:xfrm>
            <a:prstGeom prst="rect">
              <a:avLst/>
            </a:prstGeom>
            <a:noFill/>
          </p:spPr>
          <p:txBody>
            <a:bodyPr wrap="square" lIns="91440" tIns="91440" rIns="91440" bIns="9144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700">
                  <a:solidFill>
                    <a:schemeClr val="accent2">
                      <a:lumMod val="75000"/>
                      <a:lumOff val="25000"/>
                    </a:schemeClr>
                  </a:solidFill>
                  <a:latin typeface="Poppins"/>
                </a:rPr>
                <a:t>Dependencies</a:t>
              </a:r>
              <a:endParaRPr kumimoji="0" lang="en-US" sz="700" b="0" i="0" u="none" strike="noStrike" kern="1200" cap="none" spc="0" normalizeH="0" baseline="0" noProof="0">
                <a:ln>
                  <a:noFill/>
                </a:ln>
                <a:solidFill>
                  <a:schemeClr val="accent2">
                    <a:lumMod val="75000"/>
                    <a:lumOff val="25000"/>
                  </a:schemeClr>
                </a:solidFill>
                <a:effectLst/>
                <a:uLnTx/>
                <a:uFillTx/>
                <a:latin typeface="Poppins"/>
                <a:ea typeface="+mn-ea"/>
                <a:cs typeface="+mn-cs"/>
              </a:endParaRPr>
            </a:p>
          </p:txBody>
        </p:sp>
        <p:sp>
          <p:nvSpPr>
            <p:cNvPr id="143" name="Diamond 142">
              <a:extLst>
                <a:ext uri="{FF2B5EF4-FFF2-40B4-BE49-F238E27FC236}">
                  <a16:creationId xmlns:a16="http://schemas.microsoft.com/office/drawing/2014/main" id="{3F606574-62E9-FB68-6263-EA770238EF4F}"/>
                </a:ext>
              </a:extLst>
            </p:cNvPr>
            <p:cNvSpPr/>
            <p:nvPr/>
          </p:nvSpPr>
          <p:spPr>
            <a:xfrm>
              <a:off x="743602" y="6461294"/>
              <a:ext cx="180000" cy="180000"/>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144" name="TextBox 143">
              <a:extLst>
                <a:ext uri="{FF2B5EF4-FFF2-40B4-BE49-F238E27FC236}">
                  <a16:creationId xmlns:a16="http://schemas.microsoft.com/office/drawing/2014/main" id="{94A9F85D-D680-4B41-6005-1C6357D91FE1}"/>
                </a:ext>
              </a:extLst>
            </p:cNvPr>
            <p:cNvSpPr txBox="1"/>
            <p:nvPr/>
          </p:nvSpPr>
          <p:spPr>
            <a:xfrm>
              <a:off x="832888" y="6405100"/>
              <a:ext cx="713680" cy="292388"/>
            </a:xfrm>
            <a:prstGeom prst="rect">
              <a:avLst/>
            </a:prstGeom>
            <a:noFill/>
          </p:spPr>
          <p:txBody>
            <a:bodyPr wrap="square" lIns="91440" tIns="91440" rIns="91440" bIns="9144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700">
                  <a:solidFill>
                    <a:schemeClr val="accent1"/>
                  </a:solidFill>
                  <a:latin typeface="Poppins"/>
                </a:rPr>
                <a:t>Milestones</a:t>
              </a:r>
              <a:endParaRPr kumimoji="0" lang="en-US" sz="700" b="0" i="0" u="none" strike="noStrike" kern="1200" cap="none" spc="0" normalizeH="0" baseline="0" noProof="0">
                <a:ln>
                  <a:noFill/>
                </a:ln>
                <a:solidFill>
                  <a:schemeClr val="accent1"/>
                </a:solidFill>
                <a:effectLst/>
                <a:uLnTx/>
                <a:uFillTx/>
                <a:latin typeface="Poppins"/>
                <a:ea typeface="+mn-ea"/>
                <a:cs typeface="+mn-cs"/>
              </a:endParaRPr>
            </a:p>
          </p:txBody>
        </p:sp>
      </p:grpSp>
      <p:sp>
        <p:nvSpPr>
          <p:cNvPr id="10" name="Footer Placeholder 2">
            <a:extLst>
              <a:ext uri="{FF2B5EF4-FFF2-40B4-BE49-F238E27FC236}">
                <a16:creationId xmlns:a16="http://schemas.microsoft.com/office/drawing/2014/main" id="{A657E09C-E812-FEB9-D12E-3DC391031BE9}"/>
              </a:ext>
            </a:extLst>
          </p:cNvPr>
          <p:cNvSpPr>
            <a:spLocks noGrp="1"/>
          </p:cNvSpPr>
          <p:nvPr>
            <p:ph type="ftr" sz="quarter" idx="10"/>
          </p:nvPr>
        </p:nvSpPr>
        <p:spPr>
          <a:xfrm>
            <a:off x="380246" y="6473960"/>
            <a:ext cx="11430000" cy="365760"/>
          </a:xfrm>
        </p:spPr>
        <p:txBody>
          <a:bodyPr/>
          <a:lstStyle/>
          <a:p>
            <a:endParaRPr lang="en-US"/>
          </a:p>
          <a:p>
            <a:endParaRPr lang="en-US"/>
          </a:p>
          <a:p>
            <a:r>
              <a:rPr lang="en-US"/>
              <a:t>Note: *HE modelling includes cost-effectiveness and budget impact modelling (included in the planned / addressed tactics section), and MTAP testing cost-effectiveness and time-to-treatment modelling</a:t>
            </a:r>
          </a:p>
          <a:p>
            <a:pPr>
              <a:spcBef>
                <a:spcPts val="0"/>
              </a:spcBef>
            </a:pPr>
            <a:r>
              <a:rPr lang="en-US"/>
              <a:t>Abbreviations: AE: Adverse Event; CNS: Central Nervous System; COE: Contribution of Effect; DRO: Data Readout; Epi: Epidemiology; HCP: Healthcare Professional; HCRU: Healthcare Resource Utilization; HE: Health Economics; IIT: Investigator-Initiated Trial; ITC: Indirect Treatment Comparison; MTAP: </a:t>
            </a:r>
            <a:r>
              <a:rPr lang="en-US" err="1"/>
              <a:t>Methylthioadenosine</a:t>
            </a:r>
            <a:r>
              <a:rPr lang="en-US"/>
              <a:t> Phosphorylase; M: Modeling Studies; NSCLC: Non-Small Cell Lung Cancer; RWD: Real-World Data; RWE: Real-World Evidence; SLR: Systematic Literature Review; SoC: Standard of Care </a:t>
            </a:r>
          </a:p>
        </p:txBody>
      </p:sp>
      <p:sp>
        <p:nvSpPr>
          <p:cNvPr id="40" name="Arrow: Pentagon 39">
            <a:extLst>
              <a:ext uri="{FF2B5EF4-FFF2-40B4-BE49-F238E27FC236}">
                <a16:creationId xmlns:a16="http://schemas.microsoft.com/office/drawing/2014/main" id="{65C418C3-6236-BF83-B488-9B0E481A2BD8}"/>
              </a:ext>
            </a:extLst>
          </p:cNvPr>
          <p:cNvSpPr/>
          <p:nvPr/>
        </p:nvSpPr>
        <p:spPr>
          <a:xfrm>
            <a:off x="7035854" y="1325234"/>
            <a:ext cx="2834640" cy="161206"/>
          </a:xfrm>
          <a:prstGeom prst="homePlate">
            <a:avLst/>
          </a:prstGeom>
          <a:solidFill>
            <a:schemeClr val="accent1">
              <a:lumMod val="20000"/>
              <a:lumOff val="80000"/>
              <a:alpha val="30196"/>
            </a:scheme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tx1"/>
                </a:solidFill>
              </a:rPr>
              <a:t>1L anticipated approval: 2032+</a:t>
            </a:r>
          </a:p>
        </p:txBody>
      </p:sp>
      <p:sp>
        <p:nvSpPr>
          <p:cNvPr id="19" name="Diamond 18">
            <a:extLst>
              <a:ext uri="{FF2B5EF4-FFF2-40B4-BE49-F238E27FC236}">
                <a16:creationId xmlns:a16="http://schemas.microsoft.com/office/drawing/2014/main" id="{F02F60DB-4A8E-D3DF-0122-83D520B58546}"/>
              </a:ext>
            </a:extLst>
          </p:cNvPr>
          <p:cNvSpPr/>
          <p:nvPr/>
        </p:nvSpPr>
        <p:spPr>
          <a:xfrm>
            <a:off x="9750899" y="1309169"/>
            <a:ext cx="180000" cy="180000"/>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5" name="Arrow: Pentagon 4">
            <a:extLst>
              <a:ext uri="{FF2B5EF4-FFF2-40B4-BE49-F238E27FC236}">
                <a16:creationId xmlns:a16="http://schemas.microsoft.com/office/drawing/2014/main" id="{B30E82CA-DDA0-28D9-1661-ED0E6ADC087F}"/>
              </a:ext>
            </a:extLst>
          </p:cNvPr>
          <p:cNvSpPr/>
          <p:nvPr/>
        </p:nvSpPr>
        <p:spPr>
          <a:xfrm>
            <a:off x="2419062" y="1324120"/>
            <a:ext cx="4754880" cy="164592"/>
          </a:xfrm>
          <a:prstGeom prst="homePlat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a:solidFill>
                  <a:schemeClr val="bg1"/>
                </a:solidFill>
              </a:rPr>
              <a:t>Ph. 3 in 1L </a:t>
            </a:r>
            <a:r>
              <a:rPr lang="en-US" sz="1000" err="1">
                <a:solidFill>
                  <a:schemeClr val="bg1"/>
                </a:solidFill>
              </a:rPr>
              <a:t>MTAPdel</a:t>
            </a:r>
            <a:r>
              <a:rPr lang="en-US" sz="1000">
                <a:solidFill>
                  <a:schemeClr val="bg1"/>
                </a:solidFill>
              </a:rPr>
              <a:t> NSCLC; DRO: Q2 2030 </a:t>
            </a:r>
          </a:p>
        </p:txBody>
      </p:sp>
      <p:sp>
        <p:nvSpPr>
          <p:cNvPr id="11" name="Diamond 10">
            <a:extLst>
              <a:ext uri="{FF2B5EF4-FFF2-40B4-BE49-F238E27FC236}">
                <a16:creationId xmlns:a16="http://schemas.microsoft.com/office/drawing/2014/main" id="{C47C6DA1-5AEA-D924-7C5D-7529A7594130}"/>
              </a:ext>
            </a:extLst>
          </p:cNvPr>
          <p:cNvSpPr/>
          <p:nvPr/>
        </p:nvSpPr>
        <p:spPr>
          <a:xfrm>
            <a:off x="7035916" y="1309169"/>
            <a:ext cx="180000" cy="180000"/>
          </a:xfrm>
          <a:prstGeom prst="diamond">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46" name="Arrow: Pentagon 45">
            <a:extLst>
              <a:ext uri="{FF2B5EF4-FFF2-40B4-BE49-F238E27FC236}">
                <a16:creationId xmlns:a16="http://schemas.microsoft.com/office/drawing/2014/main" id="{4A33905F-31A5-BEBD-E6F3-F710C5429456}"/>
              </a:ext>
            </a:extLst>
          </p:cNvPr>
          <p:cNvSpPr/>
          <p:nvPr/>
        </p:nvSpPr>
        <p:spPr>
          <a:xfrm>
            <a:off x="7035854" y="1526866"/>
            <a:ext cx="2834640" cy="161206"/>
          </a:xfrm>
          <a:prstGeom prst="homePlate">
            <a:avLst/>
          </a:prstGeom>
          <a:solidFill>
            <a:schemeClr val="accent1">
              <a:lumMod val="20000"/>
              <a:lumOff val="80000"/>
              <a:alpha val="30196"/>
            </a:scheme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tx1"/>
                </a:solidFill>
              </a:rPr>
              <a:t>2L+ anticipated approval: 2032+</a:t>
            </a:r>
          </a:p>
        </p:txBody>
      </p:sp>
      <p:sp>
        <p:nvSpPr>
          <p:cNvPr id="14" name="Arrow: Pentagon 13">
            <a:extLst>
              <a:ext uri="{FF2B5EF4-FFF2-40B4-BE49-F238E27FC236}">
                <a16:creationId xmlns:a16="http://schemas.microsoft.com/office/drawing/2014/main" id="{090987E6-39A4-1E12-41CC-4BCFE77C1AD1}"/>
              </a:ext>
            </a:extLst>
          </p:cNvPr>
          <p:cNvSpPr/>
          <p:nvPr/>
        </p:nvSpPr>
        <p:spPr>
          <a:xfrm>
            <a:off x="2419062" y="1523480"/>
            <a:ext cx="4754880" cy="164592"/>
          </a:xfrm>
          <a:prstGeom prst="homePlat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a:solidFill>
                  <a:schemeClr val="bg1"/>
                </a:solidFill>
              </a:rPr>
              <a:t>Ph. 3 in 2L+ </a:t>
            </a:r>
            <a:r>
              <a:rPr lang="en-US" sz="1000" err="1">
                <a:solidFill>
                  <a:schemeClr val="bg1"/>
                </a:solidFill>
              </a:rPr>
              <a:t>MTAPdel</a:t>
            </a:r>
            <a:r>
              <a:rPr lang="en-US" sz="1000">
                <a:solidFill>
                  <a:schemeClr val="bg1"/>
                </a:solidFill>
              </a:rPr>
              <a:t> NSCLC; DRO: Q2 2030+ </a:t>
            </a:r>
          </a:p>
        </p:txBody>
      </p:sp>
      <p:sp>
        <p:nvSpPr>
          <p:cNvPr id="16" name="Diamond 15">
            <a:extLst>
              <a:ext uri="{FF2B5EF4-FFF2-40B4-BE49-F238E27FC236}">
                <a16:creationId xmlns:a16="http://schemas.microsoft.com/office/drawing/2014/main" id="{54F5298F-BF9A-BED0-1F94-8E1123CF67AD}"/>
              </a:ext>
            </a:extLst>
          </p:cNvPr>
          <p:cNvSpPr/>
          <p:nvPr/>
        </p:nvSpPr>
        <p:spPr>
          <a:xfrm>
            <a:off x="7035916" y="1508529"/>
            <a:ext cx="180000" cy="180000"/>
          </a:xfrm>
          <a:prstGeom prst="diamond">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28" name="Diamond 27">
            <a:extLst>
              <a:ext uri="{FF2B5EF4-FFF2-40B4-BE49-F238E27FC236}">
                <a16:creationId xmlns:a16="http://schemas.microsoft.com/office/drawing/2014/main" id="{4F842F30-020F-449A-832A-537905C2E8A0}"/>
              </a:ext>
            </a:extLst>
          </p:cNvPr>
          <p:cNvSpPr/>
          <p:nvPr/>
        </p:nvSpPr>
        <p:spPr>
          <a:xfrm>
            <a:off x="9750899" y="1508529"/>
            <a:ext cx="180000" cy="180000"/>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6" name="Arrow: Pentagon 5">
            <a:extLst>
              <a:ext uri="{FF2B5EF4-FFF2-40B4-BE49-F238E27FC236}">
                <a16:creationId xmlns:a16="http://schemas.microsoft.com/office/drawing/2014/main" id="{8313EAD0-8D8F-D7C6-031C-D68603EC21B0}"/>
              </a:ext>
            </a:extLst>
          </p:cNvPr>
          <p:cNvSpPr/>
          <p:nvPr/>
        </p:nvSpPr>
        <p:spPr>
          <a:xfrm>
            <a:off x="8336579" y="1743064"/>
            <a:ext cx="3474720" cy="161206"/>
          </a:xfrm>
          <a:prstGeom prst="homePlate">
            <a:avLst/>
          </a:prstGeom>
          <a:solidFill>
            <a:schemeClr val="accent3">
              <a:lumMod val="20000"/>
              <a:lumOff val="80000"/>
              <a:alpha val="30196"/>
            </a:scheme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endParaRPr lang="en-US" sz="1000">
              <a:solidFill>
                <a:schemeClr val="tx1"/>
              </a:solidFill>
            </a:endParaRPr>
          </a:p>
        </p:txBody>
      </p:sp>
      <p:sp>
        <p:nvSpPr>
          <p:cNvPr id="18" name="Arrow: Pentagon 17">
            <a:extLst>
              <a:ext uri="{FF2B5EF4-FFF2-40B4-BE49-F238E27FC236}">
                <a16:creationId xmlns:a16="http://schemas.microsoft.com/office/drawing/2014/main" id="{C1B9E6E6-840A-3778-5908-B5E9C8EED187}"/>
              </a:ext>
            </a:extLst>
          </p:cNvPr>
          <p:cNvSpPr/>
          <p:nvPr/>
        </p:nvSpPr>
        <p:spPr>
          <a:xfrm>
            <a:off x="6490451" y="1744832"/>
            <a:ext cx="2011680" cy="164592"/>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b="1">
                <a:solidFill>
                  <a:schemeClr val="tx1"/>
                </a:solidFill>
              </a:rPr>
              <a:t>1)</a:t>
            </a:r>
            <a:r>
              <a:rPr lang="en-US" sz="1000">
                <a:solidFill>
                  <a:schemeClr val="tx1"/>
                </a:solidFill>
              </a:rPr>
              <a:t> Long-term outcomes</a:t>
            </a:r>
          </a:p>
        </p:txBody>
      </p:sp>
      <p:sp>
        <p:nvSpPr>
          <p:cNvPr id="8" name="Arrow: Pentagon 7">
            <a:extLst>
              <a:ext uri="{FF2B5EF4-FFF2-40B4-BE49-F238E27FC236}">
                <a16:creationId xmlns:a16="http://schemas.microsoft.com/office/drawing/2014/main" id="{202C3749-CD29-D65A-0075-1C1F0ABB01B6}"/>
              </a:ext>
            </a:extLst>
          </p:cNvPr>
          <p:cNvSpPr/>
          <p:nvPr/>
        </p:nvSpPr>
        <p:spPr>
          <a:xfrm>
            <a:off x="6484007" y="2344375"/>
            <a:ext cx="2011680" cy="164592"/>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b="1">
                <a:solidFill>
                  <a:schemeClr val="tx1"/>
                </a:solidFill>
              </a:rPr>
              <a:t>5) </a:t>
            </a:r>
            <a:r>
              <a:rPr lang="en-US" sz="1000">
                <a:solidFill>
                  <a:schemeClr val="tx1"/>
                </a:solidFill>
              </a:rPr>
              <a:t>HCRU,  treatment burden</a:t>
            </a:r>
          </a:p>
        </p:txBody>
      </p:sp>
      <p:sp>
        <p:nvSpPr>
          <p:cNvPr id="12" name="Arrow: Pentagon 11">
            <a:extLst>
              <a:ext uri="{FF2B5EF4-FFF2-40B4-BE49-F238E27FC236}">
                <a16:creationId xmlns:a16="http://schemas.microsoft.com/office/drawing/2014/main" id="{58F3A028-43F7-072D-6F3D-8B03B73AC249}"/>
              </a:ext>
            </a:extLst>
          </p:cNvPr>
          <p:cNvSpPr/>
          <p:nvPr/>
        </p:nvSpPr>
        <p:spPr>
          <a:xfrm>
            <a:off x="9980198" y="3820723"/>
            <a:ext cx="1828800" cy="182880"/>
          </a:xfrm>
          <a:prstGeom prst="homePlate">
            <a:avLst/>
          </a:prstGeom>
          <a:solidFill>
            <a:srgbClr val="FFC89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45720" rIns="45720" rtlCol="0" anchor="ctr">
            <a:noAutofit/>
          </a:bodyPr>
          <a:lstStyle/>
          <a:p>
            <a:r>
              <a:rPr lang="en-US" sz="1000" b="1">
                <a:solidFill>
                  <a:schemeClr val="tx1"/>
                </a:solidFill>
              </a:rPr>
              <a:t>19-20) </a:t>
            </a:r>
            <a:r>
              <a:rPr lang="en-US" sz="1000">
                <a:solidFill>
                  <a:schemeClr val="tx1"/>
                </a:solidFill>
              </a:rPr>
              <a:t>Post-launch RWE</a:t>
            </a:r>
          </a:p>
        </p:txBody>
      </p:sp>
      <p:sp>
        <p:nvSpPr>
          <p:cNvPr id="17" name="Diamond 16">
            <a:extLst>
              <a:ext uri="{FF2B5EF4-FFF2-40B4-BE49-F238E27FC236}">
                <a16:creationId xmlns:a16="http://schemas.microsoft.com/office/drawing/2014/main" id="{92B1FD75-FDD3-6410-FF41-AC917511E51A}"/>
              </a:ext>
            </a:extLst>
          </p:cNvPr>
          <p:cNvSpPr/>
          <p:nvPr/>
        </p:nvSpPr>
        <p:spPr>
          <a:xfrm>
            <a:off x="5646046" y="5847462"/>
            <a:ext cx="180000" cy="180000"/>
          </a:xfrm>
          <a:prstGeom prst="diamond">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21" name="Rectangle 20">
            <a:extLst>
              <a:ext uri="{FF2B5EF4-FFF2-40B4-BE49-F238E27FC236}">
                <a16:creationId xmlns:a16="http://schemas.microsoft.com/office/drawing/2014/main" id="{08EA469A-BD8A-AB1D-30A8-61DBC662FE80}"/>
              </a:ext>
            </a:extLst>
          </p:cNvPr>
          <p:cNvSpPr/>
          <p:nvPr/>
        </p:nvSpPr>
        <p:spPr>
          <a:xfrm>
            <a:off x="1445260" y="5803489"/>
            <a:ext cx="3907049" cy="2720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800" i="1">
                <a:solidFill>
                  <a:schemeClr val="accent2">
                    <a:lumMod val="75000"/>
                    <a:lumOff val="25000"/>
                  </a:schemeClr>
                </a:solidFill>
              </a:rPr>
              <a:t>Local pivotal trial enrollment will inform the need for bridging studies</a:t>
            </a:r>
          </a:p>
        </p:txBody>
      </p:sp>
      <p:sp>
        <p:nvSpPr>
          <p:cNvPr id="27" name="Arrow: Pentagon 26">
            <a:extLst>
              <a:ext uri="{FF2B5EF4-FFF2-40B4-BE49-F238E27FC236}">
                <a16:creationId xmlns:a16="http://schemas.microsoft.com/office/drawing/2014/main" id="{1AEC687A-0836-180B-F525-58980E6ABD4B}"/>
              </a:ext>
            </a:extLst>
          </p:cNvPr>
          <p:cNvSpPr/>
          <p:nvPr/>
        </p:nvSpPr>
        <p:spPr>
          <a:xfrm>
            <a:off x="2419062" y="4471804"/>
            <a:ext cx="4023360" cy="164592"/>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b="1">
                <a:solidFill>
                  <a:schemeClr val="tx1"/>
                </a:solidFill>
              </a:rPr>
              <a:t>22) </a:t>
            </a:r>
            <a:r>
              <a:rPr lang="en-US" sz="1000">
                <a:solidFill>
                  <a:schemeClr val="tx1"/>
                </a:solidFill>
              </a:rPr>
              <a:t> Expanded CNS metastases populations</a:t>
            </a:r>
          </a:p>
        </p:txBody>
      </p:sp>
      <p:sp>
        <p:nvSpPr>
          <p:cNvPr id="45" name="Arrow: Pentagon 44">
            <a:extLst>
              <a:ext uri="{FF2B5EF4-FFF2-40B4-BE49-F238E27FC236}">
                <a16:creationId xmlns:a16="http://schemas.microsoft.com/office/drawing/2014/main" id="{ACAFB7CB-E8E4-B145-1E9C-6FEBFD916AEC}"/>
              </a:ext>
            </a:extLst>
          </p:cNvPr>
          <p:cNvSpPr/>
          <p:nvPr/>
        </p:nvSpPr>
        <p:spPr>
          <a:xfrm>
            <a:off x="2419062" y="4668937"/>
            <a:ext cx="4023360" cy="164592"/>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b="1">
                <a:solidFill>
                  <a:schemeClr val="tx1"/>
                </a:solidFill>
              </a:rPr>
              <a:t>23) </a:t>
            </a:r>
            <a:r>
              <a:rPr lang="en-US" sz="1000">
                <a:solidFill>
                  <a:schemeClr val="tx1"/>
                </a:solidFill>
              </a:rPr>
              <a:t> Targeted therapy combinations</a:t>
            </a:r>
          </a:p>
        </p:txBody>
      </p:sp>
      <p:sp>
        <p:nvSpPr>
          <p:cNvPr id="54" name="Arrow: Pentagon 53">
            <a:extLst>
              <a:ext uri="{FF2B5EF4-FFF2-40B4-BE49-F238E27FC236}">
                <a16:creationId xmlns:a16="http://schemas.microsoft.com/office/drawing/2014/main" id="{21DECC4B-BDBC-DE17-7243-FB8941DCA507}"/>
              </a:ext>
            </a:extLst>
          </p:cNvPr>
          <p:cNvSpPr/>
          <p:nvPr/>
        </p:nvSpPr>
        <p:spPr>
          <a:xfrm>
            <a:off x="2419062" y="4866069"/>
            <a:ext cx="5303520" cy="164592"/>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b="1">
                <a:solidFill>
                  <a:schemeClr val="tx1"/>
                </a:solidFill>
              </a:rPr>
              <a:t>24-25) </a:t>
            </a:r>
            <a:r>
              <a:rPr lang="en-US" sz="1000">
                <a:solidFill>
                  <a:schemeClr val="tx1"/>
                </a:solidFill>
              </a:rPr>
              <a:t> Priority co-mutation populations</a:t>
            </a:r>
          </a:p>
        </p:txBody>
      </p:sp>
      <p:sp>
        <p:nvSpPr>
          <p:cNvPr id="56" name="Arrow: Pentagon 55">
            <a:extLst>
              <a:ext uri="{FF2B5EF4-FFF2-40B4-BE49-F238E27FC236}">
                <a16:creationId xmlns:a16="http://schemas.microsoft.com/office/drawing/2014/main" id="{0A247060-C02C-730F-D6CF-507F26CB7D38}"/>
              </a:ext>
            </a:extLst>
          </p:cNvPr>
          <p:cNvSpPr/>
          <p:nvPr/>
        </p:nvSpPr>
        <p:spPr>
          <a:xfrm>
            <a:off x="3797363" y="5252150"/>
            <a:ext cx="3931920" cy="164592"/>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b="1">
                <a:solidFill>
                  <a:schemeClr val="tx1"/>
                </a:solidFill>
              </a:rPr>
              <a:t>27) </a:t>
            </a:r>
            <a:r>
              <a:rPr lang="en-US" sz="1000">
                <a:solidFill>
                  <a:schemeClr val="tx1"/>
                </a:solidFill>
              </a:rPr>
              <a:t> SoC combinations beyond the CDP</a:t>
            </a:r>
          </a:p>
        </p:txBody>
      </p:sp>
      <p:sp>
        <p:nvSpPr>
          <p:cNvPr id="58" name="Arrow: Pentagon 57">
            <a:extLst>
              <a:ext uri="{FF2B5EF4-FFF2-40B4-BE49-F238E27FC236}">
                <a16:creationId xmlns:a16="http://schemas.microsoft.com/office/drawing/2014/main" id="{B9D9DE95-E2AC-F172-15EC-39DB5972C6F0}"/>
              </a:ext>
            </a:extLst>
          </p:cNvPr>
          <p:cNvSpPr/>
          <p:nvPr/>
        </p:nvSpPr>
        <p:spPr>
          <a:xfrm>
            <a:off x="3797363" y="5638230"/>
            <a:ext cx="3931920" cy="164592"/>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b="1">
                <a:solidFill>
                  <a:schemeClr val="tx1"/>
                </a:solidFill>
              </a:rPr>
              <a:t>29) </a:t>
            </a:r>
            <a:r>
              <a:rPr lang="en-US" sz="1000">
                <a:solidFill>
                  <a:schemeClr val="tx1"/>
                </a:solidFill>
              </a:rPr>
              <a:t>Efficacy across MTAP-del heterogeneity and clonality</a:t>
            </a:r>
          </a:p>
        </p:txBody>
      </p:sp>
      <p:sp>
        <p:nvSpPr>
          <p:cNvPr id="64" name="Arrow: Pentagon 63">
            <a:extLst>
              <a:ext uri="{FF2B5EF4-FFF2-40B4-BE49-F238E27FC236}">
                <a16:creationId xmlns:a16="http://schemas.microsoft.com/office/drawing/2014/main" id="{D71EF246-B116-9FE6-DECE-E582B2AC1728}"/>
              </a:ext>
            </a:extLst>
          </p:cNvPr>
          <p:cNvSpPr/>
          <p:nvPr/>
        </p:nvSpPr>
        <p:spPr>
          <a:xfrm>
            <a:off x="8546598" y="4668937"/>
            <a:ext cx="3200400" cy="164592"/>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b="1">
                <a:solidFill>
                  <a:schemeClr val="tx1"/>
                </a:solidFill>
              </a:rPr>
              <a:t>31)</a:t>
            </a:r>
            <a:r>
              <a:rPr lang="en-US" sz="1000">
                <a:solidFill>
                  <a:schemeClr val="tx1"/>
                </a:solidFill>
              </a:rPr>
              <a:t> PD-L1 populations</a:t>
            </a:r>
          </a:p>
        </p:txBody>
      </p:sp>
      <p:sp>
        <p:nvSpPr>
          <p:cNvPr id="67" name="Diamond 66">
            <a:extLst>
              <a:ext uri="{FF2B5EF4-FFF2-40B4-BE49-F238E27FC236}">
                <a16:creationId xmlns:a16="http://schemas.microsoft.com/office/drawing/2014/main" id="{E1A620AE-CED6-164F-31FE-A7E405FAE799}"/>
              </a:ext>
            </a:extLst>
          </p:cNvPr>
          <p:cNvSpPr/>
          <p:nvPr/>
        </p:nvSpPr>
        <p:spPr>
          <a:xfrm>
            <a:off x="8395750" y="4647301"/>
            <a:ext cx="180000" cy="180000"/>
          </a:xfrm>
          <a:prstGeom prst="diamond">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71" name="Arrow: Pentagon 70">
            <a:extLst>
              <a:ext uri="{FF2B5EF4-FFF2-40B4-BE49-F238E27FC236}">
                <a16:creationId xmlns:a16="http://schemas.microsoft.com/office/drawing/2014/main" id="{79193B11-973F-4D0D-5AF1-5F978D1A08DA}"/>
              </a:ext>
            </a:extLst>
          </p:cNvPr>
          <p:cNvSpPr/>
          <p:nvPr/>
        </p:nvSpPr>
        <p:spPr>
          <a:xfrm>
            <a:off x="9980198" y="5441097"/>
            <a:ext cx="1828800" cy="164592"/>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b="1">
                <a:solidFill>
                  <a:schemeClr val="tx1"/>
                </a:solidFill>
              </a:rPr>
              <a:t>32)</a:t>
            </a:r>
            <a:r>
              <a:rPr lang="en-US" sz="1000">
                <a:solidFill>
                  <a:schemeClr val="tx1"/>
                </a:solidFill>
              </a:rPr>
              <a:t> COE in 1L</a:t>
            </a:r>
          </a:p>
        </p:txBody>
      </p:sp>
      <p:sp>
        <p:nvSpPr>
          <p:cNvPr id="73" name="Diamond 72">
            <a:extLst>
              <a:ext uri="{FF2B5EF4-FFF2-40B4-BE49-F238E27FC236}">
                <a16:creationId xmlns:a16="http://schemas.microsoft.com/office/drawing/2014/main" id="{636AECDF-8171-4BA9-7AA6-FAC28F30AEED}"/>
              </a:ext>
            </a:extLst>
          </p:cNvPr>
          <p:cNvSpPr/>
          <p:nvPr/>
        </p:nvSpPr>
        <p:spPr>
          <a:xfrm>
            <a:off x="9845278" y="5425689"/>
            <a:ext cx="180000" cy="180000"/>
          </a:xfrm>
          <a:prstGeom prst="diamond">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76" name="Arrow: Pentagon 75">
            <a:extLst>
              <a:ext uri="{FF2B5EF4-FFF2-40B4-BE49-F238E27FC236}">
                <a16:creationId xmlns:a16="http://schemas.microsoft.com/office/drawing/2014/main" id="{4D55DF94-46E8-050F-942D-106C193C1FD8}"/>
              </a:ext>
            </a:extLst>
          </p:cNvPr>
          <p:cNvSpPr/>
          <p:nvPr/>
        </p:nvSpPr>
        <p:spPr>
          <a:xfrm>
            <a:off x="9980198" y="5638230"/>
            <a:ext cx="1828800" cy="164592"/>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b="1">
                <a:solidFill>
                  <a:schemeClr val="tx1"/>
                </a:solidFill>
              </a:rPr>
              <a:t>33)</a:t>
            </a:r>
            <a:r>
              <a:rPr lang="en-US" sz="1000">
                <a:solidFill>
                  <a:schemeClr val="tx1"/>
                </a:solidFill>
              </a:rPr>
              <a:t> Comparative IIT</a:t>
            </a:r>
          </a:p>
        </p:txBody>
      </p:sp>
      <p:sp>
        <p:nvSpPr>
          <p:cNvPr id="78" name="Diamond 77">
            <a:extLst>
              <a:ext uri="{FF2B5EF4-FFF2-40B4-BE49-F238E27FC236}">
                <a16:creationId xmlns:a16="http://schemas.microsoft.com/office/drawing/2014/main" id="{FD643F07-28EC-6CEA-990D-8EF251F7EC66}"/>
              </a:ext>
            </a:extLst>
          </p:cNvPr>
          <p:cNvSpPr/>
          <p:nvPr/>
        </p:nvSpPr>
        <p:spPr>
          <a:xfrm>
            <a:off x="9845278" y="5622822"/>
            <a:ext cx="180000" cy="180000"/>
          </a:xfrm>
          <a:prstGeom prst="diamond">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7" name="Arrow: Pentagon 6">
            <a:extLst>
              <a:ext uri="{FF2B5EF4-FFF2-40B4-BE49-F238E27FC236}">
                <a16:creationId xmlns:a16="http://schemas.microsoft.com/office/drawing/2014/main" id="{AD20F86D-EB7F-B4A9-1A81-F8AD25CD63CE}"/>
              </a:ext>
            </a:extLst>
          </p:cNvPr>
          <p:cNvSpPr/>
          <p:nvPr/>
        </p:nvSpPr>
        <p:spPr>
          <a:xfrm>
            <a:off x="2440500" y="3629885"/>
            <a:ext cx="2011680" cy="155448"/>
          </a:xfrm>
          <a:prstGeom prst="homePlate">
            <a:avLst/>
          </a:prstGeom>
          <a:solidFill>
            <a:srgbClr val="FFC891">
              <a:alpha val="30196"/>
            </a:srgb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endParaRPr lang="en-US" sz="1000">
              <a:solidFill>
                <a:schemeClr val="tx1"/>
              </a:solidFill>
            </a:endParaRPr>
          </a:p>
        </p:txBody>
      </p:sp>
      <p:sp>
        <p:nvSpPr>
          <p:cNvPr id="138" name="Diamond 137">
            <a:extLst>
              <a:ext uri="{FF2B5EF4-FFF2-40B4-BE49-F238E27FC236}">
                <a16:creationId xmlns:a16="http://schemas.microsoft.com/office/drawing/2014/main" id="{8761B178-FDAB-C043-09C2-92400437638B}"/>
              </a:ext>
            </a:extLst>
          </p:cNvPr>
          <p:cNvSpPr/>
          <p:nvPr/>
        </p:nvSpPr>
        <p:spPr>
          <a:xfrm>
            <a:off x="9845278" y="3822163"/>
            <a:ext cx="180000" cy="180000"/>
          </a:xfrm>
          <a:prstGeom prst="diamond">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43" name="Arrow: Pentagon 42">
            <a:extLst>
              <a:ext uri="{FF2B5EF4-FFF2-40B4-BE49-F238E27FC236}">
                <a16:creationId xmlns:a16="http://schemas.microsoft.com/office/drawing/2014/main" id="{E2F6059C-97C2-B775-70ED-479B7C65D30E}"/>
              </a:ext>
            </a:extLst>
          </p:cNvPr>
          <p:cNvSpPr/>
          <p:nvPr/>
        </p:nvSpPr>
        <p:spPr>
          <a:xfrm>
            <a:off x="4236566" y="3628795"/>
            <a:ext cx="5577840" cy="164592"/>
          </a:xfrm>
          <a:prstGeom prst="homePlate">
            <a:avLst/>
          </a:prstGeom>
          <a:solidFill>
            <a:srgbClr val="FFC89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b="1">
                <a:solidFill>
                  <a:schemeClr val="tx1"/>
                </a:solidFill>
              </a:rPr>
              <a:t>15, 17) </a:t>
            </a:r>
            <a:r>
              <a:rPr lang="en-US" sz="1000">
                <a:solidFill>
                  <a:schemeClr val="tx1"/>
                </a:solidFill>
              </a:rPr>
              <a:t>Retrospective analysis of MTAP-del NSCLC Natural History; CNS </a:t>
            </a:r>
            <a:r>
              <a:rPr lang="en-US" sz="1000" err="1">
                <a:solidFill>
                  <a:schemeClr val="tx1"/>
                </a:solidFill>
              </a:rPr>
              <a:t>mets</a:t>
            </a:r>
            <a:r>
              <a:rPr lang="en-US" sz="1000">
                <a:solidFill>
                  <a:schemeClr val="tx1"/>
                </a:solidFill>
              </a:rPr>
              <a:t> under SoC </a:t>
            </a:r>
          </a:p>
        </p:txBody>
      </p:sp>
      <p:sp>
        <p:nvSpPr>
          <p:cNvPr id="15" name="Arrow: Pentagon 14">
            <a:extLst>
              <a:ext uri="{FF2B5EF4-FFF2-40B4-BE49-F238E27FC236}">
                <a16:creationId xmlns:a16="http://schemas.microsoft.com/office/drawing/2014/main" id="{FAB912EC-D73B-2826-4BD8-08089A488474}"/>
              </a:ext>
            </a:extLst>
          </p:cNvPr>
          <p:cNvSpPr/>
          <p:nvPr/>
        </p:nvSpPr>
        <p:spPr>
          <a:xfrm>
            <a:off x="2440500" y="3835497"/>
            <a:ext cx="2011680" cy="155448"/>
          </a:xfrm>
          <a:prstGeom prst="homePlate">
            <a:avLst/>
          </a:prstGeom>
          <a:solidFill>
            <a:srgbClr val="FFC891">
              <a:alpha val="30196"/>
            </a:srgb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endParaRPr lang="en-US" sz="1000">
              <a:solidFill>
                <a:schemeClr val="tx1"/>
              </a:solidFill>
            </a:endParaRPr>
          </a:p>
        </p:txBody>
      </p:sp>
      <p:sp>
        <p:nvSpPr>
          <p:cNvPr id="47" name="Arrow: Pentagon 46">
            <a:extLst>
              <a:ext uri="{FF2B5EF4-FFF2-40B4-BE49-F238E27FC236}">
                <a16:creationId xmlns:a16="http://schemas.microsoft.com/office/drawing/2014/main" id="{8E66F8BD-6740-87BA-D885-443922A85AD5}"/>
              </a:ext>
            </a:extLst>
          </p:cNvPr>
          <p:cNvSpPr/>
          <p:nvPr/>
        </p:nvSpPr>
        <p:spPr>
          <a:xfrm>
            <a:off x="4236565" y="3829867"/>
            <a:ext cx="5577840" cy="164592"/>
          </a:xfrm>
          <a:prstGeom prst="homePlat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b="1">
                <a:solidFill>
                  <a:schemeClr val="tx1"/>
                </a:solidFill>
              </a:rPr>
              <a:t>16) </a:t>
            </a:r>
            <a:r>
              <a:rPr lang="en-US" sz="1000">
                <a:solidFill>
                  <a:schemeClr val="tx1"/>
                </a:solidFill>
              </a:rPr>
              <a:t>Retrospective analysis of MTAP testing workflows</a:t>
            </a:r>
          </a:p>
        </p:txBody>
      </p:sp>
      <p:sp>
        <p:nvSpPr>
          <p:cNvPr id="100" name="Diamond 99">
            <a:extLst>
              <a:ext uri="{FF2B5EF4-FFF2-40B4-BE49-F238E27FC236}">
                <a16:creationId xmlns:a16="http://schemas.microsoft.com/office/drawing/2014/main" id="{49EB5D5A-462A-17D5-0F60-FDB0F337DDDE}"/>
              </a:ext>
            </a:extLst>
          </p:cNvPr>
          <p:cNvSpPr/>
          <p:nvPr/>
        </p:nvSpPr>
        <p:spPr>
          <a:xfrm>
            <a:off x="2326275" y="3626287"/>
            <a:ext cx="180000" cy="180000"/>
          </a:xfrm>
          <a:prstGeom prst="diamond">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grpSp>
        <p:nvGrpSpPr>
          <p:cNvPr id="20" name="Group 19">
            <a:extLst>
              <a:ext uri="{FF2B5EF4-FFF2-40B4-BE49-F238E27FC236}">
                <a16:creationId xmlns:a16="http://schemas.microsoft.com/office/drawing/2014/main" id="{932C57EF-B4FC-BF60-3580-2979677C4AD5}"/>
              </a:ext>
            </a:extLst>
          </p:cNvPr>
          <p:cNvGrpSpPr/>
          <p:nvPr/>
        </p:nvGrpSpPr>
        <p:grpSpPr>
          <a:xfrm>
            <a:off x="362743" y="10216"/>
            <a:ext cx="10042505" cy="252000"/>
            <a:chOff x="362743" y="10216"/>
            <a:chExt cx="10042505" cy="252000"/>
          </a:xfrm>
        </p:grpSpPr>
        <p:sp>
          <p:nvSpPr>
            <p:cNvPr id="155" name="Pentagon 47">
              <a:extLst>
                <a:ext uri="{FF2B5EF4-FFF2-40B4-BE49-F238E27FC236}">
                  <a16:creationId xmlns:a16="http://schemas.microsoft.com/office/drawing/2014/main" id="{3FF28AD4-F3CC-D0EB-5AD2-9918E6F33837}"/>
                </a:ext>
              </a:extLst>
            </p:cNvPr>
            <p:cNvSpPr/>
            <p:nvPr/>
          </p:nvSpPr>
          <p:spPr>
            <a:xfrm>
              <a:off x="362743" y="10216"/>
              <a:ext cx="1695265" cy="252000"/>
            </a:xfrm>
            <a:prstGeom prst="homePlate">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156" name="Chevron 48">
              <a:extLst>
                <a:ext uri="{FF2B5EF4-FFF2-40B4-BE49-F238E27FC236}">
                  <a16:creationId xmlns:a16="http://schemas.microsoft.com/office/drawing/2014/main" id="{ED4111C6-0AB9-6E34-F634-E9793D2225E0}"/>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157" name="Chevron 52">
              <a:extLst>
                <a:ext uri="{FF2B5EF4-FFF2-40B4-BE49-F238E27FC236}">
                  <a16:creationId xmlns:a16="http://schemas.microsoft.com/office/drawing/2014/main" id="{31E60A0F-94B9-931C-6836-C454CA505CE3}"/>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158" name="Chevron 54">
              <a:extLst>
                <a:ext uri="{FF2B5EF4-FFF2-40B4-BE49-F238E27FC236}">
                  <a16:creationId xmlns:a16="http://schemas.microsoft.com/office/drawing/2014/main" id="{1EA6DDB1-4DB9-9833-C9AC-D64B150F7B70}"/>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60" name="Chevron 48">
              <a:extLst>
                <a:ext uri="{FF2B5EF4-FFF2-40B4-BE49-F238E27FC236}">
                  <a16:creationId xmlns:a16="http://schemas.microsoft.com/office/drawing/2014/main" id="{D4CAD112-82F3-6169-D0D8-0D03AFD7CBCD}"/>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9" name="Chevron 48">
              <a:extLst>
                <a:ext uri="{FF2B5EF4-FFF2-40B4-BE49-F238E27FC236}">
                  <a16:creationId xmlns:a16="http://schemas.microsoft.com/office/drawing/2014/main" id="{37120E60-82F9-1D04-926F-6581EFBCA5A5}"/>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
        <p:nvSpPr>
          <p:cNvPr id="22" name="Arrow: Pentagon 21">
            <a:extLst>
              <a:ext uri="{FF2B5EF4-FFF2-40B4-BE49-F238E27FC236}">
                <a16:creationId xmlns:a16="http://schemas.microsoft.com/office/drawing/2014/main" id="{C84C6288-2E97-8435-C3F8-BB1A10A70FF3}"/>
              </a:ext>
            </a:extLst>
          </p:cNvPr>
          <p:cNvSpPr/>
          <p:nvPr/>
        </p:nvSpPr>
        <p:spPr>
          <a:xfrm>
            <a:off x="7151558" y="5063203"/>
            <a:ext cx="3931920" cy="164592"/>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000" b="1">
                <a:solidFill>
                  <a:schemeClr val="tx1"/>
                </a:solidFill>
              </a:rPr>
              <a:t>26) </a:t>
            </a:r>
            <a:r>
              <a:rPr lang="en-US" sz="1000">
                <a:solidFill>
                  <a:schemeClr val="tx1"/>
                </a:solidFill>
              </a:rPr>
              <a:t> Concurrent vs. sequential administration in 1L </a:t>
            </a:r>
          </a:p>
        </p:txBody>
      </p:sp>
    </p:spTree>
    <p:extLst>
      <p:ext uri="{BB962C8B-B14F-4D97-AF65-F5344CB8AC3E}">
        <p14:creationId xmlns:p14="http://schemas.microsoft.com/office/powerpoint/2010/main" val="2118932507"/>
      </p:ext>
    </p:extLst>
  </p:cSld>
  <p:clrMapOvr>
    <a:masterClrMapping/>
  </p:clrMapOvr>
  <p:extLst>
    <p:ext uri="{6950BFC3-D8DA-4A85-94F7-54DA5524770B}">
      <p188:commentRel xmlns:p188="http://schemas.microsoft.com/office/powerpoint/2018/8/main" r:id="rId4"/>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378FE-DFF3-294A-DCFA-AE515E6D7CE2}"/>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74EC1CE-0826-F9D5-543D-5E454BE873A3}"/>
              </a:ext>
            </a:extLst>
          </p:cNvPr>
          <p:cNvGraphicFramePr>
            <a:graphicFrameLocks/>
          </p:cNvGraphicFramePr>
          <p:nvPr>
            <p:custDataLst>
              <p:tags r:id="rId1"/>
            </p:custDataLst>
            <p:extLst>
              <p:ext uri="{D42A27DB-BD31-4B8C-83A1-F6EECF244321}">
                <p14:modId xmlns:p14="http://schemas.microsoft.com/office/powerpoint/2010/main" val="34752883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think-cell data - do not delete" hidden="1">
                        <a:extLst>
                          <a:ext uri="{FF2B5EF4-FFF2-40B4-BE49-F238E27FC236}">
                            <a16:creationId xmlns:a16="http://schemas.microsoft.com/office/drawing/2014/main" id="{674EC1CE-0826-F9D5-543D-5E454BE873A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46B2ED0-DE07-2E99-4361-F978B90245AD}"/>
              </a:ext>
            </a:extLst>
          </p:cNvPr>
          <p:cNvSpPr>
            <a:spLocks noGrp="1"/>
          </p:cNvSpPr>
          <p:nvPr>
            <p:ph type="ctrTitle"/>
          </p:nvPr>
        </p:nvSpPr>
        <p:spPr>
          <a:xfrm>
            <a:off x="336165" y="2630899"/>
            <a:ext cx="7031736" cy="1477328"/>
          </a:xfrm>
        </p:spPr>
        <p:txBody>
          <a:bodyPr vert="horz" rIns="0">
            <a:spAutoFit/>
          </a:bodyPr>
          <a:lstStyle/>
          <a:p>
            <a:r>
              <a:rPr lang="en-US"/>
              <a:t>Situational and Strategic Context</a:t>
            </a:r>
          </a:p>
        </p:txBody>
      </p:sp>
      <p:grpSp>
        <p:nvGrpSpPr>
          <p:cNvPr id="11" name="Group 10">
            <a:extLst>
              <a:ext uri="{FF2B5EF4-FFF2-40B4-BE49-F238E27FC236}">
                <a16:creationId xmlns:a16="http://schemas.microsoft.com/office/drawing/2014/main" id="{60389259-8914-504F-0F71-72A514D48F66}"/>
              </a:ext>
            </a:extLst>
          </p:cNvPr>
          <p:cNvGrpSpPr/>
          <p:nvPr/>
        </p:nvGrpSpPr>
        <p:grpSpPr>
          <a:xfrm>
            <a:off x="362743" y="10216"/>
            <a:ext cx="10042505" cy="252000"/>
            <a:chOff x="362743" y="10216"/>
            <a:chExt cx="10042505" cy="252000"/>
          </a:xfrm>
        </p:grpSpPr>
        <p:sp>
          <p:nvSpPr>
            <p:cNvPr id="12" name="Pentagon 47">
              <a:extLst>
                <a:ext uri="{FF2B5EF4-FFF2-40B4-BE49-F238E27FC236}">
                  <a16:creationId xmlns:a16="http://schemas.microsoft.com/office/drawing/2014/main" id="{72B35839-C597-BD29-7EF1-625D876353EC}"/>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13" name="Chevron 48">
              <a:extLst>
                <a:ext uri="{FF2B5EF4-FFF2-40B4-BE49-F238E27FC236}">
                  <a16:creationId xmlns:a16="http://schemas.microsoft.com/office/drawing/2014/main" id="{97373F8E-0536-4136-D265-05589121FD03}"/>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14" name="Chevron 52">
              <a:extLst>
                <a:ext uri="{FF2B5EF4-FFF2-40B4-BE49-F238E27FC236}">
                  <a16:creationId xmlns:a16="http://schemas.microsoft.com/office/drawing/2014/main" id="{A4F49148-23C1-78E8-3A64-67CE60869B83}"/>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15" name="Chevron 54">
              <a:extLst>
                <a:ext uri="{FF2B5EF4-FFF2-40B4-BE49-F238E27FC236}">
                  <a16:creationId xmlns:a16="http://schemas.microsoft.com/office/drawing/2014/main" id="{CEA58A84-2D57-85DC-0443-E1830848D24F}"/>
                </a:ext>
              </a:extLst>
            </p:cNvPr>
            <p:cNvSpPr/>
            <p:nvPr/>
          </p:nvSpPr>
          <p:spPr>
            <a:xfrm>
              <a:off x="2032191"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6" name="Chevron 48">
              <a:extLst>
                <a:ext uri="{FF2B5EF4-FFF2-40B4-BE49-F238E27FC236}">
                  <a16:creationId xmlns:a16="http://schemas.microsoft.com/office/drawing/2014/main" id="{A7F49961-E62A-21A4-10CD-73A6542C5E2C}"/>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8" name="Chevron 48">
              <a:extLst>
                <a:ext uri="{FF2B5EF4-FFF2-40B4-BE49-F238E27FC236}">
                  <a16:creationId xmlns:a16="http://schemas.microsoft.com/office/drawing/2014/main" id="{B01DE208-3ABC-FD86-BCA7-6CDB3B055CD6}"/>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2115250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A136A-9F83-CAB6-FE1C-B8C220DEEAC2}"/>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3082CDC-565D-FD35-5E22-FC2D4EF97502}"/>
              </a:ext>
            </a:extLst>
          </p:cNvPr>
          <p:cNvGraphicFramePr>
            <a:graphicFrameLocks/>
          </p:cNvGraphicFramePr>
          <p:nvPr>
            <p:custDataLst>
              <p:tags r:id="rId1"/>
            </p:custDataLst>
            <p:extLst>
              <p:ext uri="{D42A27DB-BD31-4B8C-83A1-F6EECF244321}">
                <p14:modId xmlns:p14="http://schemas.microsoft.com/office/powerpoint/2010/main" val="1337500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60" imgH="360" progId="TCLayout.ActiveDocument.1">
                  <p:embed/>
                </p:oleObj>
              </mc:Choice>
              <mc:Fallback>
                <p:oleObj name="think-cell Slide" r:id="rId5" imgW="360" imgH="360" progId="TCLayout.ActiveDocument.1">
                  <p:embed/>
                  <p:pic>
                    <p:nvPicPr>
                      <p:cNvPr id="4" name="think-cell data - do not delete" hidden="1">
                        <a:extLst>
                          <a:ext uri="{FF2B5EF4-FFF2-40B4-BE49-F238E27FC236}">
                            <a16:creationId xmlns:a16="http://schemas.microsoft.com/office/drawing/2014/main" id="{73082CDC-565D-FD35-5E22-FC2D4EF9750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7" name="Rectangle: Rounded Corners 56">
            <a:extLst>
              <a:ext uri="{FF2B5EF4-FFF2-40B4-BE49-F238E27FC236}">
                <a16:creationId xmlns:a16="http://schemas.microsoft.com/office/drawing/2014/main" id="{7DA30A89-C8F6-A2F9-1C5A-C210A9DC323B}"/>
              </a:ext>
            </a:extLst>
          </p:cNvPr>
          <p:cNvSpPr/>
          <p:nvPr/>
        </p:nvSpPr>
        <p:spPr>
          <a:xfrm>
            <a:off x="5375713" y="2190748"/>
            <a:ext cx="6406712" cy="4067177"/>
          </a:xfrm>
          <a:prstGeom prst="roundRect">
            <a:avLst>
              <a:gd name="adj" fmla="val 2442"/>
            </a:avLst>
          </a:prstGeom>
          <a:solidFill>
            <a:schemeClr val="bg1"/>
          </a:solidFill>
          <a:ln>
            <a:solidFill>
              <a:schemeClr val="accent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56" name="Rectangle: Rounded Corners 55">
            <a:extLst>
              <a:ext uri="{FF2B5EF4-FFF2-40B4-BE49-F238E27FC236}">
                <a16:creationId xmlns:a16="http://schemas.microsoft.com/office/drawing/2014/main" id="{C6F2B058-D128-256C-B1C3-3D84EDC4C3D1}"/>
              </a:ext>
            </a:extLst>
          </p:cNvPr>
          <p:cNvSpPr/>
          <p:nvPr/>
        </p:nvSpPr>
        <p:spPr>
          <a:xfrm>
            <a:off x="352425" y="2190748"/>
            <a:ext cx="4886326" cy="4067177"/>
          </a:xfrm>
          <a:prstGeom prst="roundRect">
            <a:avLst>
              <a:gd name="adj" fmla="val 2442"/>
            </a:avLst>
          </a:prstGeom>
          <a:solidFill>
            <a:schemeClr val="bg1"/>
          </a:solidFill>
          <a:ln>
            <a:solidFill>
              <a:schemeClr val="accent3">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55" name="Rectangle 54">
            <a:extLst>
              <a:ext uri="{FF2B5EF4-FFF2-40B4-BE49-F238E27FC236}">
                <a16:creationId xmlns:a16="http://schemas.microsoft.com/office/drawing/2014/main" id="{931398D9-EB93-CADD-E259-32F61754A92E}"/>
              </a:ext>
            </a:extLst>
          </p:cNvPr>
          <p:cNvSpPr/>
          <p:nvPr/>
        </p:nvSpPr>
        <p:spPr>
          <a:xfrm>
            <a:off x="776174" y="5528309"/>
            <a:ext cx="4326858" cy="7134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82880" tIns="91440" rIns="45720" bIns="0" rtlCol="0" anchor="t">
            <a:noAutofit/>
          </a:bodyPr>
          <a:lstStyle/>
          <a:p>
            <a:pPr>
              <a:spcBef>
                <a:spcPts val="300"/>
              </a:spcBef>
            </a:pPr>
            <a:r>
              <a:rPr lang="en-US" sz="1100" b="1">
                <a:solidFill>
                  <a:schemeClr val="tx1"/>
                </a:solidFill>
              </a:rPr>
              <a:t>Preserve optionality to pursue in-house and external combinations</a:t>
            </a:r>
          </a:p>
          <a:p>
            <a:pPr marL="171450" indent="-171450">
              <a:spcBef>
                <a:spcPts val="300"/>
              </a:spcBef>
              <a:buFont typeface="Arial" panose="020B0604020202020204" pitchFamily="34" charset="0"/>
              <a:buChar char="•"/>
            </a:pPr>
            <a:r>
              <a:rPr lang="en-US" sz="1100">
                <a:solidFill>
                  <a:schemeClr val="tx1"/>
                </a:solidFill>
              </a:rPr>
              <a:t>Builds on foundational asset</a:t>
            </a:r>
          </a:p>
          <a:p>
            <a:pPr>
              <a:spcBef>
                <a:spcPts val="300"/>
              </a:spcBef>
            </a:pPr>
            <a:endParaRPr lang="en-US" sz="1200" b="1">
              <a:solidFill>
                <a:schemeClr val="tx1"/>
              </a:solidFill>
            </a:endParaRPr>
          </a:p>
        </p:txBody>
      </p:sp>
      <p:sp>
        <p:nvSpPr>
          <p:cNvPr id="11" name="Title 10">
            <a:extLst>
              <a:ext uri="{FF2B5EF4-FFF2-40B4-BE49-F238E27FC236}">
                <a16:creationId xmlns:a16="http://schemas.microsoft.com/office/drawing/2014/main" id="{696B54B5-9AC4-7555-C5BC-AB01FB4C7631}"/>
              </a:ext>
            </a:extLst>
          </p:cNvPr>
          <p:cNvSpPr>
            <a:spLocks noGrp="1"/>
          </p:cNvSpPr>
          <p:nvPr>
            <p:ph type="title"/>
          </p:nvPr>
        </p:nvSpPr>
        <p:spPr>
          <a:xfrm>
            <a:off x="358337" y="334675"/>
            <a:ext cx="11470125" cy="738664"/>
          </a:xfrm>
        </p:spPr>
        <p:txBody>
          <a:bodyPr vert="horz" wrap="square" rIns="0">
            <a:spAutoFit/>
          </a:bodyPr>
          <a:lstStyle/>
          <a:p>
            <a:r>
              <a:rPr lang="en-US" altLang="zh-CN" sz="2400"/>
              <a:t>BGB-58067’s development strategy positions it for long-term leadership across core MTAP-del tumors, starting with NSCLC</a:t>
            </a:r>
            <a:endParaRPr lang="en-US" sz="1200">
              <a:solidFill>
                <a:srgbClr val="0070C0"/>
              </a:solidFill>
            </a:endParaRPr>
          </a:p>
        </p:txBody>
      </p:sp>
      <p:sp>
        <p:nvSpPr>
          <p:cNvPr id="3" name="Rectangle: Rounded Corners 2">
            <a:extLst>
              <a:ext uri="{FF2B5EF4-FFF2-40B4-BE49-F238E27FC236}">
                <a16:creationId xmlns:a16="http://schemas.microsoft.com/office/drawing/2014/main" id="{E13FCAA1-2485-EA28-CB12-3BCDF97EBA5B}"/>
              </a:ext>
            </a:extLst>
          </p:cNvPr>
          <p:cNvSpPr/>
          <p:nvPr/>
        </p:nvSpPr>
        <p:spPr>
          <a:xfrm>
            <a:off x="358337" y="1352550"/>
            <a:ext cx="11470125" cy="742950"/>
          </a:xfrm>
          <a:prstGeom prst="roundRect">
            <a:avLst/>
          </a:prstGeom>
          <a:solidFill>
            <a:schemeClr val="tx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188720" rIns="45720" rtlCol="0" anchor="ctr">
            <a:normAutofit/>
          </a:bodyPr>
          <a:lstStyle/>
          <a:p>
            <a:r>
              <a:rPr lang="en-US" b="1">
                <a:solidFill>
                  <a:schemeClr val="bg1"/>
                </a:solidFill>
              </a:rPr>
              <a:t>Product Vision</a:t>
            </a:r>
          </a:p>
        </p:txBody>
      </p:sp>
      <p:cxnSp>
        <p:nvCxnSpPr>
          <p:cNvPr id="9" name="Straight Connector 8">
            <a:extLst>
              <a:ext uri="{FF2B5EF4-FFF2-40B4-BE49-F238E27FC236}">
                <a16:creationId xmlns:a16="http://schemas.microsoft.com/office/drawing/2014/main" id="{86534BDF-CFE3-79C4-3834-411FBD693138}"/>
              </a:ext>
            </a:extLst>
          </p:cNvPr>
          <p:cNvCxnSpPr/>
          <p:nvPr/>
        </p:nvCxnSpPr>
        <p:spPr>
          <a:xfrm>
            <a:off x="3562350" y="1523998"/>
            <a:ext cx="0" cy="44767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92981449-B77A-C2DA-AA3D-33A35027BC3B}"/>
              </a:ext>
            </a:extLst>
          </p:cNvPr>
          <p:cNvSpPr/>
          <p:nvPr/>
        </p:nvSpPr>
        <p:spPr>
          <a:xfrm>
            <a:off x="3848100" y="1352550"/>
            <a:ext cx="7086600" cy="7429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r>
              <a:rPr lang="en-US" sz="1400">
                <a:solidFill>
                  <a:schemeClr val="bg1"/>
                </a:solidFill>
              </a:rPr>
              <a:t>Potential </a:t>
            </a:r>
            <a:r>
              <a:rPr lang="en-US" sz="1400" b="1">
                <a:solidFill>
                  <a:schemeClr val="bg1"/>
                </a:solidFill>
              </a:rPr>
              <a:t>best-in-class</a:t>
            </a:r>
            <a:r>
              <a:rPr lang="en-US" sz="1400">
                <a:solidFill>
                  <a:schemeClr val="bg1"/>
                </a:solidFill>
              </a:rPr>
              <a:t> MTA-Cooperative PRMT5 inhibitor set to </a:t>
            </a:r>
            <a:r>
              <a:rPr lang="en-US" sz="1400" b="1">
                <a:solidFill>
                  <a:schemeClr val="bg1"/>
                </a:solidFill>
              </a:rPr>
              <a:t>redefine standard-of-care</a:t>
            </a:r>
            <a:r>
              <a:rPr lang="en-US" sz="1400">
                <a:solidFill>
                  <a:schemeClr val="bg1"/>
                </a:solidFill>
              </a:rPr>
              <a:t> in solid tumors with MTAP loss</a:t>
            </a:r>
          </a:p>
        </p:txBody>
      </p:sp>
      <p:grpSp>
        <p:nvGrpSpPr>
          <p:cNvPr id="21" name="Group 20">
            <a:extLst>
              <a:ext uri="{FF2B5EF4-FFF2-40B4-BE49-F238E27FC236}">
                <a16:creationId xmlns:a16="http://schemas.microsoft.com/office/drawing/2014/main" id="{C15250FF-C4C1-B68D-DD7D-5D6DB12CC60E}"/>
              </a:ext>
            </a:extLst>
          </p:cNvPr>
          <p:cNvGrpSpPr/>
          <p:nvPr/>
        </p:nvGrpSpPr>
        <p:grpSpPr>
          <a:xfrm>
            <a:off x="698661" y="1438275"/>
            <a:ext cx="567890" cy="571499"/>
            <a:chOff x="1355886" y="1590676"/>
            <a:chExt cx="567890" cy="571499"/>
          </a:xfrm>
        </p:grpSpPr>
        <p:sp>
          <p:nvSpPr>
            <p:cNvPr id="6" name="Oval 5">
              <a:extLst>
                <a:ext uri="{FF2B5EF4-FFF2-40B4-BE49-F238E27FC236}">
                  <a16:creationId xmlns:a16="http://schemas.microsoft.com/office/drawing/2014/main" id="{52202CFD-4981-2F8B-00A4-79DC6639C00C}"/>
                </a:ext>
              </a:extLst>
            </p:cNvPr>
            <p:cNvSpPr>
              <a:spLocks noChangeAspect="1"/>
            </p:cNvSpPr>
            <p:nvPr/>
          </p:nvSpPr>
          <p:spPr>
            <a:xfrm>
              <a:off x="1355886" y="1590676"/>
              <a:ext cx="567890" cy="57149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pic>
          <p:nvPicPr>
            <p:cNvPr id="20" name="Graphic 19">
              <a:extLst>
                <a:ext uri="{FF2B5EF4-FFF2-40B4-BE49-F238E27FC236}">
                  <a16:creationId xmlns:a16="http://schemas.microsoft.com/office/drawing/2014/main" id="{6D6B0C47-EEE0-6812-7E5C-B0100BE091B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87419" y="1619250"/>
              <a:ext cx="504824" cy="504824"/>
            </a:xfrm>
            <a:prstGeom prst="rect">
              <a:avLst/>
            </a:prstGeom>
          </p:spPr>
        </p:pic>
      </p:grpSp>
      <p:sp>
        <p:nvSpPr>
          <p:cNvPr id="27" name="Rectangle: Top Corners Rounded 26">
            <a:extLst>
              <a:ext uri="{FF2B5EF4-FFF2-40B4-BE49-F238E27FC236}">
                <a16:creationId xmlns:a16="http://schemas.microsoft.com/office/drawing/2014/main" id="{1D8BF55B-9A01-2E63-0123-03A36388A6BC}"/>
              </a:ext>
            </a:extLst>
          </p:cNvPr>
          <p:cNvSpPr/>
          <p:nvPr/>
        </p:nvSpPr>
        <p:spPr>
          <a:xfrm>
            <a:off x="358337" y="2190748"/>
            <a:ext cx="4880414" cy="478275"/>
          </a:xfrm>
          <a:prstGeom prst="round2Same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r>
              <a:rPr lang="en-US" b="1">
                <a:solidFill>
                  <a:schemeClr val="bg1"/>
                </a:solidFill>
              </a:rPr>
              <a:t>Where to Play</a:t>
            </a:r>
          </a:p>
        </p:txBody>
      </p:sp>
      <p:sp>
        <p:nvSpPr>
          <p:cNvPr id="28" name="Rectangle: Top Corners Rounded 27">
            <a:extLst>
              <a:ext uri="{FF2B5EF4-FFF2-40B4-BE49-F238E27FC236}">
                <a16:creationId xmlns:a16="http://schemas.microsoft.com/office/drawing/2014/main" id="{21F642F9-0C06-4D48-EC26-56AACE567042}"/>
              </a:ext>
            </a:extLst>
          </p:cNvPr>
          <p:cNvSpPr/>
          <p:nvPr/>
        </p:nvSpPr>
        <p:spPr>
          <a:xfrm>
            <a:off x="5371611" y="2190748"/>
            <a:ext cx="6433946" cy="478275"/>
          </a:xfrm>
          <a:prstGeom prst="round2Same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r>
              <a:rPr lang="en-US" b="1">
                <a:solidFill>
                  <a:schemeClr val="bg1"/>
                </a:solidFill>
              </a:rPr>
              <a:t>Strategic Approach</a:t>
            </a:r>
          </a:p>
        </p:txBody>
      </p:sp>
      <p:sp>
        <p:nvSpPr>
          <p:cNvPr id="31" name="Rectangle 30">
            <a:extLst>
              <a:ext uri="{FF2B5EF4-FFF2-40B4-BE49-F238E27FC236}">
                <a16:creationId xmlns:a16="http://schemas.microsoft.com/office/drawing/2014/main" id="{684D584D-111A-CCCF-37F5-E05DBBAB5771}"/>
              </a:ext>
            </a:extLst>
          </p:cNvPr>
          <p:cNvSpPr/>
          <p:nvPr/>
        </p:nvSpPr>
        <p:spPr>
          <a:xfrm>
            <a:off x="776174" y="2673858"/>
            <a:ext cx="4326763" cy="10463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82880" tIns="91440" rIns="45720" bIns="0" rtlCol="0" anchor="t">
            <a:noAutofit/>
          </a:bodyPr>
          <a:lstStyle/>
          <a:p>
            <a:pPr>
              <a:spcBef>
                <a:spcPts val="300"/>
              </a:spcBef>
            </a:pPr>
            <a:r>
              <a:rPr lang="en-US" sz="1100" b="1">
                <a:solidFill>
                  <a:schemeClr val="tx1"/>
                </a:solidFill>
              </a:rPr>
              <a:t>Anchor development in NSCLC as the lead indication</a:t>
            </a:r>
          </a:p>
          <a:p>
            <a:pPr marL="171450" indent="-171450">
              <a:spcBef>
                <a:spcPts val="300"/>
              </a:spcBef>
              <a:buFont typeface="Arial" panose="020B0604020202020204" pitchFamily="34" charset="0"/>
              <a:buChar char="•"/>
            </a:pPr>
            <a:r>
              <a:rPr lang="en-US" sz="1100">
                <a:solidFill>
                  <a:schemeClr val="tx1"/>
                </a:solidFill>
              </a:rPr>
              <a:t>Broadly across 1L and 2L+ MTAP-del NSCLC, where SoC remains limited </a:t>
            </a:r>
          </a:p>
          <a:p>
            <a:pPr marL="171450" indent="-171450">
              <a:spcBef>
                <a:spcPts val="300"/>
              </a:spcBef>
              <a:buFont typeface="Arial" panose="020B0604020202020204" pitchFamily="34" charset="0"/>
              <a:buChar char="•"/>
            </a:pPr>
            <a:r>
              <a:rPr lang="en-US" sz="1100">
                <a:solidFill>
                  <a:schemeClr val="tx1"/>
                </a:solidFill>
              </a:rPr>
              <a:t>Address clinically relevant subpopulations</a:t>
            </a:r>
          </a:p>
        </p:txBody>
      </p:sp>
      <p:sp>
        <p:nvSpPr>
          <p:cNvPr id="36" name="Rectangle 35">
            <a:extLst>
              <a:ext uri="{FF2B5EF4-FFF2-40B4-BE49-F238E27FC236}">
                <a16:creationId xmlns:a16="http://schemas.microsoft.com/office/drawing/2014/main" id="{318750AE-CE8F-C1B8-5925-37C3C4A2D138}"/>
              </a:ext>
            </a:extLst>
          </p:cNvPr>
          <p:cNvSpPr/>
          <p:nvPr/>
        </p:nvSpPr>
        <p:spPr>
          <a:xfrm>
            <a:off x="735566" y="3774471"/>
            <a:ext cx="4350785" cy="1650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82880" tIns="91440" rIns="45720" bIns="0" rtlCol="0" anchor="t">
            <a:noAutofit/>
          </a:bodyPr>
          <a:lstStyle/>
          <a:p>
            <a:pPr>
              <a:spcBef>
                <a:spcPts val="300"/>
              </a:spcBef>
            </a:pPr>
            <a:r>
              <a:rPr lang="en-US" sz="1100" b="1">
                <a:solidFill>
                  <a:schemeClr val="tx1"/>
                </a:solidFill>
              </a:rPr>
              <a:t>Develop PDAC as a second core indication</a:t>
            </a:r>
          </a:p>
          <a:p>
            <a:pPr marL="171450" indent="-171450">
              <a:spcBef>
                <a:spcPts val="300"/>
              </a:spcBef>
              <a:buFont typeface="Arial" panose="020B0604020202020204" pitchFamily="34" charset="0"/>
              <a:buChar char="•"/>
            </a:pPr>
            <a:r>
              <a:rPr lang="en-US" sz="1100">
                <a:solidFill>
                  <a:schemeClr val="tx1"/>
                </a:solidFill>
              </a:rPr>
              <a:t>Supported by high prevalence of MTAP-deletion and significant unmet medical need</a:t>
            </a:r>
          </a:p>
          <a:p>
            <a:pPr marL="171450" indent="-171450">
              <a:spcBef>
                <a:spcPts val="300"/>
              </a:spcBef>
              <a:buFont typeface="Arial" panose="020B0604020202020204" pitchFamily="34" charset="0"/>
              <a:buChar char="•"/>
            </a:pPr>
            <a:r>
              <a:rPr lang="en-US" sz="1100">
                <a:solidFill>
                  <a:schemeClr val="tx1"/>
                </a:solidFill>
              </a:rPr>
              <a:t>Explore additional tumor types with high MTAP-deletion rates and unmet medical need (e.g., mesothelioma)</a:t>
            </a:r>
          </a:p>
          <a:p>
            <a:pPr>
              <a:spcBef>
                <a:spcPts val="300"/>
              </a:spcBef>
            </a:pPr>
            <a:endParaRPr lang="en-US" sz="1200" b="1">
              <a:solidFill>
                <a:schemeClr val="tx1"/>
              </a:solidFill>
            </a:endParaRPr>
          </a:p>
        </p:txBody>
      </p:sp>
      <p:sp>
        <p:nvSpPr>
          <p:cNvPr id="45" name="Rectangle 44">
            <a:extLst>
              <a:ext uri="{FF2B5EF4-FFF2-40B4-BE49-F238E27FC236}">
                <a16:creationId xmlns:a16="http://schemas.microsoft.com/office/drawing/2014/main" id="{87349CF8-F411-39A6-E808-F53495EC7268}"/>
              </a:ext>
            </a:extLst>
          </p:cNvPr>
          <p:cNvSpPr/>
          <p:nvPr/>
        </p:nvSpPr>
        <p:spPr>
          <a:xfrm>
            <a:off x="776174" y="4799635"/>
            <a:ext cx="4326858" cy="7134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82880" tIns="91440" rIns="0" bIns="0" rtlCol="0" anchor="t">
            <a:noAutofit/>
          </a:bodyPr>
          <a:lstStyle/>
          <a:p>
            <a:pPr>
              <a:spcBef>
                <a:spcPts val="300"/>
              </a:spcBef>
            </a:pPr>
            <a:r>
              <a:rPr lang="en-US" sz="1100" b="1">
                <a:solidFill>
                  <a:schemeClr val="tx1"/>
                </a:solidFill>
              </a:rPr>
              <a:t>Establish GBM as a strategic pillar</a:t>
            </a:r>
          </a:p>
          <a:p>
            <a:pPr marL="171450" indent="-171450">
              <a:spcBef>
                <a:spcPts val="300"/>
              </a:spcBef>
              <a:buFont typeface="Arial" panose="020B0604020202020204" pitchFamily="34" charset="0"/>
              <a:buChar char="•"/>
            </a:pPr>
            <a:r>
              <a:rPr lang="en-US" sz="1100">
                <a:solidFill>
                  <a:schemeClr val="tx1"/>
                </a:solidFill>
              </a:rPr>
              <a:t>Driven by high MTAP-deletion rates, limited therapeutic options, and importance of CNS activity</a:t>
            </a:r>
          </a:p>
          <a:p>
            <a:pPr>
              <a:spcBef>
                <a:spcPts val="300"/>
              </a:spcBef>
            </a:pPr>
            <a:endParaRPr lang="en-US" sz="1200" b="1">
              <a:solidFill>
                <a:schemeClr val="tx1"/>
              </a:solidFill>
            </a:endParaRPr>
          </a:p>
        </p:txBody>
      </p:sp>
      <p:cxnSp>
        <p:nvCxnSpPr>
          <p:cNvPr id="49" name="Straight Connector 48">
            <a:extLst>
              <a:ext uri="{FF2B5EF4-FFF2-40B4-BE49-F238E27FC236}">
                <a16:creationId xmlns:a16="http://schemas.microsoft.com/office/drawing/2014/main" id="{0CA7D470-AFEF-054B-6A38-89E697D053D6}"/>
              </a:ext>
            </a:extLst>
          </p:cNvPr>
          <p:cNvCxnSpPr>
            <a:cxnSpLocks/>
          </p:cNvCxnSpPr>
          <p:nvPr/>
        </p:nvCxnSpPr>
        <p:spPr>
          <a:xfrm flipV="1">
            <a:off x="495300" y="3760145"/>
            <a:ext cx="4600576" cy="11561"/>
          </a:xfrm>
          <a:prstGeom prst="line">
            <a:avLst/>
          </a:prstGeom>
          <a:ln>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8B1FBBD-B6AE-BFF0-D52B-8C893456E3EE}"/>
              </a:ext>
            </a:extLst>
          </p:cNvPr>
          <p:cNvCxnSpPr>
            <a:cxnSpLocks/>
          </p:cNvCxnSpPr>
          <p:nvPr/>
        </p:nvCxnSpPr>
        <p:spPr>
          <a:xfrm>
            <a:off x="504826" y="4792036"/>
            <a:ext cx="4581525" cy="0"/>
          </a:xfrm>
          <a:prstGeom prst="line">
            <a:avLst/>
          </a:prstGeom>
          <a:ln>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8D70CC6-7BC4-30D8-BEA7-412DB86C9630}"/>
              </a:ext>
            </a:extLst>
          </p:cNvPr>
          <p:cNvCxnSpPr>
            <a:cxnSpLocks/>
          </p:cNvCxnSpPr>
          <p:nvPr/>
        </p:nvCxnSpPr>
        <p:spPr>
          <a:xfrm>
            <a:off x="504826" y="5505657"/>
            <a:ext cx="4581525" cy="0"/>
          </a:xfrm>
          <a:prstGeom prst="line">
            <a:avLst/>
          </a:prstGeom>
          <a:ln>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73A47878-BBF2-8751-847B-BECDFFA68ADA}"/>
              </a:ext>
            </a:extLst>
          </p:cNvPr>
          <p:cNvSpPr/>
          <p:nvPr/>
        </p:nvSpPr>
        <p:spPr>
          <a:xfrm>
            <a:off x="5492447" y="2996649"/>
            <a:ext cx="2887225" cy="7134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82880" tIns="0" rIns="91440" bIns="0" rtlCol="0" anchor="ctr">
            <a:noAutofit/>
          </a:bodyPr>
          <a:lstStyle/>
          <a:p>
            <a:pPr>
              <a:spcBef>
                <a:spcPts val="300"/>
              </a:spcBef>
              <a:spcAft>
                <a:spcPts val="300"/>
              </a:spcAft>
            </a:pPr>
            <a:r>
              <a:rPr lang="en-US" sz="1100">
                <a:solidFill>
                  <a:schemeClr val="tx1"/>
                </a:solidFill>
              </a:rPr>
              <a:t>Differentiate through potential </a:t>
            </a:r>
            <a:r>
              <a:rPr lang="en-US" sz="1100" b="1">
                <a:solidFill>
                  <a:schemeClr val="tx1"/>
                </a:solidFill>
              </a:rPr>
              <a:t>best-in-class brain penetration</a:t>
            </a:r>
            <a:r>
              <a:rPr lang="en-US" sz="1100">
                <a:solidFill>
                  <a:schemeClr val="tx1"/>
                </a:solidFill>
              </a:rPr>
              <a:t> to treat CNS disease</a:t>
            </a:r>
          </a:p>
        </p:txBody>
      </p:sp>
      <p:sp>
        <p:nvSpPr>
          <p:cNvPr id="64" name="Rectangle 63">
            <a:extLst>
              <a:ext uri="{FF2B5EF4-FFF2-40B4-BE49-F238E27FC236}">
                <a16:creationId xmlns:a16="http://schemas.microsoft.com/office/drawing/2014/main" id="{C4FC92A7-5E52-3ED5-30AC-02507CE23F19}"/>
              </a:ext>
            </a:extLst>
          </p:cNvPr>
          <p:cNvSpPr/>
          <p:nvPr/>
        </p:nvSpPr>
        <p:spPr>
          <a:xfrm>
            <a:off x="5492447" y="3841520"/>
            <a:ext cx="2887225" cy="7134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82880" tIns="0" rIns="91440" bIns="0" rtlCol="0" anchor="ctr">
            <a:noAutofit/>
          </a:bodyPr>
          <a:lstStyle/>
          <a:p>
            <a:pPr>
              <a:spcBef>
                <a:spcPts val="300"/>
              </a:spcBef>
              <a:spcAft>
                <a:spcPts val="300"/>
              </a:spcAft>
            </a:pPr>
            <a:r>
              <a:rPr lang="en-US" sz="1100">
                <a:solidFill>
                  <a:schemeClr val="tx1"/>
                </a:solidFill>
              </a:rPr>
              <a:t>Demonstrate</a:t>
            </a:r>
            <a:r>
              <a:rPr lang="en-US" sz="1100" b="1">
                <a:solidFill>
                  <a:schemeClr val="tx1"/>
                </a:solidFill>
              </a:rPr>
              <a:t> </a:t>
            </a:r>
            <a:r>
              <a:rPr lang="en-US" sz="1100">
                <a:solidFill>
                  <a:schemeClr val="tx1"/>
                </a:solidFill>
              </a:rPr>
              <a:t>differentiated clinical benefit through  </a:t>
            </a:r>
            <a:r>
              <a:rPr lang="en-US" sz="1100" b="1">
                <a:solidFill>
                  <a:schemeClr val="tx1"/>
                </a:solidFill>
              </a:rPr>
              <a:t>robust Phase 3 programs </a:t>
            </a:r>
            <a:r>
              <a:rPr lang="en-US" sz="1100">
                <a:solidFill>
                  <a:schemeClr val="tx1"/>
                </a:solidFill>
              </a:rPr>
              <a:t>across 1L and 2L+ NSCLC</a:t>
            </a:r>
          </a:p>
        </p:txBody>
      </p:sp>
      <p:sp>
        <p:nvSpPr>
          <p:cNvPr id="65" name="Rectangle 64">
            <a:extLst>
              <a:ext uri="{FF2B5EF4-FFF2-40B4-BE49-F238E27FC236}">
                <a16:creationId xmlns:a16="http://schemas.microsoft.com/office/drawing/2014/main" id="{E47C6711-BA54-F270-1F0D-51706F61478B}"/>
              </a:ext>
            </a:extLst>
          </p:cNvPr>
          <p:cNvSpPr/>
          <p:nvPr/>
        </p:nvSpPr>
        <p:spPr>
          <a:xfrm>
            <a:off x="5492447" y="4686391"/>
            <a:ext cx="2887225" cy="7134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82880" tIns="0" rIns="91440" bIns="0" rtlCol="0" anchor="ctr">
            <a:noAutofit/>
          </a:bodyPr>
          <a:lstStyle/>
          <a:p>
            <a:pPr>
              <a:spcBef>
                <a:spcPts val="300"/>
              </a:spcBef>
              <a:spcAft>
                <a:spcPts val="300"/>
              </a:spcAft>
            </a:pPr>
            <a:r>
              <a:rPr lang="en-US" sz="1100" b="1">
                <a:solidFill>
                  <a:schemeClr val="tx1"/>
                </a:solidFill>
              </a:rPr>
              <a:t>Fast to 1L strategy</a:t>
            </a:r>
          </a:p>
        </p:txBody>
      </p:sp>
      <p:sp>
        <p:nvSpPr>
          <p:cNvPr id="66" name="Rectangle 65">
            <a:extLst>
              <a:ext uri="{FF2B5EF4-FFF2-40B4-BE49-F238E27FC236}">
                <a16:creationId xmlns:a16="http://schemas.microsoft.com/office/drawing/2014/main" id="{15870075-DB8C-896E-AF6B-2A461395F9C3}"/>
              </a:ext>
            </a:extLst>
          </p:cNvPr>
          <p:cNvSpPr/>
          <p:nvPr/>
        </p:nvSpPr>
        <p:spPr>
          <a:xfrm>
            <a:off x="5492447" y="5531262"/>
            <a:ext cx="2887225" cy="7134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82880" tIns="0" rIns="91440" bIns="0" rtlCol="0" anchor="ctr">
            <a:noAutofit/>
          </a:bodyPr>
          <a:lstStyle/>
          <a:p>
            <a:pPr>
              <a:spcBef>
                <a:spcPts val="300"/>
              </a:spcBef>
              <a:spcAft>
                <a:spcPts val="300"/>
              </a:spcAft>
            </a:pPr>
            <a:r>
              <a:rPr lang="en-US" sz="1100">
                <a:solidFill>
                  <a:schemeClr val="tx1"/>
                </a:solidFill>
              </a:rPr>
              <a:t>Expand value through </a:t>
            </a:r>
            <a:r>
              <a:rPr lang="en-US" sz="1100" b="1">
                <a:solidFill>
                  <a:schemeClr val="tx1"/>
                </a:solidFill>
              </a:rPr>
              <a:t>selective combinations </a:t>
            </a:r>
            <a:r>
              <a:rPr lang="en-US" sz="1100">
                <a:solidFill>
                  <a:schemeClr val="tx1"/>
                </a:solidFill>
              </a:rPr>
              <a:t>with SoC or novel drugs as data matures</a:t>
            </a:r>
          </a:p>
        </p:txBody>
      </p:sp>
      <p:cxnSp>
        <p:nvCxnSpPr>
          <p:cNvPr id="70" name="Straight Connector 69">
            <a:extLst>
              <a:ext uri="{FF2B5EF4-FFF2-40B4-BE49-F238E27FC236}">
                <a16:creationId xmlns:a16="http://schemas.microsoft.com/office/drawing/2014/main" id="{7A6F43BD-F796-0AA4-06BC-069CF9B22AA7}"/>
              </a:ext>
            </a:extLst>
          </p:cNvPr>
          <p:cNvCxnSpPr>
            <a:cxnSpLocks/>
          </p:cNvCxnSpPr>
          <p:nvPr/>
        </p:nvCxnSpPr>
        <p:spPr>
          <a:xfrm>
            <a:off x="5557266" y="3781603"/>
            <a:ext cx="2638425" cy="0"/>
          </a:xfrm>
          <a:prstGeom prst="line">
            <a:avLst/>
          </a:prstGeom>
          <a:ln>
            <a:solidFill>
              <a:schemeClr val="accent4">
                <a:alpha val="39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3F97A3D-9185-9AB5-0133-771D08F9D4FA}"/>
              </a:ext>
            </a:extLst>
          </p:cNvPr>
          <p:cNvCxnSpPr>
            <a:cxnSpLocks/>
          </p:cNvCxnSpPr>
          <p:nvPr/>
        </p:nvCxnSpPr>
        <p:spPr>
          <a:xfrm>
            <a:off x="5553075" y="4603352"/>
            <a:ext cx="2642616" cy="10492"/>
          </a:xfrm>
          <a:prstGeom prst="line">
            <a:avLst/>
          </a:prstGeom>
          <a:ln>
            <a:solidFill>
              <a:schemeClr val="accent4">
                <a:alpha val="39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50FC86C-8376-B655-C93B-7606B6145E7A}"/>
              </a:ext>
            </a:extLst>
          </p:cNvPr>
          <p:cNvCxnSpPr>
            <a:cxnSpLocks/>
          </p:cNvCxnSpPr>
          <p:nvPr/>
        </p:nvCxnSpPr>
        <p:spPr>
          <a:xfrm flipV="1">
            <a:off x="5553075" y="5459784"/>
            <a:ext cx="2642616" cy="11561"/>
          </a:xfrm>
          <a:prstGeom prst="line">
            <a:avLst/>
          </a:prstGeom>
          <a:ln>
            <a:solidFill>
              <a:schemeClr val="accent4">
                <a:alpha val="39000"/>
              </a:schemeClr>
            </a:solidFill>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02C129D9-9BE3-B1E5-26EA-00F8E83EE874}"/>
              </a:ext>
            </a:extLst>
          </p:cNvPr>
          <p:cNvSpPr/>
          <p:nvPr/>
        </p:nvSpPr>
        <p:spPr>
          <a:xfrm>
            <a:off x="8777422" y="2996649"/>
            <a:ext cx="2887225" cy="7134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82880" tIns="0" rIns="91440" bIns="0" rtlCol="0" anchor="ctr">
            <a:noAutofit/>
          </a:bodyPr>
          <a:lstStyle/>
          <a:p>
            <a:pPr>
              <a:spcBef>
                <a:spcPts val="300"/>
              </a:spcBef>
              <a:spcAft>
                <a:spcPts val="300"/>
              </a:spcAft>
            </a:pPr>
            <a:r>
              <a:rPr lang="en-US" sz="1100">
                <a:solidFill>
                  <a:schemeClr val="tx1"/>
                </a:solidFill>
              </a:rPr>
              <a:t>Leadership across NSCLC with brain metastases and GBM</a:t>
            </a:r>
          </a:p>
        </p:txBody>
      </p:sp>
      <p:sp>
        <p:nvSpPr>
          <p:cNvPr id="77" name="Rectangle 76">
            <a:extLst>
              <a:ext uri="{FF2B5EF4-FFF2-40B4-BE49-F238E27FC236}">
                <a16:creationId xmlns:a16="http://schemas.microsoft.com/office/drawing/2014/main" id="{6B984651-53B1-1E3A-E935-2C7E473CB410}"/>
              </a:ext>
            </a:extLst>
          </p:cNvPr>
          <p:cNvSpPr/>
          <p:nvPr/>
        </p:nvSpPr>
        <p:spPr>
          <a:xfrm>
            <a:off x="8777422" y="3841520"/>
            <a:ext cx="2887225" cy="7134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82880" tIns="0" rIns="91440" bIns="0" rtlCol="0" anchor="ctr">
            <a:noAutofit/>
          </a:bodyPr>
          <a:lstStyle/>
          <a:p>
            <a:pPr>
              <a:spcBef>
                <a:spcPts val="300"/>
              </a:spcBef>
              <a:spcAft>
                <a:spcPts val="300"/>
              </a:spcAft>
            </a:pPr>
            <a:r>
              <a:rPr lang="en-US" sz="1100">
                <a:solidFill>
                  <a:schemeClr val="tx1"/>
                </a:solidFill>
              </a:rPr>
              <a:t>Compelling evidence to support global approval, reimbursement, and clinical adoption</a:t>
            </a:r>
          </a:p>
        </p:txBody>
      </p:sp>
      <p:sp>
        <p:nvSpPr>
          <p:cNvPr id="78" name="Rectangle 77">
            <a:extLst>
              <a:ext uri="{FF2B5EF4-FFF2-40B4-BE49-F238E27FC236}">
                <a16:creationId xmlns:a16="http://schemas.microsoft.com/office/drawing/2014/main" id="{521013F3-FD58-F1ED-96D8-16D02C836912}"/>
              </a:ext>
            </a:extLst>
          </p:cNvPr>
          <p:cNvSpPr/>
          <p:nvPr/>
        </p:nvSpPr>
        <p:spPr>
          <a:xfrm>
            <a:off x="8777422" y="4686391"/>
            <a:ext cx="2887225" cy="7134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82880" tIns="0" rIns="91440" bIns="0" rtlCol="0" anchor="ctr">
            <a:noAutofit/>
          </a:bodyPr>
          <a:lstStyle/>
          <a:p>
            <a:pPr>
              <a:spcBef>
                <a:spcPts val="300"/>
              </a:spcBef>
              <a:spcAft>
                <a:spcPts val="300"/>
              </a:spcAft>
            </a:pPr>
            <a:r>
              <a:rPr lang="en-US" sz="1100">
                <a:solidFill>
                  <a:schemeClr val="tx1"/>
                </a:solidFill>
              </a:rPr>
              <a:t>Timeline parity (with competitors) in 1L NSCLC with first-in-class potential</a:t>
            </a:r>
          </a:p>
        </p:txBody>
      </p:sp>
      <p:sp>
        <p:nvSpPr>
          <p:cNvPr id="79" name="Rectangle 78">
            <a:extLst>
              <a:ext uri="{FF2B5EF4-FFF2-40B4-BE49-F238E27FC236}">
                <a16:creationId xmlns:a16="http://schemas.microsoft.com/office/drawing/2014/main" id="{5C7071CD-4EA6-EC90-FCC7-3D704889AFAF}"/>
              </a:ext>
            </a:extLst>
          </p:cNvPr>
          <p:cNvSpPr/>
          <p:nvPr/>
        </p:nvSpPr>
        <p:spPr>
          <a:xfrm>
            <a:off x="8777422" y="5531262"/>
            <a:ext cx="2887225" cy="7134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82880" tIns="0" rIns="91440" bIns="0" rtlCol="0" anchor="ctr">
            <a:noAutofit/>
          </a:bodyPr>
          <a:lstStyle/>
          <a:p>
            <a:pPr>
              <a:spcBef>
                <a:spcPts val="300"/>
              </a:spcBef>
              <a:spcAft>
                <a:spcPts val="300"/>
              </a:spcAft>
            </a:pPr>
            <a:r>
              <a:rPr lang="en-US" sz="1100">
                <a:solidFill>
                  <a:schemeClr val="tx1"/>
                </a:solidFill>
              </a:rPr>
              <a:t>Expanded addressable population and long-term franchise potential</a:t>
            </a:r>
          </a:p>
        </p:txBody>
      </p:sp>
      <p:pic>
        <p:nvPicPr>
          <p:cNvPr id="80" name="Graphic 79">
            <a:extLst>
              <a:ext uri="{FF2B5EF4-FFF2-40B4-BE49-F238E27FC236}">
                <a16:creationId xmlns:a16="http://schemas.microsoft.com/office/drawing/2014/main" id="{DDFA2E63-9E48-F843-570F-8466D6C3C8D4}"/>
              </a:ext>
            </a:extLst>
          </p:cNvPr>
          <p:cNvPicPr>
            <a:picLocks/>
          </p:cNvPicPr>
          <p:nvPr/>
        </p:nvPicPr>
        <p:blipFill>
          <a:blip>
            <a:extLst>
              <a:ext uri="{96DAC541-7B7A-43D3-8B79-37D633B846F1}">
                <asvg:svgBlip xmlns:asvg="http://schemas.microsoft.com/office/drawing/2016/SVG/main" r:embed="rId8"/>
              </a:ext>
            </a:extLst>
          </a:blip>
          <a:stretch>
            <a:fillRect/>
          </a:stretch>
        </p:blipFill>
        <p:spPr>
          <a:xfrm>
            <a:off x="8424798" y="3124787"/>
            <a:ext cx="308543" cy="457200"/>
          </a:xfrm>
          <a:prstGeom prst="rect">
            <a:avLst/>
          </a:prstGeom>
        </p:spPr>
      </p:pic>
      <p:pic>
        <p:nvPicPr>
          <p:cNvPr id="81" name="Graphic 80">
            <a:extLst>
              <a:ext uri="{FF2B5EF4-FFF2-40B4-BE49-F238E27FC236}">
                <a16:creationId xmlns:a16="http://schemas.microsoft.com/office/drawing/2014/main" id="{AE98D5A5-C368-184C-79FF-E0DA3555DD28}"/>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8424798" y="3969658"/>
            <a:ext cx="308543" cy="457200"/>
          </a:xfrm>
          <a:prstGeom prst="rect">
            <a:avLst/>
          </a:prstGeom>
        </p:spPr>
      </p:pic>
      <p:pic>
        <p:nvPicPr>
          <p:cNvPr id="82" name="Graphic 81">
            <a:extLst>
              <a:ext uri="{FF2B5EF4-FFF2-40B4-BE49-F238E27FC236}">
                <a16:creationId xmlns:a16="http://schemas.microsoft.com/office/drawing/2014/main" id="{C731F8E8-32D7-838C-8CFC-D7136E7E7A71}"/>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8424275" y="4783746"/>
            <a:ext cx="308543" cy="457200"/>
          </a:xfrm>
          <a:prstGeom prst="rect">
            <a:avLst/>
          </a:prstGeom>
        </p:spPr>
      </p:pic>
      <p:pic>
        <p:nvPicPr>
          <p:cNvPr id="83" name="Graphic 82">
            <a:extLst>
              <a:ext uri="{FF2B5EF4-FFF2-40B4-BE49-F238E27FC236}">
                <a16:creationId xmlns:a16="http://schemas.microsoft.com/office/drawing/2014/main" id="{D358FF1D-4A93-A19C-20BE-24692DF18BD9}"/>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8424798" y="5659400"/>
            <a:ext cx="308543" cy="457200"/>
          </a:xfrm>
          <a:prstGeom prst="rect">
            <a:avLst/>
          </a:prstGeom>
        </p:spPr>
      </p:pic>
      <p:cxnSp>
        <p:nvCxnSpPr>
          <p:cNvPr id="84" name="Straight Connector 83">
            <a:extLst>
              <a:ext uri="{FF2B5EF4-FFF2-40B4-BE49-F238E27FC236}">
                <a16:creationId xmlns:a16="http://schemas.microsoft.com/office/drawing/2014/main" id="{E0B42003-DD06-533E-79A4-BDD6ADA6C9E7}"/>
              </a:ext>
            </a:extLst>
          </p:cNvPr>
          <p:cNvCxnSpPr>
            <a:cxnSpLocks/>
          </p:cNvCxnSpPr>
          <p:nvPr/>
        </p:nvCxnSpPr>
        <p:spPr>
          <a:xfrm>
            <a:off x="8927815" y="3781603"/>
            <a:ext cx="2642616" cy="0"/>
          </a:xfrm>
          <a:prstGeom prst="line">
            <a:avLst/>
          </a:prstGeom>
          <a:ln>
            <a:solidFill>
              <a:schemeClr val="accent4">
                <a:alpha val="39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4D99A164-F4F7-7393-51CB-2CCBC2059B09}"/>
              </a:ext>
            </a:extLst>
          </p:cNvPr>
          <p:cNvCxnSpPr>
            <a:cxnSpLocks/>
          </p:cNvCxnSpPr>
          <p:nvPr/>
        </p:nvCxnSpPr>
        <p:spPr>
          <a:xfrm flipV="1">
            <a:off x="8927815" y="4603352"/>
            <a:ext cx="2642616" cy="0"/>
          </a:xfrm>
          <a:prstGeom prst="line">
            <a:avLst/>
          </a:prstGeom>
          <a:ln>
            <a:solidFill>
              <a:schemeClr val="accent4">
                <a:alpha val="39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0DBB88BC-DA78-FA69-46B5-F678ECF7953B}"/>
              </a:ext>
            </a:extLst>
          </p:cNvPr>
          <p:cNvCxnSpPr>
            <a:cxnSpLocks/>
          </p:cNvCxnSpPr>
          <p:nvPr/>
        </p:nvCxnSpPr>
        <p:spPr>
          <a:xfrm flipV="1">
            <a:off x="8927815" y="5471345"/>
            <a:ext cx="2642616" cy="0"/>
          </a:xfrm>
          <a:prstGeom prst="line">
            <a:avLst/>
          </a:prstGeom>
          <a:ln>
            <a:solidFill>
              <a:schemeClr val="accent4">
                <a:alpha val="39000"/>
              </a:schemeClr>
            </a:solidFill>
          </a:ln>
        </p:spPr>
        <p:style>
          <a:lnRef idx="1">
            <a:schemeClr val="accent1"/>
          </a:lnRef>
          <a:fillRef idx="0">
            <a:schemeClr val="accent1"/>
          </a:fillRef>
          <a:effectRef idx="0">
            <a:schemeClr val="accent1"/>
          </a:effectRef>
          <a:fontRef idx="minor">
            <a:schemeClr val="tx1"/>
          </a:fontRef>
        </p:style>
      </p:cxnSp>
      <p:sp>
        <p:nvSpPr>
          <p:cNvPr id="98" name="Rectangle 97">
            <a:extLst>
              <a:ext uri="{FF2B5EF4-FFF2-40B4-BE49-F238E27FC236}">
                <a16:creationId xmlns:a16="http://schemas.microsoft.com/office/drawing/2014/main" id="{CB9AB085-B5C5-4E6C-8600-F85909B8008D}"/>
              </a:ext>
            </a:extLst>
          </p:cNvPr>
          <p:cNvSpPr/>
          <p:nvPr/>
        </p:nvSpPr>
        <p:spPr>
          <a:xfrm>
            <a:off x="5486399" y="2743200"/>
            <a:ext cx="2887225" cy="338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r>
              <a:rPr lang="en-US" sz="1600" b="1">
                <a:solidFill>
                  <a:schemeClr val="accent4"/>
                </a:solidFill>
              </a:rPr>
              <a:t>Development Priorities:</a:t>
            </a:r>
          </a:p>
        </p:txBody>
      </p:sp>
      <p:sp>
        <p:nvSpPr>
          <p:cNvPr id="99" name="Rectangle 98">
            <a:extLst>
              <a:ext uri="{FF2B5EF4-FFF2-40B4-BE49-F238E27FC236}">
                <a16:creationId xmlns:a16="http://schemas.microsoft.com/office/drawing/2014/main" id="{2F3D0D72-0F3D-109C-63F0-A8983595B01D}"/>
              </a:ext>
            </a:extLst>
          </p:cNvPr>
          <p:cNvSpPr/>
          <p:nvPr/>
        </p:nvSpPr>
        <p:spPr>
          <a:xfrm>
            <a:off x="9081130" y="2743200"/>
            <a:ext cx="2267712" cy="338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r>
              <a:rPr lang="en-US" sz="1600" b="1">
                <a:solidFill>
                  <a:schemeClr val="accent4"/>
                </a:solidFill>
              </a:rPr>
              <a:t>Anticipated Impact:</a:t>
            </a:r>
          </a:p>
        </p:txBody>
      </p:sp>
      <p:grpSp>
        <p:nvGrpSpPr>
          <p:cNvPr id="118" name="Group 117">
            <a:extLst>
              <a:ext uri="{FF2B5EF4-FFF2-40B4-BE49-F238E27FC236}">
                <a16:creationId xmlns:a16="http://schemas.microsoft.com/office/drawing/2014/main" id="{17AC8839-0406-1A43-790C-EF8B524953ED}"/>
              </a:ext>
            </a:extLst>
          </p:cNvPr>
          <p:cNvGrpSpPr/>
          <p:nvPr/>
        </p:nvGrpSpPr>
        <p:grpSpPr>
          <a:xfrm>
            <a:off x="468258" y="2762250"/>
            <a:ext cx="390524" cy="385986"/>
            <a:chOff x="468258" y="2743200"/>
            <a:chExt cx="390524" cy="385986"/>
          </a:xfrm>
          <a:effectLst/>
        </p:grpSpPr>
        <p:sp>
          <p:nvSpPr>
            <p:cNvPr id="111" name="Rectangle: Rounded Corners 110">
              <a:extLst>
                <a:ext uri="{FF2B5EF4-FFF2-40B4-BE49-F238E27FC236}">
                  <a16:creationId xmlns:a16="http://schemas.microsoft.com/office/drawing/2014/main" id="{D11AE3BE-C470-0A55-E374-4B3CB0C615F7}"/>
                </a:ext>
              </a:extLst>
            </p:cNvPr>
            <p:cNvSpPr/>
            <p:nvPr/>
          </p:nvSpPr>
          <p:spPr>
            <a:xfrm>
              <a:off x="468258" y="2743200"/>
              <a:ext cx="390524" cy="385986"/>
            </a:xfrm>
            <a:prstGeom prst="round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lnSpcReduction="10000"/>
            </a:bodyPr>
            <a:lstStyle/>
            <a:p>
              <a:pPr algn="ctr"/>
              <a:endParaRPr lang="en-US" i="1">
                <a:solidFill>
                  <a:schemeClr val="bg1"/>
                </a:solidFill>
              </a:endParaRPr>
            </a:p>
          </p:txBody>
        </p:sp>
        <p:pic>
          <p:nvPicPr>
            <p:cNvPr id="104" name="Graphic 103">
              <a:extLst>
                <a:ext uri="{FF2B5EF4-FFF2-40B4-BE49-F238E27FC236}">
                  <a16:creationId xmlns:a16="http://schemas.microsoft.com/office/drawing/2014/main" id="{07B8F749-1ED6-3E94-6187-8A5C07702CA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03500" y="2776173"/>
              <a:ext cx="320040" cy="320040"/>
            </a:xfrm>
            <a:prstGeom prst="rect">
              <a:avLst/>
            </a:prstGeom>
          </p:spPr>
        </p:pic>
      </p:grpSp>
      <p:grpSp>
        <p:nvGrpSpPr>
          <p:cNvPr id="117" name="Group 116">
            <a:extLst>
              <a:ext uri="{FF2B5EF4-FFF2-40B4-BE49-F238E27FC236}">
                <a16:creationId xmlns:a16="http://schemas.microsoft.com/office/drawing/2014/main" id="{96C6507D-0DDB-7061-CB86-F91F4B256160}"/>
              </a:ext>
            </a:extLst>
          </p:cNvPr>
          <p:cNvGrpSpPr/>
          <p:nvPr/>
        </p:nvGrpSpPr>
        <p:grpSpPr>
          <a:xfrm>
            <a:off x="468258" y="3826622"/>
            <a:ext cx="390524" cy="385986"/>
            <a:chOff x="468258" y="3998072"/>
            <a:chExt cx="390524" cy="385986"/>
          </a:xfrm>
          <a:effectLst/>
        </p:grpSpPr>
        <p:sp>
          <p:nvSpPr>
            <p:cNvPr id="112" name="Rectangle: Rounded Corners 111">
              <a:extLst>
                <a:ext uri="{FF2B5EF4-FFF2-40B4-BE49-F238E27FC236}">
                  <a16:creationId xmlns:a16="http://schemas.microsoft.com/office/drawing/2014/main" id="{8D389B9D-3DC5-2AE0-5028-F2A7CB0BA0CE}"/>
                </a:ext>
              </a:extLst>
            </p:cNvPr>
            <p:cNvSpPr/>
            <p:nvPr/>
          </p:nvSpPr>
          <p:spPr>
            <a:xfrm>
              <a:off x="468258" y="3998072"/>
              <a:ext cx="390524" cy="385986"/>
            </a:xfrm>
            <a:prstGeom prst="round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lnSpcReduction="10000"/>
            </a:bodyPr>
            <a:lstStyle/>
            <a:p>
              <a:pPr algn="ctr"/>
              <a:endParaRPr lang="en-US">
                <a:solidFill>
                  <a:schemeClr val="bg1"/>
                </a:solidFill>
              </a:endParaRPr>
            </a:p>
          </p:txBody>
        </p:sp>
        <p:pic>
          <p:nvPicPr>
            <p:cNvPr id="107" name="Graphic 106">
              <a:extLst>
                <a:ext uri="{FF2B5EF4-FFF2-40B4-BE49-F238E27FC236}">
                  <a16:creationId xmlns:a16="http://schemas.microsoft.com/office/drawing/2014/main" id="{69DB0346-1C13-A9E3-6F54-6221F2DFF52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03500" y="4031045"/>
              <a:ext cx="320040" cy="320040"/>
            </a:xfrm>
            <a:prstGeom prst="rect">
              <a:avLst/>
            </a:prstGeom>
          </p:spPr>
        </p:pic>
      </p:grpSp>
      <p:grpSp>
        <p:nvGrpSpPr>
          <p:cNvPr id="116" name="Group 115">
            <a:extLst>
              <a:ext uri="{FF2B5EF4-FFF2-40B4-BE49-F238E27FC236}">
                <a16:creationId xmlns:a16="http://schemas.microsoft.com/office/drawing/2014/main" id="{5EA02C86-2C35-2818-3148-5C95E6C29DCB}"/>
              </a:ext>
            </a:extLst>
          </p:cNvPr>
          <p:cNvGrpSpPr/>
          <p:nvPr/>
        </p:nvGrpSpPr>
        <p:grpSpPr>
          <a:xfrm>
            <a:off x="468258" y="4878769"/>
            <a:ext cx="390524" cy="385986"/>
            <a:chOff x="468258" y="4783519"/>
            <a:chExt cx="390524" cy="385986"/>
          </a:xfrm>
          <a:effectLst/>
        </p:grpSpPr>
        <p:sp>
          <p:nvSpPr>
            <p:cNvPr id="113" name="Rectangle: Rounded Corners 112">
              <a:extLst>
                <a:ext uri="{FF2B5EF4-FFF2-40B4-BE49-F238E27FC236}">
                  <a16:creationId xmlns:a16="http://schemas.microsoft.com/office/drawing/2014/main" id="{BAC48E3F-0DDB-E85F-A4EC-62C903A897A2}"/>
                </a:ext>
              </a:extLst>
            </p:cNvPr>
            <p:cNvSpPr/>
            <p:nvPr/>
          </p:nvSpPr>
          <p:spPr>
            <a:xfrm>
              <a:off x="468258" y="4783519"/>
              <a:ext cx="390524" cy="385986"/>
            </a:xfrm>
            <a:prstGeom prst="round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lnSpcReduction="10000"/>
            </a:bodyPr>
            <a:lstStyle/>
            <a:p>
              <a:pPr algn="ctr"/>
              <a:endParaRPr lang="en-US">
                <a:solidFill>
                  <a:schemeClr val="bg1"/>
                </a:solidFill>
              </a:endParaRPr>
            </a:p>
          </p:txBody>
        </p:sp>
        <p:pic>
          <p:nvPicPr>
            <p:cNvPr id="109" name="Graphic 108">
              <a:extLst>
                <a:ext uri="{FF2B5EF4-FFF2-40B4-BE49-F238E27FC236}">
                  <a16:creationId xmlns:a16="http://schemas.microsoft.com/office/drawing/2014/main" id="{A5FCD2FC-2090-F892-5D39-3FD9319EEE7E}"/>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03500" y="4816492"/>
              <a:ext cx="320040" cy="320040"/>
            </a:xfrm>
            <a:prstGeom prst="rect">
              <a:avLst/>
            </a:prstGeom>
          </p:spPr>
        </p:pic>
      </p:grpSp>
      <p:grpSp>
        <p:nvGrpSpPr>
          <p:cNvPr id="115" name="Group 114">
            <a:extLst>
              <a:ext uri="{FF2B5EF4-FFF2-40B4-BE49-F238E27FC236}">
                <a16:creationId xmlns:a16="http://schemas.microsoft.com/office/drawing/2014/main" id="{D3D89881-D775-6B40-FDF4-1137C5098952}"/>
              </a:ext>
            </a:extLst>
          </p:cNvPr>
          <p:cNvGrpSpPr/>
          <p:nvPr/>
        </p:nvGrpSpPr>
        <p:grpSpPr>
          <a:xfrm>
            <a:off x="460608" y="5629330"/>
            <a:ext cx="390524" cy="385986"/>
            <a:chOff x="460608" y="5543605"/>
            <a:chExt cx="390524" cy="385986"/>
          </a:xfrm>
          <a:effectLst/>
        </p:grpSpPr>
        <p:sp>
          <p:nvSpPr>
            <p:cNvPr id="114" name="Rectangle: Rounded Corners 113">
              <a:extLst>
                <a:ext uri="{FF2B5EF4-FFF2-40B4-BE49-F238E27FC236}">
                  <a16:creationId xmlns:a16="http://schemas.microsoft.com/office/drawing/2014/main" id="{DDF6A89D-6852-F3A7-59F8-5D944F7B4544}"/>
                </a:ext>
              </a:extLst>
            </p:cNvPr>
            <p:cNvSpPr/>
            <p:nvPr/>
          </p:nvSpPr>
          <p:spPr>
            <a:xfrm>
              <a:off x="460608" y="5543605"/>
              <a:ext cx="390524" cy="385986"/>
            </a:xfrm>
            <a:prstGeom prst="round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lnSpcReduction="10000"/>
            </a:bodyPr>
            <a:lstStyle/>
            <a:p>
              <a:pPr algn="ctr"/>
              <a:endParaRPr lang="en-US">
                <a:solidFill>
                  <a:schemeClr val="bg1"/>
                </a:solidFill>
              </a:endParaRPr>
            </a:p>
          </p:txBody>
        </p:sp>
        <p:pic>
          <p:nvPicPr>
            <p:cNvPr id="110" name="Graphic 109">
              <a:extLst>
                <a:ext uri="{FF2B5EF4-FFF2-40B4-BE49-F238E27FC236}">
                  <a16:creationId xmlns:a16="http://schemas.microsoft.com/office/drawing/2014/main" id="{36EE6608-65F4-031E-EA07-FCEEA845B31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72990" y="5553718"/>
              <a:ext cx="365760" cy="365760"/>
            </a:xfrm>
            <a:prstGeom prst="rect">
              <a:avLst/>
            </a:prstGeom>
          </p:spPr>
        </p:pic>
      </p:grpSp>
      <p:sp>
        <p:nvSpPr>
          <p:cNvPr id="119" name="Footer Placeholder 2">
            <a:extLst>
              <a:ext uri="{FF2B5EF4-FFF2-40B4-BE49-F238E27FC236}">
                <a16:creationId xmlns:a16="http://schemas.microsoft.com/office/drawing/2014/main" id="{6FC0E44B-DE18-B9EE-76E9-68D490D865DC}"/>
              </a:ext>
            </a:extLst>
          </p:cNvPr>
          <p:cNvSpPr>
            <a:spLocks noGrp="1"/>
          </p:cNvSpPr>
          <p:nvPr>
            <p:ph type="ftr" sz="quarter" idx="10"/>
          </p:nvPr>
        </p:nvSpPr>
        <p:spPr>
          <a:xfrm>
            <a:off x="358337" y="6227807"/>
            <a:ext cx="7909560" cy="365760"/>
          </a:xfrm>
        </p:spPr>
        <p:txBody>
          <a:bodyPr/>
          <a:lstStyle/>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595959"/>
                </a:solidFill>
                <a:effectLst/>
                <a:uLnTx/>
                <a:uFillTx/>
                <a:latin typeface="Poppins"/>
                <a:ea typeface="+mn-ea"/>
                <a:cs typeface="+mn-cs"/>
              </a:rPr>
              <a:t>Abbreviations: CNS: Central Nervous System; GBM: Glioblastoma; BMS: MTA: Methylthioadenosine; MTAP: Methylthioadenosine Phosphorylase; PRMT5: Protein Arginine Methyltransferase 5; NSCLC: Non-Small Cell Lung Cancer; PDAC: Pancreatic Ductal Adenocarcinoma; SoC: Standard-Of-Care</a:t>
            </a:r>
          </a:p>
        </p:txBody>
      </p:sp>
      <p:sp>
        <p:nvSpPr>
          <p:cNvPr id="124" name="Rectangle 123">
            <a:extLst>
              <a:ext uri="{FF2B5EF4-FFF2-40B4-BE49-F238E27FC236}">
                <a16:creationId xmlns:a16="http://schemas.microsoft.com/office/drawing/2014/main" id="{F30444BB-6EDF-F0B3-19A0-0D4ED06FCC66}"/>
              </a:ext>
            </a:extLst>
          </p:cNvPr>
          <p:cNvSpPr/>
          <p:nvPr/>
        </p:nvSpPr>
        <p:spPr>
          <a:xfrm>
            <a:off x="432033" y="2703521"/>
            <a:ext cx="4748086" cy="1006604"/>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125" name="Speech Bubble: Rectangle 124">
            <a:extLst>
              <a:ext uri="{FF2B5EF4-FFF2-40B4-BE49-F238E27FC236}">
                <a16:creationId xmlns:a16="http://schemas.microsoft.com/office/drawing/2014/main" id="{E4CAA714-FFC0-1C33-1696-C83F9B6A3C3D}"/>
              </a:ext>
            </a:extLst>
          </p:cNvPr>
          <p:cNvSpPr/>
          <p:nvPr/>
        </p:nvSpPr>
        <p:spPr>
          <a:xfrm>
            <a:off x="432033" y="2381311"/>
            <a:ext cx="1208142" cy="277768"/>
          </a:xfrm>
          <a:prstGeom prst="wedgeRectCallou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r>
              <a:rPr lang="en-US" sz="1000" b="1">
                <a:solidFill>
                  <a:schemeClr val="accent1"/>
                </a:solidFill>
              </a:rPr>
              <a:t>Focus of this IEP</a:t>
            </a:r>
          </a:p>
        </p:txBody>
      </p:sp>
      <p:grpSp>
        <p:nvGrpSpPr>
          <p:cNvPr id="2" name="Group 1">
            <a:extLst>
              <a:ext uri="{FF2B5EF4-FFF2-40B4-BE49-F238E27FC236}">
                <a16:creationId xmlns:a16="http://schemas.microsoft.com/office/drawing/2014/main" id="{964B1D8E-BA55-C2BF-40D9-E35A0130823F}"/>
              </a:ext>
            </a:extLst>
          </p:cNvPr>
          <p:cNvGrpSpPr/>
          <p:nvPr/>
        </p:nvGrpSpPr>
        <p:grpSpPr>
          <a:xfrm>
            <a:off x="362743" y="10216"/>
            <a:ext cx="10042505" cy="252000"/>
            <a:chOff x="362743" y="10216"/>
            <a:chExt cx="10042505" cy="252000"/>
          </a:xfrm>
        </p:grpSpPr>
        <p:sp>
          <p:nvSpPr>
            <p:cNvPr id="5" name="Pentagon 47">
              <a:extLst>
                <a:ext uri="{FF2B5EF4-FFF2-40B4-BE49-F238E27FC236}">
                  <a16:creationId xmlns:a16="http://schemas.microsoft.com/office/drawing/2014/main" id="{25E1D898-B91E-B49B-826B-B09E467BCDF4}"/>
                </a:ext>
              </a:extLst>
            </p:cNvPr>
            <p:cNvSpPr/>
            <p:nvPr/>
          </p:nvSpPr>
          <p:spPr>
            <a:xfrm>
              <a:off x="362743" y="10216"/>
              <a:ext cx="1695265" cy="252000"/>
            </a:xfrm>
            <a:prstGeom prst="homePlate">
              <a:avLst>
                <a:gd name="adj" fmla="val 28868"/>
              </a:avLst>
            </a:prstGeom>
            <a:solidFill>
              <a:schemeClr val="bg2">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7" name="Chevron 48">
              <a:extLst>
                <a:ext uri="{FF2B5EF4-FFF2-40B4-BE49-F238E27FC236}">
                  <a16:creationId xmlns:a16="http://schemas.microsoft.com/office/drawing/2014/main" id="{ABC07765-3D59-EEA1-45FC-5DE373ABF003}"/>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18" name="Chevron 52">
              <a:extLst>
                <a:ext uri="{FF2B5EF4-FFF2-40B4-BE49-F238E27FC236}">
                  <a16:creationId xmlns:a16="http://schemas.microsoft.com/office/drawing/2014/main" id="{F7132D98-1D06-D58B-2B12-6630A41F25E7}"/>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19" name="Chevron 54">
              <a:extLst>
                <a:ext uri="{FF2B5EF4-FFF2-40B4-BE49-F238E27FC236}">
                  <a16:creationId xmlns:a16="http://schemas.microsoft.com/office/drawing/2014/main" id="{3C241E34-AC5D-DA0A-E615-94BF468C7747}"/>
                </a:ext>
              </a:extLst>
            </p:cNvPr>
            <p:cNvSpPr/>
            <p:nvPr/>
          </p:nvSpPr>
          <p:spPr>
            <a:xfrm>
              <a:off x="2032191"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22" name="Chevron 48">
              <a:extLst>
                <a:ext uri="{FF2B5EF4-FFF2-40B4-BE49-F238E27FC236}">
                  <a16:creationId xmlns:a16="http://schemas.microsoft.com/office/drawing/2014/main" id="{138C596D-A294-668A-3D3A-1CF0ECC8D567}"/>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24" name="Chevron 48">
              <a:extLst>
                <a:ext uri="{FF2B5EF4-FFF2-40B4-BE49-F238E27FC236}">
                  <a16:creationId xmlns:a16="http://schemas.microsoft.com/office/drawing/2014/main" id="{F525609D-0E30-705E-0CD1-6B57181D0BED}"/>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4183323387"/>
      </p:ext>
    </p:extLst>
  </p:cSld>
  <p:clrMapOvr>
    <a:masterClrMapping/>
  </p:clrMapOvr>
  <p:extLst>
    <p:ext uri="{6950BFC3-D8DA-4A85-94F7-54DA5524770B}">
      <p188:commentRel xmlns:p188="http://schemas.microsoft.com/office/powerpoint/2018/8/main" r:id="rId4"/>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C3012-A416-C9CA-F446-B4B525FC6125}"/>
            </a:ext>
          </a:extLst>
        </p:cNvPr>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6FCA139C-F8BF-68C6-1112-CBECCDE2E445}"/>
              </a:ext>
            </a:extLst>
          </p:cNvPr>
          <p:cNvGraphicFramePr>
            <a:graphicFrameLocks/>
          </p:cNvGraphicFramePr>
          <p:nvPr>
            <p:custDataLst>
              <p:tags r:id="rId1"/>
            </p:custDataLst>
            <p:extLst>
              <p:ext uri="{D42A27DB-BD31-4B8C-83A1-F6EECF244321}">
                <p14:modId xmlns:p14="http://schemas.microsoft.com/office/powerpoint/2010/main" val="16385392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14" name="think-cell data - do not delete" hidden="1">
                        <a:extLst>
                          <a:ext uri="{FF2B5EF4-FFF2-40B4-BE49-F238E27FC236}">
                            <a16:creationId xmlns:a16="http://schemas.microsoft.com/office/drawing/2014/main" id="{6FCA139C-F8BF-68C6-1112-CBECCDE2E44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6147" name="Straight Connector 6146">
            <a:extLst>
              <a:ext uri="{FF2B5EF4-FFF2-40B4-BE49-F238E27FC236}">
                <a16:creationId xmlns:a16="http://schemas.microsoft.com/office/drawing/2014/main" id="{2F234159-D4DD-7425-A856-1BE1CC8F2DB2}"/>
              </a:ext>
            </a:extLst>
          </p:cNvPr>
          <p:cNvCxnSpPr>
            <a:cxnSpLocks/>
          </p:cNvCxnSpPr>
          <p:nvPr/>
        </p:nvCxnSpPr>
        <p:spPr>
          <a:xfrm>
            <a:off x="487586" y="5065097"/>
            <a:ext cx="8595360" cy="0"/>
          </a:xfrm>
          <a:prstGeom prst="line">
            <a:avLst/>
          </a:prstGeom>
          <a:ln w="28575">
            <a:solidFill>
              <a:schemeClr val="accent3">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522EF230-19D1-E228-6630-ABF796B7C9C8}"/>
              </a:ext>
            </a:extLst>
          </p:cNvPr>
          <p:cNvSpPr/>
          <p:nvPr/>
        </p:nvSpPr>
        <p:spPr>
          <a:xfrm>
            <a:off x="9466431" y="1489860"/>
            <a:ext cx="2194560" cy="4023360"/>
          </a:xfrm>
          <a:prstGeom prst="roundRect">
            <a:avLst>
              <a:gd name="adj" fmla="val 11893"/>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800" b="1" i="0" u="none" strike="noStrike" kern="1200" cap="none" spc="0" normalizeH="0" baseline="0" noProof="0">
              <a:ln>
                <a:noFill/>
              </a:ln>
              <a:solidFill>
                <a:srgbClr val="FFFFFF"/>
              </a:solidFill>
              <a:effectLst/>
              <a:uLnTx/>
              <a:uFillTx/>
              <a:latin typeface="Poppi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FFFFFF"/>
                </a:solidFill>
                <a:effectLst/>
                <a:uLnTx/>
                <a:uFillTx/>
                <a:latin typeface="Poppins"/>
                <a:ea typeface="+mn-ea"/>
                <a:cs typeface="+mn-cs"/>
              </a:rPr>
              <a:t>FIC/BIC PRMT5 asset with the largest market share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6" name="Title 5">
            <a:extLst>
              <a:ext uri="{FF2B5EF4-FFF2-40B4-BE49-F238E27FC236}">
                <a16:creationId xmlns:a16="http://schemas.microsoft.com/office/drawing/2014/main" id="{99138188-6A2A-123A-A862-C2059DF06006}"/>
              </a:ext>
            </a:extLst>
          </p:cNvPr>
          <p:cNvSpPr>
            <a:spLocks noGrp="1"/>
          </p:cNvSpPr>
          <p:nvPr>
            <p:ph type="title"/>
          </p:nvPr>
        </p:nvSpPr>
        <p:spPr>
          <a:xfrm>
            <a:off x="356616" y="338328"/>
            <a:ext cx="11541230" cy="738664"/>
          </a:xfrm>
        </p:spPr>
        <p:txBody>
          <a:bodyPr vert="horz" rIns="0">
            <a:spAutoFit/>
          </a:bodyPr>
          <a:lstStyle/>
          <a:p>
            <a:r>
              <a:rPr lang="en-US" sz="2400"/>
              <a:t>BGB-58067 is supported by an end-to-end </a:t>
            </a:r>
            <a:r>
              <a:rPr lang="en-US" sz="2400" err="1"/>
              <a:t>CDx</a:t>
            </a:r>
            <a:r>
              <a:rPr lang="en-US" sz="2400"/>
              <a:t> strategy accelerating enrolment, enabling co-approval, and maximizing patient reach</a:t>
            </a:r>
            <a:endParaRPr lang="en-US" altLang="zh-CN" sz="2400"/>
          </a:p>
        </p:txBody>
      </p:sp>
      <p:sp>
        <p:nvSpPr>
          <p:cNvPr id="19" name="Rectangle: Rounded Corners 18">
            <a:extLst>
              <a:ext uri="{FF2B5EF4-FFF2-40B4-BE49-F238E27FC236}">
                <a16:creationId xmlns:a16="http://schemas.microsoft.com/office/drawing/2014/main" id="{81CD0B04-5DAA-52C4-A5F4-A1907908E4C0}"/>
              </a:ext>
            </a:extLst>
          </p:cNvPr>
          <p:cNvSpPr/>
          <p:nvPr/>
        </p:nvSpPr>
        <p:spPr>
          <a:xfrm>
            <a:off x="487586" y="1489860"/>
            <a:ext cx="2663388" cy="1554480"/>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a:ln>
                  <a:noFill/>
                </a:ln>
                <a:solidFill>
                  <a:srgbClr val="FFFFFF"/>
                </a:solidFill>
                <a:effectLst/>
                <a:uLnTx/>
                <a:uFillTx/>
                <a:latin typeface="Poppins"/>
                <a:ea typeface="+mn-ea"/>
                <a:cs typeface="+mn-cs"/>
              </a:rPr>
              <a:t>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Poppins"/>
                <a:ea typeface="+mn-ea"/>
                <a:cs typeface="+mn-cs"/>
              </a:rPr>
              <a:t>CTA strategy to enable fast Ph3 patient enrolment to leapfrog competition</a:t>
            </a:r>
          </a:p>
        </p:txBody>
      </p:sp>
      <p:sp>
        <p:nvSpPr>
          <p:cNvPr id="20" name="Rectangle: Rounded Corners 19">
            <a:extLst>
              <a:ext uri="{FF2B5EF4-FFF2-40B4-BE49-F238E27FC236}">
                <a16:creationId xmlns:a16="http://schemas.microsoft.com/office/drawing/2014/main" id="{D2B88EA1-3222-FF59-4E84-29BE891ED2DF}"/>
              </a:ext>
            </a:extLst>
          </p:cNvPr>
          <p:cNvSpPr/>
          <p:nvPr/>
        </p:nvSpPr>
        <p:spPr>
          <a:xfrm>
            <a:off x="3456802" y="1489860"/>
            <a:ext cx="2663388" cy="1554480"/>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a:ln>
                  <a:noFill/>
                </a:ln>
                <a:solidFill>
                  <a:srgbClr val="FFFFFF"/>
                </a:solidFill>
                <a:effectLst/>
                <a:uLnTx/>
                <a:uFillTx/>
                <a:latin typeface="Poppins"/>
                <a:ea typeface="+mn-ea"/>
                <a:cs typeface="+mn-cs"/>
              </a:rPr>
              <a:t>02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Poppins"/>
                <a:ea typeface="+mn-ea"/>
                <a:cs typeface="+mn-cs"/>
              </a:rPr>
              <a:t>Deliver the primary CDx to support drug approval (in the US)</a:t>
            </a:r>
          </a:p>
        </p:txBody>
      </p:sp>
      <p:sp>
        <p:nvSpPr>
          <p:cNvPr id="21" name="Rectangle: Rounded Corners 20">
            <a:extLst>
              <a:ext uri="{FF2B5EF4-FFF2-40B4-BE49-F238E27FC236}">
                <a16:creationId xmlns:a16="http://schemas.microsoft.com/office/drawing/2014/main" id="{E944D342-1263-3DB1-6EF8-82E5CD99F779}"/>
              </a:ext>
            </a:extLst>
          </p:cNvPr>
          <p:cNvSpPr/>
          <p:nvPr/>
        </p:nvSpPr>
        <p:spPr>
          <a:xfrm>
            <a:off x="6426019" y="1489860"/>
            <a:ext cx="2743200" cy="1554480"/>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a:ln>
                  <a:noFill/>
                </a:ln>
                <a:solidFill>
                  <a:srgbClr val="FFFFFF"/>
                </a:solidFill>
                <a:effectLst/>
                <a:uLnTx/>
                <a:uFillTx/>
                <a:latin typeface="Poppins"/>
                <a:ea typeface="+mn-ea"/>
                <a:cs typeface="+mn-cs"/>
              </a:rPr>
              <a:t>03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Poppins"/>
                <a:ea typeface="+mn-ea"/>
                <a:cs typeface="+mn-cs"/>
              </a:rPr>
              <a:t>Maximize patient reach through accessible diagnostics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600" b="0" i="0" u="none" strike="noStrike" kern="1200" cap="none" spc="0" normalizeH="0" baseline="0" noProof="0">
              <a:ln>
                <a:noFill/>
              </a:ln>
              <a:solidFill>
                <a:srgbClr val="FFFFFF"/>
              </a:solidFill>
              <a:effectLst/>
              <a:uLnTx/>
              <a:uFillTx/>
              <a:latin typeface="Poppi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a:ln>
                <a:noFill/>
              </a:ln>
              <a:solidFill>
                <a:srgbClr val="FFFFFF"/>
              </a:solidFill>
              <a:effectLst/>
              <a:uLnTx/>
              <a:uFillTx/>
              <a:latin typeface="Poppins"/>
              <a:ea typeface="+mn-ea"/>
              <a:cs typeface="+mn-cs"/>
            </a:endParaRPr>
          </a:p>
        </p:txBody>
      </p:sp>
      <p:pic>
        <p:nvPicPr>
          <p:cNvPr id="23" name="Graphic 22" descr="Target with solid fill">
            <a:extLst>
              <a:ext uri="{FF2B5EF4-FFF2-40B4-BE49-F238E27FC236}">
                <a16:creationId xmlns:a16="http://schemas.microsoft.com/office/drawing/2014/main" id="{F72752F9-2A3C-036F-BD0C-1A36361B1EF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093258" y="1778370"/>
            <a:ext cx="914400" cy="914400"/>
          </a:xfrm>
          <a:prstGeom prst="rect">
            <a:avLst/>
          </a:prstGeom>
        </p:spPr>
      </p:pic>
      <p:grpSp>
        <p:nvGrpSpPr>
          <p:cNvPr id="10" name="Group 9">
            <a:extLst>
              <a:ext uri="{FF2B5EF4-FFF2-40B4-BE49-F238E27FC236}">
                <a16:creationId xmlns:a16="http://schemas.microsoft.com/office/drawing/2014/main" id="{6C06DA64-D36D-DD5E-6028-10DBAE1640FB}"/>
              </a:ext>
            </a:extLst>
          </p:cNvPr>
          <p:cNvGrpSpPr/>
          <p:nvPr/>
        </p:nvGrpSpPr>
        <p:grpSpPr>
          <a:xfrm>
            <a:off x="4607995" y="4938683"/>
            <a:ext cx="413390" cy="277486"/>
            <a:chOff x="4477789" y="5111571"/>
            <a:chExt cx="476596" cy="319913"/>
          </a:xfrm>
        </p:grpSpPr>
        <p:sp>
          <p:nvSpPr>
            <p:cNvPr id="9" name="Rectangle 8">
              <a:extLst>
                <a:ext uri="{FF2B5EF4-FFF2-40B4-BE49-F238E27FC236}">
                  <a16:creationId xmlns:a16="http://schemas.microsoft.com/office/drawing/2014/main" id="{8CF2F372-8665-793D-ECC7-AD044B4206FA}"/>
                </a:ext>
              </a:extLst>
            </p:cNvPr>
            <p:cNvSpPr/>
            <p:nvPr/>
          </p:nvSpPr>
          <p:spPr>
            <a:xfrm>
              <a:off x="4477789" y="5111571"/>
              <a:ext cx="476596" cy="3199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77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a:ln>
                  <a:noFill/>
                </a:ln>
                <a:solidFill>
                  <a:srgbClr val="FFFFFF"/>
                </a:solidFill>
                <a:effectLst/>
                <a:uLnTx/>
                <a:uFillTx/>
                <a:latin typeface="Poppins"/>
                <a:ea typeface="+mn-ea"/>
                <a:cs typeface="+mn-cs"/>
              </a:endParaRPr>
            </a:p>
          </p:txBody>
        </p:sp>
        <p:sp>
          <p:nvSpPr>
            <p:cNvPr id="28" name="Circle: Hollow 27">
              <a:extLst>
                <a:ext uri="{FF2B5EF4-FFF2-40B4-BE49-F238E27FC236}">
                  <a16:creationId xmlns:a16="http://schemas.microsoft.com/office/drawing/2014/main" id="{6FE7FCF4-4A94-60E4-3752-A4380B59E09E}"/>
                </a:ext>
              </a:extLst>
            </p:cNvPr>
            <p:cNvSpPr/>
            <p:nvPr/>
          </p:nvSpPr>
          <p:spPr>
            <a:xfrm>
              <a:off x="4552815" y="5111571"/>
              <a:ext cx="319913" cy="319913"/>
            </a:xfrm>
            <a:prstGeom prst="donu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a:ln>
                  <a:noFill/>
                </a:ln>
                <a:solidFill>
                  <a:srgbClr val="FFFFFF"/>
                </a:solidFill>
                <a:effectLst/>
                <a:uLnTx/>
                <a:uFillTx/>
                <a:latin typeface="Poppins"/>
                <a:ea typeface="+mn-ea"/>
                <a:cs typeface="+mn-cs"/>
              </a:endParaRPr>
            </a:p>
          </p:txBody>
        </p:sp>
      </p:grpSp>
      <p:sp>
        <p:nvSpPr>
          <p:cNvPr id="30" name="TextBox 29">
            <a:extLst>
              <a:ext uri="{FF2B5EF4-FFF2-40B4-BE49-F238E27FC236}">
                <a16:creationId xmlns:a16="http://schemas.microsoft.com/office/drawing/2014/main" id="{9C4C79DA-15C8-C684-A910-17A91B1FA458}"/>
              </a:ext>
            </a:extLst>
          </p:cNvPr>
          <p:cNvSpPr txBox="1"/>
          <p:nvPr/>
        </p:nvSpPr>
        <p:spPr>
          <a:xfrm>
            <a:off x="688418" y="5194391"/>
            <a:ext cx="2276926" cy="615553"/>
          </a:xfrm>
          <a:prstGeom prst="rect">
            <a:avLst/>
          </a:prstGeom>
          <a:noFill/>
        </p:spPr>
        <p:txBody>
          <a:bodyPr wrap="square" lIns="91440" tIns="91440" rIns="91440" bIns="91440" rtlCol="0" anchor="t">
            <a:spAutoFit/>
          </a:bodyPr>
          <a:lstStyle/>
          <a:p>
            <a:pPr algn="ctr" defTabSz="914400">
              <a:defRPr/>
            </a:pPr>
            <a:r>
              <a:rPr lang="en-US" altLang="zh-CN" sz="1400" b="1">
                <a:solidFill>
                  <a:srgbClr val="003A70">
                    <a:lumMod val="75000"/>
                  </a:srgbClr>
                </a:solidFill>
                <a:latin typeface="Poppins"/>
              </a:rPr>
              <a:t>IHC and</a:t>
            </a:r>
            <a:endParaRPr lang="en-US">
              <a:solidFill>
                <a:srgbClr val="000000"/>
              </a:solidFill>
              <a:latin typeface="Poppins"/>
            </a:endParaRPr>
          </a:p>
          <a:p>
            <a:pPr algn="ctr" defTabSz="914400">
              <a:defRPr/>
            </a:pPr>
            <a:r>
              <a:rPr lang="en-US" altLang="zh-CN" sz="1400" b="1">
                <a:solidFill>
                  <a:srgbClr val="003A70">
                    <a:lumMod val="75000"/>
                  </a:srgbClr>
                </a:solidFill>
                <a:latin typeface="Poppins"/>
              </a:rPr>
              <a:t>Tissue </a:t>
            </a:r>
            <a:r>
              <a:rPr kumimoji="0" lang="en-US" altLang="zh-CN" sz="1400" b="1" i="0" u="none" strike="noStrike" kern="1200" cap="none" spc="0" normalizeH="0" baseline="0" noProof="0">
                <a:ln>
                  <a:noFill/>
                </a:ln>
                <a:solidFill>
                  <a:srgbClr val="003A70">
                    <a:lumMod val="75000"/>
                  </a:srgbClr>
                </a:solidFill>
                <a:effectLst/>
                <a:uLnTx/>
                <a:uFillTx/>
                <a:latin typeface="Poppins"/>
                <a:ea typeface="+mn-ea"/>
                <a:cs typeface="+mn-cs"/>
              </a:rPr>
              <a:t>NGS</a:t>
            </a:r>
            <a:r>
              <a:rPr lang="en-US" altLang="zh-CN" sz="1400" b="1">
                <a:solidFill>
                  <a:srgbClr val="003A70">
                    <a:lumMod val="75000"/>
                  </a:srgbClr>
                </a:solidFill>
                <a:latin typeface="Poppins"/>
              </a:rPr>
              <a:t> to enroll</a:t>
            </a:r>
            <a:endParaRPr lang="en-US"/>
          </a:p>
        </p:txBody>
      </p:sp>
      <p:sp>
        <p:nvSpPr>
          <p:cNvPr id="2" name="Rectangle: Rounded Corners 1">
            <a:extLst>
              <a:ext uri="{FF2B5EF4-FFF2-40B4-BE49-F238E27FC236}">
                <a16:creationId xmlns:a16="http://schemas.microsoft.com/office/drawing/2014/main" id="{2098DC43-414F-017D-7C4C-F7FE58834D31}"/>
              </a:ext>
            </a:extLst>
          </p:cNvPr>
          <p:cNvSpPr/>
          <p:nvPr/>
        </p:nvSpPr>
        <p:spPr>
          <a:xfrm>
            <a:off x="6429248" y="3138644"/>
            <a:ext cx="2743200" cy="1653918"/>
          </a:xfrm>
          <a:prstGeom prst="round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normAutofit lnSpcReduction="10000"/>
          </a:bodyPr>
          <a:lstStyle/>
          <a:p>
            <a:pPr marL="182880" marR="0" lvl="0" indent="-18288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altLang="zh-CN" sz="1600" b="0" i="0" u="none" strike="noStrike" kern="1200" cap="none" spc="0" normalizeH="0" baseline="0" noProof="0">
                <a:ln>
                  <a:noFill/>
                </a:ln>
                <a:solidFill>
                  <a:srgbClr val="FFFFFF"/>
                </a:solidFill>
                <a:effectLst/>
                <a:uLnTx/>
                <a:uFillTx/>
                <a:latin typeface="Poppins"/>
                <a:ea typeface="+mn-ea"/>
                <a:cs typeface="+mn-cs"/>
              </a:rPr>
              <a:t>Develop follow-on and regional CDx to expand drug label </a:t>
            </a:r>
          </a:p>
          <a:p>
            <a:pPr marL="182880" marR="0" lvl="0" indent="-18288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altLang="zh-CN" sz="1600" b="0" i="0" u="none" strike="noStrike" kern="1200" cap="none" spc="0" normalizeH="0" baseline="0" noProof="0">
                <a:ln>
                  <a:noFill/>
                </a:ln>
                <a:solidFill>
                  <a:srgbClr val="FFFFFF"/>
                </a:solidFill>
                <a:effectLst/>
                <a:uLnTx/>
                <a:uFillTx/>
                <a:latin typeface="Poppins"/>
                <a:ea typeface="+mn-ea"/>
                <a:cs typeface="+mn-cs"/>
              </a:rPr>
              <a:t>Saturate the market with class-I IVD and LDTs</a:t>
            </a:r>
          </a:p>
        </p:txBody>
      </p:sp>
      <p:sp>
        <p:nvSpPr>
          <p:cNvPr id="4" name="Rectangle: Rounded Corners 3">
            <a:extLst>
              <a:ext uri="{FF2B5EF4-FFF2-40B4-BE49-F238E27FC236}">
                <a16:creationId xmlns:a16="http://schemas.microsoft.com/office/drawing/2014/main" id="{DE53B609-A811-23D9-2BE6-060625207E9B}"/>
              </a:ext>
            </a:extLst>
          </p:cNvPr>
          <p:cNvSpPr/>
          <p:nvPr/>
        </p:nvSpPr>
        <p:spPr>
          <a:xfrm>
            <a:off x="3493088" y="3138644"/>
            <a:ext cx="2663388" cy="1660910"/>
          </a:xfrm>
          <a:prstGeom prst="round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t">
            <a:normAutofit fontScale="92500" lnSpcReduction="10000"/>
          </a:bodyPr>
          <a:lstStyle/>
          <a:p>
            <a:pPr marL="182880" marR="0" lvl="0" indent="-18288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altLang="zh-CN" sz="1600" b="0" i="0" u="none" strike="noStrike" kern="1200" cap="none" spc="0" normalizeH="0" baseline="0" noProof="0">
                <a:ln>
                  <a:noFill/>
                </a:ln>
                <a:solidFill>
                  <a:srgbClr val="FFFFFF"/>
                </a:solidFill>
                <a:effectLst/>
                <a:uLnTx/>
                <a:uFillTx/>
                <a:latin typeface="Poppins"/>
                <a:ea typeface="+mn-ea"/>
                <a:cs typeface="+mn-cs"/>
              </a:rPr>
              <a:t>Leverage mature assay platform for the highest PTRS</a:t>
            </a:r>
          </a:p>
          <a:p>
            <a:pPr marL="182880" indent="-182880" defTabSz="914400">
              <a:spcBef>
                <a:spcPts val="600"/>
              </a:spcBef>
              <a:buFont typeface="Arial" panose="020B0604020202020204" pitchFamily="34" charset="0"/>
              <a:buChar char="•"/>
              <a:defRPr/>
            </a:pPr>
            <a:r>
              <a:rPr lang="en-US" altLang="zh-CN" sz="1600">
                <a:solidFill>
                  <a:srgbClr val="FFFFFF"/>
                </a:solidFill>
                <a:latin typeface="Poppins"/>
              </a:rPr>
              <a:t>Roche</a:t>
            </a:r>
            <a:r>
              <a:rPr kumimoji="0" lang="en-US" altLang="zh-CN" sz="1600" b="0" i="0" u="none" strike="noStrike" kern="1200" cap="none" spc="0" normalizeH="0" baseline="0" noProof="0">
                <a:ln>
                  <a:noFill/>
                </a:ln>
                <a:solidFill>
                  <a:srgbClr val="FFFFFF"/>
                </a:solidFill>
                <a:effectLst/>
                <a:uLnTx/>
                <a:uFillTx/>
                <a:latin typeface="Poppins"/>
                <a:ea typeface="+mn-ea"/>
                <a:cs typeface="+mn-cs"/>
              </a:rPr>
              <a:t> MTAP IHC as</a:t>
            </a:r>
            <a:r>
              <a:rPr lang="en-US" altLang="zh-CN" sz="1600">
                <a:solidFill>
                  <a:srgbClr val="FFFFFF"/>
                </a:solidFill>
                <a:latin typeface="Poppins"/>
              </a:rPr>
              <a:t> primary CDx with F1CDx as fast follow on CDx </a:t>
            </a:r>
            <a:endParaRPr lang="en-US" altLang="zh-CN" sz="1600" b="0" i="0" u="none" strike="noStrike" kern="1200" cap="none" spc="0" normalizeH="0" baseline="0" noProof="0">
              <a:ln>
                <a:noFill/>
              </a:ln>
              <a:solidFill>
                <a:srgbClr val="FFFFFF"/>
              </a:solidFill>
              <a:effectLst/>
              <a:uLnTx/>
              <a:uFillTx/>
              <a:latin typeface="Poppins"/>
              <a:cs typeface="Poppins"/>
            </a:endParaRPr>
          </a:p>
        </p:txBody>
      </p:sp>
      <p:sp>
        <p:nvSpPr>
          <p:cNvPr id="5" name="Rectangle: Rounded Corners 4">
            <a:extLst>
              <a:ext uri="{FF2B5EF4-FFF2-40B4-BE49-F238E27FC236}">
                <a16:creationId xmlns:a16="http://schemas.microsoft.com/office/drawing/2014/main" id="{FF0D77ED-0B54-4A1B-BB69-510A2EAF8093}"/>
              </a:ext>
            </a:extLst>
          </p:cNvPr>
          <p:cNvSpPr/>
          <p:nvPr/>
        </p:nvSpPr>
        <p:spPr>
          <a:xfrm>
            <a:off x="487586" y="3138644"/>
            <a:ext cx="2660160" cy="1660909"/>
          </a:xfrm>
          <a:prstGeom prst="round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normAutofit lnSpcReduction="10000"/>
          </a:bodyPr>
          <a:lstStyle/>
          <a:p>
            <a:pPr marL="182880" marR="0" lvl="0" indent="-18288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altLang="zh-CN" sz="1600" b="0" i="0" u="none" strike="noStrike" kern="1200" cap="none" spc="0" normalizeH="0" baseline="0" noProof="0">
                <a:ln>
                  <a:noFill/>
                </a:ln>
                <a:solidFill>
                  <a:srgbClr val="FFFFFF"/>
                </a:solidFill>
                <a:effectLst/>
                <a:uLnTx/>
                <a:uFillTx/>
                <a:latin typeface="Poppins"/>
                <a:ea typeface="+mn-ea"/>
                <a:cs typeface="+mn-cs"/>
              </a:rPr>
              <a:t>Leverage local NGS results as much as possible</a:t>
            </a:r>
          </a:p>
          <a:p>
            <a:pPr marL="182880" marR="0" lvl="0" indent="-18288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altLang="zh-CN" sz="1600" b="0" i="0" u="none" strike="noStrike" kern="1200" cap="none" spc="0" normalizeH="0" baseline="0" noProof="0">
                <a:ln>
                  <a:noFill/>
                </a:ln>
                <a:solidFill>
                  <a:srgbClr val="FFFFFF"/>
                </a:solidFill>
                <a:effectLst/>
                <a:uLnTx/>
                <a:uFillTx/>
                <a:latin typeface="Poppins"/>
                <a:ea typeface="+mn-ea"/>
                <a:cs typeface="+mn-cs"/>
              </a:rPr>
              <a:t>Provide central screening (CTA) with acceptable TAT</a:t>
            </a:r>
          </a:p>
        </p:txBody>
      </p:sp>
      <p:sp>
        <p:nvSpPr>
          <p:cNvPr id="7" name="TextBox 6">
            <a:extLst>
              <a:ext uri="{FF2B5EF4-FFF2-40B4-BE49-F238E27FC236}">
                <a16:creationId xmlns:a16="http://schemas.microsoft.com/office/drawing/2014/main" id="{639086E2-1951-7CCD-DFA0-0787E95DF347}"/>
              </a:ext>
            </a:extLst>
          </p:cNvPr>
          <p:cNvSpPr txBox="1"/>
          <p:nvPr/>
        </p:nvSpPr>
        <p:spPr>
          <a:xfrm>
            <a:off x="3644791" y="5194391"/>
            <a:ext cx="2366353" cy="615553"/>
          </a:xfrm>
          <a:prstGeom prst="rect">
            <a:avLst/>
          </a:prstGeom>
          <a:noFill/>
        </p:spPr>
        <p:txBody>
          <a:bodyPr wrap="none" lIns="91440" tIns="91440" rIns="91440" bIns="91440" rtlCol="0" anchor="t">
            <a:spAutoFit/>
          </a:bodyPr>
          <a:lstStyle/>
          <a:p>
            <a:pPr algn="ctr" defTabSz="914400">
              <a:defRPr/>
            </a:pPr>
            <a:r>
              <a:rPr kumimoji="0" lang="en-US" altLang="zh-CN" sz="1400" b="1" i="0" u="none" strike="noStrike" kern="1200" cap="none" spc="0" normalizeH="0" baseline="0" noProof="0">
                <a:ln>
                  <a:noFill/>
                </a:ln>
                <a:solidFill>
                  <a:srgbClr val="003A70">
                    <a:lumMod val="75000"/>
                  </a:srgbClr>
                </a:solidFill>
                <a:effectLst/>
                <a:uLnTx/>
                <a:uFillTx/>
                <a:latin typeface="Poppins"/>
                <a:ea typeface="+mn-ea"/>
                <a:cs typeface="+mn-cs"/>
              </a:rPr>
              <a:t>Tissue </a:t>
            </a:r>
            <a:r>
              <a:rPr lang="en-US" altLang="zh-CN" sz="1400" b="1">
                <a:solidFill>
                  <a:srgbClr val="003A70">
                    <a:lumMod val="75000"/>
                  </a:srgbClr>
                </a:solidFill>
                <a:latin typeface="Poppins"/>
              </a:rPr>
              <a:t>IHC as 1</a:t>
            </a:r>
            <a:r>
              <a:rPr lang="en-US" altLang="zh-CN" sz="1400" b="1" baseline="30000">
                <a:solidFill>
                  <a:srgbClr val="003A70">
                    <a:lumMod val="75000"/>
                  </a:srgbClr>
                </a:solidFill>
                <a:latin typeface="Poppins"/>
              </a:rPr>
              <a:t>o </a:t>
            </a:r>
            <a:r>
              <a:rPr lang="en-US" altLang="zh-CN" sz="1400" b="1">
                <a:solidFill>
                  <a:srgbClr val="003A70">
                    <a:lumMod val="75000"/>
                  </a:srgbClr>
                </a:solidFill>
                <a:latin typeface="Poppins"/>
              </a:rPr>
              <a:t>CDx</a:t>
            </a:r>
            <a:endParaRPr lang="en-US" altLang="zh-CN" sz="1400" b="1" i="0" u="none" strike="noStrike" kern="1200" cap="none" spc="0" normalizeH="0" noProof="0">
              <a:ln>
                <a:noFill/>
              </a:ln>
              <a:solidFill>
                <a:srgbClr val="003A70">
                  <a:lumMod val="75000"/>
                </a:srgbClr>
              </a:solidFill>
              <a:effectLst/>
              <a:uLnTx/>
              <a:uFillTx/>
              <a:latin typeface="Poppins"/>
              <a:cs typeface="Poppins"/>
            </a:endParaRPr>
          </a:p>
          <a:p>
            <a:pPr algn="ctr" defTabSz="914400">
              <a:defRPr/>
            </a:pPr>
            <a:r>
              <a:rPr kumimoji="0" lang="en-US" altLang="zh-CN" sz="1400" b="1" i="0" u="none" strike="noStrike" kern="1200" cap="none" spc="0" normalizeH="0" baseline="0" noProof="0">
                <a:ln>
                  <a:noFill/>
                </a:ln>
                <a:solidFill>
                  <a:srgbClr val="003A70">
                    <a:lumMod val="75000"/>
                  </a:srgbClr>
                </a:solidFill>
                <a:effectLst/>
                <a:uLnTx/>
                <a:uFillTx/>
                <a:latin typeface="Poppins"/>
                <a:ea typeface="+mn-ea"/>
                <a:cs typeface="+mn-cs"/>
              </a:rPr>
              <a:t>(</a:t>
            </a:r>
            <a:r>
              <a:rPr lang="en-US" altLang="zh-CN" sz="1400" b="1">
                <a:solidFill>
                  <a:srgbClr val="003A70">
                    <a:lumMod val="75000"/>
                  </a:srgbClr>
                </a:solidFill>
                <a:latin typeface="Poppins"/>
              </a:rPr>
              <a:t>NGS</a:t>
            </a:r>
            <a:r>
              <a:rPr kumimoji="0" lang="en-US" altLang="zh-CN" sz="1400" b="1" i="0" u="none" strike="noStrike" kern="1200" cap="none" spc="0" normalizeH="0" baseline="0" noProof="0">
                <a:ln>
                  <a:noFill/>
                </a:ln>
                <a:solidFill>
                  <a:srgbClr val="003A70">
                    <a:lumMod val="75000"/>
                  </a:srgbClr>
                </a:solidFill>
                <a:effectLst/>
                <a:uLnTx/>
                <a:uFillTx/>
                <a:latin typeface="Poppins"/>
                <a:ea typeface="+mn-ea"/>
                <a:cs typeface="+mn-cs"/>
              </a:rPr>
              <a:t> </a:t>
            </a:r>
            <a:r>
              <a:rPr lang="en-US" altLang="zh-CN" sz="1400" b="1">
                <a:solidFill>
                  <a:srgbClr val="003A70">
                    <a:lumMod val="75000"/>
                  </a:srgbClr>
                </a:solidFill>
                <a:latin typeface="Poppins"/>
              </a:rPr>
              <a:t>as follow on CDx*)</a:t>
            </a:r>
            <a:endParaRPr kumimoji="0" lang="en-US" altLang="zh-CN" sz="1400" b="1" i="0" u="none" strike="noStrike" kern="1200" cap="none" spc="0" normalizeH="0" baseline="0" noProof="0">
              <a:ln>
                <a:noFill/>
              </a:ln>
              <a:solidFill>
                <a:srgbClr val="003A70">
                  <a:lumMod val="75000"/>
                </a:srgbClr>
              </a:solidFill>
              <a:effectLst/>
              <a:uLnTx/>
              <a:uFillTx/>
              <a:latin typeface="Poppins"/>
              <a:ea typeface="+mn-ea"/>
              <a:cs typeface="+mn-cs"/>
            </a:endParaRPr>
          </a:p>
        </p:txBody>
      </p:sp>
      <p:sp>
        <p:nvSpPr>
          <p:cNvPr id="8" name="TextBox 7">
            <a:extLst>
              <a:ext uri="{FF2B5EF4-FFF2-40B4-BE49-F238E27FC236}">
                <a16:creationId xmlns:a16="http://schemas.microsoft.com/office/drawing/2014/main" id="{7CE89F1A-207F-D7A9-235C-AA33759C9ABE}"/>
              </a:ext>
            </a:extLst>
          </p:cNvPr>
          <p:cNvSpPr txBox="1"/>
          <p:nvPr/>
        </p:nvSpPr>
        <p:spPr>
          <a:xfrm>
            <a:off x="6381746" y="5205443"/>
            <a:ext cx="2752677" cy="615553"/>
          </a:xfrm>
          <a:prstGeom prst="rect">
            <a:avLst/>
          </a:prstGeom>
          <a:noFill/>
        </p:spPr>
        <p:txBody>
          <a:bodyPr wrap="none" lIns="91440" tIns="91440" rIns="91440" bIns="9144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a:ln>
                  <a:noFill/>
                </a:ln>
                <a:solidFill>
                  <a:srgbClr val="003A70">
                    <a:lumMod val="75000"/>
                  </a:srgbClr>
                </a:solidFill>
                <a:effectLst/>
                <a:uLnTx/>
                <a:uFillTx/>
                <a:latin typeface="Poppins"/>
                <a:ea typeface="+mn-ea"/>
                <a:cs typeface="+mn-cs"/>
              </a:rPr>
              <a:t>Tissue/blood NGS</a:t>
            </a:r>
            <a:r>
              <a:rPr lang="en-US" altLang="zh-CN" sz="1400" b="1">
                <a:solidFill>
                  <a:srgbClr val="003A70">
                    <a:lumMod val="75000"/>
                  </a:srgbClr>
                </a:solidFill>
                <a:latin typeface="Poppins"/>
              </a:rPr>
              <a:t>**</a:t>
            </a:r>
            <a:r>
              <a:rPr kumimoji="0" lang="en-US" altLang="zh-CN" sz="1400" b="1" i="0" u="none" strike="noStrike" kern="1200" cap="none" spc="0" normalizeH="0" baseline="0" noProof="0">
                <a:ln>
                  <a:noFill/>
                </a:ln>
                <a:solidFill>
                  <a:srgbClr val="003A70">
                    <a:lumMod val="75000"/>
                  </a:srgbClr>
                </a:solidFill>
                <a:effectLst/>
                <a:uLnTx/>
                <a:uFillTx/>
                <a:latin typeface="Poppins"/>
                <a:ea typeface="+mn-ea"/>
                <a:cs typeface="+mn-cs"/>
              </a:rPr>
              <a:t> and IHC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a:ln>
                  <a:noFill/>
                </a:ln>
                <a:solidFill>
                  <a:srgbClr val="003A70">
                    <a:lumMod val="75000"/>
                  </a:srgbClr>
                </a:solidFill>
                <a:effectLst/>
                <a:uLnTx/>
                <a:uFillTx/>
                <a:latin typeface="Poppins"/>
                <a:ea typeface="+mn-ea"/>
                <a:cs typeface="+mn-cs"/>
              </a:rPr>
              <a:t>(CDx + LDTs)</a:t>
            </a:r>
          </a:p>
        </p:txBody>
      </p:sp>
      <p:grpSp>
        <p:nvGrpSpPr>
          <p:cNvPr id="17" name="Group 16">
            <a:extLst>
              <a:ext uri="{FF2B5EF4-FFF2-40B4-BE49-F238E27FC236}">
                <a16:creationId xmlns:a16="http://schemas.microsoft.com/office/drawing/2014/main" id="{6265E90E-C19C-1913-18C6-1059AA29F2C9}"/>
              </a:ext>
            </a:extLst>
          </p:cNvPr>
          <p:cNvGrpSpPr/>
          <p:nvPr/>
        </p:nvGrpSpPr>
        <p:grpSpPr>
          <a:xfrm>
            <a:off x="7598038" y="4938683"/>
            <a:ext cx="413390" cy="277486"/>
            <a:chOff x="4477789" y="5111571"/>
            <a:chExt cx="476596" cy="319913"/>
          </a:xfrm>
        </p:grpSpPr>
        <p:sp>
          <p:nvSpPr>
            <p:cNvPr id="18" name="Rectangle 17">
              <a:extLst>
                <a:ext uri="{FF2B5EF4-FFF2-40B4-BE49-F238E27FC236}">
                  <a16:creationId xmlns:a16="http://schemas.microsoft.com/office/drawing/2014/main" id="{7ED7AFE0-706B-1D6C-A7CF-5502A14F9374}"/>
                </a:ext>
              </a:extLst>
            </p:cNvPr>
            <p:cNvSpPr/>
            <p:nvPr/>
          </p:nvSpPr>
          <p:spPr>
            <a:xfrm>
              <a:off x="4477789" y="5111571"/>
              <a:ext cx="476596" cy="3199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77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a:ln>
                  <a:noFill/>
                </a:ln>
                <a:solidFill>
                  <a:srgbClr val="FFFFFF"/>
                </a:solidFill>
                <a:effectLst/>
                <a:uLnTx/>
                <a:uFillTx/>
                <a:latin typeface="Poppins"/>
                <a:ea typeface="+mn-ea"/>
                <a:cs typeface="+mn-cs"/>
              </a:endParaRPr>
            </a:p>
          </p:txBody>
        </p:sp>
        <p:sp>
          <p:nvSpPr>
            <p:cNvPr id="22" name="Circle: Hollow 21">
              <a:extLst>
                <a:ext uri="{FF2B5EF4-FFF2-40B4-BE49-F238E27FC236}">
                  <a16:creationId xmlns:a16="http://schemas.microsoft.com/office/drawing/2014/main" id="{C121D6F6-0AEC-CBFB-041A-6B276D8C886C}"/>
                </a:ext>
              </a:extLst>
            </p:cNvPr>
            <p:cNvSpPr/>
            <p:nvPr/>
          </p:nvSpPr>
          <p:spPr>
            <a:xfrm>
              <a:off x="4552815" y="5111571"/>
              <a:ext cx="319913" cy="319913"/>
            </a:xfrm>
            <a:prstGeom prst="donu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a:ln>
                  <a:noFill/>
                </a:ln>
                <a:solidFill>
                  <a:srgbClr val="FFFFFF"/>
                </a:solidFill>
                <a:effectLst/>
                <a:uLnTx/>
                <a:uFillTx/>
                <a:latin typeface="Poppins"/>
                <a:ea typeface="+mn-ea"/>
                <a:cs typeface="+mn-cs"/>
              </a:endParaRPr>
            </a:p>
          </p:txBody>
        </p:sp>
      </p:grpSp>
      <p:grpSp>
        <p:nvGrpSpPr>
          <p:cNvPr id="24" name="Group 23">
            <a:extLst>
              <a:ext uri="{FF2B5EF4-FFF2-40B4-BE49-F238E27FC236}">
                <a16:creationId xmlns:a16="http://schemas.microsoft.com/office/drawing/2014/main" id="{7C9E0E74-D13F-A10E-65EC-7D86080AA895}"/>
              </a:ext>
            </a:extLst>
          </p:cNvPr>
          <p:cNvGrpSpPr/>
          <p:nvPr/>
        </p:nvGrpSpPr>
        <p:grpSpPr>
          <a:xfrm>
            <a:off x="1559418" y="4938683"/>
            <a:ext cx="413390" cy="277486"/>
            <a:chOff x="4477789" y="5111571"/>
            <a:chExt cx="476596" cy="319913"/>
          </a:xfrm>
        </p:grpSpPr>
        <p:sp>
          <p:nvSpPr>
            <p:cNvPr id="25" name="Rectangle 24">
              <a:extLst>
                <a:ext uri="{FF2B5EF4-FFF2-40B4-BE49-F238E27FC236}">
                  <a16:creationId xmlns:a16="http://schemas.microsoft.com/office/drawing/2014/main" id="{E2E63AA2-2761-B0A8-1287-D983F82AE631}"/>
                </a:ext>
              </a:extLst>
            </p:cNvPr>
            <p:cNvSpPr/>
            <p:nvPr/>
          </p:nvSpPr>
          <p:spPr>
            <a:xfrm>
              <a:off x="4477789" y="5111571"/>
              <a:ext cx="476596" cy="3199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77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a:ln>
                  <a:noFill/>
                </a:ln>
                <a:solidFill>
                  <a:srgbClr val="FFFFFF"/>
                </a:solidFill>
                <a:effectLst/>
                <a:uLnTx/>
                <a:uFillTx/>
                <a:latin typeface="Poppins"/>
                <a:ea typeface="+mn-ea"/>
                <a:cs typeface="+mn-cs"/>
              </a:endParaRPr>
            </a:p>
          </p:txBody>
        </p:sp>
        <p:sp>
          <p:nvSpPr>
            <p:cNvPr id="26" name="Circle: Hollow 25">
              <a:extLst>
                <a:ext uri="{FF2B5EF4-FFF2-40B4-BE49-F238E27FC236}">
                  <a16:creationId xmlns:a16="http://schemas.microsoft.com/office/drawing/2014/main" id="{1C583131-0EAA-24A3-D010-C4D1D9283866}"/>
                </a:ext>
              </a:extLst>
            </p:cNvPr>
            <p:cNvSpPr/>
            <p:nvPr/>
          </p:nvSpPr>
          <p:spPr>
            <a:xfrm>
              <a:off x="4552815" y="5111571"/>
              <a:ext cx="319913" cy="319913"/>
            </a:xfrm>
            <a:prstGeom prst="donu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a:ln>
                  <a:noFill/>
                </a:ln>
                <a:solidFill>
                  <a:srgbClr val="FFFFFF"/>
                </a:solidFill>
                <a:effectLst/>
                <a:uLnTx/>
                <a:uFillTx/>
                <a:latin typeface="Poppins"/>
                <a:ea typeface="+mn-ea"/>
                <a:cs typeface="+mn-cs"/>
              </a:endParaRPr>
            </a:p>
          </p:txBody>
        </p:sp>
      </p:grpSp>
      <p:sp>
        <p:nvSpPr>
          <p:cNvPr id="12" name="TextBox 11">
            <a:extLst>
              <a:ext uri="{FF2B5EF4-FFF2-40B4-BE49-F238E27FC236}">
                <a16:creationId xmlns:a16="http://schemas.microsoft.com/office/drawing/2014/main" id="{877790C5-3F43-2E09-5F95-11ACF592EA2F}"/>
              </a:ext>
            </a:extLst>
          </p:cNvPr>
          <p:cNvSpPr txBox="1"/>
          <p:nvPr/>
        </p:nvSpPr>
        <p:spPr>
          <a:xfrm>
            <a:off x="290285" y="5999238"/>
            <a:ext cx="5474576" cy="369332"/>
          </a:xfrm>
          <a:prstGeom prst="rect">
            <a:avLst/>
          </a:prstGeom>
          <a:noFill/>
        </p:spPr>
        <p:txBody>
          <a:bodyPr rot="0" spcFirstLastPara="0" vertOverflow="overflow" horzOverflow="overflow" vert="horz" wrap="none" lIns="91440" tIns="91440" rIns="91440" bIns="91440" numCol="1" spcCol="0" rtlCol="0" fromWordArt="0" anchor="t" anchorCtr="0" forceAA="0" compatLnSpc="1">
            <a:prstTxWarp prst="textNoShape">
              <a:avLst/>
            </a:prstTxWarp>
            <a:spAutoFit/>
          </a:bodyPr>
          <a:lstStyle/>
          <a:p>
            <a:r>
              <a:rPr lang="en-US" sz="1200">
                <a:cs typeface="Poppins"/>
              </a:rPr>
              <a:t>*PTS for follow on NGS CDx uncertain given potential tissue limitations</a:t>
            </a:r>
            <a:endParaRPr lang="en-US" sz="1200"/>
          </a:p>
        </p:txBody>
      </p:sp>
      <p:sp>
        <p:nvSpPr>
          <p:cNvPr id="13" name="TextBox 12">
            <a:extLst>
              <a:ext uri="{FF2B5EF4-FFF2-40B4-BE49-F238E27FC236}">
                <a16:creationId xmlns:a16="http://schemas.microsoft.com/office/drawing/2014/main" id="{95C0E35E-CF79-0CE6-5E27-FA36E2EC9B81}"/>
              </a:ext>
            </a:extLst>
          </p:cNvPr>
          <p:cNvSpPr txBox="1"/>
          <p:nvPr/>
        </p:nvSpPr>
        <p:spPr>
          <a:xfrm>
            <a:off x="217713" y="6289522"/>
            <a:ext cx="6484467" cy="369332"/>
          </a:xfrm>
          <a:prstGeom prst="rect">
            <a:avLst/>
          </a:prstGeom>
          <a:noFill/>
        </p:spPr>
        <p:txBody>
          <a:bodyPr rot="0" spcFirstLastPara="0" vertOverflow="overflow" horzOverflow="overflow" vert="horz" wrap="none" lIns="91440" tIns="91440" rIns="91440" bIns="91440" numCol="1" spcCol="0" rtlCol="0" fromWordArt="0" anchor="t" anchorCtr="0" forceAA="0" compatLnSpc="1">
            <a:prstTxWarp prst="textNoShape">
              <a:avLst/>
            </a:prstTxWarp>
            <a:spAutoFit/>
          </a:bodyPr>
          <a:lstStyle/>
          <a:p>
            <a:r>
              <a:rPr lang="en-US" sz="1200">
                <a:cs typeface="Poppins"/>
              </a:rPr>
              <a:t>**Lower </a:t>
            </a:r>
            <a:r>
              <a:rPr lang="en-US" sz="1200" err="1">
                <a:cs typeface="Poppins"/>
              </a:rPr>
              <a:t>sensitivitity</a:t>
            </a:r>
            <a:r>
              <a:rPr lang="en-US" sz="1200">
                <a:cs typeface="Poppins"/>
              </a:rPr>
              <a:t> ~60% of </a:t>
            </a:r>
            <a:r>
              <a:rPr lang="en-US" sz="1200" err="1">
                <a:cs typeface="Poppins"/>
              </a:rPr>
              <a:t>LBx</a:t>
            </a:r>
            <a:r>
              <a:rPr lang="en-US" sz="1200">
                <a:cs typeface="Poppins"/>
              </a:rPr>
              <a:t> as compared to Tissue NGS for MTAP del detection</a:t>
            </a:r>
          </a:p>
        </p:txBody>
      </p:sp>
      <p:sp>
        <p:nvSpPr>
          <p:cNvPr id="40" name="Footer Placeholder 2">
            <a:extLst>
              <a:ext uri="{FF2B5EF4-FFF2-40B4-BE49-F238E27FC236}">
                <a16:creationId xmlns:a16="http://schemas.microsoft.com/office/drawing/2014/main" id="{9C69D5EE-D37A-99E9-BC66-75DD135007CF}"/>
              </a:ext>
            </a:extLst>
          </p:cNvPr>
          <p:cNvSpPr txBox="1">
            <a:spLocks/>
          </p:cNvSpPr>
          <p:nvPr/>
        </p:nvSpPr>
        <p:spPr>
          <a:xfrm>
            <a:off x="362743" y="6612313"/>
            <a:ext cx="9103688" cy="365760"/>
          </a:xfrm>
          <a:prstGeom prst="roundRect">
            <a:avLst>
              <a:gd name="adj" fmla="val 9586"/>
            </a:avLst>
          </a:prstGeom>
          <a:ln>
            <a:noFill/>
          </a:ln>
        </p:spPr>
        <p:txBody>
          <a:bodyPr vert="horz" lIns="0" tIns="0" rIns="0" bIns="0" rtlCol="0">
            <a:normAutofit/>
          </a:bodyPr>
          <a:lstStyle>
            <a:lvl1pPr marL="171450" indent="-171450" algn="l" defTabSz="914400" rtl="0" eaLnBrk="1" latinLnBrk="0" hangingPunct="1">
              <a:lnSpc>
                <a:spcPct val="100000"/>
              </a:lnSpc>
              <a:spcBef>
                <a:spcPts val="1000"/>
              </a:spcBef>
              <a:buClr>
                <a:schemeClr val="accent1"/>
              </a:buClr>
              <a:buFont typeface="Arial" panose="020B0604020202020204" pitchFamily="34" charset="0"/>
              <a:buChar char="•"/>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a:extLst>
                    <a:ext uri="{96DAC541-7B7A-43D3-8B79-37D633B846F1}">
                      <asvg:svgBlip xmlns:asvg="http://schemas.microsoft.com/office/drawing/2016/SVG/main" r:embed="rId7"/>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8"/>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457200">
              <a:lnSpc>
                <a:spcPct val="90000"/>
              </a:lnSpc>
              <a:spcBef>
                <a:spcPts val="300"/>
              </a:spcBef>
              <a:buClrTx/>
              <a:buFontTx/>
              <a:buNone/>
              <a:defRPr/>
            </a:pPr>
            <a:r>
              <a:rPr lang="en-US" sz="700">
                <a:solidFill>
                  <a:srgbClr val="595959"/>
                </a:solidFill>
                <a:latin typeface="Poppins"/>
                <a:ea typeface="+mn-ea"/>
                <a:cs typeface="+mn-cs"/>
              </a:rPr>
              <a:t>Abbreviations: BIC: Best-In-Class; CDx: Companion Diagnostic; CTA: Clinical Trial Assay; FIC: First-in-Class; IHC: Immunohistochemistry; IVD: In Vitro Diagnostic; </a:t>
            </a:r>
            <a:r>
              <a:rPr lang="en-US" sz="700" err="1">
                <a:solidFill>
                  <a:srgbClr val="595959"/>
                </a:solidFill>
                <a:latin typeface="Poppins"/>
                <a:ea typeface="+mn-ea"/>
                <a:cs typeface="+mn-cs"/>
              </a:rPr>
              <a:t>LBx</a:t>
            </a:r>
            <a:r>
              <a:rPr lang="en-US" sz="700">
                <a:solidFill>
                  <a:srgbClr val="595959"/>
                </a:solidFill>
                <a:latin typeface="Poppins"/>
                <a:ea typeface="+mn-ea"/>
                <a:cs typeface="+mn-cs"/>
              </a:rPr>
              <a:t>: Liquid Biopsy; LDT: Laboratory-Developed Test; MTAP: </a:t>
            </a:r>
            <a:r>
              <a:rPr lang="en-US" sz="700" err="1">
                <a:solidFill>
                  <a:srgbClr val="595959"/>
                </a:solidFill>
                <a:latin typeface="Poppins"/>
                <a:ea typeface="+mn-ea"/>
                <a:cs typeface="+mn-cs"/>
              </a:rPr>
              <a:t>Methylthioadenosine</a:t>
            </a:r>
            <a:r>
              <a:rPr lang="en-US" sz="700">
                <a:solidFill>
                  <a:srgbClr val="595959"/>
                </a:solidFill>
                <a:latin typeface="Poppins"/>
                <a:ea typeface="+mn-ea"/>
                <a:cs typeface="+mn-cs"/>
              </a:rPr>
              <a:t> Phosphorylase; NGS: Next-Generation Sequencing; PRMT5: Protein Arginine Methyltransferase: PTS: Probability of Technical Success; TAT: Turnaround Time</a:t>
            </a:r>
          </a:p>
        </p:txBody>
      </p:sp>
      <p:grpSp>
        <p:nvGrpSpPr>
          <p:cNvPr id="11" name="Group 10">
            <a:extLst>
              <a:ext uri="{FF2B5EF4-FFF2-40B4-BE49-F238E27FC236}">
                <a16:creationId xmlns:a16="http://schemas.microsoft.com/office/drawing/2014/main" id="{3A7FB188-E11E-C15A-78C8-048DB49D651F}"/>
              </a:ext>
            </a:extLst>
          </p:cNvPr>
          <p:cNvGrpSpPr/>
          <p:nvPr/>
        </p:nvGrpSpPr>
        <p:grpSpPr>
          <a:xfrm>
            <a:off x="362743" y="10216"/>
            <a:ext cx="10042505" cy="252000"/>
            <a:chOff x="362743" y="10216"/>
            <a:chExt cx="10042505" cy="252000"/>
          </a:xfrm>
        </p:grpSpPr>
        <p:sp>
          <p:nvSpPr>
            <p:cNvPr id="34" name="Pentagon 47">
              <a:extLst>
                <a:ext uri="{FF2B5EF4-FFF2-40B4-BE49-F238E27FC236}">
                  <a16:creationId xmlns:a16="http://schemas.microsoft.com/office/drawing/2014/main" id="{A1610772-C0CD-5899-B2EA-1CFDF2B76530}"/>
                </a:ext>
              </a:extLst>
            </p:cNvPr>
            <p:cNvSpPr/>
            <p:nvPr/>
          </p:nvSpPr>
          <p:spPr>
            <a:xfrm>
              <a:off x="362743" y="10216"/>
              <a:ext cx="1695265" cy="252000"/>
            </a:xfrm>
            <a:prstGeom prst="homePlate">
              <a:avLst>
                <a:gd name="adj" fmla="val 28868"/>
              </a:avLst>
            </a:prstGeom>
            <a:solidFill>
              <a:schemeClr val="bg2">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35" name="Chevron 48">
              <a:extLst>
                <a:ext uri="{FF2B5EF4-FFF2-40B4-BE49-F238E27FC236}">
                  <a16:creationId xmlns:a16="http://schemas.microsoft.com/office/drawing/2014/main" id="{3C88BD56-1AAE-94D3-6EB4-88E789146041}"/>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36" name="Chevron 52">
              <a:extLst>
                <a:ext uri="{FF2B5EF4-FFF2-40B4-BE49-F238E27FC236}">
                  <a16:creationId xmlns:a16="http://schemas.microsoft.com/office/drawing/2014/main" id="{D69D95B6-3581-720D-EA1A-A56335A87E42}"/>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37" name="Chevron 54">
              <a:extLst>
                <a:ext uri="{FF2B5EF4-FFF2-40B4-BE49-F238E27FC236}">
                  <a16:creationId xmlns:a16="http://schemas.microsoft.com/office/drawing/2014/main" id="{1F3C16FD-764B-8121-F144-77C7D6DA63D9}"/>
                </a:ext>
              </a:extLst>
            </p:cNvPr>
            <p:cNvSpPr/>
            <p:nvPr/>
          </p:nvSpPr>
          <p:spPr>
            <a:xfrm>
              <a:off x="2032191"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38" name="Chevron 48">
              <a:extLst>
                <a:ext uri="{FF2B5EF4-FFF2-40B4-BE49-F238E27FC236}">
                  <a16:creationId xmlns:a16="http://schemas.microsoft.com/office/drawing/2014/main" id="{C20FD4AF-DA9F-2C96-BE2A-5D399C192ECC}"/>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41" name="Chevron 48">
              <a:extLst>
                <a:ext uri="{FF2B5EF4-FFF2-40B4-BE49-F238E27FC236}">
                  <a16:creationId xmlns:a16="http://schemas.microsoft.com/office/drawing/2014/main" id="{67E9CE0D-2EC2-67B5-8E03-79F580ABF9FE}"/>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3125000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1F9322D-330A-5977-F1A8-C8C3D7AC62C6}"/>
              </a:ext>
            </a:extLst>
          </p:cNvPr>
          <p:cNvGraphicFramePr>
            <a:graphicFrameLocks/>
          </p:cNvGraphicFramePr>
          <p:nvPr>
            <p:custDataLst>
              <p:tags r:id="rId1"/>
            </p:custDataLst>
            <p:extLst>
              <p:ext uri="{D42A27DB-BD31-4B8C-83A1-F6EECF244321}">
                <p14:modId xmlns:p14="http://schemas.microsoft.com/office/powerpoint/2010/main" val="26931026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04" imgH="405" progId="TCLayout.ActiveDocument.1">
                  <p:embed/>
                </p:oleObj>
              </mc:Choice>
              <mc:Fallback>
                <p:oleObj name="think-cell Slide" r:id="rId8" imgW="404" imgH="405" progId="TCLayout.ActiveDocument.1">
                  <p:embed/>
                  <p:pic>
                    <p:nvPicPr>
                      <p:cNvPr id="4" name="think-cell data - do not delete" hidden="1">
                        <a:extLst>
                          <a:ext uri="{FF2B5EF4-FFF2-40B4-BE49-F238E27FC236}">
                            <a16:creationId xmlns:a16="http://schemas.microsoft.com/office/drawing/2014/main" id="{51F9322D-330A-5977-F1A8-C8C3D7AC62C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4623CF6-4360-0F41-8667-A2E6C217465F}"/>
              </a:ext>
            </a:extLst>
          </p:cNvPr>
          <p:cNvSpPr>
            <a:spLocks noGrp="1"/>
          </p:cNvSpPr>
          <p:nvPr>
            <p:ph type="title"/>
          </p:nvPr>
        </p:nvSpPr>
        <p:spPr>
          <a:xfrm>
            <a:off x="358337" y="338328"/>
            <a:ext cx="11633638" cy="738664"/>
          </a:xfrm>
        </p:spPr>
        <p:txBody>
          <a:bodyPr vert="horz" wrap="square" rIns="0">
            <a:spAutoFit/>
          </a:bodyPr>
          <a:lstStyle/>
          <a:p>
            <a:r>
              <a:rPr lang="en-US" sz="2400"/>
              <a:t>A rapidly maturing PRMT5i landscape heightens the need for differentiated and durable evidence strategy for BGB-58067 </a:t>
            </a:r>
          </a:p>
        </p:txBody>
      </p:sp>
      <p:sp>
        <p:nvSpPr>
          <p:cNvPr id="3" name="Footer Placeholder 2">
            <a:extLst>
              <a:ext uri="{FF2B5EF4-FFF2-40B4-BE49-F238E27FC236}">
                <a16:creationId xmlns:a16="http://schemas.microsoft.com/office/drawing/2014/main" id="{5CE49EDA-F6FB-AEB8-6CC4-B57214442133}"/>
              </a:ext>
            </a:extLst>
          </p:cNvPr>
          <p:cNvSpPr>
            <a:spLocks noGrp="1"/>
          </p:cNvSpPr>
          <p:nvPr>
            <p:ph type="ftr" sz="quarter" idx="10"/>
          </p:nvPr>
        </p:nvSpPr>
        <p:spPr/>
        <p:txBody>
          <a:bodyPr/>
          <a:lstStyle/>
          <a:p>
            <a:r>
              <a:rPr lang="en-US"/>
              <a:t>Abbreviations: BTC: Biliary Tract Cancer; CNS: Central Nervous System; DO: Dose Optimization; DRO: Data Readout; GEC: Gastroesophageal Cancer; </a:t>
            </a:r>
            <a:r>
              <a:rPr lang="en-US" err="1"/>
              <a:t>HRQoL</a:t>
            </a:r>
            <a:r>
              <a:rPr lang="en-US"/>
              <a:t>: Health-Related Quality of Life; IO: Immuno-oncology; MTAP: </a:t>
            </a:r>
            <a:r>
              <a:rPr lang="en-US" err="1"/>
              <a:t>Methylthioadenosine</a:t>
            </a:r>
            <a:r>
              <a:rPr lang="en-US"/>
              <a:t> Phosphorylase; NSCLC: Non-Small Cell Lung Cancer; PDAC: Pancreatic Ductal Adenocarcinoma; PD-(L)1: Programmed Cell Death Protein 1/ Programmed Death-Ligand 1; PRMT5i: Protein Arginine Methyltransferase 5 Inhibitor; TIS: Tislelizumab</a:t>
            </a:r>
          </a:p>
        </p:txBody>
      </p:sp>
      <p:grpSp>
        <p:nvGrpSpPr>
          <p:cNvPr id="16" name="Group 15">
            <a:extLst>
              <a:ext uri="{FF2B5EF4-FFF2-40B4-BE49-F238E27FC236}">
                <a16:creationId xmlns:a16="http://schemas.microsoft.com/office/drawing/2014/main" id="{F739DAC2-C9EC-B0C9-4755-7D5361061629}"/>
              </a:ext>
            </a:extLst>
          </p:cNvPr>
          <p:cNvGrpSpPr/>
          <p:nvPr/>
        </p:nvGrpSpPr>
        <p:grpSpPr>
          <a:xfrm>
            <a:off x="474744" y="1413908"/>
            <a:ext cx="5400000" cy="2352874"/>
            <a:chOff x="474745" y="1413908"/>
            <a:chExt cx="4001845" cy="2352874"/>
          </a:xfrm>
        </p:grpSpPr>
        <p:sp>
          <p:nvSpPr>
            <p:cNvPr id="13" name="Rectangle 12">
              <a:extLst>
                <a:ext uri="{FF2B5EF4-FFF2-40B4-BE49-F238E27FC236}">
                  <a16:creationId xmlns:a16="http://schemas.microsoft.com/office/drawing/2014/main" id="{51BE264A-4340-8623-337A-3F48F6774553}"/>
                </a:ext>
              </a:extLst>
            </p:cNvPr>
            <p:cNvSpPr/>
            <p:nvPr/>
          </p:nvSpPr>
          <p:spPr>
            <a:xfrm>
              <a:off x="474745" y="1596788"/>
              <a:ext cx="4001845" cy="2169994"/>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err="1">
                <a:solidFill>
                  <a:schemeClr val="tx2"/>
                </a:solidFill>
              </a:endParaRPr>
            </a:p>
          </p:txBody>
        </p:sp>
        <p:sp>
          <p:nvSpPr>
            <p:cNvPr id="5" name="Rectangle 4">
              <a:extLst>
                <a:ext uri="{FF2B5EF4-FFF2-40B4-BE49-F238E27FC236}">
                  <a16:creationId xmlns:a16="http://schemas.microsoft.com/office/drawing/2014/main" id="{0B135558-C0AD-989C-A504-9A1956E81BE6}"/>
                </a:ext>
              </a:extLst>
            </p:cNvPr>
            <p:cNvSpPr/>
            <p:nvPr/>
          </p:nvSpPr>
          <p:spPr>
            <a:xfrm>
              <a:off x="848983" y="1413908"/>
              <a:ext cx="3253369" cy="3657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r>
                <a:rPr lang="en-US" sz="1400" b="1">
                  <a:solidFill>
                    <a:schemeClr val="bg1"/>
                  </a:solidFill>
                </a:rPr>
                <a:t>Competitive Landscape Reality</a:t>
              </a:r>
            </a:p>
          </p:txBody>
        </p:sp>
      </p:grpSp>
      <p:grpSp>
        <p:nvGrpSpPr>
          <p:cNvPr id="17" name="Group 16">
            <a:extLst>
              <a:ext uri="{FF2B5EF4-FFF2-40B4-BE49-F238E27FC236}">
                <a16:creationId xmlns:a16="http://schemas.microsoft.com/office/drawing/2014/main" id="{0BB17B9E-6793-C601-A142-B2F420D3AA5E}"/>
              </a:ext>
            </a:extLst>
          </p:cNvPr>
          <p:cNvGrpSpPr/>
          <p:nvPr/>
        </p:nvGrpSpPr>
        <p:grpSpPr>
          <a:xfrm>
            <a:off x="474743" y="3889096"/>
            <a:ext cx="5400000" cy="2352874"/>
            <a:chOff x="474744" y="3889096"/>
            <a:chExt cx="4001845" cy="2352874"/>
          </a:xfrm>
        </p:grpSpPr>
        <p:sp>
          <p:nvSpPr>
            <p:cNvPr id="15" name="Rectangle 14">
              <a:extLst>
                <a:ext uri="{FF2B5EF4-FFF2-40B4-BE49-F238E27FC236}">
                  <a16:creationId xmlns:a16="http://schemas.microsoft.com/office/drawing/2014/main" id="{051ACE05-1230-87D9-502E-B06C55004536}"/>
                </a:ext>
              </a:extLst>
            </p:cNvPr>
            <p:cNvSpPr/>
            <p:nvPr/>
          </p:nvSpPr>
          <p:spPr>
            <a:xfrm>
              <a:off x="474744" y="4071976"/>
              <a:ext cx="4001845" cy="2169994"/>
            </a:xfrm>
            <a:prstGeom prst="rect">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r>
                <a:rPr lang="en-US" sz="1100" b="1">
                  <a:solidFill>
                    <a:schemeClr val="tx1"/>
                  </a:solidFill>
                </a:rPr>
                <a:t>BGB-58067 development in NSCLC aims for first-to-market strategy in 2L+ followed by 1L as confirmatory</a:t>
              </a:r>
            </a:p>
            <a:p>
              <a:pPr algn="ctr"/>
              <a:endParaRPr lang="en-US" sz="1100">
                <a:solidFill>
                  <a:schemeClr val="tx1"/>
                </a:solidFill>
              </a:endParaRPr>
            </a:p>
            <a:p>
              <a:pPr algn="ctr"/>
              <a:endParaRPr lang="en-US" sz="1100">
                <a:solidFill>
                  <a:schemeClr val="tx1"/>
                </a:solidFill>
              </a:endParaRPr>
            </a:p>
            <a:p>
              <a:pPr algn="ctr"/>
              <a:endParaRPr lang="en-US" sz="1100">
                <a:solidFill>
                  <a:schemeClr val="tx1"/>
                </a:solidFill>
              </a:endParaRPr>
            </a:p>
            <a:p>
              <a:pPr algn="ctr"/>
              <a:endParaRPr lang="en-US" sz="1100">
                <a:solidFill>
                  <a:schemeClr val="tx1"/>
                </a:solidFill>
              </a:endParaRPr>
            </a:p>
            <a:p>
              <a:pPr algn="ctr"/>
              <a:endParaRPr lang="en-US" sz="1100">
                <a:solidFill>
                  <a:schemeClr val="tx1"/>
                </a:solidFill>
              </a:endParaRPr>
            </a:p>
            <a:p>
              <a:pPr algn="ctr"/>
              <a:endParaRPr lang="en-US" sz="1100">
                <a:solidFill>
                  <a:schemeClr val="tx1"/>
                </a:solidFill>
              </a:endParaRPr>
            </a:p>
            <a:p>
              <a:pPr algn="ctr"/>
              <a:endParaRPr lang="en-US" sz="1100">
                <a:solidFill>
                  <a:schemeClr val="tx1"/>
                </a:solidFill>
              </a:endParaRPr>
            </a:p>
            <a:p>
              <a:pPr algn="ctr"/>
              <a:endParaRPr lang="en-US" sz="1100">
                <a:solidFill>
                  <a:schemeClr val="tx1"/>
                </a:solidFill>
              </a:endParaRPr>
            </a:p>
          </p:txBody>
        </p:sp>
        <p:sp>
          <p:nvSpPr>
            <p:cNvPr id="7" name="Rectangle 6">
              <a:extLst>
                <a:ext uri="{FF2B5EF4-FFF2-40B4-BE49-F238E27FC236}">
                  <a16:creationId xmlns:a16="http://schemas.microsoft.com/office/drawing/2014/main" id="{EACD6441-EA13-E4D8-6A03-AE5A13BB04E1}"/>
                </a:ext>
              </a:extLst>
            </p:cNvPr>
            <p:cNvSpPr/>
            <p:nvPr/>
          </p:nvSpPr>
          <p:spPr>
            <a:xfrm>
              <a:off x="848983" y="3889096"/>
              <a:ext cx="3253369" cy="3657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r>
                <a:rPr lang="en-US" sz="1400" b="1">
                  <a:solidFill>
                    <a:schemeClr val="bg1"/>
                  </a:solidFill>
                </a:rPr>
                <a:t>BGB-58067 Positioning in NSCLC</a:t>
              </a:r>
            </a:p>
          </p:txBody>
        </p:sp>
      </p:grpSp>
      <p:sp>
        <p:nvSpPr>
          <p:cNvPr id="22" name="Rectangle 21">
            <a:extLst>
              <a:ext uri="{FF2B5EF4-FFF2-40B4-BE49-F238E27FC236}">
                <a16:creationId xmlns:a16="http://schemas.microsoft.com/office/drawing/2014/main" id="{37440EBD-17F5-645F-A397-73A9B843CC72}"/>
              </a:ext>
            </a:extLst>
          </p:cNvPr>
          <p:cNvSpPr/>
          <p:nvPr/>
        </p:nvSpPr>
        <p:spPr>
          <a:xfrm>
            <a:off x="955341" y="1883907"/>
            <a:ext cx="4807281" cy="36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100">
                <a:solidFill>
                  <a:schemeClr val="tx2"/>
                </a:solidFill>
              </a:rPr>
              <a:t>BMS leads development in 1L and 2L+ NSCLC with pivotal programs in 1L setting underway</a:t>
            </a:r>
          </a:p>
        </p:txBody>
      </p:sp>
      <p:sp>
        <p:nvSpPr>
          <p:cNvPr id="24" name="Rectangle 23">
            <a:extLst>
              <a:ext uri="{FF2B5EF4-FFF2-40B4-BE49-F238E27FC236}">
                <a16:creationId xmlns:a16="http://schemas.microsoft.com/office/drawing/2014/main" id="{703E47B6-D166-E462-39A5-50F5BED9C924}"/>
              </a:ext>
            </a:extLst>
          </p:cNvPr>
          <p:cNvSpPr/>
          <p:nvPr/>
        </p:nvSpPr>
        <p:spPr>
          <a:xfrm>
            <a:off x="955342" y="2347494"/>
            <a:ext cx="4905677" cy="36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100">
                <a:solidFill>
                  <a:schemeClr val="tx2"/>
                </a:solidFill>
              </a:rPr>
              <a:t>NSCLC is the primary competitive battleground; others tumor types include PDAC, GEC, BTC</a:t>
            </a:r>
          </a:p>
        </p:txBody>
      </p:sp>
      <p:sp>
        <p:nvSpPr>
          <p:cNvPr id="26" name="Rectangle 25">
            <a:extLst>
              <a:ext uri="{FF2B5EF4-FFF2-40B4-BE49-F238E27FC236}">
                <a16:creationId xmlns:a16="http://schemas.microsoft.com/office/drawing/2014/main" id="{19326DED-4E07-3C06-6B49-009BDD86155D}"/>
              </a:ext>
            </a:extLst>
          </p:cNvPr>
          <p:cNvSpPr/>
          <p:nvPr/>
        </p:nvSpPr>
        <p:spPr>
          <a:xfrm>
            <a:off x="955342" y="2828518"/>
            <a:ext cx="4807280" cy="36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100">
                <a:solidFill>
                  <a:schemeClr val="tx2"/>
                </a:solidFill>
              </a:rPr>
              <a:t>Amgen’s discontinuation reduces competition but may raise scrutiny of the PRMT5i class</a:t>
            </a:r>
          </a:p>
        </p:txBody>
      </p:sp>
      <p:sp>
        <p:nvSpPr>
          <p:cNvPr id="28" name="Rectangle 27">
            <a:extLst>
              <a:ext uri="{FF2B5EF4-FFF2-40B4-BE49-F238E27FC236}">
                <a16:creationId xmlns:a16="http://schemas.microsoft.com/office/drawing/2014/main" id="{CD70C79F-DED9-461A-112D-484106070F96}"/>
              </a:ext>
            </a:extLst>
          </p:cNvPr>
          <p:cNvSpPr/>
          <p:nvPr/>
        </p:nvSpPr>
        <p:spPr>
          <a:xfrm>
            <a:off x="955341" y="3287044"/>
            <a:ext cx="4807279" cy="36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1100">
                <a:solidFill>
                  <a:schemeClr val="tx2"/>
                </a:solidFill>
              </a:rPr>
              <a:t>No PRMT5i has demonstrated meaningful clinical CNS benefit yet</a:t>
            </a:r>
          </a:p>
        </p:txBody>
      </p:sp>
      <p:sp>
        <p:nvSpPr>
          <p:cNvPr id="29" name="Oval 28">
            <a:extLst>
              <a:ext uri="{FF2B5EF4-FFF2-40B4-BE49-F238E27FC236}">
                <a16:creationId xmlns:a16="http://schemas.microsoft.com/office/drawing/2014/main" id="{B7B96FC6-87E4-DDA2-E703-0D33FCEBD8C5}"/>
              </a:ext>
            </a:extLst>
          </p:cNvPr>
          <p:cNvSpPr>
            <a:spLocks noChangeAspect="1"/>
          </p:cNvSpPr>
          <p:nvPr/>
        </p:nvSpPr>
        <p:spPr>
          <a:xfrm>
            <a:off x="573654" y="1896151"/>
            <a:ext cx="341194" cy="34127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r>
              <a:rPr lang="en-US" sz="1200" b="1">
                <a:solidFill>
                  <a:schemeClr val="bg1"/>
                </a:solidFill>
              </a:rPr>
              <a:t>1</a:t>
            </a:r>
          </a:p>
        </p:txBody>
      </p:sp>
      <p:sp>
        <p:nvSpPr>
          <p:cNvPr id="31" name="Oval 30">
            <a:extLst>
              <a:ext uri="{FF2B5EF4-FFF2-40B4-BE49-F238E27FC236}">
                <a16:creationId xmlns:a16="http://schemas.microsoft.com/office/drawing/2014/main" id="{BDF73A31-A154-64D1-1B98-4ADBCFB29065}"/>
              </a:ext>
            </a:extLst>
          </p:cNvPr>
          <p:cNvSpPr>
            <a:spLocks noChangeAspect="1"/>
          </p:cNvSpPr>
          <p:nvPr/>
        </p:nvSpPr>
        <p:spPr>
          <a:xfrm>
            <a:off x="573654" y="2359738"/>
            <a:ext cx="341194" cy="34127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r>
              <a:rPr lang="en-US" sz="1200" b="1">
                <a:solidFill>
                  <a:schemeClr val="bg1"/>
                </a:solidFill>
              </a:rPr>
              <a:t>2</a:t>
            </a:r>
          </a:p>
        </p:txBody>
      </p:sp>
      <p:sp>
        <p:nvSpPr>
          <p:cNvPr id="33" name="Oval 32">
            <a:extLst>
              <a:ext uri="{FF2B5EF4-FFF2-40B4-BE49-F238E27FC236}">
                <a16:creationId xmlns:a16="http://schemas.microsoft.com/office/drawing/2014/main" id="{CAD615AB-4B78-9CB3-B719-BFBCB6E4A1BD}"/>
              </a:ext>
            </a:extLst>
          </p:cNvPr>
          <p:cNvSpPr>
            <a:spLocks noChangeAspect="1"/>
          </p:cNvSpPr>
          <p:nvPr/>
        </p:nvSpPr>
        <p:spPr>
          <a:xfrm>
            <a:off x="573654" y="2840762"/>
            <a:ext cx="341194" cy="34127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r>
              <a:rPr lang="en-US" sz="1200" b="1">
                <a:solidFill>
                  <a:schemeClr val="bg1"/>
                </a:solidFill>
              </a:rPr>
              <a:t>3</a:t>
            </a:r>
          </a:p>
        </p:txBody>
      </p:sp>
      <p:sp>
        <p:nvSpPr>
          <p:cNvPr id="35" name="Oval 34">
            <a:extLst>
              <a:ext uri="{FF2B5EF4-FFF2-40B4-BE49-F238E27FC236}">
                <a16:creationId xmlns:a16="http://schemas.microsoft.com/office/drawing/2014/main" id="{714C1E43-6892-2EBC-8E50-A170E339F0AB}"/>
              </a:ext>
            </a:extLst>
          </p:cNvPr>
          <p:cNvSpPr>
            <a:spLocks noChangeAspect="1"/>
          </p:cNvSpPr>
          <p:nvPr/>
        </p:nvSpPr>
        <p:spPr>
          <a:xfrm>
            <a:off x="573654" y="3299288"/>
            <a:ext cx="341194" cy="34127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r>
              <a:rPr lang="en-US" sz="1200" b="1">
                <a:solidFill>
                  <a:schemeClr val="bg1"/>
                </a:solidFill>
              </a:rPr>
              <a:t>4</a:t>
            </a:r>
          </a:p>
        </p:txBody>
      </p:sp>
      <p:graphicFrame>
        <p:nvGraphicFramePr>
          <p:cNvPr id="36" name="Table 35">
            <a:extLst>
              <a:ext uri="{FF2B5EF4-FFF2-40B4-BE49-F238E27FC236}">
                <a16:creationId xmlns:a16="http://schemas.microsoft.com/office/drawing/2014/main" id="{6DFD94DB-016C-F06F-0084-7F2CF3734D83}"/>
              </a:ext>
            </a:extLst>
          </p:cNvPr>
          <p:cNvGraphicFramePr>
            <a:graphicFrameLocks noGrp="1"/>
          </p:cNvGraphicFramePr>
          <p:nvPr>
            <p:extLst>
              <p:ext uri="{D42A27DB-BD31-4B8C-83A1-F6EECF244321}">
                <p14:modId xmlns:p14="http://schemas.microsoft.com/office/powerpoint/2010/main" val="3675940257"/>
              </p:ext>
            </p:extLst>
          </p:nvPr>
        </p:nvGraphicFramePr>
        <p:xfrm>
          <a:off x="516275" y="4733797"/>
          <a:ext cx="5246348" cy="1457280"/>
        </p:xfrm>
        <a:graphic>
          <a:graphicData uri="http://schemas.openxmlformats.org/drawingml/2006/table">
            <a:tbl>
              <a:tblPr firstRow="1" bandRow="1">
                <a:tableStyleId>{5C22544A-7EE6-4342-B048-85BDC9FD1C3A}</a:tableStyleId>
              </a:tblPr>
              <a:tblGrid>
                <a:gridCol w="1781778">
                  <a:extLst>
                    <a:ext uri="{9D8B030D-6E8A-4147-A177-3AD203B41FA5}">
                      <a16:colId xmlns:a16="http://schemas.microsoft.com/office/drawing/2014/main" val="3460684255"/>
                    </a:ext>
                  </a:extLst>
                </a:gridCol>
                <a:gridCol w="692914">
                  <a:extLst>
                    <a:ext uri="{9D8B030D-6E8A-4147-A177-3AD203B41FA5}">
                      <a16:colId xmlns:a16="http://schemas.microsoft.com/office/drawing/2014/main" val="2412192102"/>
                    </a:ext>
                  </a:extLst>
                </a:gridCol>
                <a:gridCol w="692914">
                  <a:extLst>
                    <a:ext uri="{9D8B030D-6E8A-4147-A177-3AD203B41FA5}">
                      <a16:colId xmlns:a16="http://schemas.microsoft.com/office/drawing/2014/main" val="2728153957"/>
                    </a:ext>
                  </a:extLst>
                </a:gridCol>
                <a:gridCol w="692914">
                  <a:extLst>
                    <a:ext uri="{9D8B030D-6E8A-4147-A177-3AD203B41FA5}">
                      <a16:colId xmlns:a16="http://schemas.microsoft.com/office/drawing/2014/main" val="627728020"/>
                    </a:ext>
                  </a:extLst>
                </a:gridCol>
                <a:gridCol w="692914">
                  <a:extLst>
                    <a:ext uri="{9D8B030D-6E8A-4147-A177-3AD203B41FA5}">
                      <a16:colId xmlns:a16="http://schemas.microsoft.com/office/drawing/2014/main" val="224455859"/>
                    </a:ext>
                  </a:extLst>
                </a:gridCol>
                <a:gridCol w="692914">
                  <a:extLst>
                    <a:ext uri="{9D8B030D-6E8A-4147-A177-3AD203B41FA5}">
                      <a16:colId xmlns:a16="http://schemas.microsoft.com/office/drawing/2014/main" val="3043281505"/>
                    </a:ext>
                  </a:extLst>
                </a:gridCol>
              </a:tblGrid>
              <a:tr h="0">
                <a:tc>
                  <a:txBody>
                    <a:bodyPr/>
                    <a:lstStyle/>
                    <a:p>
                      <a:endParaRPr lang="en-US" sz="800">
                        <a:solidFill>
                          <a:schemeClr val="tx2"/>
                        </a:solidFill>
                      </a:endParaRPr>
                    </a:p>
                  </a:txBody>
                  <a:tcPr marL="36000" marR="36000" marT="36000" marB="36000">
                    <a:lnR w="12700" cap="flat" cmpd="sng" algn="ctr">
                      <a:solidFill>
                        <a:schemeClr val="bg1">
                          <a:lumMod val="75000"/>
                        </a:schemeClr>
                      </a:solidFill>
                      <a:prstDash val="solid"/>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800">
                          <a:solidFill>
                            <a:schemeClr val="tx2"/>
                          </a:solidFill>
                        </a:rPr>
                        <a:t>2026</a:t>
                      </a:r>
                    </a:p>
                  </a:txBody>
                  <a:tcPr marL="36000" marR="36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800">
                          <a:solidFill>
                            <a:schemeClr val="tx2"/>
                          </a:solidFill>
                        </a:rPr>
                        <a:t>2027</a:t>
                      </a:r>
                    </a:p>
                  </a:txBody>
                  <a:tcPr marL="36000" marR="36000" marT="36000" marB="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800">
                          <a:solidFill>
                            <a:schemeClr val="tx2"/>
                          </a:solidFill>
                        </a:rPr>
                        <a:t>2028</a:t>
                      </a:r>
                    </a:p>
                  </a:txBody>
                  <a:tcPr marL="36000" marR="36000" marT="36000" marB="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800">
                          <a:solidFill>
                            <a:schemeClr val="tx2"/>
                          </a:solidFill>
                        </a:rPr>
                        <a:t>2029</a:t>
                      </a:r>
                    </a:p>
                  </a:txBody>
                  <a:tcPr marL="36000" marR="36000" marT="36000" marB="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800">
                          <a:solidFill>
                            <a:schemeClr val="tx2"/>
                          </a:solidFill>
                        </a:rPr>
                        <a:t>2030</a:t>
                      </a:r>
                    </a:p>
                  </a:txBody>
                  <a:tcPr marL="36000" marR="36000" marT="36000" marB="36000" anchor="ctr">
                    <a:lnL w="12700" cap="flat" cmpd="sng" algn="ctr">
                      <a:solidFill>
                        <a:schemeClr val="bg1">
                          <a:lumMod val="75000"/>
                        </a:schemeClr>
                      </a:solidFill>
                      <a:prstDash val="sysDash"/>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98346525"/>
                  </a:ext>
                </a:extLst>
              </a:tr>
              <a:tr h="315840">
                <a:tc>
                  <a:txBody>
                    <a:bodyPr/>
                    <a:lstStyle/>
                    <a:p>
                      <a:r>
                        <a:rPr lang="en-US" sz="800">
                          <a:solidFill>
                            <a:schemeClr val="tx2"/>
                          </a:solidFill>
                        </a:rPr>
                        <a:t>Ph1b Exp and DO </a:t>
                      </a:r>
                      <a:r>
                        <a:rPr lang="en-US" sz="800" i="1">
                          <a:solidFill>
                            <a:schemeClr val="tx2"/>
                          </a:solidFill>
                        </a:rPr>
                        <a:t>(mono)</a:t>
                      </a:r>
                    </a:p>
                  </a:txBody>
                  <a:tcPr marL="36000" marR="36000" marT="36000" marB="36000" anchor="ct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800">
                        <a:solidFill>
                          <a:schemeClr val="tx2"/>
                        </a:solidFill>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800">
                        <a:solidFill>
                          <a:schemeClr val="tx2"/>
                        </a:solidFill>
                      </a:endParaRPr>
                    </a:p>
                  </a:txBody>
                  <a:tcPr marL="36000" marR="36000" marT="36000" marB="36000">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800">
                        <a:solidFill>
                          <a:schemeClr val="tx2"/>
                        </a:solidFill>
                      </a:endParaRPr>
                    </a:p>
                  </a:txBody>
                  <a:tcPr marL="36000" marR="36000" marT="36000" marB="36000">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800">
                        <a:solidFill>
                          <a:schemeClr val="tx2"/>
                        </a:solidFill>
                      </a:endParaRPr>
                    </a:p>
                  </a:txBody>
                  <a:tcPr marL="36000" marR="36000" marT="36000" marB="36000">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800">
                        <a:solidFill>
                          <a:schemeClr val="tx2"/>
                        </a:solidFill>
                      </a:endParaRPr>
                    </a:p>
                  </a:txBody>
                  <a:tcPr marL="36000" marR="36000" marT="36000" marB="36000">
                    <a:lnL w="12700" cap="flat" cmpd="sng" algn="ctr">
                      <a:solidFill>
                        <a:schemeClr val="bg1">
                          <a:lumMod val="75000"/>
                        </a:schemeClr>
                      </a:solidFill>
                      <a:prstDash val="sysDash"/>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62581508"/>
                  </a:ext>
                </a:extLst>
              </a:tr>
              <a:tr h="315840">
                <a:tc>
                  <a:txBody>
                    <a:bodyPr/>
                    <a:lstStyle/>
                    <a:p>
                      <a:r>
                        <a:rPr lang="en-US" sz="800" i="0">
                          <a:solidFill>
                            <a:schemeClr val="tx2"/>
                          </a:solidFill>
                        </a:rPr>
                        <a:t>Ph1 Exp and DO </a:t>
                      </a:r>
                      <a:r>
                        <a:rPr lang="en-US" sz="800" i="1">
                          <a:solidFill>
                            <a:schemeClr val="tx2"/>
                          </a:solidFill>
                        </a:rPr>
                        <a:t>(P+TIS+chemo)</a:t>
                      </a:r>
                    </a:p>
                  </a:txBody>
                  <a:tcPr marL="36000" marR="36000" marT="36000" marB="36000" anchor="ct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800">
                        <a:solidFill>
                          <a:schemeClr val="tx2"/>
                        </a:solidFill>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800">
                        <a:solidFill>
                          <a:schemeClr val="tx2"/>
                        </a:solidFill>
                      </a:endParaRPr>
                    </a:p>
                  </a:txBody>
                  <a:tcPr marL="36000" marR="36000" marT="36000" marB="36000">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800">
                        <a:solidFill>
                          <a:schemeClr val="tx2"/>
                        </a:solidFill>
                      </a:endParaRPr>
                    </a:p>
                  </a:txBody>
                  <a:tcPr marL="36000" marR="36000" marT="36000" marB="36000">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800">
                        <a:solidFill>
                          <a:schemeClr val="tx2"/>
                        </a:solidFill>
                      </a:endParaRPr>
                    </a:p>
                  </a:txBody>
                  <a:tcPr marL="36000" marR="36000" marT="36000" marB="36000">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800">
                        <a:solidFill>
                          <a:schemeClr val="tx2"/>
                        </a:solidFill>
                      </a:endParaRPr>
                    </a:p>
                  </a:txBody>
                  <a:tcPr marL="36000" marR="36000" marT="36000" marB="36000">
                    <a:lnL w="12700" cap="flat" cmpd="sng" algn="ctr">
                      <a:solidFill>
                        <a:schemeClr val="bg1">
                          <a:lumMod val="75000"/>
                        </a:schemeClr>
                      </a:solidFill>
                      <a:prstDash val="sysDash"/>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99585869"/>
                  </a:ext>
                </a:extLst>
              </a:tr>
              <a:tr h="315840">
                <a:tc>
                  <a:txBody>
                    <a:bodyPr/>
                    <a:lstStyle/>
                    <a:p>
                      <a:r>
                        <a:rPr lang="en-US" sz="800">
                          <a:solidFill>
                            <a:schemeClr val="tx2"/>
                          </a:solidFill>
                        </a:rPr>
                        <a:t>2L+ MTAP-del NSCLC </a:t>
                      </a:r>
                      <a:r>
                        <a:rPr lang="en-US" sz="800" i="1">
                          <a:solidFill>
                            <a:schemeClr val="tx2"/>
                          </a:solidFill>
                        </a:rPr>
                        <a:t>(mono)</a:t>
                      </a:r>
                    </a:p>
                  </a:txBody>
                  <a:tcPr marL="36000" marR="36000" marT="36000" marB="36000" anchor="ct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800">
                        <a:solidFill>
                          <a:schemeClr val="tx2"/>
                        </a:solidFill>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800">
                        <a:solidFill>
                          <a:schemeClr val="tx2"/>
                        </a:solidFill>
                      </a:endParaRPr>
                    </a:p>
                  </a:txBody>
                  <a:tcPr marL="36000" marR="36000" marT="36000" marB="36000">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800">
                        <a:solidFill>
                          <a:schemeClr val="tx2"/>
                        </a:solidFill>
                      </a:endParaRPr>
                    </a:p>
                  </a:txBody>
                  <a:tcPr marL="36000" marR="36000" marT="36000" marB="36000">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800">
                        <a:solidFill>
                          <a:schemeClr val="tx2"/>
                        </a:solidFill>
                      </a:endParaRPr>
                    </a:p>
                  </a:txBody>
                  <a:tcPr marL="36000" marR="36000" marT="36000" marB="36000">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800">
                        <a:solidFill>
                          <a:schemeClr val="tx2"/>
                        </a:solidFill>
                      </a:endParaRPr>
                    </a:p>
                  </a:txBody>
                  <a:tcPr marL="36000" marR="36000" marT="36000" marB="36000">
                    <a:lnL w="12700" cap="flat" cmpd="sng" algn="ctr">
                      <a:solidFill>
                        <a:schemeClr val="bg1">
                          <a:lumMod val="75000"/>
                        </a:schemeClr>
                      </a:solidFill>
                      <a:prstDash val="sysDash"/>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12723778"/>
                  </a:ext>
                </a:extLst>
              </a:tr>
              <a:tr h="315840">
                <a:tc>
                  <a:txBody>
                    <a:bodyPr/>
                    <a:lstStyle/>
                    <a:p>
                      <a:r>
                        <a:rPr lang="en-US" sz="800">
                          <a:solidFill>
                            <a:schemeClr val="tx2"/>
                          </a:solidFill>
                        </a:rPr>
                        <a:t>1L </a:t>
                      </a:r>
                      <a:r>
                        <a:rPr lang="en-US" sz="800" err="1">
                          <a:solidFill>
                            <a:schemeClr val="tx2"/>
                          </a:solidFill>
                        </a:rPr>
                        <a:t>MTAPdel</a:t>
                      </a:r>
                      <a:r>
                        <a:rPr lang="en-US" sz="800">
                          <a:solidFill>
                            <a:schemeClr val="tx2"/>
                          </a:solidFill>
                        </a:rPr>
                        <a:t> NSCLC</a:t>
                      </a:r>
                    </a:p>
                    <a:p>
                      <a:r>
                        <a:rPr lang="en-US" sz="800" i="1">
                          <a:solidFill>
                            <a:schemeClr val="tx2"/>
                          </a:solidFill>
                        </a:rPr>
                        <a:t>(PD1i+chemo - DRAFT)</a:t>
                      </a:r>
                    </a:p>
                  </a:txBody>
                  <a:tcPr marL="36000" marR="36000" marT="36000" marB="36000" anchor="ct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solidFill>
                      <a:schemeClr val="bg1"/>
                    </a:solidFill>
                  </a:tcPr>
                </a:tc>
                <a:tc>
                  <a:txBody>
                    <a:bodyPr/>
                    <a:lstStyle/>
                    <a:p>
                      <a:endParaRPr lang="en-US" sz="800">
                        <a:solidFill>
                          <a:schemeClr val="tx2"/>
                        </a:solidFill>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solidFill>
                      <a:schemeClr val="bg1"/>
                    </a:solidFill>
                  </a:tcPr>
                </a:tc>
                <a:tc>
                  <a:txBody>
                    <a:bodyPr/>
                    <a:lstStyle/>
                    <a:p>
                      <a:endParaRPr lang="en-US" sz="800">
                        <a:solidFill>
                          <a:schemeClr val="tx2"/>
                        </a:solidFill>
                      </a:endParaRPr>
                    </a:p>
                  </a:txBody>
                  <a:tcPr marL="36000" marR="36000" marT="36000" marB="36000">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solidFill>
                      <a:schemeClr val="bg1"/>
                    </a:solidFill>
                  </a:tcPr>
                </a:tc>
                <a:tc>
                  <a:txBody>
                    <a:bodyPr/>
                    <a:lstStyle/>
                    <a:p>
                      <a:endParaRPr lang="en-US" sz="800">
                        <a:solidFill>
                          <a:schemeClr val="tx2"/>
                        </a:solidFill>
                      </a:endParaRPr>
                    </a:p>
                  </a:txBody>
                  <a:tcPr marL="36000" marR="36000" marT="36000" marB="36000">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solidFill>
                      <a:schemeClr val="bg1"/>
                    </a:solidFill>
                  </a:tcPr>
                </a:tc>
                <a:tc>
                  <a:txBody>
                    <a:bodyPr/>
                    <a:lstStyle/>
                    <a:p>
                      <a:endParaRPr lang="en-US" sz="800">
                        <a:solidFill>
                          <a:schemeClr val="tx2"/>
                        </a:solidFill>
                      </a:endParaRPr>
                    </a:p>
                  </a:txBody>
                  <a:tcPr marL="36000" marR="36000" marT="36000" marB="36000">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solidFill>
                      <a:schemeClr val="bg1"/>
                    </a:solidFill>
                  </a:tcPr>
                </a:tc>
                <a:tc>
                  <a:txBody>
                    <a:bodyPr/>
                    <a:lstStyle/>
                    <a:p>
                      <a:endParaRPr lang="en-US" sz="800">
                        <a:solidFill>
                          <a:schemeClr val="tx2"/>
                        </a:solidFill>
                      </a:endParaRPr>
                    </a:p>
                  </a:txBody>
                  <a:tcPr marL="36000" marR="36000" marT="36000" marB="36000">
                    <a:lnL w="12700" cap="flat" cmpd="sng" algn="ctr">
                      <a:solidFill>
                        <a:schemeClr val="bg1">
                          <a:lumMod val="75000"/>
                        </a:schemeClr>
                      </a:solidFill>
                      <a:prstDash val="sysDash"/>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3941555112"/>
                  </a:ext>
                </a:extLst>
              </a:tr>
            </a:tbl>
          </a:graphicData>
        </a:graphic>
      </p:graphicFrame>
      <p:sp>
        <p:nvSpPr>
          <p:cNvPr id="43" name="Arrow: Pentagon 42">
            <a:extLst>
              <a:ext uri="{FF2B5EF4-FFF2-40B4-BE49-F238E27FC236}">
                <a16:creationId xmlns:a16="http://schemas.microsoft.com/office/drawing/2014/main" id="{5596F4CE-8049-ECF3-7118-E24DC41F290F}"/>
              </a:ext>
            </a:extLst>
          </p:cNvPr>
          <p:cNvSpPr/>
          <p:nvPr/>
        </p:nvSpPr>
        <p:spPr>
          <a:xfrm>
            <a:off x="2303907" y="5055407"/>
            <a:ext cx="396000" cy="118872"/>
          </a:xfrm>
          <a:prstGeom prst="homePlate">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44" name="Arrow: Pentagon 43">
            <a:extLst>
              <a:ext uri="{FF2B5EF4-FFF2-40B4-BE49-F238E27FC236}">
                <a16:creationId xmlns:a16="http://schemas.microsoft.com/office/drawing/2014/main" id="{4C53805B-1774-FC95-B5EB-A3424A53DE61}"/>
              </a:ext>
            </a:extLst>
          </p:cNvPr>
          <p:cNvSpPr/>
          <p:nvPr/>
        </p:nvSpPr>
        <p:spPr>
          <a:xfrm>
            <a:off x="2303907" y="5332026"/>
            <a:ext cx="540000" cy="118872"/>
          </a:xfrm>
          <a:prstGeom prst="homePlate">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45" name="Arrow: Pentagon 44">
            <a:extLst>
              <a:ext uri="{FF2B5EF4-FFF2-40B4-BE49-F238E27FC236}">
                <a16:creationId xmlns:a16="http://schemas.microsoft.com/office/drawing/2014/main" id="{2CF72011-35B8-C374-3D6A-FA3154AA1945}"/>
              </a:ext>
            </a:extLst>
          </p:cNvPr>
          <p:cNvSpPr/>
          <p:nvPr/>
        </p:nvSpPr>
        <p:spPr>
          <a:xfrm>
            <a:off x="2993420" y="5681609"/>
            <a:ext cx="2468880" cy="118872"/>
          </a:xfrm>
          <a:prstGeom prst="homePlate">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50" name="Text Placeholder 2">
            <a:extLst>
              <a:ext uri="{FF2B5EF4-FFF2-40B4-BE49-F238E27FC236}">
                <a16:creationId xmlns:a16="http://schemas.microsoft.com/office/drawing/2014/main" id="{FFB8E485-C7C6-85E5-25CA-5EFC6360069B}"/>
              </a:ext>
            </a:extLst>
          </p:cNvPr>
          <p:cNvSpPr>
            <a:spLocks/>
          </p:cNvSpPr>
          <p:nvPr>
            <p:custDataLst>
              <p:tags r:id="rId2"/>
            </p:custDataLst>
          </p:nvPr>
        </p:nvSpPr>
        <p:spPr bwMode="auto">
          <a:xfrm>
            <a:off x="5170544" y="5575503"/>
            <a:ext cx="188404" cy="158007"/>
          </a:xfrm>
          <a:prstGeom prst="rect">
            <a:avLst/>
          </a:prstGeom>
          <a:noFill/>
          <a:ln>
            <a:noFill/>
          </a:ln>
          <a:effectLst/>
        </p:spPr>
        <p:txBody>
          <a:bodyPr vert="horz" wrap="none" lIns="0" tIns="0" rIns="0" bIns="0" rtlCol="0" anchor="t">
            <a:noAutofit/>
          </a:bodyPr>
          <a:lstStyle>
            <a:lvl1pPr marL="137160" indent="-13716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bg1">
                    <a:lumMod val="10000"/>
                  </a:schemeClr>
                </a:solidFill>
                <a:latin typeface="+mn-lt"/>
                <a:ea typeface="+mn-ea"/>
                <a:cs typeface="+mn-cs"/>
              </a:defRPr>
            </a:lvl1pPr>
            <a:lvl2pPr marL="594360" indent="-228600" algn="l" defTabSz="914400" rtl="0" eaLnBrk="1" latinLnBrk="0" hangingPunct="1">
              <a:lnSpc>
                <a:spcPct val="90000"/>
              </a:lnSpc>
              <a:spcBef>
                <a:spcPts val="500"/>
              </a:spcBef>
              <a:buClr>
                <a:schemeClr val="accent1"/>
              </a:buClr>
              <a:buFont typeface="System Font Regular"/>
              <a:buChar char="–"/>
              <a:defRPr sz="1800" kern="1200">
                <a:solidFill>
                  <a:schemeClr val="bg1">
                    <a:lumMod val="10000"/>
                  </a:schemeClr>
                </a:solidFill>
                <a:latin typeface="+mn-lt"/>
                <a:ea typeface="+mn-ea"/>
                <a:cs typeface="+mn-cs"/>
              </a:defRPr>
            </a:lvl2pPr>
            <a:lvl3pPr marL="960120" indent="-137160" algn="l" defTabSz="914400" rtl="0" eaLnBrk="1" latinLnBrk="0" hangingPunct="1">
              <a:lnSpc>
                <a:spcPct val="90000"/>
              </a:lnSpc>
              <a:spcBef>
                <a:spcPts val="500"/>
              </a:spcBef>
              <a:buClr>
                <a:schemeClr val="bg2"/>
              </a:buClr>
              <a:buFont typeface="Arial" panose="020B0604020202020204" pitchFamily="34" charset="0"/>
              <a:buChar char="•"/>
              <a:defRPr sz="1800" kern="1200">
                <a:solidFill>
                  <a:schemeClr val="bg1">
                    <a:lumMod val="10000"/>
                  </a:schemeClr>
                </a:solidFill>
                <a:latin typeface="+mn-lt"/>
                <a:ea typeface="+mn-ea"/>
                <a:cs typeface="+mn-cs"/>
              </a:defRPr>
            </a:lvl3pPr>
            <a:lvl4pPr marL="1600200" indent="-228600" algn="l" defTabSz="914400" rtl="0" eaLnBrk="1" latinLnBrk="0" hangingPunct="1">
              <a:lnSpc>
                <a:spcPct val="90000"/>
              </a:lnSpc>
              <a:spcBef>
                <a:spcPts val="500"/>
              </a:spcBef>
              <a:buClr>
                <a:schemeClr val="bg2"/>
              </a:buClr>
              <a:buFont typeface="System Font Regular"/>
              <a:buChar char="–"/>
              <a:defRPr sz="1800" kern="1200">
                <a:solidFill>
                  <a:schemeClr val="bg1">
                    <a:lumMod val="10000"/>
                  </a:schemeClr>
                </a:solidFill>
                <a:latin typeface="+mn-lt"/>
                <a:ea typeface="+mn-ea"/>
                <a:cs typeface="+mn-cs"/>
              </a:defRPr>
            </a:lvl4pPr>
            <a:lvl5pPr marL="2057400" indent="-228600" algn="l" defTabSz="914400" rtl="0" eaLnBrk="1" latinLnBrk="0" hangingPunct="1">
              <a:lnSpc>
                <a:spcPct val="90000"/>
              </a:lnSpc>
              <a:spcBef>
                <a:spcPts val="500"/>
              </a:spcBef>
              <a:buClr>
                <a:schemeClr val="bg2"/>
              </a:buClr>
              <a:buFont typeface="System Font Regular"/>
              <a:buChar char="–"/>
              <a:defRPr sz="1800" kern="1200">
                <a:solidFill>
                  <a:schemeClr val="bg1">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ct val="0"/>
              </a:spcAft>
              <a:buClr>
                <a:srgbClr val="D62B1E"/>
              </a:buClr>
              <a:buSzTx/>
              <a:buFont typeface="Arial" panose="020B0604020202020204" pitchFamily="34" charset="0"/>
              <a:buNone/>
              <a:tabLst/>
              <a:defRPr/>
            </a:pPr>
            <a:r>
              <a:rPr lang="en-US" altLang="en-US" sz="700">
                <a:solidFill>
                  <a:srgbClr val="C00000"/>
                </a:solidFill>
                <a:latin typeface="Poppins"/>
              </a:rPr>
              <a:t>2030+</a:t>
            </a:r>
            <a:r>
              <a:rPr kumimoji="0" lang="en-US" altLang="en-US" sz="700" i="0" u="none" strike="noStrike" kern="1200" cap="none" spc="0" normalizeH="0" baseline="0" noProof="0">
                <a:ln>
                  <a:noFill/>
                </a:ln>
                <a:solidFill>
                  <a:srgbClr val="C00000"/>
                </a:solidFill>
                <a:effectLst/>
                <a:uLnTx/>
                <a:uFillTx/>
                <a:latin typeface="Poppins"/>
                <a:ea typeface="+mn-ea"/>
                <a:cs typeface="+mn-cs"/>
              </a:rPr>
              <a:t>: DRO</a:t>
            </a:r>
            <a:endParaRPr kumimoji="0" lang="en-US" sz="700" i="0" u="none" strike="noStrike" kern="1200" cap="none" spc="0" normalizeH="0" baseline="0" noProof="0">
              <a:ln>
                <a:noFill/>
              </a:ln>
              <a:solidFill>
                <a:srgbClr val="C00000"/>
              </a:solidFill>
              <a:effectLst/>
              <a:uLnTx/>
              <a:uFillTx/>
              <a:latin typeface="Poppins"/>
              <a:ea typeface="+mn-ea"/>
              <a:cs typeface="+mn-cs"/>
            </a:endParaRPr>
          </a:p>
        </p:txBody>
      </p:sp>
      <p:grpSp>
        <p:nvGrpSpPr>
          <p:cNvPr id="55" name="Group 54">
            <a:extLst>
              <a:ext uri="{FF2B5EF4-FFF2-40B4-BE49-F238E27FC236}">
                <a16:creationId xmlns:a16="http://schemas.microsoft.com/office/drawing/2014/main" id="{14683473-8F81-0DC3-ED57-A19CB958B0CA}"/>
              </a:ext>
            </a:extLst>
          </p:cNvPr>
          <p:cNvGrpSpPr/>
          <p:nvPr/>
        </p:nvGrpSpPr>
        <p:grpSpPr>
          <a:xfrm>
            <a:off x="6024159" y="3079096"/>
            <a:ext cx="216001" cy="1620000"/>
            <a:chOff x="5896835" y="1596788"/>
            <a:chExt cx="402907" cy="4645183"/>
          </a:xfrm>
        </p:grpSpPr>
        <p:sp>
          <p:nvSpPr>
            <p:cNvPr id="53" name="Isosceles Triangle 52">
              <a:extLst>
                <a:ext uri="{FF2B5EF4-FFF2-40B4-BE49-F238E27FC236}">
                  <a16:creationId xmlns:a16="http://schemas.microsoft.com/office/drawing/2014/main" id="{10D84C36-1D22-E41E-D137-2AA3B15036C0}"/>
                </a:ext>
              </a:extLst>
            </p:cNvPr>
            <p:cNvSpPr/>
            <p:nvPr/>
          </p:nvSpPr>
          <p:spPr>
            <a:xfrm rot="5400000">
              <a:off x="3717803" y="3775820"/>
              <a:ext cx="4645183" cy="287119"/>
            </a:xfrm>
            <a:prstGeom prst="triangl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err="1">
                <a:solidFill>
                  <a:schemeClr val="bg1"/>
                </a:solidFill>
              </a:endParaRPr>
            </a:p>
          </p:txBody>
        </p:sp>
        <p:sp>
          <p:nvSpPr>
            <p:cNvPr id="54" name="Isosceles Triangle 53">
              <a:extLst>
                <a:ext uri="{FF2B5EF4-FFF2-40B4-BE49-F238E27FC236}">
                  <a16:creationId xmlns:a16="http://schemas.microsoft.com/office/drawing/2014/main" id="{628D0F87-E339-1FF1-CE81-BBFE6F658073}"/>
                </a:ext>
              </a:extLst>
            </p:cNvPr>
            <p:cNvSpPr/>
            <p:nvPr/>
          </p:nvSpPr>
          <p:spPr>
            <a:xfrm rot="5400000">
              <a:off x="3833591" y="3775820"/>
              <a:ext cx="4645183" cy="287119"/>
            </a:xfrm>
            <a:prstGeom prst="triangl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err="1">
                <a:solidFill>
                  <a:schemeClr val="bg1"/>
                </a:solidFill>
              </a:endParaRPr>
            </a:p>
          </p:txBody>
        </p:sp>
      </p:grpSp>
      <p:sp>
        <p:nvSpPr>
          <p:cNvPr id="59" name="Diamond 58">
            <a:extLst>
              <a:ext uri="{FF2B5EF4-FFF2-40B4-BE49-F238E27FC236}">
                <a16:creationId xmlns:a16="http://schemas.microsoft.com/office/drawing/2014/main" id="{25C02EA3-9C44-69B2-E501-D46596C39943}"/>
              </a:ext>
            </a:extLst>
          </p:cNvPr>
          <p:cNvSpPr/>
          <p:nvPr>
            <p:custDataLst>
              <p:tags r:id="rId3"/>
            </p:custDataLst>
          </p:nvPr>
        </p:nvSpPr>
        <p:spPr bwMode="gray">
          <a:xfrm>
            <a:off x="5392963" y="5686494"/>
            <a:ext cx="101600" cy="101600"/>
          </a:xfrm>
          <a:prstGeom prst="diamond">
            <a:avLst/>
          </a:prstGeom>
          <a:solidFill>
            <a:srgbClr val="C30C3E"/>
          </a:solidFill>
          <a:ln w="9525" cmpd="sng" algn="ctr">
            <a:solidFill>
              <a:srgbClr val="C30C3E"/>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60" name="Arrow: Pentagon 59">
            <a:extLst>
              <a:ext uri="{FF2B5EF4-FFF2-40B4-BE49-F238E27FC236}">
                <a16:creationId xmlns:a16="http://schemas.microsoft.com/office/drawing/2014/main" id="{A39CBC32-5BF6-AEF1-48CF-7118C716180B}"/>
              </a:ext>
            </a:extLst>
          </p:cNvPr>
          <p:cNvSpPr/>
          <p:nvPr/>
        </p:nvSpPr>
        <p:spPr>
          <a:xfrm>
            <a:off x="2999809" y="5982627"/>
            <a:ext cx="2432321" cy="131202"/>
          </a:xfrm>
          <a:prstGeom prst="homePlate">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61" name="Diamond 60">
            <a:extLst>
              <a:ext uri="{FF2B5EF4-FFF2-40B4-BE49-F238E27FC236}">
                <a16:creationId xmlns:a16="http://schemas.microsoft.com/office/drawing/2014/main" id="{6C62A024-BA44-78C5-86B6-CFFD5D1B681A}"/>
              </a:ext>
            </a:extLst>
          </p:cNvPr>
          <p:cNvSpPr/>
          <p:nvPr>
            <p:custDataLst>
              <p:tags r:id="rId4"/>
            </p:custDataLst>
          </p:nvPr>
        </p:nvSpPr>
        <p:spPr bwMode="gray">
          <a:xfrm>
            <a:off x="5392963" y="5982627"/>
            <a:ext cx="101600" cy="101600"/>
          </a:xfrm>
          <a:prstGeom prst="diamond">
            <a:avLst/>
          </a:prstGeom>
          <a:solidFill>
            <a:srgbClr val="C30C3E"/>
          </a:solidFill>
          <a:ln w="9525" cmpd="sng" algn="ctr">
            <a:solidFill>
              <a:srgbClr val="C30C3E"/>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62" name="Text Placeholder 2">
            <a:extLst>
              <a:ext uri="{FF2B5EF4-FFF2-40B4-BE49-F238E27FC236}">
                <a16:creationId xmlns:a16="http://schemas.microsoft.com/office/drawing/2014/main" id="{EFD7FC5A-CC8D-31E3-4DD8-934686385BEA}"/>
              </a:ext>
            </a:extLst>
          </p:cNvPr>
          <p:cNvSpPr>
            <a:spLocks/>
          </p:cNvSpPr>
          <p:nvPr>
            <p:custDataLst>
              <p:tags r:id="rId5"/>
            </p:custDataLst>
          </p:nvPr>
        </p:nvSpPr>
        <p:spPr bwMode="auto">
          <a:xfrm>
            <a:off x="5296634" y="6104962"/>
            <a:ext cx="188404" cy="158007"/>
          </a:xfrm>
          <a:prstGeom prst="rect">
            <a:avLst/>
          </a:prstGeom>
          <a:noFill/>
          <a:ln>
            <a:noFill/>
          </a:ln>
          <a:effectLst/>
        </p:spPr>
        <p:txBody>
          <a:bodyPr vert="horz" wrap="none" lIns="0" tIns="0" rIns="0" bIns="0" rtlCol="0" anchor="t">
            <a:noAutofit/>
          </a:bodyPr>
          <a:lstStyle>
            <a:lvl1pPr marL="137160" indent="-13716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bg1">
                    <a:lumMod val="10000"/>
                  </a:schemeClr>
                </a:solidFill>
                <a:latin typeface="+mn-lt"/>
                <a:ea typeface="+mn-ea"/>
                <a:cs typeface="+mn-cs"/>
              </a:defRPr>
            </a:lvl1pPr>
            <a:lvl2pPr marL="594360" indent="-228600" algn="l" defTabSz="914400" rtl="0" eaLnBrk="1" latinLnBrk="0" hangingPunct="1">
              <a:lnSpc>
                <a:spcPct val="90000"/>
              </a:lnSpc>
              <a:spcBef>
                <a:spcPts val="500"/>
              </a:spcBef>
              <a:buClr>
                <a:schemeClr val="accent1"/>
              </a:buClr>
              <a:buFont typeface="System Font Regular"/>
              <a:buChar char="–"/>
              <a:defRPr sz="1800" kern="1200">
                <a:solidFill>
                  <a:schemeClr val="bg1">
                    <a:lumMod val="10000"/>
                  </a:schemeClr>
                </a:solidFill>
                <a:latin typeface="+mn-lt"/>
                <a:ea typeface="+mn-ea"/>
                <a:cs typeface="+mn-cs"/>
              </a:defRPr>
            </a:lvl2pPr>
            <a:lvl3pPr marL="960120" indent="-137160" algn="l" defTabSz="914400" rtl="0" eaLnBrk="1" latinLnBrk="0" hangingPunct="1">
              <a:lnSpc>
                <a:spcPct val="90000"/>
              </a:lnSpc>
              <a:spcBef>
                <a:spcPts val="500"/>
              </a:spcBef>
              <a:buClr>
                <a:schemeClr val="bg2"/>
              </a:buClr>
              <a:buFont typeface="Arial" panose="020B0604020202020204" pitchFamily="34" charset="0"/>
              <a:buChar char="•"/>
              <a:defRPr sz="1800" kern="1200">
                <a:solidFill>
                  <a:schemeClr val="bg1">
                    <a:lumMod val="10000"/>
                  </a:schemeClr>
                </a:solidFill>
                <a:latin typeface="+mn-lt"/>
                <a:ea typeface="+mn-ea"/>
                <a:cs typeface="+mn-cs"/>
              </a:defRPr>
            </a:lvl3pPr>
            <a:lvl4pPr marL="1600200" indent="-228600" algn="l" defTabSz="914400" rtl="0" eaLnBrk="1" latinLnBrk="0" hangingPunct="1">
              <a:lnSpc>
                <a:spcPct val="90000"/>
              </a:lnSpc>
              <a:spcBef>
                <a:spcPts val="500"/>
              </a:spcBef>
              <a:buClr>
                <a:schemeClr val="bg2"/>
              </a:buClr>
              <a:buFont typeface="System Font Regular"/>
              <a:buChar char="–"/>
              <a:defRPr sz="1800" kern="1200">
                <a:solidFill>
                  <a:schemeClr val="bg1">
                    <a:lumMod val="10000"/>
                  </a:schemeClr>
                </a:solidFill>
                <a:latin typeface="+mn-lt"/>
                <a:ea typeface="+mn-ea"/>
                <a:cs typeface="+mn-cs"/>
              </a:defRPr>
            </a:lvl4pPr>
            <a:lvl5pPr marL="2057400" indent="-228600" algn="l" defTabSz="914400" rtl="0" eaLnBrk="1" latinLnBrk="0" hangingPunct="1">
              <a:lnSpc>
                <a:spcPct val="90000"/>
              </a:lnSpc>
              <a:spcBef>
                <a:spcPts val="500"/>
              </a:spcBef>
              <a:buClr>
                <a:schemeClr val="bg2"/>
              </a:buClr>
              <a:buFont typeface="System Font Regular"/>
              <a:buChar char="–"/>
              <a:defRPr sz="1800" kern="1200">
                <a:solidFill>
                  <a:schemeClr val="bg1">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ct val="0"/>
              </a:spcAft>
              <a:buClr>
                <a:srgbClr val="D62B1E"/>
              </a:buClr>
              <a:buSzTx/>
              <a:buFont typeface="Arial" panose="020B0604020202020204" pitchFamily="34" charset="0"/>
              <a:buNone/>
              <a:tabLst/>
              <a:defRPr/>
            </a:pPr>
            <a:r>
              <a:rPr kumimoji="0" lang="en-US" altLang="en-US" sz="700" i="0" u="none" strike="noStrike" kern="1200" cap="none" spc="0" normalizeH="0" baseline="0" noProof="0">
                <a:ln>
                  <a:noFill/>
                </a:ln>
                <a:solidFill>
                  <a:srgbClr val="C00000"/>
                </a:solidFill>
                <a:effectLst/>
                <a:uLnTx/>
                <a:uFillTx/>
                <a:latin typeface="Poppins"/>
                <a:ea typeface="+mn-ea"/>
                <a:cs typeface="+mn-cs"/>
              </a:rPr>
              <a:t>Q2: DRO</a:t>
            </a:r>
            <a:endParaRPr kumimoji="0" lang="en-US" sz="700" i="0" u="none" strike="noStrike" kern="1200" cap="none" spc="0" normalizeH="0" baseline="0" noProof="0">
              <a:ln>
                <a:noFill/>
              </a:ln>
              <a:solidFill>
                <a:srgbClr val="C00000"/>
              </a:solidFill>
              <a:effectLst/>
              <a:uLnTx/>
              <a:uFillTx/>
              <a:latin typeface="Poppins"/>
              <a:ea typeface="+mn-ea"/>
              <a:cs typeface="+mn-cs"/>
            </a:endParaRPr>
          </a:p>
        </p:txBody>
      </p:sp>
      <p:grpSp>
        <p:nvGrpSpPr>
          <p:cNvPr id="89" name="Group 88">
            <a:extLst>
              <a:ext uri="{FF2B5EF4-FFF2-40B4-BE49-F238E27FC236}">
                <a16:creationId xmlns:a16="http://schemas.microsoft.com/office/drawing/2014/main" id="{26A59812-D965-B366-EE2E-0C3D13A7268D}"/>
              </a:ext>
            </a:extLst>
          </p:cNvPr>
          <p:cNvGrpSpPr/>
          <p:nvPr/>
        </p:nvGrpSpPr>
        <p:grpSpPr>
          <a:xfrm>
            <a:off x="6379732" y="1632900"/>
            <a:ext cx="5448729" cy="4409163"/>
            <a:chOff x="6379732" y="1527845"/>
            <a:chExt cx="5448729" cy="4409163"/>
          </a:xfrm>
        </p:grpSpPr>
        <p:sp>
          <p:nvSpPr>
            <p:cNvPr id="9" name="Rectangle 8">
              <a:extLst>
                <a:ext uri="{FF2B5EF4-FFF2-40B4-BE49-F238E27FC236}">
                  <a16:creationId xmlns:a16="http://schemas.microsoft.com/office/drawing/2014/main" id="{49A951E2-788D-22E0-946A-85714BBDC65C}"/>
                </a:ext>
              </a:extLst>
            </p:cNvPr>
            <p:cNvSpPr/>
            <p:nvPr/>
          </p:nvSpPr>
          <p:spPr>
            <a:xfrm>
              <a:off x="6836175" y="1527845"/>
              <a:ext cx="4389041" cy="3657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r>
                <a:rPr lang="en-US" sz="1400" b="1">
                  <a:solidFill>
                    <a:schemeClr val="bg1"/>
                  </a:solidFill>
                </a:rPr>
                <a:t>Strategic Implications for BGB-58067</a:t>
              </a:r>
            </a:p>
          </p:txBody>
        </p:sp>
        <p:sp>
          <p:nvSpPr>
            <p:cNvPr id="75" name="TextBox 74">
              <a:extLst>
                <a:ext uri="{FF2B5EF4-FFF2-40B4-BE49-F238E27FC236}">
                  <a16:creationId xmlns:a16="http://schemas.microsoft.com/office/drawing/2014/main" id="{D8E9A72C-29FF-AA3C-15BC-D94A1E1E5A40}"/>
                </a:ext>
              </a:extLst>
            </p:cNvPr>
            <p:cNvSpPr txBox="1"/>
            <p:nvPr/>
          </p:nvSpPr>
          <p:spPr>
            <a:xfrm>
              <a:off x="6379732" y="2016565"/>
              <a:ext cx="5448729" cy="1038582"/>
            </a:xfrm>
            <a:prstGeom prst="roundRect">
              <a:avLst/>
            </a:prstGeom>
            <a:solidFill>
              <a:schemeClr val="bg1">
                <a:lumMod val="95000"/>
                <a:alpha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ea typeface="+mn-ea"/>
                  <a:cs typeface="+mn-cs"/>
                </a:rPr>
                <a:t>BGB-58067 is being developed to establish a best-in-class, MTA-cooperative PRMT5 inhibitor in MTAP-deleted NSCLC and broader solid tumors. </a:t>
              </a:r>
              <a:r>
                <a:rPr lang="en-US" sz="1100">
                  <a:solidFill>
                    <a:srgbClr val="000000"/>
                  </a:solidFill>
                </a:rPr>
                <a:t>A</a:t>
              </a:r>
              <a:r>
                <a:rPr kumimoji="0" lang="en-US" sz="1100" b="0" i="0" u="none" strike="noStrike" kern="1200" cap="none" spc="0" normalizeH="0" baseline="0" noProof="0">
                  <a:ln>
                    <a:noFill/>
                  </a:ln>
                  <a:solidFill>
                    <a:srgbClr val="000000"/>
                  </a:solidFill>
                  <a:effectLst/>
                  <a:uLnTx/>
                  <a:uFillTx/>
                  <a:ea typeface="+mn-ea"/>
                  <a:cs typeface="+mn-cs"/>
                </a:rPr>
                <a:t>s the asset enters an increasingly competitive and maturing PRMT5i landscape, it is unlikely to be first-to-market, placing a premium on </a:t>
              </a:r>
              <a:r>
                <a:rPr kumimoji="0" lang="en-US" sz="1100" b="1" i="0" u="none" strike="noStrike" kern="1200" cap="none" spc="0" normalizeH="0" baseline="0" noProof="0">
                  <a:ln>
                    <a:noFill/>
                  </a:ln>
                  <a:solidFill>
                    <a:schemeClr val="accent5"/>
                  </a:solidFill>
                  <a:effectLst/>
                  <a:uLnTx/>
                  <a:uFillTx/>
                  <a:ea typeface="+mn-ea"/>
                  <a:cs typeface="+mn-cs"/>
                </a:rPr>
                <a:t>clear, evidence-backed differentiation</a:t>
              </a:r>
              <a:r>
                <a:rPr kumimoji="0" lang="en-US" sz="1100" b="0" i="0" u="none" strike="noStrike" kern="1200" cap="none" spc="0" normalizeH="0" baseline="0" noProof="0">
                  <a:ln>
                    <a:noFill/>
                  </a:ln>
                  <a:solidFill>
                    <a:srgbClr val="283349">
                      <a:lumMod val="60000"/>
                      <a:lumOff val="40000"/>
                    </a:srgbClr>
                  </a:solidFill>
                  <a:effectLst/>
                  <a:uLnTx/>
                  <a:uFillTx/>
                  <a:ea typeface="+mn-ea"/>
                  <a:cs typeface="+mn-cs"/>
                </a:rPr>
                <a:t>.</a:t>
              </a:r>
            </a:p>
          </p:txBody>
        </p:sp>
        <p:sp>
          <p:nvSpPr>
            <p:cNvPr id="76" name="TextBox 75">
              <a:extLst>
                <a:ext uri="{FF2B5EF4-FFF2-40B4-BE49-F238E27FC236}">
                  <a16:creationId xmlns:a16="http://schemas.microsoft.com/office/drawing/2014/main" id="{1AEDE28E-56AC-340C-6B5F-D55BFE5B3F0A}"/>
                </a:ext>
              </a:extLst>
            </p:cNvPr>
            <p:cNvSpPr txBox="1"/>
            <p:nvPr/>
          </p:nvSpPr>
          <p:spPr>
            <a:xfrm>
              <a:off x="6493478" y="3200978"/>
              <a:ext cx="5251007"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ea typeface="+mn-ea"/>
                  <a:cs typeface="+mn-cs"/>
                </a:rPr>
                <a:t>To secure a </a:t>
              </a:r>
              <a:r>
                <a:rPr kumimoji="0" lang="en-US" sz="1100" b="1" i="0" u="none" strike="noStrike" kern="1200" cap="none" spc="0" normalizeH="0" baseline="0" noProof="0">
                  <a:ln>
                    <a:noFill/>
                  </a:ln>
                  <a:solidFill>
                    <a:schemeClr val="accent5"/>
                  </a:solidFill>
                  <a:effectLst/>
                  <a:uLnTx/>
                  <a:uFillTx/>
                  <a:ea typeface="+mn-ea"/>
                  <a:cs typeface="+mn-cs"/>
                </a:rPr>
                <a:t>differentiated and durable position</a:t>
              </a:r>
              <a:r>
                <a:rPr kumimoji="0" lang="en-US" sz="1100" b="0" i="0" u="none" strike="noStrike" kern="1200" cap="none" spc="0" normalizeH="0" baseline="0" noProof="0">
                  <a:ln>
                    <a:noFill/>
                  </a:ln>
                  <a:solidFill>
                    <a:srgbClr val="000000"/>
                  </a:solidFill>
                  <a:effectLst/>
                  <a:uLnTx/>
                  <a:uFillTx/>
                  <a:ea typeface="+mn-ea"/>
                  <a:cs typeface="+mn-cs"/>
                </a:rPr>
                <a:t>, the evidence strategy must enable:</a:t>
              </a:r>
            </a:p>
          </p:txBody>
        </p:sp>
        <p:grpSp>
          <p:nvGrpSpPr>
            <p:cNvPr id="77" name="Group 76">
              <a:extLst>
                <a:ext uri="{FF2B5EF4-FFF2-40B4-BE49-F238E27FC236}">
                  <a16:creationId xmlns:a16="http://schemas.microsoft.com/office/drawing/2014/main" id="{EB7956CB-A5CA-7290-6F0A-A8D821AA8C2B}"/>
                </a:ext>
              </a:extLst>
            </p:cNvPr>
            <p:cNvGrpSpPr/>
            <p:nvPr/>
          </p:nvGrpSpPr>
          <p:grpSpPr>
            <a:xfrm>
              <a:off x="6493479" y="3783579"/>
              <a:ext cx="5334981" cy="523220"/>
              <a:chOff x="531829" y="2657508"/>
              <a:chExt cx="5334981" cy="523220"/>
            </a:xfrm>
          </p:grpSpPr>
          <p:sp>
            <p:nvSpPr>
              <p:cNvPr id="78" name="TextBox 77">
                <a:extLst>
                  <a:ext uri="{FF2B5EF4-FFF2-40B4-BE49-F238E27FC236}">
                    <a16:creationId xmlns:a16="http://schemas.microsoft.com/office/drawing/2014/main" id="{AAFE115F-EC41-E84E-3931-7E126D7BFAA2}"/>
                  </a:ext>
                </a:extLst>
              </p:cNvPr>
              <p:cNvSpPr txBox="1"/>
              <p:nvPr/>
            </p:nvSpPr>
            <p:spPr>
              <a:xfrm>
                <a:off x="859521" y="2657508"/>
                <a:ext cx="5007289" cy="523220"/>
              </a:xfrm>
              <a:prstGeom prst="rect">
                <a:avLst/>
              </a:prstGeom>
              <a:noFill/>
            </p:spPr>
            <p:txBody>
              <a:bodyPr wrap="square" lIns="91440" tIns="91440" rIns="91440" bIns="91440" rtlCol="0" anchor="ctr">
                <a:spAutoFit/>
              </a:bodyPr>
              <a:lstStyle/>
              <a:p>
                <a:pPr defTabSz="914400">
                  <a:defRPr/>
                </a:pPr>
                <a:r>
                  <a:rPr kumimoji="0" lang="en-US" sz="1100" b="1" i="0" u="none" strike="noStrike" kern="1200" cap="none" spc="0" normalizeH="0" baseline="0" noProof="0">
                    <a:ln>
                      <a:noFill/>
                    </a:ln>
                    <a:solidFill>
                      <a:srgbClr val="000000"/>
                    </a:solidFill>
                    <a:effectLst/>
                    <a:uLnTx/>
                    <a:uFillTx/>
                    <a:ea typeface="+mn-ea"/>
                    <a:cs typeface="+mn-cs"/>
                  </a:rPr>
                  <a:t>Differentiation </a:t>
                </a:r>
                <a:r>
                  <a:rPr lang="en-US" sz="1100" b="1">
                    <a:solidFill>
                      <a:srgbClr val="000000"/>
                    </a:solidFill>
                  </a:rPr>
                  <a:t>via strategic levers </a:t>
                </a:r>
                <a:r>
                  <a:rPr lang="en-US" sz="1100">
                    <a:solidFill>
                      <a:srgbClr val="000000"/>
                    </a:solidFill>
                  </a:rPr>
                  <a:t>of </a:t>
                </a:r>
                <a:r>
                  <a:rPr lang="en-GB" sz="1100">
                    <a:solidFill>
                      <a:srgbClr val="000000"/>
                    </a:solidFill>
                  </a:rPr>
                  <a:t>CNS activity, safety, tolerability, </a:t>
                </a:r>
                <a:r>
                  <a:rPr lang="en-GB" sz="1100" err="1">
                    <a:solidFill>
                      <a:srgbClr val="000000"/>
                    </a:solidFill>
                  </a:rPr>
                  <a:t>HRQoL</a:t>
                </a:r>
                <a:r>
                  <a:rPr lang="en-GB" sz="1100">
                    <a:solidFill>
                      <a:srgbClr val="000000"/>
                    </a:solidFill>
                  </a:rPr>
                  <a:t>, and real-world usability</a:t>
                </a:r>
                <a:r>
                  <a:rPr lang="en-US" sz="1100">
                    <a:solidFill>
                      <a:srgbClr val="000000"/>
                    </a:solidFill>
                  </a:rPr>
                  <a:t> </a:t>
                </a:r>
                <a:endParaRPr lang="en-US" sz="1100" b="0" i="0" u="none" strike="noStrike" kern="1200" cap="none" spc="0" normalizeH="0" baseline="0" noProof="0">
                  <a:ln>
                    <a:noFill/>
                  </a:ln>
                  <a:solidFill>
                    <a:srgbClr val="000000"/>
                  </a:solidFill>
                  <a:effectLst/>
                  <a:uLnTx/>
                  <a:uFillTx/>
                  <a:cs typeface="Poppins"/>
                </a:endParaRPr>
              </a:p>
            </p:txBody>
          </p:sp>
          <p:sp>
            <p:nvSpPr>
              <p:cNvPr id="79" name="Rectangle 78">
                <a:extLst>
                  <a:ext uri="{FF2B5EF4-FFF2-40B4-BE49-F238E27FC236}">
                    <a16:creationId xmlns:a16="http://schemas.microsoft.com/office/drawing/2014/main" id="{78CFA848-B68E-81B9-9589-6CFEEB3F8E91}"/>
                  </a:ext>
                </a:extLst>
              </p:cNvPr>
              <p:cNvSpPr/>
              <p:nvPr/>
            </p:nvSpPr>
            <p:spPr>
              <a:xfrm>
                <a:off x="531829" y="2766656"/>
                <a:ext cx="309693" cy="294192"/>
              </a:xfrm>
              <a:prstGeom prst="rect">
                <a:avLst/>
              </a:prstGeom>
              <a:solidFill>
                <a:srgbClr val="A3333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r>
                  <a:rPr lang="en-US" sz="1100" b="1">
                    <a:solidFill>
                      <a:schemeClr val="bg1"/>
                    </a:solidFill>
                  </a:rPr>
                  <a:t>1</a:t>
                </a:r>
              </a:p>
            </p:txBody>
          </p:sp>
        </p:grpSp>
        <p:grpSp>
          <p:nvGrpSpPr>
            <p:cNvPr id="80" name="Group 79">
              <a:extLst>
                <a:ext uri="{FF2B5EF4-FFF2-40B4-BE49-F238E27FC236}">
                  <a16:creationId xmlns:a16="http://schemas.microsoft.com/office/drawing/2014/main" id="{42C5E5E4-DE66-2F07-AE6F-298687F77AB2}"/>
                </a:ext>
              </a:extLst>
            </p:cNvPr>
            <p:cNvGrpSpPr/>
            <p:nvPr/>
          </p:nvGrpSpPr>
          <p:grpSpPr>
            <a:xfrm>
              <a:off x="6493479" y="4305303"/>
              <a:ext cx="5334981" cy="523220"/>
              <a:chOff x="531829" y="3181448"/>
              <a:chExt cx="5334981" cy="523220"/>
            </a:xfrm>
          </p:grpSpPr>
          <p:sp>
            <p:nvSpPr>
              <p:cNvPr id="81" name="TextBox 80">
                <a:extLst>
                  <a:ext uri="{FF2B5EF4-FFF2-40B4-BE49-F238E27FC236}">
                    <a16:creationId xmlns:a16="http://schemas.microsoft.com/office/drawing/2014/main" id="{47F36E6C-E76F-330A-7691-B6AA2826CDD1}"/>
                  </a:ext>
                </a:extLst>
              </p:cNvPr>
              <p:cNvSpPr txBox="1"/>
              <p:nvPr/>
            </p:nvSpPr>
            <p:spPr>
              <a:xfrm>
                <a:off x="859522" y="3181448"/>
                <a:ext cx="5007288" cy="523220"/>
              </a:xfrm>
              <a:prstGeom prst="rect">
                <a:avLst/>
              </a:prstGeom>
              <a:noFill/>
            </p:spPr>
            <p:txBody>
              <a:bodyPr wrap="square" lIns="91440" tIns="91440" rIns="91440" bIns="9144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ea typeface="+mn-ea"/>
                    <a:cs typeface="+mn-cs"/>
                  </a:rPr>
                  <a:t>Biomarker-driven positioning </a:t>
                </a:r>
                <a:r>
                  <a:rPr kumimoji="0" lang="en-US" sz="1100" b="0" i="0" u="none" strike="noStrike" kern="1200" cap="none" spc="0" normalizeH="0" baseline="0" noProof="0">
                    <a:ln>
                      <a:noFill/>
                    </a:ln>
                    <a:solidFill>
                      <a:srgbClr val="000000"/>
                    </a:solidFill>
                    <a:effectLst/>
                    <a:uLnTx/>
                    <a:uFillTx/>
                    <a:ea typeface="+mn-ea"/>
                    <a:cs typeface="+mn-cs"/>
                  </a:rPr>
                  <a:t>enabling precise patient identification</a:t>
                </a:r>
              </a:p>
            </p:txBody>
          </p:sp>
          <p:sp>
            <p:nvSpPr>
              <p:cNvPr id="82" name="Rectangle 81">
                <a:extLst>
                  <a:ext uri="{FF2B5EF4-FFF2-40B4-BE49-F238E27FC236}">
                    <a16:creationId xmlns:a16="http://schemas.microsoft.com/office/drawing/2014/main" id="{75932C2B-AE78-1B9A-444C-38B7B337D8DE}"/>
                  </a:ext>
                </a:extLst>
              </p:cNvPr>
              <p:cNvSpPr/>
              <p:nvPr/>
            </p:nvSpPr>
            <p:spPr>
              <a:xfrm>
                <a:off x="531829" y="3295962"/>
                <a:ext cx="309693" cy="29419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r>
                  <a:rPr lang="en-US" sz="1100" b="1">
                    <a:solidFill>
                      <a:schemeClr val="bg1"/>
                    </a:solidFill>
                  </a:rPr>
                  <a:t>2</a:t>
                </a:r>
              </a:p>
            </p:txBody>
          </p:sp>
        </p:grpSp>
        <p:grpSp>
          <p:nvGrpSpPr>
            <p:cNvPr id="83" name="Group 82">
              <a:extLst>
                <a:ext uri="{FF2B5EF4-FFF2-40B4-BE49-F238E27FC236}">
                  <a16:creationId xmlns:a16="http://schemas.microsoft.com/office/drawing/2014/main" id="{9407D32C-ED48-D79B-7D05-DFCD758EA8DC}"/>
                </a:ext>
              </a:extLst>
            </p:cNvPr>
            <p:cNvGrpSpPr/>
            <p:nvPr/>
          </p:nvGrpSpPr>
          <p:grpSpPr>
            <a:xfrm>
              <a:off x="6493479" y="4880858"/>
              <a:ext cx="5334981" cy="523220"/>
              <a:chOff x="531829" y="3705390"/>
              <a:chExt cx="5334981" cy="523220"/>
            </a:xfrm>
          </p:grpSpPr>
          <p:sp>
            <p:nvSpPr>
              <p:cNvPr id="84" name="TextBox 83">
                <a:extLst>
                  <a:ext uri="{FF2B5EF4-FFF2-40B4-BE49-F238E27FC236}">
                    <a16:creationId xmlns:a16="http://schemas.microsoft.com/office/drawing/2014/main" id="{0DA3CBA8-5FBB-DA6D-6F20-0B209DEE8616}"/>
                  </a:ext>
                </a:extLst>
              </p:cNvPr>
              <p:cNvSpPr txBox="1"/>
              <p:nvPr/>
            </p:nvSpPr>
            <p:spPr>
              <a:xfrm>
                <a:off x="859522" y="3705390"/>
                <a:ext cx="5007288" cy="523220"/>
              </a:xfrm>
              <a:prstGeom prst="rect">
                <a:avLst/>
              </a:prstGeom>
              <a:noFill/>
            </p:spPr>
            <p:txBody>
              <a:bodyPr wrap="square" lIns="91440" tIns="91440" rIns="91440" bIns="9144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ea typeface="+mn-ea"/>
                    <a:cs typeface="+mn-cs"/>
                  </a:rPr>
                  <a:t>Combination and sequencing clarity </a:t>
                </a:r>
                <a:r>
                  <a:rPr kumimoji="0" lang="en-US" sz="1100" b="0" i="0" u="none" strike="noStrike" kern="1200" cap="none" spc="0" normalizeH="0" baseline="0" noProof="0">
                    <a:ln>
                      <a:noFill/>
                    </a:ln>
                    <a:solidFill>
                      <a:srgbClr val="000000"/>
                    </a:solidFill>
                    <a:effectLst/>
                    <a:uLnTx/>
                    <a:uFillTx/>
                    <a:ea typeface="+mn-ea"/>
                    <a:cs typeface="+mn-cs"/>
                  </a:rPr>
                  <a:t>with </a:t>
                </a:r>
                <a:r>
                  <a:rPr kumimoji="0" lang="en-GB" sz="1100" b="0" i="0" u="none" strike="noStrike" kern="1200" cap="none" spc="0" normalizeH="0" baseline="0" noProof="0">
                    <a:ln>
                      <a:noFill/>
                    </a:ln>
                    <a:solidFill>
                      <a:srgbClr val="000000"/>
                    </a:solidFill>
                    <a:effectLst/>
                    <a:uLnTx/>
                    <a:uFillTx/>
                    <a:ea typeface="+mn-ea"/>
                    <a:cs typeface="+mn-cs"/>
                  </a:rPr>
                  <a:t>IO and targeted therapies in rapidly evolving treatment pathways</a:t>
                </a:r>
                <a:endParaRPr kumimoji="0" lang="en-US" sz="1100" b="0" i="0" u="none" strike="noStrike" kern="1200" cap="none" spc="0" normalizeH="0" baseline="0" noProof="0">
                  <a:ln>
                    <a:noFill/>
                  </a:ln>
                  <a:solidFill>
                    <a:srgbClr val="000000"/>
                  </a:solidFill>
                  <a:effectLst/>
                  <a:uLnTx/>
                  <a:uFillTx/>
                  <a:ea typeface="+mn-ea"/>
                  <a:cs typeface="+mn-cs"/>
                </a:endParaRPr>
              </a:p>
            </p:txBody>
          </p:sp>
          <p:sp>
            <p:nvSpPr>
              <p:cNvPr id="85" name="Rectangle 84">
                <a:extLst>
                  <a:ext uri="{FF2B5EF4-FFF2-40B4-BE49-F238E27FC236}">
                    <a16:creationId xmlns:a16="http://schemas.microsoft.com/office/drawing/2014/main" id="{0A412A2F-8B9C-E3BB-0EF6-0826447F37C5}"/>
                  </a:ext>
                </a:extLst>
              </p:cNvPr>
              <p:cNvSpPr/>
              <p:nvPr/>
            </p:nvSpPr>
            <p:spPr>
              <a:xfrm>
                <a:off x="531829" y="3819903"/>
                <a:ext cx="309693" cy="29419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r>
                  <a:rPr lang="en-US" sz="1100" b="1">
                    <a:solidFill>
                      <a:schemeClr val="bg1"/>
                    </a:solidFill>
                  </a:rPr>
                  <a:t>3</a:t>
                </a:r>
              </a:p>
            </p:txBody>
          </p:sp>
        </p:grpSp>
        <p:grpSp>
          <p:nvGrpSpPr>
            <p:cNvPr id="86" name="Group 85">
              <a:extLst>
                <a:ext uri="{FF2B5EF4-FFF2-40B4-BE49-F238E27FC236}">
                  <a16:creationId xmlns:a16="http://schemas.microsoft.com/office/drawing/2014/main" id="{FC143C24-C927-518C-9831-14267A5D000D}"/>
                </a:ext>
              </a:extLst>
            </p:cNvPr>
            <p:cNvGrpSpPr/>
            <p:nvPr/>
          </p:nvGrpSpPr>
          <p:grpSpPr>
            <a:xfrm>
              <a:off x="6493479" y="5413788"/>
              <a:ext cx="5334978" cy="523220"/>
              <a:chOff x="531829" y="4229331"/>
              <a:chExt cx="5334978" cy="523220"/>
            </a:xfrm>
          </p:grpSpPr>
          <p:sp>
            <p:nvSpPr>
              <p:cNvPr id="87" name="TextBox 86">
                <a:extLst>
                  <a:ext uri="{FF2B5EF4-FFF2-40B4-BE49-F238E27FC236}">
                    <a16:creationId xmlns:a16="http://schemas.microsoft.com/office/drawing/2014/main" id="{7947011F-EAD0-635B-C2F8-FE38AB7844C1}"/>
                  </a:ext>
                </a:extLst>
              </p:cNvPr>
              <p:cNvSpPr txBox="1"/>
              <p:nvPr/>
            </p:nvSpPr>
            <p:spPr>
              <a:xfrm>
                <a:off x="859520" y="4229331"/>
                <a:ext cx="5007287" cy="523220"/>
              </a:xfrm>
              <a:prstGeom prst="rect">
                <a:avLst/>
              </a:prstGeom>
              <a:noFill/>
            </p:spPr>
            <p:txBody>
              <a:bodyPr wrap="square" lIns="91440" tIns="91440" rIns="91440" bIns="9144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ea typeface="+mn-ea"/>
                    <a:cs typeface="+mn-cs"/>
                  </a:rPr>
                  <a:t>Future-proofing against resistance </a:t>
                </a:r>
                <a:r>
                  <a:rPr kumimoji="0" lang="en-GB" sz="1100" b="0" i="0" u="none" strike="noStrike" kern="1200" cap="none" spc="0" normalizeH="0" baseline="0" noProof="0">
                    <a:ln>
                      <a:noFill/>
                    </a:ln>
                    <a:solidFill>
                      <a:srgbClr val="000000"/>
                    </a:solidFill>
                    <a:effectLst/>
                    <a:uLnTx/>
                    <a:uFillTx/>
                    <a:ea typeface="+mn-ea"/>
                    <a:cs typeface="+mn-cs"/>
                  </a:rPr>
                  <a:t>ensuring durable benefit and long-term positioning</a:t>
                </a:r>
                <a:endParaRPr kumimoji="0" lang="en-US" sz="1100" b="0" i="0" u="none" strike="noStrike" kern="1200" cap="none" spc="0" normalizeH="0" baseline="0" noProof="0">
                  <a:ln>
                    <a:noFill/>
                  </a:ln>
                  <a:solidFill>
                    <a:srgbClr val="000000"/>
                  </a:solidFill>
                  <a:effectLst/>
                  <a:uLnTx/>
                  <a:uFillTx/>
                  <a:ea typeface="+mn-ea"/>
                  <a:cs typeface="+mn-cs"/>
                </a:endParaRPr>
              </a:p>
            </p:txBody>
          </p:sp>
          <p:sp>
            <p:nvSpPr>
              <p:cNvPr id="88" name="Rectangle 87">
                <a:extLst>
                  <a:ext uri="{FF2B5EF4-FFF2-40B4-BE49-F238E27FC236}">
                    <a16:creationId xmlns:a16="http://schemas.microsoft.com/office/drawing/2014/main" id="{C022C1EF-9BEB-7BE0-F30D-9D81D5ACB6D3}"/>
                  </a:ext>
                </a:extLst>
              </p:cNvPr>
              <p:cNvSpPr/>
              <p:nvPr/>
            </p:nvSpPr>
            <p:spPr>
              <a:xfrm>
                <a:off x="531829" y="4343844"/>
                <a:ext cx="309693" cy="29419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r>
                  <a:rPr lang="en-US" sz="1100" b="1">
                    <a:solidFill>
                      <a:schemeClr val="bg1"/>
                    </a:solidFill>
                  </a:rPr>
                  <a:t>4</a:t>
                </a:r>
              </a:p>
            </p:txBody>
          </p:sp>
        </p:grpSp>
      </p:grpSp>
      <p:grpSp>
        <p:nvGrpSpPr>
          <p:cNvPr id="6" name="Group 5">
            <a:extLst>
              <a:ext uri="{FF2B5EF4-FFF2-40B4-BE49-F238E27FC236}">
                <a16:creationId xmlns:a16="http://schemas.microsoft.com/office/drawing/2014/main" id="{25D8D8A9-AF01-4B37-974B-CC78243AF554}"/>
              </a:ext>
            </a:extLst>
          </p:cNvPr>
          <p:cNvGrpSpPr/>
          <p:nvPr/>
        </p:nvGrpSpPr>
        <p:grpSpPr>
          <a:xfrm>
            <a:off x="362743" y="10216"/>
            <a:ext cx="10042505" cy="252000"/>
            <a:chOff x="362743" y="10216"/>
            <a:chExt cx="10042505" cy="252000"/>
          </a:xfrm>
        </p:grpSpPr>
        <p:sp>
          <p:nvSpPr>
            <p:cNvPr id="8" name="Pentagon 47">
              <a:extLst>
                <a:ext uri="{FF2B5EF4-FFF2-40B4-BE49-F238E27FC236}">
                  <a16:creationId xmlns:a16="http://schemas.microsoft.com/office/drawing/2014/main" id="{139E3EEB-87E4-4FD6-173D-FE848536E1D5}"/>
                </a:ext>
              </a:extLst>
            </p:cNvPr>
            <p:cNvSpPr/>
            <p:nvPr/>
          </p:nvSpPr>
          <p:spPr>
            <a:xfrm>
              <a:off x="362743" y="10216"/>
              <a:ext cx="1695265" cy="252000"/>
            </a:xfrm>
            <a:prstGeom prst="homePlate">
              <a:avLst>
                <a:gd name="adj" fmla="val 28868"/>
              </a:avLst>
            </a:prstGeom>
            <a:solidFill>
              <a:schemeClr val="bg2">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10" name="Chevron 48">
              <a:extLst>
                <a:ext uri="{FF2B5EF4-FFF2-40B4-BE49-F238E27FC236}">
                  <a16:creationId xmlns:a16="http://schemas.microsoft.com/office/drawing/2014/main" id="{65877CAE-74B1-526B-F498-00C5C2C3E206}"/>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11" name="Chevron 52">
              <a:extLst>
                <a:ext uri="{FF2B5EF4-FFF2-40B4-BE49-F238E27FC236}">
                  <a16:creationId xmlns:a16="http://schemas.microsoft.com/office/drawing/2014/main" id="{2F1BBF64-6D22-AAB3-D1A3-D52487A5D771}"/>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12" name="Chevron 54">
              <a:extLst>
                <a:ext uri="{FF2B5EF4-FFF2-40B4-BE49-F238E27FC236}">
                  <a16:creationId xmlns:a16="http://schemas.microsoft.com/office/drawing/2014/main" id="{1FD04E12-786B-1BAF-DA81-91C33C7D4119}"/>
                </a:ext>
              </a:extLst>
            </p:cNvPr>
            <p:cNvSpPr/>
            <p:nvPr/>
          </p:nvSpPr>
          <p:spPr>
            <a:xfrm>
              <a:off x="2032191"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4" name="Chevron 48">
              <a:extLst>
                <a:ext uri="{FF2B5EF4-FFF2-40B4-BE49-F238E27FC236}">
                  <a16:creationId xmlns:a16="http://schemas.microsoft.com/office/drawing/2014/main" id="{0AEA1B85-3675-FB24-AD3B-948B9A6FAC3E}"/>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9" name="Chevron 48">
              <a:extLst>
                <a:ext uri="{FF2B5EF4-FFF2-40B4-BE49-F238E27FC236}">
                  <a16:creationId xmlns:a16="http://schemas.microsoft.com/office/drawing/2014/main" id="{C331EAA9-25F8-FA5D-FA53-8ABF05FDB05C}"/>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3479070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9045A-90D2-BB85-61BD-DFA1A1144843}"/>
            </a:ext>
          </a:extLst>
        </p:cNvPr>
        <p:cNvGrpSpPr/>
        <p:nvPr/>
      </p:nvGrpSpPr>
      <p:grpSpPr>
        <a:xfrm>
          <a:off x="0" y="0"/>
          <a:ext cx="0" cy="0"/>
          <a:chOff x="0" y="0"/>
          <a:chExt cx="0" cy="0"/>
        </a:xfrm>
      </p:grpSpPr>
      <p:graphicFrame>
        <p:nvGraphicFramePr>
          <p:cNvPr id="62" name="think-cell data - do not delete" hidden="1">
            <a:extLst>
              <a:ext uri="{FF2B5EF4-FFF2-40B4-BE49-F238E27FC236}">
                <a16:creationId xmlns:a16="http://schemas.microsoft.com/office/drawing/2014/main" id="{BBDDE0C8-BC48-1DE9-1279-FC2B7C333993}"/>
              </a:ext>
            </a:extLst>
          </p:cNvPr>
          <p:cNvGraphicFramePr>
            <a:graphicFrameLocks/>
          </p:cNvGraphicFramePr>
          <p:nvPr>
            <p:custDataLst>
              <p:tags r:id="rId1"/>
            </p:custDataLst>
            <p:extLst>
              <p:ext uri="{D42A27DB-BD31-4B8C-83A1-F6EECF244321}">
                <p14:modId xmlns:p14="http://schemas.microsoft.com/office/powerpoint/2010/main" val="34128900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62" name="think-cell data - do not delete" hidden="1">
                        <a:extLst>
                          <a:ext uri="{FF2B5EF4-FFF2-40B4-BE49-F238E27FC236}">
                            <a16:creationId xmlns:a16="http://schemas.microsoft.com/office/drawing/2014/main" id="{BBDDE0C8-BC48-1DE9-1279-FC2B7C333993}"/>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F3151D0-46A9-04BD-3EA0-0D5343DD9DA0}"/>
              </a:ext>
            </a:extLst>
          </p:cNvPr>
          <p:cNvSpPr>
            <a:spLocks noGrp="1"/>
          </p:cNvSpPr>
          <p:nvPr>
            <p:ph type="title"/>
          </p:nvPr>
        </p:nvSpPr>
        <p:spPr>
          <a:xfrm>
            <a:off x="356616" y="338328"/>
            <a:ext cx="11470125" cy="738664"/>
          </a:xfrm>
        </p:spPr>
        <p:txBody>
          <a:bodyPr vert="horz" rIns="0" anchor="b">
            <a:spAutoFit/>
          </a:bodyPr>
          <a:lstStyle/>
          <a:p>
            <a:r>
              <a:rPr lang="en-US" sz="2400"/>
              <a:t>Medical strategic imperatives guide the evidence generation priorities in this IEP with evidence gaps categorized into specific themes under each SI</a:t>
            </a:r>
            <a:endParaRPr lang="en-US" sz="1800">
              <a:ea typeface="Verdana"/>
            </a:endParaRPr>
          </a:p>
        </p:txBody>
      </p:sp>
      <p:sp>
        <p:nvSpPr>
          <p:cNvPr id="35" name="Text Placeholder 4">
            <a:extLst>
              <a:ext uri="{FF2B5EF4-FFF2-40B4-BE49-F238E27FC236}">
                <a16:creationId xmlns:a16="http://schemas.microsoft.com/office/drawing/2014/main" id="{95F6FA33-B32A-52EA-6786-DC8A769539BA}"/>
              </a:ext>
            </a:extLst>
          </p:cNvPr>
          <p:cNvSpPr txBox="1">
            <a:spLocks/>
          </p:cNvSpPr>
          <p:nvPr/>
        </p:nvSpPr>
        <p:spPr>
          <a:xfrm>
            <a:off x="3585817" y="2657566"/>
            <a:ext cx="2643561" cy="1187556"/>
          </a:xfrm>
          <a:prstGeom prst="roundRect">
            <a:avLst>
              <a:gd name="adj" fmla="val 10438"/>
            </a:avLst>
          </a:prstGeom>
          <a:solidFill>
            <a:srgbClr val="006680"/>
          </a:solidFill>
        </p:spPr>
        <p:txBody>
          <a:bodyPr lIns="91440" tIns="91440" rIns="91440" bIns="91440" anchor="ctr">
            <a:noAutofit/>
          </a:bodyPr>
          <a:lstStyle>
            <a:lvl1pPr marL="0" indent="0" algn="l" defTabSz="914400" rtl="0" eaLnBrk="1" latinLnBrk="0" hangingPunct="1">
              <a:lnSpc>
                <a:spcPct val="100000"/>
              </a:lnSpc>
              <a:spcBef>
                <a:spcPts val="1000"/>
              </a:spcBef>
              <a:buClr>
                <a:schemeClr val="accent1"/>
              </a:buClr>
              <a:buFontTx/>
              <a:buNone/>
              <a:defRPr sz="1200" b="0" i="0" kern="1200">
                <a:solidFill>
                  <a:schemeClr val="bg1"/>
                </a:solidFill>
                <a:latin typeface="+mj-lt"/>
                <a:ea typeface="Verdana" panose="020B0604030504040204" pitchFamily="34" charset="0"/>
                <a:cs typeface="Verdana" panose="020B0604030504040204" pitchFamily="34" charset="0"/>
              </a:defRPr>
            </a:lvl1pPr>
            <a:lvl2pPr marL="0" indent="0" algn="l" defTabSz="914400" rtl="0" eaLnBrk="1" latinLnBrk="0" hangingPunct="1">
              <a:lnSpc>
                <a:spcPct val="100000"/>
              </a:lnSpc>
              <a:spcBef>
                <a:spcPts val="1200"/>
              </a:spcBef>
              <a:buClr>
                <a:schemeClr val="accent1"/>
              </a:buClr>
              <a:buFontTx/>
              <a:buNone/>
              <a:tabLst/>
              <a:defRPr sz="1600" b="0" i="0" kern="1200">
                <a:solidFill>
                  <a:schemeClr val="bg1"/>
                </a:solidFill>
                <a:latin typeface="+mj-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7"/>
                    </a:ext>
                  </a:extLst>
                </a:blip>
              </a:buBlip>
              <a:tabLst/>
              <a:defRPr sz="1600" b="0" i="0" kern="1200">
                <a:solidFill>
                  <a:schemeClr val="bg1"/>
                </a:solidFill>
                <a:latin typeface="+mj-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1600" b="0" i="0" kern="1200">
                <a:solidFill>
                  <a:schemeClr val="bg1"/>
                </a:solidFill>
                <a:latin typeface="+mj-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1600" b="0" i="0" kern="1200">
                <a:solidFill>
                  <a:schemeClr val="bg1"/>
                </a:solidFill>
                <a:latin typeface="+mj-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
                <a:srgbClr val="D62B1E"/>
              </a:buClr>
              <a:buSzTx/>
              <a:buFontTx/>
              <a:buNone/>
              <a:tabLst/>
              <a:defRPr/>
            </a:pPr>
            <a:r>
              <a:rPr kumimoji="0" lang="en-US" sz="1300" b="1" i="0" u="none" strike="noStrike" kern="1200" cap="none" spc="0" normalizeH="0" baseline="0" noProof="0">
                <a:ln>
                  <a:noFill/>
                </a:ln>
                <a:solidFill>
                  <a:srgbClr val="FFFFFF"/>
                </a:solidFill>
                <a:effectLst/>
                <a:uLnTx/>
                <a:uFillTx/>
                <a:latin typeface="+mn-lt"/>
                <a:ea typeface="+mn-lt"/>
                <a:cs typeface="+mn-lt"/>
                <a:sym typeface="+mn-lt"/>
              </a:rPr>
              <a:t>Drive global awareness of MTAP deletion as a predictive biomarker for PRMT5i</a:t>
            </a:r>
          </a:p>
        </p:txBody>
      </p:sp>
      <p:sp>
        <p:nvSpPr>
          <p:cNvPr id="36" name="Text Placeholder 4">
            <a:extLst>
              <a:ext uri="{FF2B5EF4-FFF2-40B4-BE49-F238E27FC236}">
                <a16:creationId xmlns:a16="http://schemas.microsoft.com/office/drawing/2014/main" id="{FDFE1240-8147-9B7D-1086-08F5DDB2AFE0}"/>
              </a:ext>
            </a:extLst>
          </p:cNvPr>
          <p:cNvSpPr txBox="1">
            <a:spLocks/>
          </p:cNvSpPr>
          <p:nvPr/>
        </p:nvSpPr>
        <p:spPr>
          <a:xfrm>
            <a:off x="6344813" y="2657566"/>
            <a:ext cx="2643561" cy="1187556"/>
          </a:xfrm>
          <a:prstGeom prst="roundRect">
            <a:avLst>
              <a:gd name="adj" fmla="val 10438"/>
            </a:avLst>
          </a:prstGeom>
          <a:solidFill>
            <a:srgbClr val="5085D9"/>
          </a:solidFill>
        </p:spPr>
        <p:txBody>
          <a:bodyPr lIns="91440" tIns="91440" rIns="91440" bIns="91440" anchor="ctr">
            <a:noAutofit/>
          </a:bodyPr>
          <a:lstStyle>
            <a:lvl1pPr marL="0" indent="0" algn="l" defTabSz="914400" rtl="0" eaLnBrk="1" latinLnBrk="0" hangingPunct="1">
              <a:lnSpc>
                <a:spcPct val="100000"/>
              </a:lnSpc>
              <a:spcBef>
                <a:spcPts val="1000"/>
              </a:spcBef>
              <a:buClr>
                <a:schemeClr val="accent1"/>
              </a:buClr>
              <a:buFontTx/>
              <a:buNone/>
              <a:defRPr sz="1200" b="0" i="0" kern="1200">
                <a:solidFill>
                  <a:schemeClr val="bg1"/>
                </a:solidFill>
                <a:latin typeface="+mj-lt"/>
                <a:ea typeface="Verdana" panose="020B0604030504040204" pitchFamily="34" charset="0"/>
                <a:cs typeface="Verdana" panose="020B0604030504040204" pitchFamily="34" charset="0"/>
              </a:defRPr>
            </a:lvl1pPr>
            <a:lvl2pPr marL="0" indent="0" algn="l" defTabSz="914400" rtl="0" eaLnBrk="1" latinLnBrk="0" hangingPunct="1">
              <a:lnSpc>
                <a:spcPct val="100000"/>
              </a:lnSpc>
              <a:spcBef>
                <a:spcPts val="1200"/>
              </a:spcBef>
              <a:buClr>
                <a:schemeClr val="accent1"/>
              </a:buClr>
              <a:buFontTx/>
              <a:buNone/>
              <a:tabLst/>
              <a:defRPr sz="1600" b="0" i="0" kern="1200">
                <a:solidFill>
                  <a:schemeClr val="bg1"/>
                </a:solidFill>
                <a:latin typeface="+mj-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7"/>
                    </a:ext>
                  </a:extLst>
                </a:blip>
              </a:buBlip>
              <a:tabLst/>
              <a:defRPr sz="1600" b="0" i="0" kern="1200">
                <a:solidFill>
                  <a:schemeClr val="bg1"/>
                </a:solidFill>
                <a:latin typeface="+mj-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1600" b="0" i="0" kern="1200">
                <a:solidFill>
                  <a:schemeClr val="bg1"/>
                </a:solidFill>
                <a:latin typeface="+mj-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1600" b="0" i="0" kern="1200">
                <a:solidFill>
                  <a:schemeClr val="bg1"/>
                </a:solidFill>
                <a:latin typeface="+mj-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mn-lt"/>
                <a:ea typeface="+mn-lt"/>
                <a:cs typeface="+mn-lt"/>
                <a:sym typeface="+mn-lt"/>
              </a:rPr>
              <a:t>Support scientific rationale for combination treatment and sequencing for BGB-58067</a:t>
            </a:r>
          </a:p>
        </p:txBody>
      </p:sp>
      <p:sp>
        <p:nvSpPr>
          <p:cNvPr id="37" name="Text Placeholder 4">
            <a:extLst>
              <a:ext uri="{FF2B5EF4-FFF2-40B4-BE49-F238E27FC236}">
                <a16:creationId xmlns:a16="http://schemas.microsoft.com/office/drawing/2014/main" id="{2138AB75-F653-B6E0-7FC7-FF3F7630CC3B}"/>
              </a:ext>
            </a:extLst>
          </p:cNvPr>
          <p:cNvSpPr txBox="1">
            <a:spLocks/>
          </p:cNvSpPr>
          <p:nvPr/>
        </p:nvSpPr>
        <p:spPr>
          <a:xfrm>
            <a:off x="826821" y="2657566"/>
            <a:ext cx="2643561" cy="1187556"/>
          </a:xfrm>
          <a:prstGeom prst="roundRect">
            <a:avLst>
              <a:gd name="adj" fmla="val 10438"/>
            </a:avLst>
          </a:prstGeom>
          <a:solidFill>
            <a:srgbClr val="A3333B"/>
          </a:solidFill>
        </p:spPr>
        <p:txBody>
          <a:bodyPr lIns="91440" tIns="91440" rIns="91440" bIns="91440" anchor="ctr">
            <a:noAutofit/>
          </a:bodyPr>
          <a:lstStyle>
            <a:lvl1pPr marL="0" indent="0" algn="l" defTabSz="914400" rtl="0" eaLnBrk="1" latinLnBrk="0" hangingPunct="1">
              <a:lnSpc>
                <a:spcPct val="100000"/>
              </a:lnSpc>
              <a:spcBef>
                <a:spcPts val="1000"/>
              </a:spcBef>
              <a:buClr>
                <a:schemeClr val="accent1"/>
              </a:buClr>
              <a:buFontTx/>
              <a:buNone/>
              <a:defRPr sz="1200" b="0" i="0" kern="1200">
                <a:solidFill>
                  <a:schemeClr val="bg1"/>
                </a:solidFill>
                <a:latin typeface="+mj-lt"/>
                <a:ea typeface="Verdana" panose="020B0604030504040204" pitchFamily="34" charset="0"/>
                <a:cs typeface="Verdana" panose="020B0604030504040204" pitchFamily="34" charset="0"/>
              </a:defRPr>
            </a:lvl1pPr>
            <a:lvl2pPr marL="0" indent="0" algn="l" defTabSz="914400" rtl="0" eaLnBrk="1" latinLnBrk="0" hangingPunct="1">
              <a:lnSpc>
                <a:spcPct val="100000"/>
              </a:lnSpc>
              <a:spcBef>
                <a:spcPts val="1200"/>
              </a:spcBef>
              <a:buClr>
                <a:schemeClr val="accent1"/>
              </a:buClr>
              <a:buFontTx/>
              <a:buNone/>
              <a:tabLst/>
              <a:defRPr sz="1600" b="0" i="0" kern="1200">
                <a:solidFill>
                  <a:schemeClr val="bg1"/>
                </a:solidFill>
                <a:latin typeface="+mj-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7"/>
                    </a:ext>
                  </a:extLst>
                </a:blip>
              </a:buBlip>
              <a:tabLst/>
              <a:defRPr sz="1600" b="0" i="0" kern="1200">
                <a:solidFill>
                  <a:schemeClr val="bg1"/>
                </a:solidFill>
                <a:latin typeface="+mj-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1600" b="0" i="0" kern="1200">
                <a:solidFill>
                  <a:schemeClr val="bg1"/>
                </a:solidFill>
                <a:latin typeface="+mj-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1600" b="0" i="0" kern="1200">
                <a:solidFill>
                  <a:schemeClr val="bg1"/>
                </a:solidFill>
                <a:latin typeface="+mj-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defTabSz="609585">
              <a:spcBef>
                <a:spcPts val="0"/>
              </a:spcBef>
              <a:buClrTx/>
              <a:defRPr/>
            </a:pPr>
            <a:r>
              <a:rPr lang="en-US" sz="1300" b="1">
                <a:solidFill>
                  <a:srgbClr val="FFFFFF"/>
                </a:solidFill>
                <a:latin typeface="+mn-lt"/>
                <a:ea typeface="+mn-lt"/>
                <a:cs typeface="+mn-lt"/>
                <a:sym typeface="+mn-lt"/>
              </a:rPr>
              <a:t>Drive differentiation of BGB-58067</a:t>
            </a:r>
            <a:r>
              <a:rPr kumimoji="0" lang="en-US" sz="1300" b="1" i="0" u="none" strike="noStrike" kern="1200" cap="none" spc="0" normalizeH="0" baseline="0" noProof="0">
                <a:ln>
                  <a:noFill/>
                </a:ln>
                <a:solidFill>
                  <a:srgbClr val="FFFFFF"/>
                </a:solidFill>
                <a:effectLst/>
                <a:uLnTx/>
                <a:uFillTx/>
                <a:latin typeface="+mn-lt"/>
                <a:ea typeface="+mn-lt"/>
                <a:cs typeface="+mn-lt"/>
                <a:sym typeface="+mn-lt"/>
              </a:rPr>
              <a:t> as a brain-penetrant, highly selective and potent PRMT5i</a:t>
            </a:r>
          </a:p>
        </p:txBody>
      </p:sp>
      <p:grpSp>
        <p:nvGrpSpPr>
          <p:cNvPr id="38" name="Group 37">
            <a:extLst>
              <a:ext uri="{FF2B5EF4-FFF2-40B4-BE49-F238E27FC236}">
                <a16:creationId xmlns:a16="http://schemas.microsoft.com/office/drawing/2014/main" id="{C87052D7-A7E6-06F9-9E1F-07D14325F9C1}"/>
              </a:ext>
            </a:extLst>
          </p:cNvPr>
          <p:cNvGrpSpPr/>
          <p:nvPr/>
        </p:nvGrpSpPr>
        <p:grpSpPr>
          <a:xfrm>
            <a:off x="1003422" y="2654518"/>
            <a:ext cx="274320" cy="182880"/>
            <a:chOff x="3566915" y="3888474"/>
            <a:chExt cx="498763" cy="423193"/>
          </a:xfrm>
        </p:grpSpPr>
        <p:sp>
          <p:nvSpPr>
            <p:cNvPr id="39" name="Round Same Side Corner Rectangle 43">
              <a:extLst>
                <a:ext uri="{FF2B5EF4-FFF2-40B4-BE49-F238E27FC236}">
                  <a16:creationId xmlns:a16="http://schemas.microsoft.com/office/drawing/2014/main" id="{6581FBE0-DCEF-8562-ED8C-E6A1033F4E35}"/>
                </a:ext>
              </a:extLst>
            </p:cNvPr>
            <p:cNvSpPr/>
            <p:nvPr/>
          </p:nvSpPr>
          <p:spPr>
            <a:xfrm rot="10800000">
              <a:off x="3566915" y="3888474"/>
              <a:ext cx="498763" cy="42319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Poppins"/>
                <a:ea typeface="+mn-ea"/>
                <a:cs typeface="+mn-cs"/>
              </a:endParaRPr>
            </a:p>
          </p:txBody>
        </p:sp>
        <p:sp>
          <p:nvSpPr>
            <p:cNvPr id="40" name="Text Placeholder 32">
              <a:extLst>
                <a:ext uri="{FF2B5EF4-FFF2-40B4-BE49-F238E27FC236}">
                  <a16:creationId xmlns:a16="http://schemas.microsoft.com/office/drawing/2014/main" id="{642401A3-2193-685C-C9F2-F02E0C3760FB}"/>
                </a:ext>
              </a:extLst>
            </p:cNvPr>
            <p:cNvSpPr txBox="1">
              <a:spLocks/>
            </p:cNvSpPr>
            <p:nvPr/>
          </p:nvSpPr>
          <p:spPr>
            <a:xfrm>
              <a:off x="3642485" y="3975121"/>
              <a:ext cx="347624" cy="303214"/>
            </a:xfrm>
            <a:prstGeom prst="roundRect">
              <a:avLst/>
            </a:prstGeom>
          </p:spPr>
          <p:txBody>
            <a:bodyPr anchor="ctr"/>
            <a:lst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a:extLst>
                      <a:ext uri="{96DAC541-7B7A-43D3-8B79-37D633B846F1}">
                        <asvg:svgBlip xmlns:asvg="http://schemas.microsoft.com/office/drawing/2016/SVG/main" r:embed="rId8"/>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7"/>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
                  <a:srgbClr val="D62B1E"/>
                </a:buClr>
                <a:buSzTx/>
                <a:buFontTx/>
                <a:buNone/>
                <a:tabLst/>
                <a:defRPr/>
              </a:pPr>
              <a:r>
                <a:rPr kumimoji="0" lang="en-US" sz="1100" b="1" i="0" u="none" strike="noStrike" kern="1200" cap="none" spc="0" normalizeH="0" baseline="0" noProof="0">
                  <a:ln>
                    <a:noFill/>
                  </a:ln>
                  <a:solidFill>
                    <a:srgbClr val="FFFFFF"/>
                  </a:solidFill>
                  <a:effectLst/>
                  <a:uLnTx/>
                  <a:uFillTx/>
                  <a:latin typeface="Poppins"/>
                  <a:ea typeface="Verdana" panose="020B0604030504040204" pitchFamily="34" charset="0"/>
                </a:rPr>
                <a:t>1</a:t>
              </a:r>
            </a:p>
          </p:txBody>
        </p:sp>
      </p:grpSp>
      <p:grpSp>
        <p:nvGrpSpPr>
          <p:cNvPr id="41" name="Group 40">
            <a:extLst>
              <a:ext uri="{FF2B5EF4-FFF2-40B4-BE49-F238E27FC236}">
                <a16:creationId xmlns:a16="http://schemas.microsoft.com/office/drawing/2014/main" id="{4094A457-5485-81EC-70BA-2E7986EEE4DF}"/>
              </a:ext>
            </a:extLst>
          </p:cNvPr>
          <p:cNvGrpSpPr/>
          <p:nvPr/>
        </p:nvGrpSpPr>
        <p:grpSpPr>
          <a:xfrm>
            <a:off x="3807467" y="2654518"/>
            <a:ext cx="274320" cy="182880"/>
            <a:chOff x="3566911" y="3888478"/>
            <a:chExt cx="498763" cy="423193"/>
          </a:xfrm>
        </p:grpSpPr>
        <p:sp>
          <p:nvSpPr>
            <p:cNvPr id="42" name="Round Same Side Corner Rectangle 46">
              <a:extLst>
                <a:ext uri="{FF2B5EF4-FFF2-40B4-BE49-F238E27FC236}">
                  <a16:creationId xmlns:a16="http://schemas.microsoft.com/office/drawing/2014/main" id="{F096F2BD-B0FE-D85F-0D84-0911BDA74B01}"/>
                </a:ext>
              </a:extLst>
            </p:cNvPr>
            <p:cNvSpPr/>
            <p:nvPr/>
          </p:nvSpPr>
          <p:spPr>
            <a:xfrm rot="10800000">
              <a:off x="3566911" y="3888478"/>
              <a:ext cx="498763" cy="42319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Poppins"/>
                <a:ea typeface="+mn-ea"/>
                <a:cs typeface="+mn-cs"/>
              </a:endParaRPr>
            </a:p>
          </p:txBody>
        </p:sp>
        <p:sp>
          <p:nvSpPr>
            <p:cNvPr id="43" name="Text Placeholder 32">
              <a:extLst>
                <a:ext uri="{FF2B5EF4-FFF2-40B4-BE49-F238E27FC236}">
                  <a16:creationId xmlns:a16="http://schemas.microsoft.com/office/drawing/2014/main" id="{B8B13F8F-4AF1-A479-7F4F-F2060DACBE1B}"/>
                </a:ext>
              </a:extLst>
            </p:cNvPr>
            <p:cNvSpPr txBox="1">
              <a:spLocks/>
            </p:cNvSpPr>
            <p:nvPr/>
          </p:nvSpPr>
          <p:spPr>
            <a:xfrm>
              <a:off x="3642486" y="3975121"/>
              <a:ext cx="347623" cy="303214"/>
            </a:xfrm>
            <a:prstGeom prst="roundRect">
              <a:avLst/>
            </a:prstGeom>
          </p:spPr>
          <p:txBody>
            <a:bodyPr anchor="ctr"/>
            <a:lst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a:extLst>
                      <a:ext uri="{96DAC541-7B7A-43D3-8B79-37D633B846F1}">
                        <asvg:svgBlip xmlns:asvg="http://schemas.microsoft.com/office/drawing/2016/SVG/main" r:embed="rId8"/>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7"/>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
                  <a:srgbClr val="D62B1E"/>
                </a:buClr>
                <a:buSzTx/>
                <a:buFontTx/>
                <a:buNone/>
                <a:tabLst/>
                <a:defRPr/>
              </a:pPr>
              <a:r>
                <a:rPr kumimoji="0" lang="en-US" sz="1100" b="1" i="0" u="none" strike="noStrike" kern="1200" cap="none" spc="0" normalizeH="0" baseline="0" noProof="0">
                  <a:ln>
                    <a:noFill/>
                  </a:ln>
                  <a:solidFill>
                    <a:srgbClr val="FFFFFF"/>
                  </a:solidFill>
                  <a:effectLst/>
                  <a:uLnTx/>
                  <a:uFillTx/>
                  <a:latin typeface="Poppins"/>
                  <a:ea typeface="Verdana" panose="020B0604030504040204" pitchFamily="34" charset="0"/>
                </a:rPr>
                <a:t>2</a:t>
              </a:r>
            </a:p>
          </p:txBody>
        </p:sp>
      </p:grpSp>
      <p:grpSp>
        <p:nvGrpSpPr>
          <p:cNvPr id="44" name="Group 43">
            <a:extLst>
              <a:ext uri="{FF2B5EF4-FFF2-40B4-BE49-F238E27FC236}">
                <a16:creationId xmlns:a16="http://schemas.microsoft.com/office/drawing/2014/main" id="{97D8A935-C5BB-EA20-AE4E-11DCE015CD58}"/>
              </a:ext>
            </a:extLst>
          </p:cNvPr>
          <p:cNvGrpSpPr/>
          <p:nvPr/>
        </p:nvGrpSpPr>
        <p:grpSpPr>
          <a:xfrm>
            <a:off x="6534063" y="2658141"/>
            <a:ext cx="274320" cy="182880"/>
            <a:chOff x="3566915" y="3888474"/>
            <a:chExt cx="498763" cy="423193"/>
          </a:xfrm>
        </p:grpSpPr>
        <p:sp>
          <p:nvSpPr>
            <p:cNvPr id="45" name="Round Same Side Corner Rectangle 49">
              <a:extLst>
                <a:ext uri="{FF2B5EF4-FFF2-40B4-BE49-F238E27FC236}">
                  <a16:creationId xmlns:a16="http://schemas.microsoft.com/office/drawing/2014/main" id="{87067162-6ADE-B127-335E-0A8253515A1B}"/>
                </a:ext>
              </a:extLst>
            </p:cNvPr>
            <p:cNvSpPr/>
            <p:nvPr/>
          </p:nvSpPr>
          <p:spPr>
            <a:xfrm rot="10800000">
              <a:off x="3566915" y="3888474"/>
              <a:ext cx="498763" cy="42319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Poppins"/>
                <a:ea typeface="+mn-ea"/>
                <a:cs typeface="+mn-cs"/>
              </a:endParaRPr>
            </a:p>
          </p:txBody>
        </p:sp>
        <p:sp>
          <p:nvSpPr>
            <p:cNvPr id="46" name="Text Placeholder 32">
              <a:extLst>
                <a:ext uri="{FF2B5EF4-FFF2-40B4-BE49-F238E27FC236}">
                  <a16:creationId xmlns:a16="http://schemas.microsoft.com/office/drawing/2014/main" id="{89A3C1EC-6AE4-0FE1-6744-BF20F812D21B}"/>
                </a:ext>
              </a:extLst>
            </p:cNvPr>
            <p:cNvSpPr txBox="1">
              <a:spLocks/>
            </p:cNvSpPr>
            <p:nvPr/>
          </p:nvSpPr>
          <p:spPr>
            <a:xfrm>
              <a:off x="3642485" y="3975121"/>
              <a:ext cx="347624" cy="303214"/>
            </a:xfrm>
            <a:prstGeom prst="roundRect">
              <a:avLst/>
            </a:prstGeom>
          </p:spPr>
          <p:txBody>
            <a:bodyPr anchor="ctr"/>
            <a:lst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a:extLst>
                      <a:ext uri="{96DAC541-7B7A-43D3-8B79-37D633B846F1}">
                        <asvg:svgBlip xmlns:asvg="http://schemas.microsoft.com/office/drawing/2016/SVG/main" r:embed="rId8"/>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7"/>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
                  <a:srgbClr val="D62B1E"/>
                </a:buClr>
                <a:buSzTx/>
                <a:buFontTx/>
                <a:buNone/>
                <a:tabLst/>
                <a:defRPr/>
              </a:pPr>
              <a:r>
                <a:rPr kumimoji="0" lang="en-US" sz="1100" b="1" i="0" u="none" strike="noStrike" kern="1200" cap="none" spc="0" normalizeH="0" baseline="0" noProof="0">
                  <a:ln>
                    <a:noFill/>
                  </a:ln>
                  <a:solidFill>
                    <a:srgbClr val="FFFFFF"/>
                  </a:solidFill>
                  <a:effectLst/>
                  <a:uLnTx/>
                  <a:uFillTx/>
                  <a:latin typeface="Poppins"/>
                  <a:ea typeface="Verdana" panose="020B0604030504040204" pitchFamily="34" charset="0"/>
                </a:rPr>
                <a:t>3</a:t>
              </a:r>
            </a:p>
          </p:txBody>
        </p:sp>
      </p:grpSp>
      <p:sp>
        <p:nvSpPr>
          <p:cNvPr id="58" name="Text Placeholder 6">
            <a:extLst>
              <a:ext uri="{FF2B5EF4-FFF2-40B4-BE49-F238E27FC236}">
                <a16:creationId xmlns:a16="http://schemas.microsoft.com/office/drawing/2014/main" id="{7DB47589-2946-075A-A876-0108CD08DB84}"/>
              </a:ext>
            </a:extLst>
          </p:cNvPr>
          <p:cNvSpPr txBox="1">
            <a:spLocks/>
          </p:cNvSpPr>
          <p:nvPr/>
        </p:nvSpPr>
        <p:spPr>
          <a:xfrm rot="16200000">
            <a:off x="-214914" y="3032146"/>
            <a:ext cx="1319755" cy="401448"/>
          </a:xfrm>
          <a:prstGeom prst="rect">
            <a:avLst/>
          </a:prstGeom>
        </p:spPr>
        <p:txBody>
          <a:bodyPr/>
          <a:lst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a:extLst>
                    <a:ext uri="{96DAC541-7B7A-43D3-8B79-37D633B846F1}">
                      <asvg:svgBlip xmlns:asvg="http://schemas.microsoft.com/office/drawing/2016/SVG/main" r:embed="rId8"/>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7"/>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
                <a:srgbClr val="D62B1E"/>
              </a:buClr>
              <a:buSzTx/>
              <a:buFontTx/>
              <a:buNone/>
              <a:tabLst/>
              <a:defRPr/>
            </a:pPr>
            <a:r>
              <a:rPr kumimoji="0" lang="en-US" sz="1300" b="1" i="0" u="none" strike="noStrike" kern="1200" cap="none" spc="0" normalizeH="0" baseline="0" noProof="0">
                <a:ln>
                  <a:noFill/>
                </a:ln>
                <a:solidFill>
                  <a:sysClr val="windowText" lastClr="000000"/>
                </a:solidFill>
                <a:effectLst/>
                <a:uLnTx/>
                <a:uFillTx/>
                <a:latin typeface="Poppins"/>
                <a:ea typeface="Verdana" panose="020B0604030504040204" pitchFamily="34" charset="0"/>
              </a:rPr>
              <a:t>Strategic</a:t>
            </a:r>
            <a:r>
              <a:rPr kumimoji="0" lang="en-US" sz="1300" b="1" i="0" u="none" strike="noStrike" kern="1200" cap="none" spc="0" normalizeH="0" baseline="0" noProof="0">
                <a:ln>
                  <a:noFill/>
                </a:ln>
                <a:solidFill>
                  <a:srgbClr val="FFFFFF">
                    <a:lumMod val="50000"/>
                  </a:srgbClr>
                </a:solidFill>
                <a:effectLst/>
                <a:uLnTx/>
                <a:uFillTx/>
                <a:latin typeface="Poppins"/>
                <a:ea typeface="Verdana" panose="020B0604030504040204" pitchFamily="34" charset="0"/>
              </a:rPr>
              <a:t> </a:t>
            </a:r>
            <a:r>
              <a:rPr kumimoji="0" lang="en-US" sz="1300" b="1" i="0" u="none" strike="noStrike" kern="1200" cap="none" spc="0" normalizeH="0" baseline="0" noProof="0">
                <a:ln>
                  <a:noFill/>
                </a:ln>
                <a:solidFill>
                  <a:sysClr val="windowText" lastClr="000000"/>
                </a:solidFill>
                <a:effectLst/>
                <a:uLnTx/>
                <a:uFillTx/>
                <a:latin typeface="Poppins"/>
                <a:ea typeface="Verdana" panose="020B0604030504040204" pitchFamily="34" charset="0"/>
              </a:rPr>
              <a:t>Imperatives</a:t>
            </a:r>
          </a:p>
        </p:txBody>
      </p:sp>
      <p:sp>
        <p:nvSpPr>
          <p:cNvPr id="14" name="Text Placeholder 4">
            <a:extLst>
              <a:ext uri="{FF2B5EF4-FFF2-40B4-BE49-F238E27FC236}">
                <a16:creationId xmlns:a16="http://schemas.microsoft.com/office/drawing/2014/main" id="{D4853671-E8C7-D358-20C4-8F797B3A6873}"/>
              </a:ext>
            </a:extLst>
          </p:cNvPr>
          <p:cNvSpPr txBox="1">
            <a:spLocks/>
          </p:cNvSpPr>
          <p:nvPr/>
        </p:nvSpPr>
        <p:spPr>
          <a:xfrm>
            <a:off x="9103810" y="2657566"/>
            <a:ext cx="2643561" cy="1187556"/>
          </a:xfrm>
          <a:prstGeom prst="roundRect">
            <a:avLst>
              <a:gd name="adj" fmla="val 10438"/>
            </a:avLst>
          </a:prstGeom>
          <a:solidFill>
            <a:schemeClr val="accent3"/>
          </a:solidFill>
        </p:spPr>
        <p:txBody>
          <a:bodyPr lIns="91440" tIns="91440" rIns="91440" bIns="91440" anchor="ctr">
            <a:noAutofit/>
          </a:bodyPr>
          <a:lstStyle>
            <a:lvl1pPr marL="0" indent="0" algn="l" defTabSz="914400" rtl="0" eaLnBrk="1" latinLnBrk="0" hangingPunct="1">
              <a:lnSpc>
                <a:spcPct val="100000"/>
              </a:lnSpc>
              <a:spcBef>
                <a:spcPts val="1000"/>
              </a:spcBef>
              <a:buClr>
                <a:schemeClr val="accent1"/>
              </a:buClr>
              <a:buFontTx/>
              <a:buNone/>
              <a:defRPr sz="1200" b="0" i="0" kern="1200">
                <a:solidFill>
                  <a:schemeClr val="bg1"/>
                </a:solidFill>
                <a:latin typeface="+mj-lt"/>
                <a:ea typeface="Verdana" panose="020B0604030504040204" pitchFamily="34" charset="0"/>
                <a:cs typeface="Verdana" panose="020B0604030504040204" pitchFamily="34" charset="0"/>
              </a:defRPr>
            </a:lvl1pPr>
            <a:lvl2pPr marL="0" indent="0" algn="l" defTabSz="914400" rtl="0" eaLnBrk="1" latinLnBrk="0" hangingPunct="1">
              <a:lnSpc>
                <a:spcPct val="100000"/>
              </a:lnSpc>
              <a:spcBef>
                <a:spcPts val="1200"/>
              </a:spcBef>
              <a:buClr>
                <a:schemeClr val="accent1"/>
              </a:buClr>
              <a:buFontTx/>
              <a:buNone/>
              <a:tabLst/>
              <a:defRPr sz="1600" b="0" i="0" kern="1200">
                <a:solidFill>
                  <a:schemeClr val="bg1"/>
                </a:solidFill>
                <a:latin typeface="+mj-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7"/>
                    </a:ext>
                  </a:extLst>
                </a:blip>
              </a:buBlip>
              <a:tabLst/>
              <a:defRPr sz="1600" b="0" i="0" kern="1200">
                <a:solidFill>
                  <a:schemeClr val="bg1"/>
                </a:solidFill>
                <a:latin typeface="+mj-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1600" b="0" i="0" kern="1200">
                <a:solidFill>
                  <a:schemeClr val="bg1"/>
                </a:solidFill>
                <a:latin typeface="+mj-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1600" b="0" i="0" kern="1200">
                <a:solidFill>
                  <a:schemeClr val="bg1"/>
                </a:solidFill>
                <a:latin typeface="+mj-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mn-lt"/>
                <a:ea typeface="+mn-lt"/>
                <a:cs typeface="+mn-lt"/>
                <a:sym typeface="+mn-lt"/>
              </a:rPr>
              <a:t>Understand primary vs. secondary MOR for PRMT5i</a:t>
            </a:r>
          </a:p>
        </p:txBody>
      </p:sp>
      <p:grpSp>
        <p:nvGrpSpPr>
          <p:cNvPr id="15" name="Group 14">
            <a:extLst>
              <a:ext uri="{FF2B5EF4-FFF2-40B4-BE49-F238E27FC236}">
                <a16:creationId xmlns:a16="http://schemas.microsoft.com/office/drawing/2014/main" id="{556A8BC0-8AA9-F654-4881-BE8011B464F8}"/>
              </a:ext>
            </a:extLst>
          </p:cNvPr>
          <p:cNvGrpSpPr/>
          <p:nvPr/>
        </p:nvGrpSpPr>
        <p:grpSpPr>
          <a:xfrm>
            <a:off x="9299738" y="2658138"/>
            <a:ext cx="274320" cy="182880"/>
            <a:chOff x="3566915" y="3888474"/>
            <a:chExt cx="498763" cy="423193"/>
          </a:xfrm>
        </p:grpSpPr>
        <p:sp>
          <p:nvSpPr>
            <p:cNvPr id="17" name="Round Same Side Corner Rectangle 49">
              <a:extLst>
                <a:ext uri="{FF2B5EF4-FFF2-40B4-BE49-F238E27FC236}">
                  <a16:creationId xmlns:a16="http://schemas.microsoft.com/office/drawing/2014/main" id="{F6AA6674-AE31-CD79-2C77-C192881EE1DE}"/>
                </a:ext>
              </a:extLst>
            </p:cNvPr>
            <p:cNvSpPr/>
            <p:nvPr/>
          </p:nvSpPr>
          <p:spPr>
            <a:xfrm rot="10800000">
              <a:off x="3566915" y="3888474"/>
              <a:ext cx="498763" cy="42319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Poppins"/>
                <a:ea typeface="+mn-ea"/>
                <a:cs typeface="+mn-cs"/>
              </a:endParaRPr>
            </a:p>
          </p:txBody>
        </p:sp>
        <p:sp>
          <p:nvSpPr>
            <p:cNvPr id="18" name="Text Placeholder 32">
              <a:extLst>
                <a:ext uri="{FF2B5EF4-FFF2-40B4-BE49-F238E27FC236}">
                  <a16:creationId xmlns:a16="http://schemas.microsoft.com/office/drawing/2014/main" id="{3BAA1611-14CF-8DE7-C503-8873AE4F708E}"/>
                </a:ext>
              </a:extLst>
            </p:cNvPr>
            <p:cNvSpPr txBox="1">
              <a:spLocks/>
            </p:cNvSpPr>
            <p:nvPr/>
          </p:nvSpPr>
          <p:spPr>
            <a:xfrm>
              <a:off x="3642485" y="3975121"/>
              <a:ext cx="347624" cy="303214"/>
            </a:xfrm>
            <a:prstGeom prst="roundRect">
              <a:avLst/>
            </a:prstGeom>
          </p:spPr>
          <p:txBody>
            <a:bodyPr anchor="ctr"/>
            <a:lst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a:extLst>
                      <a:ext uri="{96DAC541-7B7A-43D3-8B79-37D633B846F1}">
                        <asvg:svgBlip xmlns:asvg="http://schemas.microsoft.com/office/drawing/2016/SVG/main" r:embed="rId8"/>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7"/>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
                  <a:srgbClr val="D62B1E"/>
                </a:buClr>
                <a:buSzTx/>
                <a:buFontTx/>
                <a:buNone/>
                <a:tabLst/>
                <a:defRPr/>
              </a:pPr>
              <a:r>
                <a:rPr kumimoji="0" lang="en-US" sz="1100" b="1" i="0" u="none" strike="noStrike" kern="1200" cap="none" spc="0" normalizeH="0" baseline="0" noProof="0">
                  <a:ln>
                    <a:noFill/>
                  </a:ln>
                  <a:solidFill>
                    <a:srgbClr val="FFFFFF"/>
                  </a:solidFill>
                  <a:effectLst/>
                  <a:uLnTx/>
                  <a:uFillTx/>
                  <a:latin typeface="Poppins"/>
                  <a:ea typeface="Verdana" panose="020B0604030504040204" pitchFamily="34" charset="0"/>
                </a:rPr>
                <a:t>4</a:t>
              </a:r>
            </a:p>
          </p:txBody>
        </p:sp>
      </p:grpSp>
      <p:sp>
        <p:nvSpPr>
          <p:cNvPr id="12" name="Text Placeholder 6">
            <a:extLst>
              <a:ext uri="{FF2B5EF4-FFF2-40B4-BE49-F238E27FC236}">
                <a16:creationId xmlns:a16="http://schemas.microsoft.com/office/drawing/2014/main" id="{745A2334-2588-95C7-2FC6-0807BB90DC9E}"/>
              </a:ext>
            </a:extLst>
          </p:cNvPr>
          <p:cNvSpPr txBox="1">
            <a:spLocks/>
          </p:cNvSpPr>
          <p:nvPr/>
        </p:nvSpPr>
        <p:spPr>
          <a:xfrm rot="16200000">
            <a:off x="-687220" y="4975267"/>
            <a:ext cx="2264366" cy="401448"/>
          </a:xfrm>
          <a:prstGeom prst="rect">
            <a:avLst/>
          </a:prstGeom>
        </p:spPr>
        <p:txBody>
          <a:bodyPr/>
          <a:lst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a:extLst>
                    <a:ext uri="{96DAC541-7B7A-43D3-8B79-37D633B846F1}">
                      <asvg:svgBlip xmlns:asvg="http://schemas.microsoft.com/office/drawing/2016/SVG/main" r:embed="rId8"/>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7"/>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
                <a:srgbClr val="D62B1E"/>
              </a:buClr>
              <a:buSzTx/>
              <a:buFontTx/>
              <a:buNone/>
              <a:tabLst/>
              <a:defRPr/>
            </a:pPr>
            <a:r>
              <a:rPr kumimoji="0" lang="en-US" sz="1300" b="1" i="0" u="none" strike="noStrike" kern="1200" cap="none" spc="0" normalizeH="0" baseline="0" noProof="0">
                <a:ln>
                  <a:noFill/>
                </a:ln>
                <a:solidFill>
                  <a:sysClr val="windowText" lastClr="000000"/>
                </a:solidFill>
                <a:effectLst/>
                <a:uLnTx/>
                <a:uFillTx/>
                <a:latin typeface="Poppins"/>
                <a:ea typeface="Verdana" panose="020B0604030504040204" pitchFamily="34" charset="0"/>
              </a:rPr>
              <a:t>Gap </a:t>
            </a:r>
            <a:r>
              <a:rPr lang="en-US" sz="1300" b="1">
                <a:solidFill>
                  <a:sysClr val="windowText" lastClr="000000"/>
                </a:solidFill>
                <a:latin typeface="Poppins"/>
              </a:rPr>
              <a:t>T</a:t>
            </a:r>
            <a:r>
              <a:rPr kumimoji="0" lang="en-US" sz="1300" b="1" i="0" u="none" strike="noStrike" kern="1200" cap="none" spc="0" normalizeH="0" baseline="0" noProof="0">
                <a:ln>
                  <a:noFill/>
                </a:ln>
                <a:solidFill>
                  <a:sysClr val="windowText" lastClr="000000"/>
                </a:solidFill>
                <a:effectLst/>
                <a:uLnTx/>
                <a:uFillTx/>
                <a:latin typeface="Poppins"/>
                <a:ea typeface="Verdana" panose="020B0604030504040204" pitchFamily="34" charset="0"/>
              </a:rPr>
              <a:t>hemes</a:t>
            </a:r>
          </a:p>
        </p:txBody>
      </p:sp>
      <p:pic>
        <p:nvPicPr>
          <p:cNvPr id="32" name="Graphic 31">
            <a:extLst>
              <a:ext uri="{FF2B5EF4-FFF2-40B4-BE49-F238E27FC236}">
                <a16:creationId xmlns:a16="http://schemas.microsoft.com/office/drawing/2014/main" id="{7D2BA3EE-2A9C-3F68-F121-547080ACDC12}"/>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3814015" y="4265548"/>
            <a:ext cx="428071" cy="475566"/>
          </a:xfrm>
          <a:prstGeom prst="rect">
            <a:avLst/>
          </a:prstGeom>
        </p:spPr>
      </p:pic>
      <p:sp>
        <p:nvSpPr>
          <p:cNvPr id="34" name="Rectangle 33">
            <a:extLst>
              <a:ext uri="{FF2B5EF4-FFF2-40B4-BE49-F238E27FC236}">
                <a16:creationId xmlns:a16="http://schemas.microsoft.com/office/drawing/2014/main" id="{3DD9BA65-6589-2874-974F-20FAF124BFE4}"/>
              </a:ext>
            </a:extLst>
          </p:cNvPr>
          <p:cNvSpPr>
            <a:spLocks noChangeAspect="1"/>
          </p:cNvSpPr>
          <p:nvPr/>
        </p:nvSpPr>
        <p:spPr>
          <a:xfrm>
            <a:off x="6534410" y="4320955"/>
            <a:ext cx="2264366" cy="408519"/>
          </a:xfrm>
          <a:prstGeom prst="rect">
            <a:avLst/>
          </a:prstGeom>
          <a:solidFill>
            <a:schemeClr val="accent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rPr>
              <a:t>            Combinations</a:t>
            </a:r>
          </a:p>
        </p:txBody>
      </p:sp>
      <p:pic>
        <p:nvPicPr>
          <p:cNvPr id="47" name="Graphic 46">
            <a:extLst>
              <a:ext uri="{FF2B5EF4-FFF2-40B4-BE49-F238E27FC236}">
                <a16:creationId xmlns:a16="http://schemas.microsoft.com/office/drawing/2014/main" id="{26AE6622-10CB-2324-53FB-CB7F82E41411}"/>
              </a:ext>
            </a:extLst>
          </p:cNvPr>
          <p:cNvPicPr>
            <a:picLocks/>
          </p:cNvPicPr>
          <p:nvPr/>
        </p:nvPicPr>
        <p:blipFill>
          <a:blip>
            <a:extLst>
              <a:ext uri="{96DAC541-7B7A-43D3-8B79-37D633B846F1}">
                <asvg:svgBlip xmlns:asvg="http://schemas.microsoft.com/office/drawing/2016/SVG/main" r:embed="rId10"/>
              </a:ext>
            </a:extLst>
          </a:blip>
          <a:stretch>
            <a:fillRect/>
          </a:stretch>
        </p:blipFill>
        <p:spPr>
          <a:xfrm>
            <a:off x="6657124" y="4315918"/>
            <a:ext cx="489286" cy="427950"/>
          </a:xfrm>
          <a:prstGeom prst="rect">
            <a:avLst/>
          </a:prstGeom>
        </p:spPr>
      </p:pic>
      <p:sp>
        <p:nvSpPr>
          <p:cNvPr id="49" name="Rectangle 48">
            <a:extLst>
              <a:ext uri="{FF2B5EF4-FFF2-40B4-BE49-F238E27FC236}">
                <a16:creationId xmlns:a16="http://schemas.microsoft.com/office/drawing/2014/main" id="{956A9A83-72EA-7F7A-5FC1-560E8EF60726}"/>
              </a:ext>
            </a:extLst>
          </p:cNvPr>
          <p:cNvSpPr>
            <a:spLocks noChangeAspect="1"/>
          </p:cNvSpPr>
          <p:nvPr/>
        </p:nvSpPr>
        <p:spPr>
          <a:xfrm>
            <a:off x="6534410" y="5006122"/>
            <a:ext cx="2264366" cy="408519"/>
          </a:xfrm>
          <a:prstGeom prst="rect">
            <a:avLst/>
          </a:prstGeom>
          <a:solidFill>
            <a:schemeClr val="accent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rPr>
              <a:t>         Sequencing</a:t>
            </a:r>
          </a:p>
        </p:txBody>
      </p:sp>
      <p:pic>
        <p:nvPicPr>
          <p:cNvPr id="50" name="Graphic 49">
            <a:extLst>
              <a:ext uri="{FF2B5EF4-FFF2-40B4-BE49-F238E27FC236}">
                <a16:creationId xmlns:a16="http://schemas.microsoft.com/office/drawing/2014/main" id="{8DBACE2E-8FA8-3DD7-5C11-62AF66CB5A9B}"/>
              </a:ext>
            </a:extLst>
          </p:cNvPr>
          <p:cNvPicPr>
            <a:picLocks/>
          </p:cNvPicPr>
          <p:nvPr/>
        </p:nvPicPr>
        <p:blipFill>
          <a:blip>
            <a:extLst>
              <a:ext uri="{96DAC541-7B7A-43D3-8B79-37D633B846F1}">
                <asvg:svgBlip xmlns:asvg="http://schemas.microsoft.com/office/drawing/2016/SVG/main" r:embed="rId11"/>
              </a:ext>
            </a:extLst>
          </a:blip>
          <a:stretch>
            <a:fillRect/>
          </a:stretch>
        </p:blipFill>
        <p:spPr>
          <a:xfrm>
            <a:off x="6673066" y="5025873"/>
            <a:ext cx="421469" cy="361776"/>
          </a:xfrm>
          <a:prstGeom prst="rect">
            <a:avLst/>
          </a:prstGeom>
        </p:spPr>
      </p:pic>
      <p:sp>
        <p:nvSpPr>
          <p:cNvPr id="51" name="TextBox 50">
            <a:extLst>
              <a:ext uri="{FF2B5EF4-FFF2-40B4-BE49-F238E27FC236}">
                <a16:creationId xmlns:a16="http://schemas.microsoft.com/office/drawing/2014/main" id="{D5A9920B-950F-B90B-57B8-39159620A514}"/>
              </a:ext>
            </a:extLst>
          </p:cNvPr>
          <p:cNvSpPr txBox="1"/>
          <p:nvPr/>
        </p:nvSpPr>
        <p:spPr>
          <a:xfrm>
            <a:off x="7495713" y="4676711"/>
            <a:ext cx="341760" cy="461665"/>
          </a:xfrm>
          <a:prstGeom prst="rect">
            <a:avLst/>
          </a:prstGeom>
          <a:noFill/>
        </p:spPr>
        <p:txBody>
          <a:bodyPr wrap="none" lIns="91440" tIns="91440" rIns="91440" bIns="91440" rtlCol="0">
            <a:spAutoFit/>
          </a:bodyPr>
          <a:lstStyle/>
          <a:p>
            <a:pPr algn="l"/>
            <a:r>
              <a:rPr lang="en-US"/>
              <a:t>+</a:t>
            </a:r>
          </a:p>
        </p:txBody>
      </p:sp>
      <p:sp>
        <p:nvSpPr>
          <p:cNvPr id="53" name="Rectangle 52">
            <a:extLst>
              <a:ext uri="{FF2B5EF4-FFF2-40B4-BE49-F238E27FC236}">
                <a16:creationId xmlns:a16="http://schemas.microsoft.com/office/drawing/2014/main" id="{B073C7F2-98FC-A41A-EDDD-E7AA6B7D4ADE}"/>
              </a:ext>
            </a:extLst>
          </p:cNvPr>
          <p:cNvSpPr>
            <a:spLocks noChangeAspect="1"/>
          </p:cNvSpPr>
          <p:nvPr/>
        </p:nvSpPr>
        <p:spPr>
          <a:xfrm>
            <a:off x="9293407" y="4320955"/>
            <a:ext cx="2264366" cy="408519"/>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a:solidFill>
                  <a:schemeClr val="bg2"/>
                </a:solidFill>
              </a:rPr>
              <a:t>       Resistance</a:t>
            </a:r>
          </a:p>
        </p:txBody>
      </p:sp>
      <p:pic>
        <p:nvPicPr>
          <p:cNvPr id="54" name="Graphic 53">
            <a:extLst>
              <a:ext uri="{FF2B5EF4-FFF2-40B4-BE49-F238E27FC236}">
                <a16:creationId xmlns:a16="http://schemas.microsoft.com/office/drawing/2014/main" id="{78D91C46-E041-2683-1BDF-7A782889928B}"/>
              </a:ext>
            </a:extLst>
          </p:cNvPr>
          <p:cNvPicPr>
            <a:picLocks/>
          </p:cNvPicPr>
          <p:nvPr/>
        </p:nvPicPr>
        <p:blipFill>
          <a:blip>
            <a:extLst>
              <a:ext uri="{96DAC541-7B7A-43D3-8B79-37D633B846F1}">
                <asvg:svgBlip xmlns:asvg="http://schemas.microsoft.com/office/drawing/2016/SVG/main" r:embed="rId12"/>
              </a:ext>
            </a:extLst>
          </a:blip>
          <a:stretch>
            <a:fillRect/>
          </a:stretch>
        </p:blipFill>
        <p:spPr>
          <a:xfrm>
            <a:off x="9393564" y="4360281"/>
            <a:ext cx="328015" cy="345605"/>
          </a:xfrm>
          <a:prstGeom prst="rect">
            <a:avLst/>
          </a:prstGeom>
        </p:spPr>
      </p:pic>
      <p:sp>
        <p:nvSpPr>
          <p:cNvPr id="55" name="Isosceles Triangle 54">
            <a:extLst>
              <a:ext uri="{FF2B5EF4-FFF2-40B4-BE49-F238E27FC236}">
                <a16:creationId xmlns:a16="http://schemas.microsoft.com/office/drawing/2014/main" id="{3AB98E25-A41F-E2D4-49AA-20451DBCDA9E}"/>
              </a:ext>
            </a:extLst>
          </p:cNvPr>
          <p:cNvSpPr/>
          <p:nvPr/>
        </p:nvSpPr>
        <p:spPr>
          <a:xfrm flipV="1">
            <a:off x="1188495" y="3955754"/>
            <a:ext cx="9815010" cy="252000"/>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10" name="Footer Placeholder 5">
            <a:extLst>
              <a:ext uri="{FF2B5EF4-FFF2-40B4-BE49-F238E27FC236}">
                <a16:creationId xmlns:a16="http://schemas.microsoft.com/office/drawing/2014/main" id="{D979AEE4-5703-9EDC-3DD3-FD9C368C6A2A}"/>
              </a:ext>
            </a:extLst>
          </p:cNvPr>
          <p:cNvSpPr txBox="1">
            <a:spLocks/>
          </p:cNvSpPr>
          <p:nvPr/>
        </p:nvSpPr>
        <p:spPr>
          <a:xfrm>
            <a:off x="358336" y="6240781"/>
            <a:ext cx="8440440" cy="564700"/>
          </a:xfrm>
          <a:prstGeom prst="rect">
            <a:avLst/>
          </a:prstGeom>
        </p:spPr>
        <p:txBody>
          <a:bodyPr vert="horz" lIns="0" tIns="0" rIns="0" bIns="0" rtlCol="0" anchor="b" anchorCtr="0">
            <a:noAutofit/>
          </a:bodyPr>
          <a:lstStyle>
            <a:defPPr>
              <a:defRPr lang="en-GB"/>
            </a:defPPr>
            <a:lvl1pPr marL="0" algn="l" defTabSz="9144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595959"/>
                </a:solidFill>
              </a:rPr>
              <a:t>Note: Patient and economic value refers to evidence gaps related to HCRU, patient preference and adherence, cost effectiveness, treatment burden and patient reported HRQoL, and long-term PRO and therefore has been aligned to SI1 as it primarily relates to differentiation. Abbreviations: MTAP: Methylthioadenosine Phosphorylase; MOR: Mechanisms of Resistance; PRMT5i: Protein Arginine Methyltransferase 5 Inhibitor.</a:t>
            </a:r>
          </a:p>
          <a:p>
            <a:endParaRPr lang="en-US">
              <a:solidFill>
                <a:schemeClr val="tx1"/>
              </a:solidFill>
            </a:endParaRPr>
          </a:p>
        </p:txBody>
      </p:sp>
      <p:sp>
        <p:nvSpPr>
          <p:cNvPr id="20" name="Rectangle 19">
            <a:extLst>
              <a:ext uri="{FF2B5EF4-FFF2-40B4-BE49-F238E27FC236}">
                <a16:creationId xmlns:a16="http://schemas.microsoft.com/office/drawing/2014/main" id="{2139B469-2038-CBAE-7AAC-88697B8C5BBE}"/>
              </a:ext>
            </a:extLst>
          </p:cNvPr>
          <p:cNvSpPr>
            <a:spLocks noChangeAspect="1"/>
          </p:cNvSpPr>
          <p:nvPr/>
        </p:nvSpPr>
        <p:spPr>
          <a:xfrm>
            <a:off x="1011669" y="5029069"/>
            <a:ext cx="2264366" cy="408519"/>
          </a:xfrm>
          <a:prstGeom prst="rect">
            <a:avLst/>
          </a:prstGeom>
          <a:solidFill>
            <a:srgbClr val="D57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rPr>
              <a:t>   Efficacy/</a:t>
            </a:r>
            <a:br>
              <a:rPr lang="en-US" sz="1300" b="1">
                <a:solidFill>
                  <a:srgbClr val="FFFFFF"/>
                </a:solidFill>
              </a:rPr>
            </a:br>
            <a:r>
              <a:rPr lang="en-US" sz="1300" b="1">
                <a:solidFill>
                  <a:srgbClr val="FFFFFF"/>
                </a:solidFill>
              </a:rPr>
              <a:t>    Safety</a:t>
            </a:r>
          </a:p>
        </p:txBody>
      </p:sp>
      <p:pic>
        <p:nvPicPr>
          <p:cNvPr id="21" name="Graphic 20">
            <a:extLst>
              <a:ext uri="{FF2B5EF4-FFF2-40B4-BE49-F238E27FC236}">
                <a16:creationId xmlns:a16="http://schemas.microsoft.com/office/drawing/2014/main" id="{E23130F8-3DEA-8FD9-5F2B-9A1F19D12067}"/>
              </a:ext>
            </a:extLst>
          </p:cNvPr>
          <p:cNvPicPr>
            <a:picLocks/>
          </p:cNvPicPr>
          <p:nvPr/>
        </p:nvPicPr>
        <p:blipFill>
          <a:blip>
            <a:extLst>
              <a:ext uri="{96DAC541-7B7A-43D3-8B79-37D633B846F1}">
                <asvg:svgBlip xmlns:asvg="http://schemas.microsoft.com/office/drawing/2016/SVG/main" r:embed="rId13"/>
              </a:ext>
            </a:extLst>
          </a:blip>
          <a:stretch>
            <a:fillRect/>
          </a:stretch>
        </p:blipFill>
        <p:spPr>
          <a:xfrm>
            <a:off x="1142846" y="5035470"/>
            <a:ext cx="396676" cy="393192"/>
          </a:xfrm>
          <a:prstGeom prst="rect">
            <a:avLst/>
          </a:prstGeom>
        </p:spPr>
      </p:pic>
      <p:pic>
        <p:nvPicPr>
          <p:cNvPr id="24" name="Graphic 23">
            <a:extLst>
              <a:ext uri="{FF2B5EF4-FFF2-40B4-BE49-F238E27FC236}">
                <a16:creationId xmlns:a16="http://schemas.microsoft.com/office/drawing/2014/main" id="{C1E458A9-1AB7-CA01-8917-4A3863DB07FD}"/>
              </a:ext>
            </a:extLst>
          </p:cNvPr>
          <p:cNvPicPr>
            <a:picLocks/>
          </p:cNvPicPr>
          <p:nvPr/>
        </p:nvPicPr>
        <p:blipFill>
          <a:blip>
            <a:extLst>
              <a:ext uri="{96DAC541-7B7A-43D3-8B79-37D633B846F1}">
                <asvg:svgBlip xmlns:asvg="http://schemas.microsoft.com/office/drawing/2016/SVG/main" r:embed="rId14"/>
              </a:ext>
            </a:extLst>
          </a:blip>
          <a:stretch>
            <a:fillRect/>
          </a:stretch>
        </p:blipFill>
        <p:spPr>
          <a:xfrm>
            <a:off x="1150326" y="5681085"/>
            <a:ext cx="421469" cy="470539"/>
          </a:xfrm>
          <a:prstGeom prst="rect">
            <a:avLst/>
          </a:prstGeom>
        </p:spPr>
      </p:pic>
      <p:sp>
        <p:nvSpPr>
          <p:cNvPr id="4" name="Rectangle 3">
            <a:extLst>
              <a:ext uri="{FF2B5EF4-FFF2-40B4-BE49-F238E27FC236}">
                <a16:creationId xmlns:a16="http://schemas.microsoft.com/office/drawing/2014/main" id="{6D2EF3E1-1BEF-9253-53F2-89623D25BF25}"/>
              </a:ext>
            </a:extLst>
          </p:cNvPr>
          <p:cNvSpPr>
            <a:spLocks noChangeAspect="1"/>
          </p:cNvSpPr>
          <p:nvPr/>
        </p:nvSpPr>
        <p:spPr>
          <a:xfrm>
            <a:off x="1015444" y="4317070"/>
            <a:ext cx="2260590" cy="412816"/>
          </a:xfrm>
          <a:prstGeom prst="rect">
            <a:avLst/>
          </a:prstGeom>
          <a:solidFill>
            <a:srgbClr val="D5787E"/>
          </a:solidFill>
          <a:ln>
            <a:noFill/>
          </a:ln>
        </p:spPr>
        <p:style>
          <a:lnRef idx="2">
            <a:schemeClr val="accent1">
              <a:shade val="50000"/>
            </a:schemeClr>
          </a:lnRef>
          <a:fillRef idx="1">
            <a:schemeClr val="accent1"/>
          </a:fillRef>
          <a:effectRef idx="0">
            <a:schemeClr val="accent1"/>
          </a:effectRef>
          <a:fontRef idx="minor">
            <a:schemeClr val="lt1"/>
          </a:fontRef>
        </p:style>
        <p:txBody>
          <a:bodyPr lIns="504000" rtlCol="0" anchor="ctr"/>
          <a:lstStyle/>
          <a:p>
            <a:pPr algn="ctr"/>
            <a:r>
              <a:rPr lang="en-US" sz="1300" b="1">
                <a:solidFill>
                  <a:srgbClr val="FFFFFF"/>
                </a:solidFill>
              </a:rPr>
              <a:t>CNS Differentiation</a:t>
            </a:r>
          </a:p>
        </p:txBody>
      </p:sp>
      <p:pic>
        <p:nvPicPr>
          <p:cNvPr id="5" name="Graphic 4" descr="Brain with solid fill">
            <a:extLst>
              <a:ext uri="{FF2B5EF4-FFF2-40B4-BE49-F238E27FC236}">
                <a16:creationId xmlns:a16="http://schemas.microsoft.com/office/drawing/2014/main" id="{AE2203B2-7622-1AC2-FEBA-0B222C3B594D}"/>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067560" y="4271225"/>
            <a:ext cx="407137" cy="504339"/>
          </a:xfrm>
          <a:prstGeom prst="rect">
            <a:avLst/>
          </a:prstGeom>
        </p:spPr>
      </p:pic>
      <p:sp>
        <p:nvSpPr>
          <p:cNvPr id="26" name="Rectangle 25">
            <a:extLst>
              <a:ext uri="{FF2B5EF4-FFF2-40B4-BE49-F238E27FC236}">
                <a16:creationId xmlns:a16="http://schemas.microsoft.com/office/drawing/2014/main" id="{12C78B20-6883-C847-47D8-32FB036D816F}"/>
              </a:ext>
            </a:extLst>
          </p:cNvPr>
          <p:cNvSpPr>
            <a:spLocks noChangeAspect="1"/>
          </p:cNvSpPr>
          <p:nvPr/>
        </p:nvSpPr>
        <p:spPr>
          <a:xfrm>
            <a:off x="1011668" y="5734288"/>
            <a:ext cx="2267712" cy="409122"/>
          </a:xfrm>
          <a:prstGeom prst="rect">
            <a:avLst/>
          </a:prstGeom>
          <a:solidFill>
            <a:srgbClr val="D57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rPr>
              <a:t>Patient and </a:t>
            </a:r>
          </a:p>
          <a:p>
            <a:pPr algn="ctr"/>
            <a:r>
              <a:rPr lang="en-US" sz="1300" b="1">
                <a:solidFill>
                  <a:srgbClr val="FFFFFF"/>
                </a:solidFill>
              </a:rPr>
              <a:t>        Economic Value</a:t>
            </a:r>
          </a:p>
        </p:txBody>
      </p:sp>
      <p:pic>
        <p:nvPicPr>
          <p:cNvPr id="27" name="Graphic 26">
            <a:extLst>
              <a:ext uri="{FF2B5EF4-FFF2-40B4-BE49-F238E27FC236}">
                <a16:creationId xmlns:a16="http://schemas.microsoft.com/office/drawing/2014/main" id="{0BE3C3D6-A239-A5CA-08F8-153247C71792}"/>
              </a:ext>
            </a:extLst>
          </p:cNvPr>
          <p:cNvPicPr>
            <a:picLocks/>
          </p:cNvPicPr>
          <p:nvPr/>
        </p:nvPicPr>
        <p:blipFill>
          <a:blip>
            <a:extLst>
              <a:ext uri="{96DAC541-7B7A-43D3-8B79-37D633B846F1}">
                <asvg:svgBlip xmlns:asvg="http://schemas.microsoft.com/office/drawing/2016/SVG/main" r:embed="rId16"/>
              </a:ext>
            </a:extLst>
          </a:blip>
          <a:stretch>
            <a:fillRect/>
          </a:stretch>
        </p:blipFill>
        <p:spPr>
          <a:xfrm>
            <a:off x="1088934" y="5707542"/>
            <a:ext cx="421469" cy="470539"/>
          </a:xfrm>
          <a:prstGeom prst="rect">
            <a:avLst/>
          </a:prstGeom>
        </p:spPr>
      </p:pic>
      <p:sp>
        <p:nvSpPr>
          <p:cNvPr id="29" name="TextBox 28">
            <a:extLst>
              <a:ext uri="{FF2B5EF4-FFF2-40B4-BE49-F238E27FC236}">
                <a16:creationId xmlns:a16="http://schemas.microsoft.com/office/drawing/2014/main" id="{520EBECB-BBD7-B8B9-9A42-B0F4B1605762}"/>
              </a:ext>
            </a:extLst>
          </p:cNvPr>
          <p:cNvSpPr txBox="1"/>
          <p:nvPr/>
        </p:nvSpPr>
        <p:spPr>
          <a:xfrm>
            <a:off x="1972972" y="5407997"/>
            <a:ext cx="341760" cy="461665"/>
          </a:xfrm>
          <a:prstGeom prst="rect">
            <a:avLst/>
          </a:prstGeom>
          <a:noFill/>
        </p:spPr>
        <p:txBody>
          <a:bodyPr wrap="none" lIns="91440" tIns="91440" rIns="91440" bIns="91440" rtlCol="0">
            <a:spAutoFit/>
          </a:bodyPr>
          <a:lstStyle/>
          <a:p>
            <a:pPr algn="l"/>
            <a:r>
              <a:rPr lang="en-US"/>
              <a:t>+</a:t>
            </a:r>
          </a:p>
        </p:txBody>
      </p:sp>
      <p:sp>
        <p:nvSpPr>
          <p:cNvPr id="69" name="TextBox 68">
            <a:extLst>
              <a:ext uri="{FF2B5EF4-FFF2-40B4-BE49-F238E27FC236}">
                <a16:creationId xmlns:a16="http://schemas.microsoft.com/office/drawing/2014/main" id="{A3B34004-2C1B-9FA6-E638-06D1F4C679D1}"/>
              </a:ext>
            </a:extLst>
          </p:cNvPr>
          <p:cNvSpPr txBox="1"/>
          <p:nvPr/>
        </p:nvSpPr>
        <p:spPr>
          <a:xfrm>
            <a:off x="1966231" y="4699658"/>
            <a:ext cx="341760" cy="461665"/>
          </a:xfrm>
          <a:prstGeom prst="rect">
            <a:avLst/>
          </a:prstGeom>
          <a:noFill/>
        </p:spPr>
        <p:txBody>
          <a:bodyPr wrap="none" lIns="91440" tIns="91440" rIns="91440" bIns="91440" rtlCol="0">
            <a:spAutoFit/>
          </a:bodyPr>
          <a:lstStyle/>
          <a:p>
            <a:pPr algn="l"/>
            <a:r>
              <a:rPr lang="en-US"/>
              <a:t>+</a:t>
            </a:r>
          </a:p>
        </p:txBody>
      </p:sp>
      <p:pic>
        <p:nvPicPr>
          <p:cNvPr id="56" name="Graphic 55" descr="Test tubes with solid fill">
            <a:extLst>
              <a:ext uri="{FF2B5EF4-FFF2-40B4-BE49-F238E27FC236}">
                <a16:creationId xmlns:a16="http://schemas.microsoft.com/office/drawing/2014/main" id="{DB8E4B0C-9806-FE62-2AE5-4F063266D33E}"/>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3888758" y="5029856"/>
            <a:ext cx="429063" cy="429063"/>
          </a:xfrm>
          <a:prstGeom prst="rect">
            <a:avLst/>
          </a:prstGeom>
        </p:spPr>
      </p:pic>
      <p:pic>
        <p:nvPicPr>
          <p:cNvPr id="57" name="Graphic 56" descr="Group of people with solid fill">
            <a:extLst>
              <a:ext uri="{FF2B5EF4-FFF2-40B4-BE49-F238E27FC236}">
                <a16:creationId xmlns:a16="http://schemas.microsoft.com/office/drawing/2014/main" id="{BE9E5B33-3220-DBF3-2DFD-8028F0BB0DBB}"/>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3883702" y="4293197"/>
            <a:ext cx="408519" cy="408519"/>
          </a:xfrm>
          <a:prstGeom prst="rect">
            <a:avLst/>
          </a:prstGeom>
        </p:spPr>
      </p:pic>
      <p:sp>
        <p:nvSpPr>
          <p:cNvPr id="8" name="Rectangle 7">
            <a:extLst>
              <a:ext uri="{FF2B5EF4-FFF2-40B4-BE49-F238E27FC236}">
                <a16:creationId xmlns:a16="http://schemas.microsoft.com/office/drawing/2014/main" id="{B62E6180-5866-099D-4351-199953319C37}"/>
              </a:ext>
            </a:extLst>
          </p:cNvPr>
          <p:cNvSpPr>
            <a:spLocks noChangeAspect="1"/>
          </p:cNvSpPr>
          <p:nvPr/>
        </p:nvSpPr>
        <p:spPr>
          <a:xfrm>
            <a:off x="3788808" y="5005364"/>
            <a:ext cx="2246864" cy="412816"/>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04000" tIns="45720" rIns="91440" bIns="45720" rtlCol="0" anchor="ctr"/>
          <a:lstStyle/>
          <a:p>
            <a:pPr algn="ctr"/>
            <a:r>
              <a:rPr lang="en-US" sz="1300" b="1">
                <a:solidFill>
                  <a:srgbClr val="FFFFFF"/>
                </a:solidFill>
              </a:rPr>
              <a:t>Testing</a:t>
            </a:r>
            <a:endParaRPr lang="en-US" sz="1300"/>
          </a:p>
        </p:txBody>
      </p:sp>
      <p:pic>
        <p:nvPicPr>
          <p:cNvPr id="9" name="Graphic 8" descr="Test tubes with solid fill">
            <a:extLst>
              <a:ext uri="{FF2B5EF4-FFF2-40B4-BE49-F238E27FC236}">
                <a16:creationId xmlns:a16="http://schemas.microsoft.com/office/drawing/2014/main" id="{E14F41BE-ADCC-09C3-1C9D-507ED0A5D337}"/>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3884650" y="5003356"/>
            <a:ext cx="429063" cy="429063"/>
          </a:xfrm>
          <a:prstGeom prst="rect">
            <a:avLst/>
          </a:prstGeom>
        </p:spPr>
      </p:pic>
      <p:sp>
        <p:nvSpPr>
          <p:cNvPr id="13" name="Rectangle 12">
            <a:extLst>
              <a:ext uri="{FF2B5EF4-FFF2-40B4-BE49-F238E27FC236}">
                <a16:creationId xmlns:a16="http://schemas.microsoft.com/office/drawing/2014/main" id="{2766F2AF-A53C-BA01-2320-E5CA61E0B1B3}"/>
              </a:ext>
            </a:extLst>
          </p:cNvPr>
          <p:cNvSpPr>
            <a:spLocks noChangeAspect="1"/>
          </p:cNvSpPr>
          <p:nvPr/>
        </p:nvSpPr>
        <p:spPr>
          <a:xfrm>
            <a:off x="3788808" y="4315248"/>
            <a:ext cx="2246864" cy="412816"/>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04000" tIns="45720" rIns="91440" bIns="45720" rtlCol="0" anchor="ctr"/>
          <a:lstStyle/>
          <a:p>
            <a:pPr algn="ctr"/>
            <a:r>
              <a:rPr lang="en-US" sz="1300" b="1">
                <a:solidFill>
                  <a:srgbClr val="FFFFFF"/>
                </a:solidFill>
              </a:rPr>
              <a:t>Genomic </a:t>
            </a:r>
          </a:p>
          <a:p>
            <a:pPr algn="ctr"/>
            <a:r>
              <a:rPr lang="en-US" sz="1300" b="1">
                <a:cs typeface="Poppins"/>
              </a:rPr>
              <a:t>Alterations</a:t>
            </a:r>
          </a:p>
        </p:txBody>
      </p:sp>
      <p:pic>
        <p:nvPicPr>
          <p:cNvPr id="16" name="Graphic 15" descr="Group of people with solid fill">
            <a:extLst>
              <a:ext uri="{FF2B5EF4-FFF2-40B4-BE49-F238E27FC236}">
                <a16:creationId xmlns:a16="http://schemas.microsoft.com/office/drawing/2014/main" id="{A388847B-6183-1F2D-B3F9-41E22DC89020}"/>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3879594" y="4314322"/>
            <a:ext cx="408519" cy="408519"/>
          </a:xfrm>
          <a:prstGeom prst="rect">
            <a:avLst/>
          </a:prstGeom>
        </p:spPr>
      </p:pic>
      <p:sp>
        <p:nvSpPr>
          <p:cNvPr id="25" name="Rectangle 24">
            <a:extLst>
              <a:ext uri="{FF2B5EF4-FFF2-40B4-BE49-F238E27FC236}">
                <a16:creationId xmlns:a16="http://schemas.microsoft.com/office/drawing/2014/main" id="{991D8E08-757A-6A82-3C88-7D6F9D6FDBF0}"/>
              </a:ext>
            </a:extLst>
          </p:cNvPr>
          <p:cNvSpPr>
            <a:spLocks noChangeAspect="1"/>
          </p:cNvSpPr>
          <p:nvPr/>
        </p:nvSpPr>
        <p:spPr>
          <a:xfrm>
            <a:off x="3788808" y="5718087"/>
            <a:ext cx="2246864" cy="412816"/>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04000" rtlCol="0" anchor="ctr"/>
          <a:lstStyle/>
          <a:p>
            <a:pPr algn="ctr"/>
            <a:r>
              <a:rPr lang="en-US" sz="1300" b="1">
                <a:solidFill>
                  <a:srgbClr val="FFFFFF"/>
                </a:solidFill>
              </a:rPr>
              <a:t>Predictors of response</a:t>
            </a:r>
          </a:p>
        </p:txBody>
      </p:sp>
      <p:pic>
        <p:nvPicPr>
          <p:cNvPr id="30" name="Graphic 29" descr="Upward trend with solid fill">
            <a:extLst>
              <a:ext uri="{FF2B5EF4-FFF2-40B4-BE49-F238E27FC236}">
                <a16:creationId xmlns:a16="http://schemas.microsoft.com/office/drawing/2014/main" id="{EF792F61-EC42-EB3E-C42A-9343DC19FDF7}"/>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3846481" y="5657381"/>
            <a:ext cx="520700" cy="520700"/>
          </a:xfrm>
          <a:prstGeom prst="rect">
            <a:avLst/>
          </a:prstGeom>
        </p:spPr>
      </p:pic>
      <p:sp>
        <p:nvSpPr>
          <p:cNvPr id="33" name="TextBox 32">
            <a:extLst>
              <a:ext uri="{FF2B5EF4-FFF2-40B4-BE49-F238E27FC236}">
                <a16:creationId xmlns:a16="http://schemas.microsoft.com/office/drawing/2014/main" id="{C6470E29-D303-AB5B-F27A-B0ED0D09D689}"/>
              </a:ext>
            </a:extLst>
          </p:cNvPr>
          <p:cNvSpPr txBox="1"/>
          <p:nvPr/>
        </p:nvSpPr>
        <p:spPr>
          <a:xfrm>
            <a:off x="4735498" y="4685305"/>
            <a:ext cx="341760" cy="461665"/>
          </a:xfrm>
          <a:prstGeom prst="rect">
            <a:avLst/>
          </a:prstGeom>
          <a:noFill/>
        </p:spPr>
        <p:txBody>
          <a:bodyPr wrap="none" lIns="91440" tIns="91440" rIns="91440" bIns="91440" rtlCol="0">
            <a:spAutoFit/>
          </a:bodyPr>
          <a:lstStyle/>
          <a:p>
            <a:pPr algn="l"/>
            <a:r>
              <a:rPr lang="en-US"/>
              <a:t>+</a:t>
            </a:r>
          </a:p>
        </p:txBody>
      </p:sp>
      <p:sp>
        <p:nvSpPr>
          <p:cNvPr id="48" name="TextBox 47">
            <a:extLst>
              <a:ext uri="{FF2B5EF4-FFF2-40B4-BE49-F238E27FC236}">
                <a16:creationId xmlns:a16="http://schemas.microsoft.com/office/drawing/2014/main" id="{54158400-5256-5CCD-506C-8DEC73C8264C}"/>
              </a:ext>
            </a:extLst>
          </p:cNvPr>
          <p:cNvSpPr txBox="1"/>
          <p:nvPr/>
        </p:nvSpPr>
        <p:spPr>
          <a:xfrm>
            <a:off x="4735498" y="5369190"/>
            <a:ext cx="341760" cy="461665"/>
          </a:xfrm>
          <a:prstGeom prst="rect">
            <a:avLst/>
          </a:prstGeom>
          <a:noFill/>
        </p:spPr>
        <p:txBody>
          <a:bodyPr wrap="none" lIns="91440" tIns="91440" rIns="91440" bIns="91440" rtlCol="0">
            <a:spAutoFit/>
          </a:bodyPr>
          <a:lstStyle/>
          <a:p>
            <a:pPr algn="l"/>
            <a:r>
              <a:rPr lang="en-US"/>
              <a:t>+</a:t>
            </a:r>
          </a:p>
        </p:txBody>
      </p:sp>
      <p:sp>
        <p:nvSpPr>
          <p:cNvPr id="6" name="Text Placeholder 7">
            <a:extLst>
              <a:ext uri="{FF2B5EF4-FFF2-40B4-BE49-F238E27FC236}">
                <a16:creationId xmlns:a16="http://schemas.microsoft.com/office/drawing/2014/main" id="{FA077527-6AE3-6D7A-50EA-4F98805DC301}"/>
              </a:ext>
            </a:extLst>
          </p:cNvPr>
          <p:cNvSpPr txBox="1">
            <a:spLocks/>
          </p:cNvSpPr>
          <p:nvPr/>
        </p:nvSpPr>
        <p:spPr>
          <a:xfrm>
            <a:off x="510736" y="1760431"/>
            <a:ext cx="11470125" cy="690002"/>
          </a:xfrm>
          <a:prstGeom prst="flowChartAlternateProcess">
            <a:avLst/>
          </a:prstGeom>
          <a:solidFill>
            <a:schemeClr val="bg1">
              <a:lumMod val="95000"/>
            </a:schemeClr>
          </a:solidFill>
        </p:spPr>
        <p:txBody>
          <a:bodyPr anchor="ctr"/>
          <a:lst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a:extLst>
                    <a:ext uri="{96DAC541-7B7A-43D3-8B79-37D633B846F1}">
                      <asvg:svgBlip xmlns:asvg="http://schemas.microsoft.com/office/drawing/2016/SVG/main" r:embed="rId8"/>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7"/>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buClr>
                <a:srgbClr val="D62B1E"/>
              </a:buClr>
              <a:defRPr/>
            </a:pPr>
            <a:r>
              <a:rPr kumimoji="0" lang="en-US" sz="1600" i="0" u="none" strike="noStrike" kern="1200" cap="none" spc="0" normalizeH="0" baseline="0" noProof="0">
                <a:ln>
                  <a:noFill/>
                </a:ln>
                <a:effectLst/>
                <a:uLnTx/>
                <a:uFillTx/>
                <a:latin typeface="Poppins" panose="00000500000000000000" pitchFamily="2" charset="0"/>
                <a:ea typeface="Verdana" panose="020B0604030504040204" pitchFamily="34" charset="0"/>
              </a:rPr>
              <a:t>Establish the </a:t>
            </a:r>
            <a:r>
              <a:rPr kumimoji="0" lang="en-US" sz="1600" b="1" i="0" u="none" strike="noStrike" kern="1200" cap="none" spc="0" normalizeH="0" baseline="0" noProof="0">
                <a:ln>
                  <a:noFill/>
                </a:ln>
                <a:effectLst/>
                <a:uLnTx/>
                <a:uFillTx/>
                <a:latin typeface="Poppins" panose="00000500000000000000" pitchFamily="2" charset="0"/>
                <a:ea typeface="Verdana" panose="020B0604030504040204" pitchFamily="34" charset="0"/>
              </a:rPr>
              <a:t>clinical value </a:t>
            </a:r>
            <a:r>
              <a:rPr lang="en-US" sz="1600" b="1">
                <a:latin typeface="Poppins" panose="00000500000000000000" pitchFamily="2" charset="0"/>
              </a:rPr>
              <a:t>of BGB-58067</a:t>
            </a:r>
            <a:r>
              <a:rPr lang="en-US" sz="1600">
                <a:latin typeface="Poppins" panose="00000500000000000000" pitchFamily="2" charset="0"/>
              </a:rPr>
              <a:t>, an MTA-cooperative PRMT5 inhibitor, </a:t>
            </a:r>
            <a:r>
              <a:rPr kumimoji="0" lang="en-US" sz="1600" i="0" u="none" strike="noStrike" kern="1200" cap="none" spc="0" normalizeH="0" baseline="0" noProof="0">
                <a:ln>
                  <a:noFill/>
                </a:ln>
                <a:effectLst/>
                <a:uLnTx/>
                <a:uFillTx/>
                <a:latin typeface="Poppins" panose="00000500000000000000" pitchFamily="2" charset="0"/>
                <a:ea typeface="Verdana" panose="020B0604030504040204" pitchFamily="34" charset="0"/>
              </a:rPr>
              <a:t>as a highly selective </a:t>
            </a:r>
            <a:r>
              <a:rPr kumimoji="0" lang="en-US" sz="1600" b="1" i="0" u="none" strike="noStrike" kern="1200" cap="none" spc="0" normalizeH="0" baseline="0" noProof="0">
                <a:ln>
                  <a:noFill/>
                </a:ln>
                <a:effectLst/>
                <a:uLnTx/>
                <a:uFillTx/>
                <a:latin typeface="Poppins" panose="00000500000000000000" pitchFamily="2" charset="0"/>
                <a:ea typeface="Verdana" panose="020B0604030504040204" pitchFamily="34" charset="0"/>
              </a:rPr>
              <a:t>precision medicine for MTAP-deficient tumors</a:t>
            </a:r>
          </a:p>
        </p:txBody>
      </p:sp>
      <p:sp>
        <p:nvSpPr>
          <p:cNvPr id="7" name="Text Placeholder 6">
            <a:extLst>
              <a:ext uri="{FF2B5EF4-FFF2-40B4-BE49-F238E27FC236}">
                <a16:creationId xmlns:a16="http://schemas.microsoft.com/office/drawing/2014/main" id="{1F10116B-4BD5-2A17-E140-C2BCBB5DDD0A}"/>
              </a:ext>
            </a:extLst>
          </p:cNvPr>
          <p:cNvSpPr txBox="1">
            <a:spLocks/>
          </p:cNvSpPr>
          <p:nvPr/>
        </p:nvSpPr>
        <p:spPr>
          <a:xfrm>
            <a:off x="358336" y="1367259"/>
            <a:ext cx="11470125" cy="401448"/>
          </a:xfrm>
          <a:prstGeom prst="rect">
            <a:avLst/>
          </a:prstGeom>
          <a:solidFill>
            <a:schemeClr val="bg1"/>
          </a:solidFill>
        </p:spPr>
        <p:txBody>
          <a:bodyPr/>
          <a:lst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a:extLst>
                    <a:ext uri="{96DAC541-7B7A-43D3-8B79-37D633B846F1}">
                      <asvg:svgBlip xmlns:asvg="http://schemas.microsoft.com/office/drawing/2016/SVG/main" r:embed="rId8"/>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7"/>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
                <a:srgbClr val="D62B1E"/>
              </a:buClr>
              <a:buSzTx/>
              <a:buFontTx/>
              <a:buNone/>
              <a:tabLst/>
              <a:defRPr/>
            </a:pPr>
            <a:r>
              <a:rPr kumimoji="0" lang="en-US" sz="2000" b="0" i="0" u="none" strike="noStrike" kern="1200" cap="none" spc="0" normalizeH="0" baseline="0" noProof="0">
                <a:ln>
                  <a:noFill/>
                </a:ln>
                <a:solidFill>
                  <a:srgbClr val="FFFFFF">
                    <a:lumMod val="50000"/>
                  </a:srgbClr>
                </a:solidFill>
                <a:effectLst/>
                <a:uLnTx/>
                <a:uFillTx/>
                <a:latin typeface="Poppins"/>
                <a:ea typeface="Verdana" panose="020B0604030504040204" pitchFamily="34" charset="0"/>
              </a:rPr>
              <a:t>Vision</a:t>
            </a:r>
          </a:p>
        </p:txBody>
      </p:sp>
      <p:grpSp>
        <p:nvGrpSpPr>
          <p:cNvPr id="52" name="Group 51">
            <a:extLst>
              <a:ext uri="{FF2B5EF4-FFF2-40B4-BE49-F238E27FC236}">
                <a16:creationId xmlns:a16="http://schemas.microsoft.com/office/drawing/2014/main" id="{61B8C0DE-42D6-A783-651C-2CCF16EA1A66}"/>
              </a:ext>
            </a:extLst>
          </p:cNvPr>
          <p:cNvGrpSpPr/>
          <p:nvPr/>
        </p:nvGrpSpPr>
        <p:grpSpPr>
          <a:xfrm>
            <a:off x="362743" y="10216"/>
            <a:ext cx="10042505" cy="252000"/>
            <a:chOff x="362743" y="10216"/>
            <a:chExt cx="10042505" cy="252000"/>
          </a:xfrm>
        </p:grpSpPr>
        <p:sp>
          <p:nvSpPr>
            <p:cNvPr id="59" name="Pentagon 47">
              <a:extLst>
                <a:ext uri="{FF2B5EF4-FFF2-40B4-BE49-F238E27FC236}">
                  <a16:creationId xmlns:a16="http://schemas.microsoft.com/office/drawing/2014/main" id="{525F6E60-A9B0-53C5-2EF1-7E4B1D77D37D}"/>
                </a:ext>
              </a:extLst>
            </p:cNvPr>
            <p:cNvSpPr/>
            <p:nvPr/>
          </p:nvSpPr>
          <p:spPr>
            <a:xfrm>
              <a:off x="362743" y="10216"/>
              <a:ext cx="1695265" cy="252000"/>
            </a:xfrm>
            <a:prstGeom prst="homePlate">
              <a:avLst>
                <a:gd name="adj" fmla="val 28868"/>
              </a:avLst>
            </a:prstGeom>
            <a:solidFill>
              <a:schemeClr val="bg2">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60" name="Chevron 48">
              <a:extLst>
                <a:ext uri="{FF2B5EF4-FFF2-40B4-BE49-F238E27FC236}">
                  <a16:creationId xmlns:a16="http://schemas.microsoft.com/office/drawing/2014/main" id="{3A3A7327-3B61-E90E-E0C9-82E1D2BCA4C8}"/>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61" name="Chevron 52">
              <a:extLst>
                <a:ext uri="{FF2B5EF4-FFF2-40B4-BE49-F238E27FC236}">
                  <a16:creationId xmlns:a16="http://schemas.microsoft.com/office/drawing/2014/main" id="{A9F91D53-6149-BBBB-3B12-EC2A5889A872}"/>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63" name="Chevron 54">
              <a:extLst>
                <a:ext uri="{FF2B5EF4-FFF2-40B4-BE49-F238E27FC236}">
                  <a16:creationId xmlns:a16="http://schemas.microsoft.com/office/drawing/2014/main" id="{FA7E7754-FA70-132A-16BC-551C7F8729BA}"/>
                </a:ext>
              </a:extLst>
            </p:cNvPr>
            <p:cNvSpPr/>
            <p:nvPr/>
          </p:nvSpPr>
          <p:spPr>
            <a:xfrm>
              <a:off x="2032191"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64" name="Chevron 48">
              <a:extLst>
                <a:ext uri="{FF2B5EF4-FFF2-40B4-BE49-F238E27FC236}">
                  <a16:creationId xmlns:a16="http://schemas.microsoft.com/office/drawing/2014/main" id="{D58C6294-A81C-A0F5-1BF3-6F2F69E2E24C}"/>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66" name="Chevron 48">
              <a:extLst>
                <a:ext uri="{FF2B5EF4-FFF2-40B4-BE49-F238E27FC236}">
                  <a16:creationId xmlns:a16="http://schemas.microsoft.com/office/drawing/2014/main" id="{C55CF821-0FEC-D0F8-E278-634265B3F88C}"/>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1667351582"/>
      </p:ext>
    </p:extLst>
  </p:cSld>
  <p:clrMapOvr>
    <a:masterClrMapping/>
  </p:clrMapOvr>
  <p:extLst>
    <p:ext uri="{6950BFC3-D8DA-4A85-94F7-54DA5524770B}">
      <p188:commentRel xmlns:p188="http://schemas.microsoft.com/office/powerpoint/2018/8/main" r:id="rId4"/>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3124A-3720-63AA-29BA-A639251A9E7C}"/>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4FB3E48-B203-0E77-8318-244AAFB23DCF}"/>
              </a:ext>
            </a:extLst>
          </p:cNvPr>
          <p:cNvGraphicFramePr>
            <a:graphicFrameLocks/>
          </p:cNvGraphicFramePr>
          <p:nvPr>
            <p:custDataLst>
              <p:tags r:id="rId1"/>
            </p:custDataLst>
            <p:extLst>
              <p:ext uri="{D42A27DB-BD31-4B8C-83A1-F6EECF244321}">
                <p14:modId xmlns:p14="http://schemas.microsoft.com/office/powerpoint/2010/main" val="20587133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think-cell data - do not delete" hidden="1">
                        <a:extLst>
                          <a:ext uri="{FF2B5EF4-FFF2-40B4-BE49-F238E27FC236}">
                            <a16:creationId xmlns:a16="http://schemas.microsoft.com/office/drawing/2014/main" id="{C4FB3E48-B203-0E77-8318-244AAFB23DC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24CCE33-52C1-43EA-252B-CE1BD4F524AC}"/>
              </a:ext>
            </a:extLst>
          </p:cNvPr>
          <p:cNvSpPr>
            <a:spLocks noGrp="1"/>
          </p:cNvSpPr>
          <p:nvPr>
            <p:ph type="ctrTitle"/>
          </p:nvPr>
        </p:nvSpPr>
        <p:spPr>
          <a:xfrm>
            <a:off x="336165" y="2630899"/>
            <a:ext cx="7031736" cy="1477328"/>
          </a:xfrm>
        </p:spPr>
        <p:txBody>
          <a:bodyPr vert="horz" rIns="0">
            <a:spAutoFit/>
          </a:bodyPr>
          <a:lstStyle/>
          <a:p>
            <a:r>
              <a:rPr lang="en-US"/>
              <a:t>Prioritized Evidence Gaps</a:t>
            </a:r>
          </a:p>
        </p:txBody>
      </p:sp>
      <p:grpSp>
        <p:nvGrpSpPr>
          <p:cNvPr id="11" name="Group 10">
            <a:extLst>
              <a:ext uri="{FF2B5EF4-FFF2-40B4-BE49-F238E27FC236}">
                <a16:creationId xmlns:a16="http://schemas.microsoft.com/office/drawing/2014/main" id="{0FAAA50E-D59D-C377-5034-B131103C1936}"/>
              </a:ext>
            </a:extLst>
          </p:cNvPr>
          <p:cNvGrpSpPr/>
          <p:nvPr/>
        </p:nvGrpSpPr>
        <p:grpSpPr>
          <a:xfrm>
            <a:off x="362743" y="10216"/>
            <a:ext cx="10042505" cy="252000"/>
            <a:chOff x="362743" y="10216"/>
            <a:chExt cx="10042505" cy="252000"/>
          </a:xfrm>
        </p:grpSpPr>
        <p:sp>
          <p:nvSpPr>
            <p:cNvPr id="12" name="Pentagon 47">
              <a:extLst>
                <a:ext uri="{FF2B5EF4-FFF2-40B4-BE49-F238E27FC236}">
                  <a16:creationId xmlns:a16="http://schemas.microsoft.com/office/drawing/2014/main" id="{B0A203B1-0F27-44EA-562B-1D7E739C41A6}"/>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13" name="Chevron 48">
              <a:extLst>
                <a:ext uri="{FF2B5EF4-FFF2-40B4-BE49-F238E27FC236}">
                  <a16:creationId xmlns:a16="http://schemas.microsoft.com/office/drawing/2014/main" id="{0B8F64F1-77A5-38B3-91A9-F5B54F21434D}"/>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14" name="Chevron 52">
              <a:extLst>
                <a:ext uri="{FF2B5EF4-FFF2-40B4-BE49-F238E27FC236}">
                  <a16:creationId xmlns:a16="http://schemas.microsoft.com/office/drawing/2014/main" id="{8980D3F7-C9D0-3BDA-BA2C-F38D577CB0E1}"/>
                </a:ext>
              </a:extLst>
            </p:cNvPr>
            <p:cNvSpPr/>
            <p:nvPr/>
          </p:nvSpPr>
          <p:spPr>
            <a:xfrm>
              <a:off x="3701639"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15" name="Chevron 54">
              <a:extLst>
                <a:ext uri="{FF2B5EF4-FFF2-40B4-BE49-F238E27FC236}">
                  <a16:creationId xmlns:a16="http://schemas.microsoft.com/office/drawing/2014/main" id="{58A3E997-C58D-2B88-5528-9924FB3C1EC5}"/>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6" name="Chevron 48">
              <a:extLst>
                <a:ext uri="{FF2B5EF4-FFF2-40B4-BE49-F238E27FC236}">
                  <a16:creationId xmlns:a16="http://schemas.microsoft.com/office/drawing/2014/main" id="{98981F47-D43D-0D73-DCE0-3FAFFC6A53E7}"/>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8" name="Chevron 48">
              <a:extLst>
                <a:ext uri="{FF2B5EF4-FFF2-40B4-BE49-F238E27FC236}">
                  <a16:creationId xmlns:a16="http://schemas.microsoft.com/office/drawing/2014/main" id="{0ABF443E-C180-72D6-3C88-31FF76190BAB}"/>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42844066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BDF2952-996F-95C3-2025-A45BC3125478}"/>
              </a:ext>
            </a:extLst>
          </p:cNvPr>
          <p:cNvGraphicFramePr>
            <a:graphicFrameLocks/>
          </p:cNvGraphicFramePr>
          <p:nvPr>
            <p:custDataLst>
              <p:tags r:id="rId1"/>
            </p:custDataLst>
            <p:extLst>
              <p:ext uri="{D42A27DB-BD31-4B8C-83A1-F6EECF244321}">
                <p14:modId xmlns:p14="http://schemas.microsoft.com/office/powerpoint/2010/main" val="37302361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6" name="think-cell data - do not delete" hidden="1">
                        <a:extLst>
                          <a:ext uri="{FF2B5EF4-FFF2-40B4-BE49-F238E27FC236}">
                            <a16:creationId xmlns:a16="http://schemas.microsoft.com/office/drawing/2014/main" id="{4BDF2952-996F-95C3-2025-A45BC312547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8" name="Rectangle 27">
            <a:extLst>
              <a:ext uri="{FF2B5EF4-FFF2-40B4-BE49-F238E27FC236}">
                <a16:creationId xmlns:a16="http://schemas.microsoft.com/office/drawing/2014/main" id="{9F904B88-6B80-72C7-62D4-AAAC7F59FCDC}"/>
              </a:ext>
            </a:extLst>
          </p:cNvPr>
          <p:cNvSpPr/>
          <p:nvPr/>
        </p:nvSpPr>
        <p:spPr>
          <a:xfrm>
            <a:off x="10073409" y="1333936"/>
            <a:ext cx="1749713" cy="338554"/>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100" b="1" noProof="0">
                <a:solidFill>
                  <a:schemeClr val="bg1"/>
                </a:solidFill>
              </a:rPr>
              <a:t>From </a:t>
            </a:r>
            <a:r>
              <a:rPr lang="en-US" sz="1100" b="1" noProof="0" err="1">
                <a:solidFill>
                  <a:schemeClr val="bg1"/>
                </a:solidFill>
              </a:rPr>
              <a:t>BeOne</a:t>
            </a:r>
            <a:r>
              <a:rPr lang="en-US" sz="1100" b="1" noProof="0">
                <a:solidFill>
                  <a:schemeClr val="bg1"/>
                </a:solidFill>
              </a:rPr>
              <a:t> IEP Guidance Document</a:t>
            </a:r>
          </a:p>
        </p:txBody>
      </p:sp>
      <p:sp>
        <p:nvSpPr>
          <p:cNvPr id="13" name="Rounded Rectangle 7">
            <a:extLst>
              <a:ext uri="{FF2B5EF4-FFF2-40B4-BE49-F238E27FC236}">
                <a16:creationId xmlns:a16="http://schemas.microsoft.com/office/drawing/2014/main" id="{DBD5DB1E-D41B-47B5-CBE2-CF664817C812}"/>
              </a:ext>
            </a:extLst>
          </p:cNvPr>
          <p:cNvSpPr/>
          <p:nvPr/>
        </p:nvSpPr>
        <p:spPr>
          <a:xfrm>
            <a:off x="358337" y="3640660"/>
            <a:ext cx="2130482" cy="2645839"/>
          </a:xfrm>
          <a:prstGeom prst="roundRect">
            <a:avLst>
              <a:gd name="adj" fmla="val 12970"/>
            </a:avLst>
          </a:prstGeom>
          <a:solidFill>
            <a:schemeClr val="bg1">
              <a:lumMod val="95000"/>
            </a:schemeClr>
          </a:solidFill>
          <a:ln w="158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45720" rIns="45720" rtlCol="0" anchor="ctr"/>
          <a:lstStyle/>
          <a:p>
            <a:pPr algn="ctr"/>
            <a:r>
              <a:rPr lang="en-US" sz="1300" noProof="0">
                <a:solidFill>
                  <a:schemeClr val="tx1"/>
                </a:solidFill>
                <a:latin typeface="Poppins" pitchFamily="2" charset="77"/>
                <a:cs typeface="Poppins" pitchFamily="2" charset="77"/>
              </a:rPr>
              <a:t>Evidence Gap for which </a:t>
            </a:r>
            <a:r>
              <a:rPr lang="en-US" sz="1300" b="1" noProof="0">
                <a:solidFill>
                  <a:schemeClr val="tx1"/>
                </a:solidFill>
                <a:latin typeface="Poppins" pitchFamily="2" charset="77"/>
                <a:cs typeface="Poppins" pitchFamily="2" charset="77"/>
              </a:rPr>
              <a:t>work should </a:t>
            </a:r>
            <a:r>
              <a:rPr lang="en-US" sz="1300" b="1" u="sng" noProof="0">
                <a:solidFill>
                  <a:schemeClr val="tx1"/>
                </a:solidFill>
                <a:latin typeface="Poppins" pitchFamily="2" charset="77"/>
                <a:cs typeface="Poppins" pitchFamily="2" charset="77"/>
              </a:rPr>
              <a:t>NOT</a:t>
            </a:r>
            <a:r>
              <a:rPr lang="en-US" sz="1300" b="1" noProof="0">
                <a:solidFill>
                  <a:schemeClr val="tx1"/>
                </a:solidFill>
                <a:latin typeface="Poppins" pitchFamily="2" charset="77"/>
                <a:cs typeface="Poppins" pitchFamily="2" charset="77"/>
              </a:rPr>
              <a:t> be initiated</a:t>
            </a:r>
          </a:p>
        </p:txBody>
      </p:sp>
      <p:sp>
        <p:nvSpPr>
          <p:cNvPr id="21" name="Rounded Rectangle 10">
            <a:extLst>
              <a:ext uri="{FF2B5EF4-FFF2-40B4-BE49-F238E27FC236}">
                <a16:creationId xmlns:a16="http://schemas.microsoft.com/office/drawing/2014/main" id="{2D0578C7-1B7E-9B52-161A-4DA782CEB13C}"/>
              </a:ext>
            </a:extLst>
          </p:cNvPr>
          <p:cNvSpPr/>
          <p:nvPr/>
        </p:nvSpPr>
        <p:spPr>
          <a:xfrm>
            <a:off x="368879" y="1773109"/>
            <a:ext cx="2130482" cy="1716069"/>
          </a:xfrm>
          <a:prstGeom prst="roundRect">
            <a:avLst>
              <a:gd name="adj" fmla="val 10505"/>
            </a:avLst>
          </a:prstGeom>
          <a:solidFill>
            <a:schemeClr val="accent1">
              <a:lumMod val="20000"/>
              <a:lumOff val="80000"/>
            </a:schemeClr>
          </a:solidFill>
          <a:ln w="158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noProof="0">
                <a:solidFill>
                  <a:schemeClr val="tx1"/>
                </a:solidFill>
                <a:latin typeface="Poppins" pitchFamily="2" charset="77"/>
                <a:cs typeface="Poppins" pitchFamily="2" charset="77"/>
              </a:rPr>
              <a:t>Evidence Gap for which new </a:t>
            </a:r>
            <a:r>
              <a:rPr lang="en-US" sz="1300" b="1" noProof="0">
                <a:solidFill>
                  <a:schemeClr val="tx1"/>
                </a:solidFill>
                <a:latin typeface="Poppins" pitchFamily="2" charset="77"/>
                <a:cs typeface="Poppins" pitchFamily="2" charset="77"/>
              </a:rPr>
              <a:t>work should be initiated by the end of H1 2027</a:t>
            </a:r>
          </a:p>
        </p:txBody>
      </p:sp>
      <p:sp>
        <p:nvSpPr>
          <p:cNvPr id="23" name="TextBox 22">
            <a:extLst>
              <a:ext uri="{FF2B5EF4-FFF2-40B4-BE49-F238E27FC236}">
                <a16:creationId xmlns:a16="http://schemas.microsoft.com/office/drawing/2014/main" id="{7F681089-F4CC-90C1-04AC-F156AACB0A85}"/>
              </a:ext>
            </a:extLst>
          </p:cNvPr>
          <p:cNvSpPr txBox="1"/>
          <p:nvPr/>
        </p:nvSpPr>
        <p:spPr>
          <a:xfrm>
            <a:off x="720893" y="1389063"/>
            <a:ext cx="1426453" cy="3385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ea typeface="+mn-ea"/>
                <a:cs typeface="+mn-cs"/>
              </a:rPr>
              <a:t>Type</a:t>
            </a:r>
          </a:p>
        </p:txBody>
      </p:sp>
      <p:sp>
        <p:nvSpPr>
          <p:cNvPr id="25" name="Rounded Rectangle 1">
            <a:extLst>
              <a:ext uri="{FF2B5EF4-FFF2-40B4-BE49-F238E27FC236}">
                <a16:creationId xmlns:a16="http://schemas.microsoft.com/office/drawing/2014/main" id="{5639B05C-26AF-708B-291D-EBCC60DDB8F4}"/>
              </a:ext>
            </a:extLst>
          </p:cNvPr>
          <p:cNvSpPr/>
          <p:nvPr/>
        </p:nvSpPr>
        <p:spPr>
          <a:xfrm>
            <a:off x="2631132" y="3640659"/>
            <a:ext cx="9207871" cy="788972"/>
          </a:xfrm>
          <a:prstGeom prst="roundRect">
            <a:avLst>
              <a:gd name="adj" fmla="val 5308"/>
            </a:avLst>
          </a:prstGeom>
          <a:solidFill>
            <a:srgbClr val="CCD3E3"/>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t"/>
          <a:lstStyle/>
          <a:p>
            <a:pPr algn="ctr"/>
            <a:r>
              <a:rPr lang="en-US" sz="1400" b="1" noProof="0">
                <a:solidFill>
                  <a:srgbClr val="3A3838"/>
                </a:solidFill>
                <a:latin typeface="Poppins"/>
                <a:cs typeface="Poppins"/>
              </a:rPr>
              <a:t>Addressed</a:t>
            </a:r>
            <a:endParaRPr lang="en-US" sz="1400" b="1" noProof="0">
              <a:solidFill>
                <a:srgbClr val="3A3838"/>
              </a:solidFill>
              <a:latin typeface="Poppins" pitchFamily="2" charset="77"/>
              <a:cs typeface="Poppins" pitchFamily="2" charset="77"/>
            </a:endParaRPr>
          </a:p>
          <a:p>
            <a:pPr algn="ctr"/>
            <a:r>
              <a:rPr lang="en-US" sz="1300" noProof="0">
                <a:solidFill>
                  <a:schemeClr val="tx1"/>
                </a:solidFill>
                <a:latin typeface="Poppins"/>
                <a:cs typeface="Poppins"/>
              </a:rPr>
              <a:t>Evidence gap have been </a:t>
            </a:r>
            <a:r>
              <a:rPr lang="en-US" sz="1300" b="1" noProof="0">
                <a:solidFill>
                  <a:schemeClr val="tx1"/>
                </a:solidFill>
                <a:latin typeface="Poppins"/>
                <a:cs typeface="Poppins"/>
              </a:rPr>
              <a:t>sufficiently met by completed, ongoing, or planned</a:t>
            </a:r>
            <a:br>
              <a:rPr lang="en-US" sz="1300" b="1" noProof="0">
                <a:solidFill>
                  <a:schemeClr val="tx1"/>
                </a:solidFill>
                <a:latin typeface="Poppins"/>
                <a:cs typeface="Poppins"/>
              </a:rPr>
            </a:br>
            <a:r>
              <a:rPr lang="en-US" sz="1300" b="1" noProof="0">
                <a:solidFill>
                  <a:schemeClr val="tx1"/>
                </a:solidFill>
                <a:latin typeface="Poppins"/>
                <a:cs typeface="Poppins"/>
              </a:rPr>
              <a:t>evidence generation</a:t>
            </a:r>
            <a:r>
              <a:rPr lang="en-US" sz="1300" noProof="0">
                <a:solidFill>
                  <a:schemeClr val="tx1"/>
                </a:solidFill>
                <a:latin typeface="Poppins"/>
                <a:cs typeface="Poppins"/>
              </a:rPr>
              <a:t>. </a:t>
            </a:r>
            <a:r>
              <a:rPr lang="en-US" sz="1300" b="1" noProof="0">
                <a:solidFill>
                  <a:schemeClr val="tx1"/>
                </a:solidFill>
                <a:latin typeface="Poppins"/>
                <a:cs typeface="Poppins"/>
              </a:rPr>
              <a:t>No new efforts </a:t>
            </a:r>
            <a:r>
              <a:rPr lang="en-US" sz="1300" noProof="0">
                <a:solidFill>
                  <a:schemeClr val="tx1"/>
                </a:solidFill>
                <a:latin typeface="Poppins"/>
                <a:cs typeface="Poppins"/>
              </a:rPr>
              <a:t>are needed beyond what has been committed</a:t>
            </a:r>
          </a:p>
        </p:txBody>
      </p:sp>
      <p:sp>
        <p:nvSpPr>
          <p:cNvPr id="27" name="Rounded Rectangle 2">
            <a:extLst>
              <a:ext uri="{FF2B5EF4-FFF2-40B4-BE49-F238E27FC236}">
                <a16:creationId xmlns:a16="http://schemas.microsoft.com/office/drawing/2014/main" id="{F8EE73CE-9EB5-0ECB-9153-E40767100B31}"/>
              </a:ext>
            </a:extLst>
          </p:cNvPr>
          <p:cNvSpPr/>
          <p:nvPr/>
        </p:nvSpPr>
        <p:spPr>
          <a:xfrm>
            <a:off x="2634337" y="5512164"/>
            <a:ext cx="9188785" cy="774335"/>
          </a:xfrm>
          <a:prstGeom prst="roundRect">
            <a:avLst>
              <a:gd name="adj" fmla="val 5036"/>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t"/>
          <a:lstStyle/>
          <a:p>
            <a:pPr marL="0" marR="0" lvl="0" indent="0" algn="ctr" defTabSz="914400" eaLnBrk="1" fontAlgn="auto" latinLnBrk="0" hangingPunct="1">
              <a:lnSpc>
                <a:spcPct val="100000"/>
              </a:lnSpc>
              <a:buClrTx/>
              <a:buSzTx/>
              <a:buFontTx/>
              <a:buNone/>
              <a:tabLst/>
              <a:defRPr/>
            </a:pPr>
            <a:r>
              <a:rPr kumimoji="0" lang="en-US" sz="1400" b="1" i="0" u="none" strike="noStrike" kern="1200" cap="none" spc="0" normalizeH="0" baseline="0" noProof="0">
                <a:ln>
                  <a:noFill/>
                </a:ln>
                <a:solidFill>
                  <a:srgbClr val="3A3838"/>
                </a:solidFill>
                <a:effectLst/>
                <a:uLnTx/>
                <a:uFillTx/>
                <a:latin typeface="Poppins" pitchFamily="2" charset="77"/>
                <a:cs typeface="Poppins" pitchFamily="2" charset="77"/>
              </a:rPr>
              <a:t>Not Aligned to Strategy</a:t>
            </a:r>
          </a:p>
          <a:p>
            <a:pPr marL="0" marR="0" lvl="0" indent="0" algn="ctr" defTabSz="914400" eaLnBrk="1" fontAlgn="auto" latinLnBrk="0" hangingPunct="1">
              <a:lnSpc>
                <a:spcPct val="100000"/>
              </a:lnSpc>
              <a:buClrTx/>
              <a:buSzTx/>
              <a:buFontTx/>
              <a:buNone/>
              <a:tabLst/>
              <a:defRPr/>
            </a:pPr>
            <a:r>
              <a:rPr kumimoji="0" lang="en-US" sz="1300" b="0" i="0" u="none" strike="noStrike" kern="1200" cap="none" spc="0" normalizeH="0" baseline="0" noProof="0">
                <a:ln>
                  <a:noFill/>
                </a:ln>
                <a:solidFill>
                  <a:srgbClr val="000000"/>
                </a:solidFill>
                <a:effectLst/>
                <a:uLnTx/>
                <a:uFillTx/>
                <a:latin typeface="Poppins" pitchFamily="2" charset="77"/>
                <a:cs typeface="Poppins" pitchFamily="2" charset="77"/>
              </a:rPr>
              <a:t>Evidence gaps that </a:t>
            </a:r>
            <a:r>
              <a:rPr kumimoji="0" lang="en-US" sz="1300" b="1" i="0" u="none" strike="noStrike" kern="1200" cap="none" spc="0" normalizeH="0" baseline="0" noProof="0">
                <a:ln>
                  <a:noFill/>
                </a:ln>
                <a:solidFill>
                  <a:srgbClr val="000000"/>
                </a:solidFill>
                <a:effectLst/>
                <a:uLnTx/>
                <a:uFillTx/>
                <a:latin typeface="Poppins" pitchFamily="2" charset="77"/>
                <a:cs typeface="Poppins" pitchFamily="2" charset="77"/>
              </a:rPr>
              <a:t>do not support current strategic objectives</a:t>
            </a:r>
            <a:r>
              <a:rPr kumimoji="0" lang="en-US" sz="1300" b="0" i="0" u="none" strike="noStrike" kern="1200" cap="none" spc="0" normalizeH="0" baseline="0" noProof="0">
                <a:ln>
                  <a:noFill/>
                </a:ln>
                <a:solidFill>
                  <a:srgbClr val="000000"/>
                </a:solidFill>
                <a:effectLst/>
                <a:uLnTx/>
                <a:uFillTx/>
                <a:latin typeface="Poppins" pitchFamily="2" charset="77"/>
                <a:cs typeface="Poppins" pitchFamily="2" charset="77"/>
              </a:rPr>
              <a:t>, potentially</a:t>
            </a:r>
            <a:br>
              <a:rPr kumimoji="0" lang="en-US" sz="1300" b="0" i="0" u="none" strike="noStrike" kern="1200" cap="none" spc="0" normalizeH="0" baseline="0" noProof="0">
                <a:ln>
                  <a:noFill/>
                </a:ln>
                <a:solidFill>
                  <a:srgbClr val="000000"/>
                </a:solidFill>
                <a:effectLst/>
                <a:uLnTx/>
                <a:uFillTx/>
                <a:latin typeface="Poppins" pitchFamily="2" charset="77"/>
                <a:cs typeface="Poppins" pitchFamily="2" charset="77"/>
              </a:rPr>
            </a:br>
            <a:r>
              <a:rPr kumimoji="0" lang="en-US" sz="1300" b="0" i="0" u="none" strike="noStrike" kern="1200" cap="none" spc="0" normalizeH="0" baseline="0" noProof="0">
                <a:ln>
                  <a:noFill/>
                </a:ln>
                <a:solidFill>
                  <a:srgbClr val="000000"/>
                </a:solidFill>
                <a:effectLst/>
                <a:uLnTx/>
                <a:uFillTx/>
                <a:latin typeface="Poppins" pitchFamily="2" charset="77"/>
                <a:cs typeface="Poppins" pitchFamily="2" charset="77"/>
              </a:rPr>
              <a:t>challenge</a:t>
            </a:r>
            <a:r>
              <a:rPr lang="en-US" sz="1300">
                <a:solidFill>
                  <a:srgbClr val="000000"/>
                </a:solidFill>
                <a:latin typeface="Poppins" pitchFamily="2" charset="77"/>
                <a:cs typeface="Poppins" pitchFamily="2" charset="77"/>
              </a:rPr>
              <a:t> </a:t>
            </a:r>
            <a:r>
              <a:rPr kumimoji="0" lang="en-US" sz="1300" b="0" i="0" u="none" strike="noStrike" kern="1200" cap="none" spc="0" normalizeH="0" baseline="0" noProof="0">
                <a:ln>
                  <a:noFill/>
                </a:ln>
                <a:solidFill>
                  <a:srgbClr val="000000"/>
                </a:solidFill>
                <a:effectLst/>
                <a:uLnTx/>
                <a:uFillTx/>
                <a:latin typeface="Poppins" pitchFamily="2" charset="77"/>
                <a:cs typeface="Poppins" pitchFamily="2" charset="77"/>
              </a:rPr>
              <a:t>pivotal data, or are unlikely to drive meaningful impact before LOE</a:t>
            </a:r>
          </a:p>
        </p:txBody>
      </p:sp>
      <p:sp>
        <p:nvSpPr>
          <p:cNvPr id="38" name="Rounded Rectangle 18">
            <a:extLst>
              <a:ext uri="{FF2B5EF4-FFF2-40B4-BE49-F238E27FC236}">
                <a16:creationId xmlns:a16="http://schemas.microsoft.com/office/drawing/2014/main" id="{BEFE82F2-7F6E-2F0C-D76F-A2B625224EB5}"/>
              </a:ext>
            </a:extLst>
          </p:cNvPr>
          <p:cNvSpPr/>
          <p:nvPr/>
        </p:nvSpPr>
        <p:spPr>
          <a:xfrm>
            <a:off x="2631132" y="4574434"/>
            <a:ext cx="9207871" cy="792925"/>
          </a:xfrm>
          <a:prstGeom prst="roundRect">
            <a:avLst>
              <a:gd name="adj" fmla="val 5385"/>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t"/>
          <a:lstStyle/>
          <a:p>
            <a:pPr marL="0" marR="0" lvl="0" indent="0" algn="ctr" defTabSz="914400" eaLnBrk="1" fontAlgn="auto" latinLnBrk="0" hangingPunct="1">
              <a:lnSpc>
                <a:spcPct val="100000"/>
              </a:lnSpc>
              <a:buClrTx/>
              <a:buSzTx/>
              <a:buFontTx/>
              <a:buNone/>
              <a:tabLst/>
              <a:defRPr/>
            </a:pPr>
            <a:r>
              <a:rPr kumimoji="0" lang="en-US" sz="1400" b="1" i="0" u="none" strike="noStrike" kern="1200" cap="none" spc="0" normalizeH="0" baseline="0" noProof="0">
                <a:ln>
                  <a:noFill/>
                </a:ln>
                <a:solidFill>
                  <a:srgbClr val="757070"/>
                </a:solidFill>
                <a:effectLst/>
                <a:uLnTx/>
                <a:uFillTx/>
                <a:latin typeface="Poppins" pitchFamily="2" charset="77"/>
                <a:cs typeface="Poppins" pitchFamily="2" charset="77"/>
              </a:rPr>
              <a:t>Gated</a:t>
            </a:r>
          </a:p>
          <a:p>
            <a:pPr lvl="0" algn="ctr">
              <a:defRPr/>
            </a:pPr>
            <a:r>
              <a:rPr lang="en-US" sz="1300" noProof="0">
                <a:solidFill>
                  <a:schemeClr val="tx1"/>
                </a:solidFill>
                <a:latin typeface="Poppins" pitchFamily="2" charset="77"/>
                <a:cs typeface="Poppins" pitchFamily="2" charset="77"/>
              </a:rPr>
              <a:t>Evidence gap is potentially </a:t>
            </a:r>
            <a:r>
              <a:rPr lang="en-US" sz="1300" b="1" noProof="0">
                <a:solidFill>
                  <a:schemeClr val="tx1"/>
                </a:solidFill>
                <a:latin typeface="Poppins" pitchFamily="2" charset="77"/>
                <a:cs typeface="Poppins" pitchFamily="2" charset="77"/>
              </a:rPr>
              <a:t>strategically relevant</a:t>
            </a:r>
            <a:r>
              <a:rPr lang="en-US" sz="1300" noProof="0">
                <a:solidFill>
                  <a:schemeClr val="tx1"/>
                </a:solidFill>
                <a:latin typeface="Poppins" pitchFamily="2" charset="77"/>
                <a:cs typeface="Poppins" pitchFamily="2" charset="77"/>
              </a:rPr>
              <a:t>, but additional information* or guidance may be</a:t>
            </a:r>
            <a:br>
              <a:rPr lang="en-US" sz="1300" noProof="0">
                <a:solidFill>
                  <a:schemeClr val="tx1"/>
                </a:solidFill>
                <a:latin typeface="Poppins" pitchFamily="2" charset="77"/>
                <a:cs typeface="Poppins" pitchFamily="2" charset="77"/>
              </a:rPr>
            </a:br>
            <a:r>
              <a:rPr lang="en-US" sz="1300" noProof="0">
                <a:solidFill>
                  <a:schemeClr val="tx1"/>
                </a:solidFill>
                <a:latin typeface="Poppins" pitchFamily="2" charset="77"/>
                <a:cs typeface="Poppins" pitchFamily="2" charset="77"/>
              </a:rPr>
              <a:t>needed before it is prioritized for evidence generation (e.g., low / medium priority evidence gaps)</a:t>
            </a:r>
          </a:p>
        </p:txBody>
      </p:sp>
      <p:sp>
        <p:nvSpPr>
          <p:cNvPr id="40" name="Rounded Rectangle 23">
            <a:extLst>
              <a:ext uri="{FF2B5EF4-FFF2-40B4-BE49-F238E27FC236}">
                <a16:creationId xmlns:a16="http://schemas.microsoft.com/office/drawing/2014/main" id="{89CF63D7-E920-54FB-726A-8695A8E53FF6}"/>
              </a:ext>
            </a:extLst>
          </p:cNvPr>
          <p:cNvSpPr/>
          <p:nvPr/>
        </p:nvSpPr>
        <p:spPr>
          <a:xfrm>
            <a:off x="2631132" y="1773109"/>
            <a:ext cx="9207871" cy="788972"/>
          </a:xfrm>
          <a:prstGeom prst="roundRect">
            <a:avLst>
              <a:gd name="adj" fmla="val 6118"/>
            </a:avLst>
          </a:prstGeom>
          <a:solidFill>
            <a:srgbClr val="CCE6E6"/>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t"/>
          <a:lstStyle/>
          <a:p>
            <a:pPr marL="0" marR="0" lvl="0" indent="0" algn="ctr" defTabSz="914400" eaLnBrk="1" fontAlgn="auto" latinLnBrk="0" hangingPunct="1">
              <a:lnSpc>
                <a:spcPct val="100000"/>
              </a:lnSpc>
              <a:buClrTx/>
              <a:buSzTx/>
              <a:buFontTx/>
              <a:buNone/>
              <a:tabLst/>
              <a:defRPr/>
            </a:pPr>
            <a:r>
              <a:rPr kumimoji="0" lang="en-US" sz="1400" b="1" i="0" u="none" strike="noStrike" kern="1200" cap="none" spc="0" normalizeH="0" baseline="0" noProof="0">
                <a:ln>
                  <a:noFill/>
                </a:ln>
                <a:solidFill>
                  <a:schemeClr val="accent4"/>
                </a:solidFill>
                <a:effectLst/>
                <a:uLnTx/>
                <a:uFillTx/>
                <a:latin typeface="Poppins" pitchFamily="2" charset="77"/>
                <a:cs typeface="Poppins" pitchFamily="2" charset="77"/>
              </a:rPr>
              <a:t>Critical Priority</a:t>
            </a:r>
          </a:p>
          <a:p>
            <a:pPr algn="ctr">
              <a:defRPr/>
            </a:pPr>
            <a:r>
              <a:rPr lang="en-US" sz="1300" noProof="0">
                <a:solidFill>
                  <a:schemeClr val="tx1"/>
                </a:solidFill>
                <a:latin typeface="Poppins" pitchFamily="2" charset="77"/>
                <a:cs typeface="Poppins" pitchFamily="2" charset="77"/>
              </a:rPr>
              <a:t>Essential evidence required to </a:t>
            </a:r>
            <a:r>
              <a:rPr lang="en-US" sz="1300" b="1" noProof="0">
                <a:solidFill>
                  <a:schemeClr val="tx1"/>
                </a:solidFill>
                <a:latin typeface="Poppins" pitchFamily="2" charset="77"/>
                <a:cs typeface="Poppins" pitchFamily="2" charset="77"/>
              </a:rPr>
              <a:t>unlock key strategic objectives</a:t>
            </a:r>
            <a:r>
              <a:rPr lang="en-US" sz="1300" noProof="0">
                <a:solidFill>
                  <a:schemeClr val="tx1"/>
                </a:solidFill>
                <a:latin typeface="Poppins" pitchFamily="2" charset="77"/>
                <a:cs typeface="Poppins" pitchFamily="2" charset="77"/>
              </a:rPr>
              <a:t>, such as access, regulatory approval, or product differentiation. Lack of evidence here poses a </a:t>
            </a:r>
            <a:r>
              <a:rPr lang="en-US" sz="1300" b="1" noProof="0">
                <a:solidFill>
                  <a:schemeClr val="tx1"/>
                </a:solidFill>
                <a:latin typeface="Poppins" pitchFamily="2" charset="77"/>
                <a:cs typeface="Poppins" pitchFamily="2" charset="77"/>
              </a:rPr>
              <a:t>high risk</a:t>
            </a:r>
            <a:r>
              <a:rPr lang="en-US" sz="1300" noProof="0">
                <a:solidFill>
                  <a:schemeClr val="tx1"/>
                </a:solidFill>
                <a:latin typeface="Poppins" pitchFamily="2" charset="77"/>
                <a:cs typeface="Poppins" pitchFamily="2" charset="77"/>
              </a:rPr>
              <a:t> </a:t>
            </a:r>
            <a:r>
              <a:rPr lang="en-US" sz="1300" b="1" noProof="0">
                <a:solidFill>
                  <a:schemeClr val="tx1"/>
                </a:solidFill>
                <a:latin typeface="Poppins" pitchFamily="2" charset="77"/>
                <a:cs typeface="Poppins" pitchFamily="2" charset="77"/>
              </a:rPr>
              <a:t>to strategic success </a:t>
            </a:r>
            <a:r>
              <a:rPr lang="en-US" sz="1300" noProof="0">
                <a:solidFill>
                  <a:schemeClr val="tx1"/>
                </a:solidFill>
                <a:latin typeface="Poppins" pitchFamily="2" charset="77"/>
                <a:cs typeface="Poppins" pitchFamily="2" charset="77"/>
              </a:rPr>
              <a:t>or market viability</a:t>
            </a:r>
            <a:endParaRPr lang="en-US" sz="1300" kern="0" noProof="0">
              <a:solidFill>
                <a:schemeClr val="tx1"/>
              </a:solidFill>
              <a:latin typeface="Poppins" pitchFamily="2" charset="77"/>
              <a:cs typeface="Poppins" pitchFamily="2" charset="77"/>
            </a:endParaRPr>
          </a:p>
        </p:txBody>
      </p:sp>
      <p:sp>
        <p:nvSpPr>
          <p:cNvPr id="42" name="Rounded Rectangle 26">
            <a:extLst>
              <a:ext uri="{FF2B5EF4-FFF2-40B4-BE49-F238E27FC236}">
                <a16:creationId xmlns:a16="http://schemas.microsoft.com/office/drawing/2014/main" id="{8AD8952B-D70F-111F-5592-4E26D2FAC574}"/>
              </a:ext>
            </a:extLst>
          </p:cNvPr>
          <p:cNvSpPr/>
          <p:nvPr/>
        </p:nvSpPr>
        <p:spPr>
          <a:xfrm>
            <a:off x="2631776" y="2706884"/>
            <a:ext cx="9204040" cy="788972"/>
          </a:xfrm>
          <a:prstGeom prst="roundRect">
            <a:avLst>
              <a:gd name="adj" fmla="val 6677"/>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t"/>
          <a:lstStyle/>
          <a:p>
            <a:pPr marL="0" marR="0" lvl="0" indent="0" algn="ctr" defTabSz="914400" eaLnBrk="1" fontAlgn="auto" latinLnBrk="0" hangingPunct="1">
              <a:lnSpc>
                <a:spcPct val="100000"/>
              </a:lnSpc>
              <a:buClrTx/>
              <a:buSzTx/>
              <a:buFontTx/>
              <a:buNone/>
              <a:tabLst/>
              <a:defRPr/>
            </a:pPr>
            <a:r>
              <a:rPr kumimoji="0" lang="en-US" sz="1400" b="1" i="0" u="none" strike="noStrike" kern="1200" cap="none" spc="0" normalizeH="0" baseline="0" noProof="0">
                <a:ln>
                  <a:noFill/>
                </a:ln>
                <a:solidFill>
                  <a:schemeClr val="accent1"/>
                </a:solidFill>
                <a:effectLst/>
                <a:uLnTx/>
                <a:uFillTx/>
                <a:latin typeface="Poppins" pitchFamily="2" charset="77"/>
                <a:cs typeface="Poppins" pitchFamily="2" charset="77"/>
              </a:rPr>
              <a:t>High Priority</a:t>
            </a:r>
          </a:p>
          <a:p>
            <a:pPr marL="0" marR="0" lvl="0" indent="0" algn="ctr" defTabSz="914400" eaLnBrk="1" fontAlgn="auto" latinLnBrk="0" hangingPunct="1">
              <a:lnSpc>
                <a:spcPct val="100000"/>
              </a:lnSpc>
              <a:buClrTx/>
              <a:buSzTx/>
              <a:buFontTx/>
              <a:buNone/>
              <a:tabLst/>
              <a:defRPr/>
            </a:pPr>
            <a:r>
              <a:rPr kumimoji="0" lang="en-US" sz="1300" b="0" i="0" u="none" strike="noStrike" kern="1200" cap="none" spc="0" normalizeH="0" baseline="0" noProof="0">
                <a:ln>
                  <a:noFill/>
                </a:ln>
                <a:solidFill>
                  <a:srgbClr val="000000"/>
                </a:solidFill>
                <a:effectLst/>
                <a:uLnTx/>
                <a:uFillTx/>
                <a:latin typeface="Poppins" pitchFamily="2" charset="77"/>
                <a:cs typeface="Poppins" pitchFamily="2" charset="77"/>
              </a:rPr>
              <a:t>Important evidence needed to support </a:t>
            </a:r>
            <a:r>
              <a:rPr kumimoji="0" lang="en-US" sz="1300" b="1" i="0" u="none" strike="noStrike" kern="1200" cap="none" spc="0" normalizeH="0" baseline="0" noProof="0">
                <a:ln>
                  <a:noFill/>
                </a:ln>
                <a:solidFill>
                  <a:srgbClr val="000000"/>
                </a:solidFill>
                <a:effectLst/>
                <a:uLnTx/>
                <a:uFillTx/>
                <a:latin typeface="Poppins" pitchFamily="2" charset="77"/>
                <a:cs typeface="Poppins" pitchFamily="2" charset="77"/>
              </a:rPr>
              <a:t>regional strategy, functional execution, or competitive positioning</a:t>
            </a:r>
            <a:r>
              <a:rPr kumimoji="0" lang="en-US" sz="1300" b="0" i="0" u="none" strike="noStrike" kern="1200" cap="none" spc="0" normalizeH="0" baseline="0" noProof="0">
                <a:ln>
                  <a:noFill/>
                </a:ln>
                <a:solidFill>
                  <a:srgbClr val="000000"/>
                </a:solidFill>
                <a:effectLst/>
                <a:uLnTx/>
                <a:uFillTx/>
                <a:latin typeface="Poppins" pitchFamily="2" charset="77"/>
                <a:cs typeface="Poppins" pitchFamily="2" charset="77"/>
              </a:rPr>
              <a:t>. Gaps here may </a:t>
            </a:r>
            <a:r>
              <a:rPr kumimoji="0" lang="en-US" sz="1300" b="1" i="0" u="none" strike="noStrike" kern="1200" cap="none" spc="0" normalizeH="0" baseline="0" noProof="0">
                <a:ln>
                  <a:noFill/>
                </a:ln>
                <a:solidFill>
                  <a:srgbClr val="000000"/>
                </a:solidFill>
                <a:effectLst/>
                <a:uLnTx/>
                <a:uFillTx/>
                <a:latin typeface="Poppins" pitchFamily="2" charset="77"/>
                <a:cs typeface="Poppins" pitchFamily="2" charset="77"/>
              </a:rPr>
              <a:t>limit performance </a:t>
            </a:r>
            <a:r>
              <a:rPr kumimoji="0" lang="en-US" sz="1300" b="0" i="0" u="none" strike="noStrike" kern="1200" cap="none" spc="0" normalizeH="0" baseline="0" noProof="0">
                <a:ln>
                  <a:noFill/>
                </a:ln>
                <a:solidFill>
                  <a:srgbClr val="000000"/>
                </a:solidFill>
                <a:effectLst/>
                <a:uLnTx/>
                <a:uFillTx/>
                <a:latin typeface="Poppins" pitchFamily="2" charset="77"/>
                <a:cs typeface="Poppins" pitchFamily="2" charset="77"/>
              </a:rPr>
              <a:t>or </a:t>
            </a:r>
            <a:r>
              <a:rPr kumimoji="0" lang="en-US" sz="1300" b="1" i="0" u="none" strike="noStrike" kern="1200" cap="none" spc="0" normalizeH="0" baseline="0" noProof="0">
                <a:ln>
                  <a:noFill/>
                </a:ln>
                <a:solidFill>
                  <a:srgbClr val="000000"/>
                </a:solidFill>
                <a:effectLst/>
                <a:uLnTx/>
                <a:uFillTx/>
                <a:latin typeface="Poppins" pitchFamily="2" charset="77"/>
                <a:cs typeface="Poppins" pitchFamily="2" charset="77"/>
              </a:rPr>
              <a:t>delay adoption</a:t>
            </a:r>
            <a:r>
              <a:rPr kumimoji="0" lang="en-US" sz="1300" b="0" i="0" u="none" strike="noStrike" kern="1200" cap="none" spc="0" normalizeH="0" baseline="0" noProof="0">
                <a:ln>
                  <a:noFill/>
                </a:ln>
                <a:solidFill>
                  <a:srgbClr val="000000"/>
                </a:solidFill>
                <a:effectLst/>
                <a:uLnTx/>
                <a:uFillTx/>
                <a:latin typeface="Poppins" pitchFamily="2" charset="77"/>
                <a:cs typeface="Poppins" pitchFamily="2" charset="77"/>
              </a:rPr>
              <a:t> in key markets but are not blockers to overall success</a:t>
            </a:r>
          </a:p>
        </p:txBody>
      </p:sp>
      <p:sp>
        <p:nvSpPr>
          <p:cNvPr id="44" name="TextBox 43">
            <a:extLst>
              <a:ext uri="{FF2B5EF4-FFF2-40B4-BE49-F238E27FC236}">
                <a16:creationId xmlns:a16="http://schemas.microsoft.com/office/drawing/2014/main" id="{77B481E1-F6E0-2AB6-DD92-2204C1EE5AA0}"/>
              </a:ext>
            </a:extLst>
          </p:cNvPr>
          <p:cNvSpPr txBox="1"/>
          <p:nvPr/>
        </p:nvSpPr>
        <p:spPr>
          <a:xfrm>
            <a:off x="5124533" y="1422683"/>
            <a:ext cx="4221068" cy="3385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ea typeface="+mn-ea"/>
                <a:cs typeface="+mn-cs"/>
              </a:rPr>
              <a:t>Evidence Categories</a:t>
            </a:r>
          </a:p>
        </p:txBody>
      </p:sp>
      <p:sp>
        <p:nvSpPr>
          <p:cNvPr id="17" name="Footer Placeholder 2">
            <a:extLst>
              <a:ext uri="{FF2B5EF4-FFF2-40B4-BE49-F238E27FC236}">
                <a16:creationId xmlns:a16="http://schemas.microsoft.com/office/drawing/2014/main" id="{812A2DAA-EBE3-CD1A-5738-FFF1DC6F2602}"/>
              </a:ext>
            </a:extLst>
          </p:cNvPr>
          <p:cNvSpPr txBox="1">
            <a:spLocks/>
          </p:cNvSpPr>
          <p:nvPr/>
        </p:nvSpPr>
        <p:spPr>
          <a:xfrm>
            <a:off x="360000" y="6404400"/>
            <a:ext cx="8388000"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solidFill>
                  <a:srgbClr val="595959"/>
                </a:solidFill>
                <a:latin typeface="Poppins" pitchFamily="2" charset="77"/>
                <a:cs typeface="Poppins" pitchFamily="2" charset="77"/>
              </a:rPr>
              <a:t>*Additional data maturity, landscape evolution, product development decisions, or leadership direction before proceeding. </a:t>
            </a:r>
            <a:r>
              <a:rPr lang="en-US">
                <a:solidFill>
                  <a:srgbClr val="595959"/>
                </a:solidFill>
              </a:rPr>
              <a:t>Abbreviations: LOE: Loss of Exclusivity.</a:t>
            </a:r>
          </a:p>
          <a:p>
            <a:endParaRPr lang="en-US">
              <a:solidFill>
                <a:schemeClr val="tx1"/>
              </a:solidFill>
            </a:endParaRPr>
          </a:p>
        </p:txBody>
      </p:sp>
      <p:sp>
        <p:nvSpPr>
          <p:cNvPr id="69" name="Title 68">
            <a:extLst>
              <a:ext uri="{FF2B5EF4-FFF2-40B4-BE49-F238E27FC236}">
                <a16:creationId xmlns:a16="http://schemas.microsoft.com/office/drawing/2014/main" id="{538EB847-177B-F16B-E80C-96F218ADCE37}"/>
              </a:ext>
            </a:extLst>
          </p:cNvPr>
          <p:cNvSpPr>
            <a:spLocks noGrp="1"/>
          </p:cNvSpPr>
          <p:nvPr>
            <p:ph type="title"/>
          </p:nvPr>
        </p:nvSpPr>
        <p:spPr>
          <a:xfrm>
            <a:off x="358337" y="338328"/>
            <a:ext cx="11470125" cy="738664"/>
          </a:xfrm>
        </p:spPr>
        <p:txBody>
          <a:bodyPr vert="horz" rIns="0">
            <a:spAutoFit/>
          </a:bodyPr>
          <a:lstStyle/>
          <a:p>
            <a:r>
              <a:rPr lang="en-US" sz="2400">
                <a:ea typeface="Verdana"/>
              </a:rPr>
              <a:t>Per </a:t>
            </a:r>
            <a:r>
              <a:rPr lang="en-US" sz="2400" err="1">
                <a:ea typeface="Verdana"/>
              </a:rPr>
              <a:t>BeOne’s</a:t>
            </a:r>
            <a:r>
              <a:rPr lang="en-US" sz="2400">
                <a:ea typeface="Verdana"/>
              </a:rPr>
              <a:t> IEP framework, evidence gaps were categorized by the following criteria:</a:t>
            </a:r>
            <a:endParaRPr lang="en-US" sz="2400"/>
          </a:p>
        </p:txBody>
      </p:sp>
      <p:grpSp>
        <p:nvGrpSpPr>
          <p:cNvPr id="2" name="Group 1">
            <a:extLst>
              <a:ext uri="{FF2B5EF4-FFF2-40B4-BE49-F238E27FC236}">
                <a16:creationId xmlns:a16="http://schemas.microsoft.com/office/drawing/2014/main" id="{22D9B03A-916E-0B91-3AC1-EB8A8DA28097}"/>
              </a:ext>
            </a:extLst>
          </p:cNvPr>
          <p:cNvGrpSpPr/>
          <p:nvPr/>
        </p:nvGrpSpPr>
        <p:grpSpPr>
          <a:xfrm>
            <a:off x="362743" y="10216"/>
            <a:ext cx="10042505" cy="252000"/>
            <a:chOff x="362743" y="10216"/>
            <a:chExt cx="10042505" cy="252000"/>
          </a:xfrm>
        </p:grpSpPr>
        <p:sp>
          <p:nvSpPr>
            <p:cNvPr id="3" name="Pentagon 47">
              <a:extLst>
                <a:ext uri="{FF2B5EF4-FFF2-40B4-BE49-F238E27FC236}">
                  <a16:creationId xmlns:a16="http://schemas.microsoft.com/office/drawing/2014/main" id="{0C12DD15-9780-0F72-723A-ADF2A71A652A}"/>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4" name="Chevron 48">
              <a:extLst>
                <a:ext uri="{FF2B5EF4-FFF2-40B4-BE49-F238E27FC236}">
                  <a16:creationId xmlns:a16="http://schemas.microsoft.com/office/drawing/2014/main" id="{13390C7F-B714-92BC-8BD6-B73F94CFBD11}"/>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5" name="Chevron 52">
              <a:extLst>
                <a:ext uri="{FF2B5EF4-FFF2-40B4-BE49-F238E27FC236}">
                  <a16:creationId xmlns:a16="http://schemas.microsoft.com/office/drawing/2014/main" id="{EF2CEBDC-F4E3-D780-3601-93F17B8B2276}"/>
                </a:ext>
              </a:extLst>
            </p:cNvPr>
            <p:cNvSpPr/>
            <p:nvPr/>
          </p:nvSpPr>
          <p:spPr>
            <a:xfrm>
              <a:off x="3701639"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7" name="Chevron 54">
              <a:extLst>
                <a:ext uri="{FF2B5EF4-FFF2-40B4-BE49-F238E27FC236}">
                  <a16:creationId xmlns:a16="http://schemas.microsoft.com/office/drawing/2014/main" id="{956A4B80-8829-A6D3-6397-6EA838491E07}"/>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8" name="Chevron 48">
              <a:extLst>
                <a:ext uri="{FF2B5EF4-FFF2-40B4-BE49-F238E27FC236}">
                  <a16:creationId xmlns:a16="http://schemas.microsoft.com/office/drawing/2014/main" id="{C6F38E82-997A-5618-98CB-CD886FF27B58}"/>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0" name="Chevron 48">
              <a:extLst>
                <a:ext uri="{FF2B5EF4-FFF2-40B4-BE49-F238E27FC236}">
                  <a16:creationId xmlns:a16="http://schemas.microsoft.com/office/drawing/2014/main" id="{ABA083C1-3CDB-941A-F45F-B0503BA6FFD8}"/>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2727136021"/>
      </p:ext>
    </p:extLst>
  </p:cSld>
  <p:clrMapOvr>
    <a:masterClrMapping/>
  </p:clrMapOvr>
  <p:extLst>
    <p:ext uri="{6950BFC3-D8DA-4A85-94F7-54DA5524770B}">
      <p188:commentRel xmlns:p188="http://schemas.microsoft.com/office/powerpoint/2018/8/main" r:id="rId4"/>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FE65B-23BF-DE20-4681-CC70A940529F}"/>
            </a:ext>
          </a:extLst>
        </p:cNvPr>
        <p:cNvGrpSpPr/>
        <p:nvPr/>
      </p:nvGrpSpPr>
      <p:grpSpPr>
        <a:xfrm>
          <a:off x="0" y="0"/>
          <a:ext cx="0" cy="0"/>
          <a:chOff x="0" y="0"/>
          <a:chExt cx="0" cy="0"/>
        </a:xfrm>
      </p:grpSpPr>
      <p:graphicFrame>
        <p:nvGraphicFramePr>
          <p:cNvPr id="189" name="think-cell data - do not delete" hidden="1">
            <a:extLst>
              <a:ext uri="{FF2B5EF4-FFF2-40B4-BE49-F238E27FC236}">
                <a16:creationId xmlns:a16="http://schemas.microsoft.com/office/drawing/2014/main" id="{A7B03F0A-3B74-208E-FE5A-8C0B728ADDBC}"/>
              </a:ext>
            </a:extLst>
          </p:cNvPr>
          <p:cNvGraphicFramePr>
            <a:graphicFrameLocks/>
          </p:cNvGraphicFramePr>
          <p:nvPr>
            <p:custDataLst>
              <p:tags r:id="rId1"/>
            </p:custDataLst>
            <p:extLst>
              <p:ext uri="{D42A27DB-BD31-4B8C-83A1-F6EECF244321}">
                <p14:modId xmlns:p14="http://schemas.microsoft.com/office/powerpoint/2010/main" val="25168195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60" imgH="360" progId="TCLayout.ActiveDocument.1">
                  <p:embed/>
                </p:oleObj>
              </mc:Choice>
              <mc:Fallback>
                <p:oleObj name="think-cell Slide" r:id="rId5" imgW="360" imgH="360" progId="TCLayout.ActiveDocument.1">
                  <p:embed/>
                  <p:pic>
                    <p:nvPicPr>
                      <p:cNvPr id="189" name="think-cell data - do not delete" hidden="1">
                        <a:extLst>
                          <a:ext uri="{FF2B5EF4-FFF2-40B4-BE49-F238E27FC236}">
                            <a16:creationId xmlns:a16="http://schemas.microsoft.com/office/drawing/2014/main" id="{A7B03F0A-3B74-208E-FE5A-8C0B728ADDB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7987205-64CB-81CB-22BC-65D1AD130FC2}"/>
              </a:ext>
            </a:extLst>
          </p:cNvPr>
          <p:cNvSpPr>
            <a:spLocks noGrp="1"/>
          </p:cNvSpPr>
          <p:nvPr>
            <p:ph type="title"/>
          </p:nvPr>
        </p:nvSpPr>
        <p:spPr>
          <a:xfrm>
            <a:off x="358337" y="338328"/>
            <a:ext cx="11470125" cy="369332"/>
          </a:xfrm>
        </p:spPr>
        <p:txBody>
          <a:bodyPr vert="horz" rIns="0">
            <a:spAutoFit/>
          </a:bodyPr>
          <a:lstStyle/>
          <a:p>
            <a:r>
              <a:rPr lang="en-US" sz="2400"/>
              <a:t>Overview of Prioritized Evidence Gaps (SI1: Differentiation)</a:t>
            </a:r>
          </a:p>
        </p:txBody>
      </p:sp>
      <p:sp>
        <p:nvSpPr>
          <p:cNvPr id="132" name="Text Placeholder 4">
            <a:extLst>
              <a:ext uri="{FF2B5EF4-FFF2-40B4-BE49-F238E27FC236}">
                <a16:creationId xmlns:a16="http://schemas.microsoft.com/office/drawing/2014/main" id="{50D40936-FFE9-0F6F-A6C9-199A2B6F5B52}"/>
              </a:ext>
            </a:extLst>
          </p:cNvPr>
          <p:cNvSpPr txBox="1">
            <a:spLocks/>
          </p:cNvSpPr>
          <p:nvPr/>
        </p:nvSpPr>
        <p:spPr>
          <a:xfrm>
            <a:off x="358337" y="1305438"/>
            <a:ext cx="11488407" cy="432000"/>
          </a:xfrm>
          <a:prstGeom prst="roundRect">
            <a:avLst>
              <a:gd name="adj" fmla="val 10438"/>
            </a:avLst>
          </a:prstGeom>
          <a:solidFill>
            <a:schemeClr val="accent5"/>
          </a:solidFill>
        </p:spPr>
        <p:txBody>
          <a:bodyPr lIns="468000" tIns="90000" rIns="91440" bIns="91440" anchor="ctr">
            <a:noAutofit/>
          </a:bodyPr>
          <a:lstStyle>
            <a:lvl1pPr marL="0" indent="0" algn="l" defTabSz="914400" rtl="0" eaLnBrk="1" latinLnBrk="0" hangingPunct="1">
              <a:lnSpc>
                <a:spcPct val="100000"/>
              </a:lnSpc>
              <a:spcBef>
                <a:spcPts val="1000"/>
              </a:spcBef>
              <a:buClr>
                <a:schemeClr val="accent1"/>
              </a:buClr>
              <a:buFontTx/>
              <a:buNone/>
              <a:defRPr sz="1200" b="0" i="0" kern="1200">
                <a:solidFill>
                  <a:schemeClr val="bg1"/>
                </a:solidFill>
                <a:latin typeface="+mj-lt"/>
                <a:ea typeface="Verdana" panose="020B0604030504040204" pitchFamily="34" charset="0"/>
                <a:cs typeface="Verdana" panose="020B0604030504040204" pitchFamily="34" charset="0"/>
              </a:defRPr>
            </a:lvl1pPr>
            <a:lvl2pPr marL="0" indent="0" algn="l" defTabSz="914400" rtl="0" eaLnBrk="1" latinLnBrk="0" hangingPunct="1">
              <a:lnSpc>
                <a:spcPct val="100000"/>
              </a:lnSpc>
              <a:spcBef>
                <a:spcPts val="1200"/>
              </a:spcBef>
              <a:buClr>
                <a:schemeClr val="accent1"/>
              </a:buClr>
              <a:buFontTx/>
              <a:buNone/>
              <a:tabLst/>
              <a:defRPr sz="1600" b="0" i="0" kern="1200">
                <a:solidFill>
                  <a:schemeClr val="bg1"/>
                </a:solidFill>
                <a:latin typeface="+mj-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7"/>
                    </a:ext>
                  </a:extLst>
                </a:blip>
              </a:buBlip>
              <a:tabLst/>
              <a:defRPr sz="1600" b="0" i="0" kern="1200">
                <a:solidFill>
                  <a:schemeClr val="bg1"/>
                </a:solidFill>
                <a:latin typeface="+mj-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1600" b="0" i="0" kern="1200">
                <a:solidFill>
                  <a:schemeClr val="bg1"/>
                </a:solidFill>
                <a:latin typeface="+mj-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1600" b="0" i="0" kern="1200">
                <a:solidFill>
                  <a:schemeClr val="bg1"/>
                </a:solidFill>
                <a:latin typeface="+mj-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
                <a:srgbClr val="D62B1E"/>
              </a:buClr>
              <a:buSzTx/>
              <a:buFontTx/>
              <a:buNone/>
              <a:tabLst/>
              <a:defRPr/>
            </a:pPr>
            <a:r>
              <a:rPr kumimoji="0" lang="en-US" sz="1600" i="0" u="none" strike="noStrike" kern="1200" cap="none" spc="0" normalizeH="0" baseline="0" noProof="0">
                <a:ln>
                  <a:noFill/>
                </a:ln>
                <a:solidFill>
                  <a:srgbClr val="FFFFFF"/>
                </a:solidFill>
                <a:effectLst/>
                <a:uLnTx/>
                <a:uFillTx/>
                <a:latin typeface="+mn-lt"/>
                <a:ea typeface="+mn-lt"/>
                <a:cs typeface="+mn-lt"/>
                <a:sym typeface="+mn-lt"/>
              </a:rPr>
              <a:t>Drive differentiation of BGB-58067 as a brain-penetrant, highly selective and potent PRMT5i</a:t>
            </a:r>
          </a:p>
        </p:txBody>
      </p:sp>
      <p:grpSp>
        <p:nvGrpSpPr>
          <p:cNvPr id="133" name="Group 132">
            <a:extLst>
              <a:ext uri="{FF2B5EF4-FFF2-40B4-BE49-F238E27FC236}">
                <a16:creationId xmlns:a16="http://schemas.microsoft.com/office/drawing/2014/main" id="{6D0C46FE-37F0-1496-4E53-D062AD496560}"/>
              </a:ext>
            </a:extLst>
          </p:cNvPr>
          <p:cNvGrpSpPr/>
          <p:nvPr/>
        </p:nvGrpSpPr>
        <p:grpSpPr>
          <a:xfrm>
            <a:off x="452314" y="1311915"/>
            <a:ext cx="309693" cy="266519"/>
            <a:chOff x="3566911" y="3888478"/>
            <a:chExt cx="498763" cy="423193"/>
          </a:xfrm>
        </p:grpSpPr>
        <p:sp>
          <p:nvSpPr>
            <p:cNvPr id="134" name="Round Same Side Corner Rectangle 46">
              <a:extLst>
                <a:ext uri="{FF2B5EF4-FFF2-40B4-BE49-F238E27FC236}">
                  <a16:creationId xmlns:a16="http://schemas.microsoft.com/office/drawing/2014/main" id="{19EBCCFE-30B8-5228-DCE1-0505162051D8}"/>
                </a:ext>
              </a:extLst>
            </p:cNvPr>
            <p:cNvSpPr/>
            <p:nvPr/>
          </p:nvSpPr>
          <p:spPr>
            <a:xfrm rot="10800000">
              <a:off x="3566911" y="3888478"/>
              <a:ext cx="498763" cy="423193"/>
            </a:xfrm>
            <a:prstGeom prst="round2Same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135" name="Text Placeholder 32">
              <a:extLst>
                <a:ext uri="{FF2B5EF4-FFF2-40B4-BE49-F238E27FC236}">
                  <a16:creationId xmlns:a16="http://schemas.microsoft.com/office/drawing/2014/main" id="{78AEB25A-00C7-78D3-E202-AAF5FC157A88}"/>
                </a:ext>
              </a:extLst>
            </p:cNvPr>
            <p:cNvSpPr txBox="1">
              <a:spLocks/>
            </p:cNvSpPr>
            <p:nvPr/>
          </p:nvSpPr>
          <p:spPr>
            <a:xfrm>
              <a:off x="3642486" y="3975121"/>
              <a:ext cx="347623" cy="303214"/>
            </a:xfrm>
            <a:prstGeom prst="rect">
              <a:avLst/>
            </a:prstGeom>
          </p:spPr>
          <p:txBody>
            <a:bodyPr anchor="ctr"/>
            <a:lst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a:extLst>
                      <a:ext uri="{96DAC541-7B7A-43D3-8B79-37D633B846F1}">
                        <asvg:svgBlip xmlns:asvg="http://schemas.microsoft.com/office/drawing/2016/SVG/main" r:embed="rId8"/>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7"/>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
                  <a:srgbClr val="D62B1E"/>
                </a:buClr>
                <a:buSzTx/>
                <a:buFontTx/>
                <a:buNone/>
                <a:tabLst/>
                <a:defRPr/>
              </a:pPr>
              <a:r>
                <a:rPr kumimoji="0" lang="en-US" sz="1200" b="1" i="0" u="none" strike="noStrike" kern="1200" cap="none" spc="0" normalizeH="0" baseline="0" noProof="0">
                  <a:ln>
                    <a:noFill/>
                  </a:ln>
                  <a:solidFill>
                    <a:srgbClr val="FFFFFF"/>
                  </a:solidFill>
                  <a:effectLst/>
                  <a:uLnTx/>
                  <a:uFillTx/>
                  <a:latin typeface="Poppins"/>
                  <a:ea typeface="Verdana" panose="020B0604030504040204" pitchFamily="34" charset="0"/>
                </a:rPr>
                <a:t>1</a:t>
              </a:r>
            </a:p>
          </p:txBody>
        </p:sp>
      </p:grpSp>
      <p:sp>
        <p:nvSpPr>
          <p:cNvPr id="137" name="Rounded Rectangle 23">
            <a:extLst>
              <a:ext uri="{FF2B5EF4-FFF2-40B4-BE49-F238E27FC236}">
                <a16:creationId xmlns:a16="http://schemas.microsoft.com/office/drawing/2014/main" id="{73A376A4-892E-0758-F36D-5A7ECA3E2F7F}"/>
              </a:ext>
            </a:extLst>
          </p:cNvPr>
          <p:cNvSpPr/>
          <p:nvPr/>
        </p:nvSpPr>
        <p:spPr>
          <a:xfrm>
            <a:off x="342549" y="1803245"/>
            <a:ext cx="3708000" cy="576000"/>
          </a:xfrm>
          <a:prstGeom prst="roundRect">
            <a:avLst>
              <a:gd name="adj" fmla="val 6118"/>
            </a:avLst>
          </a:prstGeom>
          <a:solidFill>
            <a:srgbClr val="CCE6E6"/>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accent4"/>
                </a:solidFill>
                <a:cs typeface="Poppins" pitchFamily="2" charset="77"/>
              </a:rPr>
              <a:t>NSCLC_CE_01</a:t>
            </a:r>
            <a:r>
              <a:rPr lang="en-US" sz="1000">
                <a:solidFill>
                  <a:schemeClr val="accent4"/>
                </a:solidFill>
                <a:cs typeface="Poppins" pitchFamily="2" charset="77"/>
              </a:rPr>
              <a:t>: </a:t>
            </a:r>
            <a:r>
              <a:rPr lang="en-US" sz="1000" i="1">
                <a:solidFill>
                  <a:schemeClr val="accent4"/>
                </a:solidFill>
              </a:rPr>
              <a:t>(1L and 2L+) </a:t>
            </a:r>
            <a:r>
              <a:rPr lang="en-US" sz="1000">
                <a:solidFill>
                  <a:schemeClr val="accent4"/>
                </a:solidFill>
              </a:rPr>
              <a:t>BGB-58067's long-term efficacy, quality-adjusted survival outcomes, safety and tolerability profile patterns</a:t>
            </a:r>
          </a:p>
        </p:txBody>
      </p:sp>
      <p:sp>
        <p:nvSpPr>
          <p:cNvPr id="141" name="Rounded Rectangle 23">
            <a:extLst>
              <a:ext uri="{FF2B5EF4-FFF2-40B4-BE49-F238E27FC236}">
                <a16:creationId xmlns:a16="http://schemas.microsoft.com/office/drawing/2014/main" id="{E353FF96-1113-21F8-D11A-998F5B4F87C3}"/>
              </a:ext>
            </a:extLst>
          </p:cNvPr>
          <p:cNvSpPr/>
          <p:nvPr/>
        </p:nvSpPr>
        <p:spPr>
          <a:xfrm>
            <a:off x="4230263" y="1803245"/>
            <a:ext cx="3708000" cy="576000"/>
          </a:xfrm>
          <a:prstGeom prst="roundRect">
            <a:avLst>
              <a:gd name="adj" fmla="val 6118"/>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accent1"/>
                </a:solidFill>
                <a:cs typeface="Poppins" pitchFamily="2" charset="77"/>
              </a:rPr>
              <a:t>NSCLC_HI_04</a:t>
            </a:r>
            <a:r>
              <a:rPr lang="en-US" sz="1000">
                <a:solidFill>
                  <a:schemeClr val="accent1"/>
                </a:solidFill>
                <a:cs typeface="Poppins" pitchFamily="2" charset="77"/>
              </a:rPr>
              <a:t>: </a:t>
            </a:r>
            <a:r>
              <a:rPr lang="en-US" sz="1000" i="1">
                <a:solidFill>
                  <a:schemeClr val="accent1"/>
                </a:solidFill>
              </a:rPr>
              <a:t>(1L and 2L+)</a:t>
            </a:r>
            <a:r>
              <a:rPr lang="en-US" sz="1000">
                <a:solidFill>
                  <a:schemeClr val="accent1"/>
                </a:solidFill>
              </a:rPr>
              <a:t> BGB-58067's clinical efficacy and safety across prespecified subgroups (i.e., ethnicity, PD-L1, histology, geographies, </a:t>
            </a:r>
            <a:r>
              <a:rPr lang="en-US" sz="1000" err="1">
                <a:solidFill>
                  <a:schemeClr val="accent1"/>
                </a:solidFill>
              </a:rPr>
              <a:t>LoTs</a:t>
            </a:r>
            <a:r>
              <a:rPr lang="en-US" sz="1000">
                <a:solidFill>
                  <a:schemeClr val="accent1"/>
                </a:solidFill>
              </a:rPr>
              <a:t>)</a:t>
            </a:r>
          </a:p>
        </p:txBody>
      </p:sp>
      <p:sp>
        <p:nvSpPr>
          <p:cNvPr id="145" name="Rounded Rectangle 23">
            <a:extLst>
              <a:ext uri="{FF2B5EF4-FFF2-40B4-BE49-F238E27FC236}">
                <a16:creationId xmlns:a16="http://schemas.microsoft.com/office/drawing/2014/main" id="{959C5E86-1895-DED2-F3D3-77E5C43C70F1}"/>
              </a:ext>
            </a:extLst>
          </p:cNvPr>
          <p:cNvSpPr/>
          <p:nvPr/>
        </p:nvSpPr>
        <p:spPr>
          <a:xfrm>
            <a:off x="342549" y="2428914"/>
            <a:ext cx="3708000" cy="576072"/>
          </a:xfrm>
          <a:prstGeom prst="roundRect">
            <a:avLst>
              <a:gd name="adj" fmla="val 6118"/>
            </a:avLst>
          </a:prstGeom>
          <a:solidFill>
            <a:srgbClr val="CCE6E6"/>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accent4"/>
                </a:solidFill>
                <a:cs typeface="Poppins" pitchFamily="2" charset="77"/>
              </a:rPr>
              <a:t>NSCLC_CE_02</a:t>
            </a:r>
            <a:r>
              <a:rPr lang="en-US" sz="1000">
                <a:solidFill>
                  <a:schemeClr val="accent4"/>
                </a:solidFill>
                <a:cs typeface="Poppins" pitchFamily="2" charset="77"/>
              </a:rPr>
              <a:t>: </a:t>
            </a:r>
            <a:r>
              <a:rPr lang="en-US" sz="1000">
                <a:solidFill>
                  <a:schemeClr val="accent4"/>
                </a:solidFill>
              </a:rPr>
              <a:t>BGB-58067 efficacy and safety in MTAP-del tumor types beyond those investigated in the CDP</a:t>
            </a:r>
          </a:p>
        </p:txBody>
      </p:sp>
      <p:sp>
        <p:nvSpPr>
          <p:cNvPr id="149" name="Rounded Rectangle 23">
            <a:extLst>
              <a:ext uri="{FF2B5EF4-FFF2-40B4-BE49-F238E27FC236}">
                <a16:creationId xmlns:a16="http://schemas.microsoft.com/office/drawing/2014/main" id="{E6DA0EB1-93A4-4A3F-0031-23A31EA3EDB5}"/>
              </a:ext>
            </a:extLst>
          </p:cNvPr>
          <p:cNvSpPr/>
          <p:nvPr/>
        </p:nvSpPr>
        <p:spPr>
          <a:xfrm>
            <a:off x="4230263" y="3054655"/>
            <a:ext cx="3708000" cy="576072"/>
          </a:xfrm>
          <a:prstGeom prst="roundRect">
            <a:avLst>
              <a:gd name="adj" fmla="val 6118"/>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accent1"/>
                </a:solidFill>
                <a:cs typeface="Poppins" pitchFamily="2" charset="77"/>
              </a:rPr>
              <a:t>NSCLC_HI_06</a:t>
            </a:r>
            <a:r>
              <a:rPr lang="en-US" sz="1000">
                <a:solidFill>
                  <a:schemeClr val="accent1"/>
                </a:solidFill>
                <a:cs typeface="Poppins" pitchFamily="2" charset="77"/>
              </a:rPr>
              <a:t>: </a:t>
            </a:r>
            <a:r>
              <a:rPr lang="en-US" sz="1000" i="1">
                <a:solidFill>
                  <a:schemeClr val="accent1"/>
                </a:solidFill>
              </a:rPr>
              <a:t>(1L and 2L+)</a:t>
            </a:r>
            <a:r>
              <a:rPr lang="en-US" sz="1000">
                <a:solidFill>
                  <a:schemeClr val="accent1"/>
                </a:solidFill>
              </a:rPr>
              <a:t> BGB-58067's blood-brain barrier penetration profile and CSF pharmacokinetics vs. existing PRMT5i</a:t>
            </a:r>
          </a:p>
        </p:txBody>
      </p:sp>
      <p:sp>
        <p:nvSpPr>
          <p:cNvPr id="142" name="Rounded Rectangle 23">
            <a:extLst>
              <a:ext uri="{FF2B5EF4-FFF2-40B4-BE49-F238E27FC236}">
                <a16:creationId xmlns:a16="http://schemas.microsoft.com/office/drawing/2014/main" id="{BDF17EB4-20B5-9FCE-BF48-B6FC33A6C9D7}"/>
              </a:ext>
            </a:extLst>
          </p:cNvPr>
          <p:cNvSpPr/>
          <p:nvPr/>
        </p:nvSpPr>
        <p:spPr>
          <a:xfrm>
            <a:off x="342549" y="3054655"/>
            <a:ext cx="3708000" cy="576072"/>
          </a:xfrm>
          <a:prstGeom prst="roundRect">
            <a:avLst>
              <a:gd name="adj" fmla="val 6118"/>
            </a:avLst>
          </a:prstGeom>
          <a:solidFill>
            <a:srgbClr val="CCE6E6"/>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accent4"/>
                </a:solidFill>
                <a:cs typeface="Poppins" pitchFamily="2" charset="77"/>
              </a:rPr>
              <a:t>NSCLC_CE_03</a:t>
            </a:r>
            <a:r>
              <a:rPr lang="en-US" sz="1000">
                <a:solidFill>
                  <a:schemeClr val="accent4"/>
                </a:solidFill>
                <a:cs typeface="Poppins" pitchFamily="2" charset="77"/>
              </a:rPr>
              <a:t>: </a:t>
            </a:r>
            <a:r>
              <a:rPr lang="en-US" sz="1000" i="1">
                <a:solidFill>
                  <a:schemeClr val="accent4"/>
                </a:solidFill>
              </a:rPr>
              <a:t>(1L)</a:t>
            </a:r>
            <a:r>
              <a:rPr lang="en-US" sz="1000">
                <a:solidFill>
                  <a:schemeClr val="accent4"/>
                </a:solidFill>
              </a:rPr>
              <a:t> COE of BGB-58067 beyond PD-1</a:t>
            </a:r>
            <a:br>
              <a:rPr lang="en-US" sz="1000">
                <a:solidFill>
                  <a:schemeClr val="accent4"/>
                </a:solidFill>
              </a:rPr>
            </a:br>
            <a:r>
              <a:rPr lang="en-US" sz="1000">
                <a:solidFill>
                  <a:schemeClr val="accent4"/>
                </a:solidFill>
              </a:rPr>
              <a:t>backbone therapy in 1L treatment</a:t>
            </a:r>
          </a:p>
        </p:txBody>
      </p:sp>
      <p:sp>
        <p:nvSpPr>
          <p:cNvPr id="138" name="Rounded Rectangle 23">
            <a:extLst>
              <a:ext uri="{FF2B5EF4-FFF2-40B4-BE49-F238E27FC236}">
                <a16:creationId xmlns:a16="http://schemas.microsoft.com/office/drawing/2014/main" id="{0223104B-2A4A-1EF3-0BB2-2D2A82192681}"/>
              </a:ext>
            </a:extLst>
          </p:cNvPr>
          <p:cNvSpPr/>
          <p:nvPr/>
        </p:nvSpPr>
        <p:spPr>
          <a:xfrm>
            <a:off x="342549" y="3680396"/>
            <a:ext cx="3708000" cy="576072"/>
          </a:xfrm>
          <a:prstGeom prst="roundRect">
            <a:avLst>
              <a:gd name="adj" fmla="val 6118"/>
            </a:avLst>
          </a:prstGeom>
          <a:solidFill>
            <a:srgbClr val="CCE6E6"/>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accent4"/>
                </a:solidFill>
                <a:cs typeface="Poppins" pitchFamily="2" charset="77"/>
              </a:rPr>
              <a:t>NSCLC_CE_04</a:t>
            </a:r>
            <a:r>
              <a:rPr lang="en-US" sz="1000">
                <a:solidFill>
                  <a:schemeClr val="accent4"/>
                </a:solidFill>
                <a:cs typeface="Poppins" pitchFamily="2" charset="77"/>
              </a:rPr>
              <a:t>: </a:t>
            </a:r>
            <a:r>
              <a:rPr lang="en-US" sz="1000">
                <a:solidFill>
                  <a:schemeClr val="accent4"/>
                </a:solidFill>
              </a:rPr>
              <a:t>BGB-58067's impact on CNS metastases relative to control arm and competitor PRM5i in MTAP-deleted NSCLC (1L and 2L+) or other tumors</a:t>
            </a:r>
          </a:p>
        </p:txBody>
      </p:sp>
      <p:sp>
        <p:nvSpPr>
          <p:cNvPr id="154" name="Rounded Rectangle 23">
            <a:extLst>
              <a:ext uri="{FF2B5EF4-FFF2-40B4-BE49-F238E27FC236}">
                <a16:creationId xmlns:a16="http://schemas.microsoft.com/office/drawing/2014/main" id="{4DADB58E-9158-8E8C-CDB6-6D9E1155BB26}"/>
              </a:ext>
            </a:extLst>
          </p:cNvPr>
          <p:cNvSpPr/>
          <p:nvPr/>
        </p:nvSpPr>
        <p:spPr>
          <a:xfrm>
            <a:off x="342549" y="4306137"/>
            <a:ext cx="3708000" cy="576072"/>
          </a:xfrm>
          <a:prstGeom prst="roundRect">
            <a:avLst>
              <a:gd name="adj" fmla="val 6118"/>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accent1"/>
                </a:solidFill>
                <a:cs typeface="Poppins" pitchFamily="2" charset="77"/>
              </a:rPr>
              <a:t>NSCLC_HI_01</a:t>
            </a:r>
            <a:r>
              <a:rPr lang="en-US" sz="1000">
                <a:solidFill>
                  <a:schemeClr val="accent1"/>
                </a:solidFill>
                <a:cs typeface="Poppins" pitchFamily="2" charset="77"/>
              </a:rPr>
              <a:t>: </a:t>
            </a:r>
            <a:r>
              <a:rPr lang="en-US" sz="1000" i="1">
                <a:solidFill>
                  <a:schemeClr val="accent1"/>
                </a:solidFill>
              </a:rPr>
              <a:t>(1L and 2L+)</a:t>
            </a:r>
            <a:r>
              <a:rPr lang="en-US" sz="1000">
                <a:solidFill>
                  <a:schemeClr val="accent1"/>
                </a:solidFill>
              </a:rPr>
              <a:t> Characterization of the natural history, prognosis, and treatment outcomes</a:t>
            </a:r>
            <a:br>
              <a:rPr lang="en-US" sz="1000">
                <a:solidFill>
                  <a:schemeClr val="accent1"/>
                </a:solidFill>
              </a:rPr>
            </a:br>
            <a:r>
              <a:rPr lang="en-US" sz="1000">
                <a:solidFill>
                  <a:schemeClr val="accent1"/>
                </a:solidFill>
              </a:rPr>
              <a:t>of MTAP-deleted NSCLC across </a:t>
            </a:r>
            <a:r>
              <a:rPr lang="en-US" sz="1000" err="1">
                <a:solidFill>
                  <a:schemeClr val="accent1"/>
                </a:solidFill>
              </a:rPr>
              <a:t>LoTs</a:t>
            </a:r>
            <a:endParaRPr lang="en-US" sz="1000">
              <a:solidFill>
                <a:schemeClr val="accent1"/>
              </a:solidFill>
            </a:endParaRPr>
          </a:p>
        </p:txBody>
      </p:sp>
      <p:sp>
        <p:nvSpPr>
          <p:cNvPr id="147" name="Rounded Rectangle 23">
            <a:extLst>
              <a:ext uri="{FF2B5EF4-FFF2-40B4-BE49-F238E27FC236}">
                <a16:creationId xmlns:a16="http://schemas.microsoft.com/office/drawing/2014/main" id="{9A9530B5-55B7-7486-BE78-4EE5991B57FC}"/>
              </a:ext>
            </a:extLst>
          </p:cNvPr>
          <p:cNvSpPr/>
          <p:nvPr/>
        </p:nvSpPr>
        <p:spPr>
          <a:xfrm>
            <a:off x="8125665" y="1803245"/>
            <a:ext cx="3708000" cy="576072"/>
          </a:xfrm>
          <a:prstGeom prst="roundRect">
            <a:avLst>
              <a:gd name="adj" fmla="val 6118"/>
            </a:avLst>
          </a:prstGeom>
          <a:solidFill>
            <a:schemeClr val="bg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defTabSz="914400"/>
            <a:r>
              <a:rPr lang="en-US" sz="1000" b="1">
                <a:solidFill>
                  <a:schemeClr val="bg1">
                    <a:lumMod val="50000"/>
                  </a:schemeClr>
                </a:solidFill>
                <a:cs typeface="Poppins" pitchFamily="2" charset="77"/>
              </a:rPr>
              <a:t>NSCLC_GA_03</a:t>
            </a:r>
            <a:r>
              <a:rPr lang="en-US" sz="1000">
                <a:solidFill>
                  <a:schemeClr val="bg1">
                    <a:lumMod val="50000"/>
                  </a:schemeClr>
                </a:solidFill>
                <a:cs typeface="Poppins" pitchFamily="2" charset="77"/>
              </a:rPr>
              <a:t>: </a:t>
            </a:r>
            <a:r>
              <a:rPr lang="en-US" sz="1000" i="1">
                <a:solidFill>
                  <a:srgbClr val="757070"/>
                </a:solidFill>
                <a:cs typeface="Poppins" pitchFamily="2" charset="77"/>
              </a:rPr>
              <a:t>(1L and 2L+) </a:t>
            </a:r>
            <a:r>
              <a:rPr lang="en-US" sz="1000">
                <a:solidFill>
                  <a:srgbClr val="757070"/>
                </a:solidFill>
                <a:cs typeface="Poppins" pitchFamily="2" charset="77"/>
              </a:rPr>
              <a:t>Safety management and dose optimization for PRMT5i class-related toxicities</a:t>
            </a:r>
            <a:br>
              <a:rPr lang="en-US" sz="1000">
                <a:solidFill>
                  <a:srgbClr val="757070"/>
                </a:solidFill>
                <a:cs typeface="Poppins" pitchFamily="2" charset="77"/>
              </a:rPr>
            </a:br>
            <a:r>
              <a:rPr lang="en-US" sz="1000">
                <a:solidFill>
                  <a:srgbClr val="757070"/>
                </a:solidFill>
                <a:cs typeface="Poppins" pitchFamily="2" charset="77"/>
              </a:rPr>
              <a:t>in routine clinical practice</a:t>
            </a:r>
          </a:p>
        </p:txBody>
      </p:sp>
      <p:sp>
        <p:nvSpPr>
          <p:cNvPr id="155" name="Rounded Rectangle 23">
            <a:extLst>
              <a:ext uri="{FF2B5EF4-FFF2-40B4-BE49-F238E27FC236}">
                <a16:creationId xmlns:a16="http://schemas.microsoft.com/office/drawing/2014/main" id="{2794AC6D-34A0-016A-C5BE-A3C9E2F56354}"/>
              </a:ext>
            </a:extLst>
          </p:cNvPr>
          <p:cNvSpPr/>
          <p:nvPr/>
        </p:nvSpPr>
        <p:spPr>
          <a:xfrm>
            <a:off x="342549" y="5561476"/>
            <a:ext cx="3708000" cy="576072"/>
          </a:xfrm>
          <a:prstGeom prst="roundRect">
            <a:avLst>
              <a:gd name="adj" fmla="val 6118"/>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defTabSz="914400"/>
            <a:r>
              <a:rPr lang="en-US" sz="1000" b="1">
                <a:solidFill>
                  <a:schemeClr val="accent1"/>
                </a:solidFill>
                <a:cs typeface="Poppins" pitchFamily="2" charset="77"/>
              </a:rPr>
              <a:t>NSCLC_HI_03</a:t>
            </a:r>
            <a:r>
              <a:rPr lang="en-US" sz="1000">
                <a:solidFill>
                  <a:schemeClr val="accent1"/>
                </a:solidFill>
                <a:cs typeface="Poppins" pitchFamily="2" charset="77"/>
              </a:rPr>
              <a:t>: </a:t>
            </a:r>
            <a:r>
              <a:rPr lang="en-US" sz="1000" i="1">
                <a:solidFill>
                  <a:schemeClr val="accent1"/>
                </a:solidFill>
                <a:cs typeface="Poppins" pitchFamily="2" charset="77"/>
              </a:rPr>
              <a:t>(1L) </a:t>
            </a:r>
            <a:r>
              <a:rPr lang="en-US" sz="1000">
                <a:solidFill>
                  <a:schemeClr val="accent1"/>
                </a:solidFill>
                <a:cs typeface="Poppins" pitchFamily="2" charset="77"/>
              </a:rPr>
              <a:t>BGB-58067’s efficacy and safety interaction profile when combined with SoC regimens</a:t>
            </a:r>
          </a:p>
        </p:txBody>
      </p:sp>
      <p:sp>
        <p:nvSpPr>
          <p:cNvPr id="159" name="Rounded Rectangle 23">
            <a:extLst>
              <a:ext uri="{FF2B5EF4-FFF2-40B4-BE49-F238E27FC236}">
                <a16:creationId xmlns:a16="http://schemas.microsoft.com/office/drawing/2014/main" id="{1D3C3F05-9B5F-4AAC-4993-4101611E4989}"/>
              </a:ext>
            </a:extLst>
          </p:cNvPr>
          <p:cNvSpPr/>
          <p:nvPr/>
        </p:nvSpPr>
        <p:spPr>
          <a:xfrm>
            <a:off x="8125665" y="2428914"/>
            <a:ext cx="3708000" cy="576072"/>
          </a:xfrm>
          <a:prstGeom prst="roundRect">
            <a:avLst>
              <a:gd name="adj" fmla="val 6118"/>
            </a:avLst>
          </a:prstGeom>
          <a:solidFill>
            <a:schemeClr val="bg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defTabSz="914400"/>
            <a:r>
              <a:rPr lang="en-US" sz="1000" b="1">
                <a:solidFill>
                  <a:schemeClr val="bg1">
                    <a:lumMod val="50000"/>
                  </a:schemeClr>
                </a:solidFill>
                <a:cs typeface="Poppins" pitchFamily="2" charset="77"/>
              </a:rPr>
              <a:t>NSCLC_GA_04</a:t>
            </a:r>
            <a:r>
              <a:rPr lang="en-US" sz="1000">
                <a:solidFill>
                  <a:schemeClr val="bg1">
                    <a:lumMod val="50000"/>
                  </a:schemeClr>
                </a:solidFill>
                <a:cs typeface="Poppins" pitchFamily="2" charset="77"/>
              </a:rPr>
              <a:t>: </a:t>
            </a:r>
            <a:r>
              <a:rPr lang="en-US" sz="1000" i="1">
                <a:solidFill>
                  <a:srgbClr val="757070"/>
                </a:solidFill>
                <a:cs typeface="Poppins" pitchFamily="2" charset="77"/>
              </a:rPr>
              <a:t>(1L and 2L+) </a:t>
            </a:r>
            <a:r>
              <a:rPr lang="en-US" sz="1000">
                <a:solidFill>
                  <a:srgbClr val="757070"/>
                </a:solidFill>
                <a:cs typeface="Poppins" pitchFamily="2" charset="77"/>
              </a:rPr>
              <a:t>BGB-58067's long-term data on treatment compliance patterns</a:t>
            </a:r>
          </a:p>
        </p:txBody>
      </p:sp>
      <p:sp>
        <p:nvSpPr>
          <p:cNvPr id="140" name="Rounded Rectangle 23">
            <a:extLst>
              <a:ext uri="{FF2B5EF4-FFF2-40B4-BE49-F238E27FC236}">
                <a16:creationId xmlns:a16="http://schemas.microsoft.com/office/drawing/2014/main" id="{DC2461CE-9EC4-D6CB-CE8A-D36C76A72CAA}"/>
              </a:ext>
            </a:extLst>
          </p:cNvPr>
          <p:cNvSpPr/>
          <p:nvPr/>
        </p:nvSpPr>
        <p:spPr>
          <a:xfrm>
            <a:off x="4230263" y="4931878"/>
            <a:ext cx="3708000" cy="576072"/>
          </a:xfrm>
          <a:prstGeom prst="roundRect">
            <a:avLst>
              <a:gd name="adj" fmla="val 6118"/>
            </a:avLst>
          </a:prstGeom>
          <a:solidFill>
            <a:schemeClr val="bg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defTabSz="914400"/>
            <a:r>
              <a:rPr lang="en-US" sz="1000" b="1">
                <a:solidFill>
                  <a:schemeClr val="bg1">
                    <a:lumMod val="50000"/>
                  </a:schemeClr>
                </a:solidFill>
                <a:cs typeface="Poppins" pitchFamily="2" charset="77"/>
              </a:rPr>
              <a:t>NSCLC_GA_01</a:t>
            </a:r>
            <a:r>
              <a:rPr lang="en-US" sz="1000">
                <a:solidFill>
                  <a:schemeClr val="bg1">
                    <a:lumMod val="50000"/>
                  </a:schemeClr>
                </a:solidFill>
                <a:cs typeface="Poppins" pitchFamily="2" charset="77"/>
              </a:rPr>
              <a:t>: </a:t>
            </a:r>
            <a:r>
              <a:rPr lang="en-US" sz="1000" i="1">
                <a:solidFill>
                  <a:srgbClr val="757070"/>
                </a:solidFill>
                <a:cs typeface="Poppins" pitchFamily="2" charset="77"/>
              </a:rPr>
              <a:t>(1L and 2L+) </a:t>
            </a:r>
            <a:r>
              <a:rPr lang="en-US" sz="1000">
                <a:solidFill>
                  <a:srgbClr val="757070"/>
                </a:solidFill>
                <a:cs typeface="Poppins" pitchFamily="2" charset="77"/>
              </a:rPr>
              <a:t>BGB-58067's intracranial efficacy vs. SoC, including CNS-specific outcomes</a:t>
            </a:r>
            <a:br>
              <a:rPr lang="en-US" sz="1000">
                <a:solidFill>
                  <a:srgbClr val="757070"/>
                </a:solidFill>
                <a:cs typeface="Poppins" pitchFamily="2" charset="77"/>
              </a:rPr>
            </a:br>
            <a:r>
              <a:rPr lang="en-US" sz="1000">
                <a:solidFill>
                  <a:srgbClr val="757070"/>
                </a:solidFill>
                <a:cs typeface="Poppins" pitchFamily="2" charset="77"/>
              </a:rPr>
              <a:t>in NSCLC with brain metastases</a:t>
            </a:r>
          </a:p>
        </p:txBody>
      </p:sp>
      <p:sp>
        <p:nvSpPr>
          <p:cNvPr id="144" name="Rounded Rectangle 23">
            <a:extLst>
              <a:ext uri="{FF2B5EF4-FFF2-40B4-BE49-F238E27FC236}">
                <a16:creationId xmlns:a16="http://schemas.microsoft.com/office/drawing/2014/main" id="{F724A7FB-B8A9-794B-125D-08CDD2811A48}"/>
              </a:ext>
            </a:extLst>
          </p:cNvPr>
          <p:cNvSpPr/>
          <p:nvPr/>
        </p:nvSpPr>
        <p:spPr>
          <a:xfrm>
            <a:off x="4230263" y="2428914"/>
            <a:ext cx="3708000" cy="576072"/>
          </a:xfrm>
          <a:prstGeom prst="roundRect">
            <a:avLst>
              <a:gd name="adj" fmla="val 6118"/>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defTabSz="914400"/>
            <a:r>
              <a:rPr lang="en-US" sz="1000" b="1">
                <a:solidFill>
                  <a:schemeClr val="accent1"/>
                </a:solidFill>
                <a:cs typeface="Poppins" pitchFamily="2" charset="77"/>
              </a:rPr>
              <a:t>NSCLC_HI_05</a:t>
            </a:r>
            <a:r>
              <a:rPr lang="en-US" sz="1000">
                <a:solidFill>
                  <a:schemeClr val="accent1"/>
                </a:solidFill>
                <a:cs typeface="Poppins" pitchFamily="2" charset="77"/>
              </a:rPr>
              <a:t>: </a:t>
            </a:r>
            <a:r>
              <a:rPr lang="en-US" sz="1000" i="1">
                <a:solidFill>
                  <a:schemeClr val="accent1"/>
                </a:solidFill>
                <a:cs typeface="Poppins" pitchFamily="2" charset="77"/>
              </a:rPr>
              <a:t>(1L and 2L+) </a:t>
            </a:r>
            <a:r>
              <a:rPr lang="en-US" sz="1000">
                <a:solidFill>
                  <a:schemeClr val="accent1"/>
                </a:solidFill>
                <a:cs typeface="Poppins" pitchFamily="2" charset="77"/>
              </a:rPr>
              <a:t>BGB-58067's efficacy and toxicity profile in MTAP-del population compared to emerging MTA-cooperative PRMT5i and other SoC</a:t>
            </a:r>
          </a:p>
        </p:txBody>
      </p:sp>
      <p:sp>
        <p:nvSpPr>
          <p:cNvPr id="243" name="Footer Placeholder 2">
            <a:extLst>
              <a:ext uri="{FF2B5EF4-FFF2-40B4-BE49-F238E27FC236}">
                <a16:creationId xmlns:a16="http://schemas.microsoft.com/office/drawing/2014/main" id="{D2D48045-8113-767A-D431-E0F8919B3723}"/>
              </a:ext>
            </a:extLst>
          </p:cNvPr>
          <p:cNvSpPr>
            <a:spLocks noGrp="1"/>
          </p:cNvSpPr>
          <p:nvPr>
            <p:ph type="ftr" sz="quarter" idx="10"/>
          </p:nvPr>
        </p:nvSpPr>
        <p:spPr>
          <a:xfrm>
            <a:off x="358337" y="6237095"/>
            <a:ext cx="8388000" cy="542590"/>
          </a:xfrm>
        </p:spPr>
        <p:txBody>
          <a:bodyPr/>
          <a:lstStyle/>
          <a:p>
            <a:r>
              <a:rPr lang="en-US">
                <a:solidFill>
                  <a:srgbClr val="595959"/>
                </a:solidFill>
              </a:rPr>
              <a:t>Abbreviations: AD: Addressed; CDP: Clinical Development Plan; CE: Critical Priority; CNS: Central Nervous System; COE: Contribution of Effect; CSF: Cerebrospinal Fluid; GA: Gated Priority; HRQoL: Health-Related Quality of Life; HI: High Priority; IHC: Immunohisto-chemistry; LoT: Line of Therapy; MTAP: Methylthioadenosine Phosphorylase; NGS: Next-Generation Sequencing; NSCLC: Non-Small Cell Lung Cancer; NSQ: Non-Squamous; OS: Overall Survival; PD-1: Programmed Cell Death Protein 1; PD-L1: Programmed Death-Ligand 1; PFS: Progression-Free Survival; PRMT5i: Protein Arginine Methyltransferase 5 Inhibitor; PRO: Patient Reported Outcomes; SI: Strategic Imperative; SoC: Standard of Care; SQ: Squamous; Tx: Treatment </a:t>
            </a:r>
          </a:p>
        </p:txBody>
      </p:sp>
      <p:sp>
        <p:nvSpPr>
          <p:cNvPr id="4" name="Oval 3">
            <a:extLst>
              <a:ext uri="{FF2B5EF4-FFF2-40B4-BE49-F238E27FC236}">
                <a16:creationId xmlns:a16="http://schemas.microsoft.com/office/drawing/2014/main" id="{BFCB5974-E2A2-8FB5-CEA8-0840946914C4}"/>
              </a:ext>
            </a:extLst>
          </p:cNvPr>
          <p:cNvSpPr/>
          <p:nvPr/>
        </p:nvSpPr>
        <p:spPr>
          <a:xfrm>
            <a:off x="11258840" y="1341438"/>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algn="ctr"/>
            <a:endParaRPr lang="en-US">
              <a:solidFill>
                <a:schemeClr val="bg1"/>
              </a:solidFill>
            </a:endParaRPr>
          </a:p>
        </p:txBody>
      </p:sp>
      <p:pic>
        <p:nvPicPr>
          <p:cNvPr id="5" name="Graphic 4">
            <a:extLst>
              <a:ext uri="{FF2B5EF4-FFF2-40B4-BE49-F238E27FC236}">
                <a16:creationId xmlns:a16="http://schemas.microsoft.com/office/drawing/2014/main" id="{222AF137-4850-961C-A527-9DF90FD7F7C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294840" y="1356172"/>
            <a:ext cx="288000" cy="288000"/>
          </a:xfrm>
          <a:prstGeom prst="rect">
            <a:avLst/>
          </a:prstGeom>
        </p:spPr>
      </p:pic>
      <p:sp>
        <p:nvSpPr>
          <p:cNvPr id="22" name="Rounded Rectangle 23">
            <a:extLst>
              <a:ext uri="{FF2B5EF4-FFF2-40B4-BE49-F238E27FC236}">
                <a16:creationId xmlns:a16="http://schemas.microsoft.com/office/drawing/2014/main" id="{92E58FDD-3687-B269-C9BB-BEC21BA3EC77}"/>
              </a:ext>
            </a:extLst>
          </p:cNvPr>
          <p:cNvSpPr/>
          <p:nvPr/>
        </p:nvSpPr>
        <p:spPr>
          <a:xfrm>
            <a:off x="4230263" y="5561476"/>
            <a:ext cx="3708000" cy="576072"/>
          </a:xfrm>
          <a:prstGeom prst="roundRect">
            <a:avLst>
              <a:gd name="adj" fmla="val 6118"/>
            </a:avLst>
          </a:prstGeom>
          <a:solidFill>
            <a:schemeClr val="bg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defTabSz="914400"/>
            <a:r>
              <a:rPr lang="en-US" sz="1000" b="1">
                <a:solidFill>
                  <a:schemeClr val="bg1">
                    <a:lumMod val="50000"/>
                  </a:schemeClr>
                </a:solidFill>
                <a:cs typeface="Poppins" pitchFamily="2" charset="77"/>
              </a:rPr>
              <a:t>NSCLC_GA_02</a:t>
            </a:r>
            <a:r>
              <a:rPr lang="en-US" sz="1000">
                <a:solidFill>
                  <a:schemeClr val="bg1">
                    <a:lumMod val="50000"/>
                  </a:schemeClr>
                </a:solidFill>
                <a:cs typeface="Poppins" pitchFamily="2" charset="77"/>
              </a:rPr>
              <a:t>: </a:t>
            </a:r>
            <a:r>
              <a:rPr lang="en-US" sz="1000" i="1">
                <a:solidFill>
                  <a:srgbClr val="757070"/>
                </a:solidFill>
                <a:cs typeface="Poppins" pitchFamily="2" charset="77"/>
              </a:rPr>
              <a:t>(1L and 2L+) </a:t>
            </a:r>
            <a:r>
              <a:rPr lang="en-US" sz="1000">
                <a:solidFill>
                  <a:srgbClr val="757070"/>
                </a:solidFill>
                <a:cs typeface="Poppins" pitchFamily="2" charset="77"/>
              </a:rPr>
              <a:t>BGB-58067's efficacy outcomes in treatment-naive vs. Tx-experienced CNS metastases populations</a:t>
            </a:r>
          </a:p>
        </p:txBody>
      </p:sp>
      <p:sp>
        <p:nvSpPr>
          <p:cNvPr id="48" name="Rounded Rectangle 23">
            <a:extLst>
              <a:ext uri="{FF2B5EF4-FFF2-40B4-BE49-F238E27FC236}">
                <a16:creationId xmlns:a16="http://schemas.microsoft.com/office/drawing/2014/main" id="{5C8242F4-F5D0-2C8F-5655-489D42455B4B}"/>
              </a:ext>
            </a:extLst>
          </p:cNvPr>
          <p:cNvSpPr/>
          <p:nvPr/>
        </p:nvSpPr>
        <p:spPr>
          <a:xfrm>
            <a:off x="4230263" y="3680396"/>
            <a:ext cx="3708000" cy="576072"/>
          </a:xfrm>
          <a:prstGeom prst="roundRect">
            <a:avLst>
              <a:gd name="adj" fmla="val 6118"/>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defTabSz="914400"/>
            <a:r>
              <a:rPr lang="en-US" sz="1000" b="1">
                <a:solidFill>
                  <a:schemeClr val="accent1"/>
                </a:solidFill>
                <a:cs typeface="Poppins" pitchFamily="2" charset="77"/>
              </a:rPr>
              <a:t>NSCLC_HI_07</a:t>
            </a:r>
            <a:r>
              <a:rPr lang="en-US" sz="1000">
                <a:solidFill>
                  <a:schemeClr val="accent1"/>
                </a:solidFill>
                <a:cs typeface="Poppins" pitchFamily="2" charset="77"/>
              </a:rPr>
              <a:t>: </a:t>
            </a:r>
            <a:r>
              <a:rPr lang="en-US" sz="1000" i="1">
                <a:solidFill>
                  <a:schemeClr val="accent1"/>
                </a:solidFill>
                <a:cs typeface="Poppins" pitchFamily="2" charset="77"/>
              </a:rPr>
              <a:t>(1L and 2L+)</a:t>
            </a:r>
            <a:r>
              <a:rPr lang="en-US" sz="1000">
                <a:solidFill>
                  <a:schemeClr val="accent1"/>
                </a:solidFill>
                <a:cs typeface="Poppins" pitchFamily="2" charset="77"/>
              </a:rPr>
              <a:t> BGB-58067 impact on healthcare resource utilization and cost vs. SoC</a:t>
            </a:r>
          </a:p>
        </p:txBody>
      </p:sp>
      <p:grpSp>
        <p:nvGrpSpPr>
          <p:cNvPr id="8" name="Group 7">
            <a:extLst>
              <a:ext uri="{FF2B5EF4-FFF2-40B4-BE49-F238E27FC236}">
                <a16:creationId xmlns:a16="http://schemas.microsoft.com/office/drawing/2014/main" id="{21F1DCE7-A591-4BFA-1003-98CD68F1175D}"/>
              </a:ext>
            </a:extLst>
          </p:cNvPr>
          <p:cNvGrpSpPr/>
          <p:nvPr/>
        </p:nvGrpSpPr>
        <p:grpSpPr>
          <a:xfrm>
            <a:off x="4230263" y="4306137"/>
            <a:ext cx="3708000" cy="576072"/>
            <a:chOff x="4230263" y="4931878"/>
            <a:chExt cx="3708000" cy="576072"/>
          </a:xfrm>
        </p:grpSpPr>
        <p:sp>
          <p:nvSpPr>
            <p:cNvPr id="150" name="Rounded Rectangle 23">
              <a:extLst>
                <a:ext uri="{FF2B5EF4-FFF2-40B4-BE49-F238E27FC236}">
                  <a16:creationId xmlns:a16="http://schemas.microsoft.com/office/drawing/2014/main" id="{35048DB4-7EC1-6082-0A32-86D01AA72F50}"/>
                </a:ext>
              </a:extLst>
            </p:cNvPr>
            <p:cNvSpPr/>
            <p:nvPr/>
          </p:nvSpPr>
          <p:spPr>
            <a:xfrm>
              <a:off x="4230263" y="4931878"/>
              <a:ext cx="3708000" cy="576072"/>
            </a:xfrm>
            <a:prstGeom prst="roundRect">
              <a:avLst>
                <a:gd name="adj" fmla="val 6118"/>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accent1"/>
                  </a:solidFill>
                  <a:cs typeface="Poppins" pitchFamily="2" charset="77"/>
                </a:rPr>
                <a:t>NSCLC_HI_08</a:t>
              </a:r>
              <a:r>
                <a:rPr lang="en-US" sz="1000">
                  <a:solidFill>
                    <a:schemeClr val="accent1"/>
                  </a:solidFill>
                  <a:cs typeface="Poppins" pitchFamily="2" charset="77"/>
                </a:rPr>
                <a:t>: </a:t>
              </a:r>
              <a:r>
                <a:rPr lang="en-US" sz="1000" i="1">
                  <a:solidFill>
                    <a:schemeClr val="accent1"/>
                  </a:solidFill>
                </a:rPr>
                <a:t>(1L and 2L+) </a:t>
              </a:r>
              <a:r>
                <a:rPr lang="en-US" sz="1000">
                  <a:solidFill>
                    <a:schemeClr val="accent1"/>
                  </a:solidFill>
                </a:rPr>
                <a:t>Impact of BGB-58067</a:t>
              </a:r>
            </a:p>
            <a:p>
              <a:pPr fontAlgn="ctr"/>
              <a:r>
                <a:rPr lang="en-US" sz="1000">
                  <a:solidFill>
                    <a:schemeClr val="accent1"/>
                  </a:solidFill>
                </a:rPr>
                <a:t> on patient-reported </a:t>
              </a:r>
              <a:r>
                <a:rPr lang="en-US" sz="1000" err="1">
                  <a:solidFill>
                    <a:schemeClr val="accent1"/>
                  </a:solidFill>
                </a:rPr>
                <a:t>HRQoL</a:t>
              </a:r>
              <a:r>
                <a:rPr lang="en-US" sz="1000">
                  <a:solidFill>
                    <a:schemeClr val="accent1"/>
                  </a:solidFill>
                </a:rPr>
                <a:t> and treatment burden overall and in key subpopulations vs. SoC</a:t>
              </a:r>
            </a:p>
          </p:txBody>
        </p:sp>
        <p:pic>
          <p:nvPicPr>
            <p:cNvPr id="25" name="Graphic 24">
              <a:extLst>
                <a:ext uri="{FF2B5EF4-FFF2-40B4-BE49-F238E27FC236}">
                  <a16:creationId xmlns:a16="http://schemas.microsoft.com/office/drawing/2014/main" id="{6039C74C-FD23-522F-0B8C-ACD5CB47CAD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646961" y="4969547"/>
              <a:ext cx="252001" cy="252001"/>
            </a:xfrm>
            <a:prstGeom prst="rect">
              <a:avLst/>
            </a:prstGeom>
          </p:spPr>
        </p:pic>
      </p:grpSp>
      <p:sp>
        <p:nvSpPr>
          <p:cNvPr id="7" name="Rounded Rectangle 23">
            <a:extLst>
              <a:ext uri="{FF2B5EF4-FFF2-40B4-BE49-F238E27FC236}">
                <a16:creationId xmlns:a16="http://schemas.microsoft.com/office/drawing/2014/main" id="{AC24F096-6018-CE83-5974-5607254A338E}"/>
              </a:ext>
            </a:extLst>
          </p:cNvPr>
          <p:cNvSpPr/>
          <p:nvPr/>
        </p:nvSpPr>
        <p:spPr>
          <a:xfrm>
            <a:off x="342549" y="4931878"/>
            <a:ext cx="3708000" cy="576072"/>
          </a:xfrm>
          <a:prstGeom prst="roundRect">
            <a:avLst>
              <a:gd name="adj" fmla="val 6118"/>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accent1"/>
                </a:solidFill>
                <a:cs typeface="Poppins" pitchFamily="2" charset="77"/>
              </a:rPr>
              <a:t>NSCLC_HI_02</a:t>
            </a:r>
            <a:r>
              <a:rPr lang="en-US" sz="1000">
                <a:solidFill>
                  <a:schemeClr val="accent1"/>
                </a:solidFill>
                <a:cs typeface="Poppins" pitchFamily="2" charset="77"/>
              </a:rPr>
              <a:t>: </a:t>
            </a:r>
            <a:r>
              <a:rPr lang="en-US" sz="1000" i="1">
                <a:solidFill>
                  <a:schemeClr val="accent1"/>
                </a:solidFill>
              </a:rPr>
              <a:t>(1L and 2L+)</a:t>
            </a:r>
            <a:r>
              <a:rPr lang="en-US" sz="1000">
                <a:solidFill>
                  <a:schemeClr val="accent1"/>
                </a:solidFill>
              </a:rPr>
              <a:t> Cost effectiveness of </a:t>
            </a:r>
          </a:p>
          <a:p>
            <a:pPr fontAlgn="ctr"/>
            <a:r>
              <a:rPr lang="en-US" sz="1000">
                <a:solidFill>
                  <a:schemeClr val="accent1"/>
                </a:solidFill>
              </a:rPr>
              <a:t>MTAP testing strategies across NGS and IHC modalities</a:t>
            </a:r>
          </a:p>
        </p:txBody>
      </p:sp>
      <p:sp>
        <p:nvSpPr>
          <p:cNvPr id="11" name="Rounded Rectangle 23">
            <a:extLst>
              <a:ext uri="{FF2B5EF4-FFF2-40B4-BE49-F238E27FC236}">
                <a16:creationId xmlns:a16="http://schemas.microsoft.com/office/drawing/2014/main" id="{3A650CEF-7EA8-B07E-03AA-275DFAB523C2}"/>
              </a:ext>
            </a:extLst>
          </p:cNvPr>
          <p:cNvSpPr/>
          <p:nvPr/>
        </p:nvSpPr>
        <p:spPr>
          <a:xfrm>
            <a:off x="8125665" y="3054655"/>
            <a:ext cx="3708000" cy="576072"/>
          </a:xfrm>
          <a:prstGeom prst="roundRect">
            <a:avLst>
              <a:gd name="adj" fmla="val 6118"/>
            </a:avLst>
          </a:prstGeom>
          <a:solidFill>
            <a:srgbClr val="CCD3E3"/>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defTabSz="914400"/>
            <a:r>
              <a:rPr lang="en-US" sz="1000" b="1">
                <a:solidFill>
                  <a:schemeClr val="accent3"/>
                </a:solidFill>
                <a:cs typeface="Poppins" pitchFamily="2" charset="77"/>
              </a:rPr>
              <a:t>NSCLC_AD_01</a:t>
            </a:r>
            <a:r>
              <a:rPr lang="en-US" sz="1000">
                <a:solidFill>
                  <a:schemeClr val="accent3"/>
                </a:solidFill>
                <a:cs typeface="Poppins" pitchFamily="2" charset="77"/>
              </a:rPr>
              <a:t>: </a:t>
            </a:r>
            <a:r>
              <a:rPr lang="en-US" sz="1000" i="1">
                <a:solidFill>
                  <a:schemeClr val="accent3"/>
                </a:solidFill>
                <a:cs typeface="Poppins" pitchFamily="2" charset="77"/>
              </a:rPr>
              <a:t>(1L and 2L+) </a:t>
            </a:r>
            <a:r>
              <a:rPr lang="en-US" sz="1000">
                <a:solidFill>
                  <a:schemeClr val="accent3"/>
                </a:solidFill>
                <a:cs typeface="Poppins" pitchFamily="2" charset="77"/>
              </a:rPr>
              <a:t>Quantifying incidence of CNS metastases in MTAP-deleted </a:t>
            </a:r>
            <a:r>
              <a:rPr lang="en-US" sz="1000" err="1">
                <a:solidFill>
                  <a:schemeClr val="accent3"/>
                </a:solidFill>
                <a:cs typeface="Poppins" pitchFamily="2" charset="77"/>
              </a:rPr>
              <a:t>nonsquamous</a:t>
            </a:r>
            <a:r>
              <a:rPr lang="en-US" sz="1000">
                <a:solidFill>
                  <a:schemeClr val="accent3"/>
                </a:solidFill>
                <a:cs typeface="Poppins" pitchFamily="2" charset="77"/>
              </a:rPr>
              <a:t> vs. squamous </a:t>
            </a:r>
            <a:r>
              <a:rPr lang="en-US" sz="1000" err="1">
                <a:solidFill>
                  <a:schemeClr val="accent3"/>
                </a:solidFill>
                <a:cs typeface="Poppins" pitchFamily="2" charset="77"/>
              </a:rPr>
              <a:t>histologies</a:t>
            </a:r>
            <a:endParaRPr lang="en-US" sz="1000">
              <a:solidFill>
                <a:schemeClr val="accent3"/>
              </a:solidFill>
              <a:cs typeface="Poppins" pitchFamily="2" charset="77"/>
            </a:endParaRPr>
          </a:p>
        </p:txBody>
      </p:sp>
      <p:sp>
        <p:nvSpPr>
          <p:cNvPr id="12" name="Rounded Rectangle 23">
            <a:extLst>
              <a:ext uri="{FF2B5EF4-FFF2-40B4-BE49-F238E27FC236}">
                <a16:creationId xmlns:a16="http://schemas.microsoft.com/office/drawing/2014/main" id="{46FEABA6-053D-5842-8939-30837EE4AEF6}"/>
              </a:ext>
            </a:extLst>
          </p:cNvPr>
          <p:cNvSpPr/>
          <p:nvPr/>
        </p:nvSpPr>
        <p:spPr>
          <a:xfrm>
            <a:off x="8125665" y="3680396"/>
            <a:ext cx="3708000" cy="576072"/>
          </a:xfrm>
          <a:prstGeom prst="roundRect">
            <a:avLst>
              <a:gd name="adj" fmla="val 6118"/>
            </a:avLst>
          </a:prstGeom>
          <a:solidFill>
            <a:srgbClr val="CCD3E3"/>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defTabSz="914400"/>
            <a:r>
              <a:rPr lang="en-US" sz="1000" b="1">
                <a:solidFill>
                  <a:schemeClr val="accent3"/>
                </a:solidFill>
                <a:cs typeface="Poppins" pitchFamily="2" charset="77"/>
              </a:rPr>
              <a:t>NSCLC_AD_02</a:t>
            </a:r>
            <a:r>
              <a:rPr lang="en-US" sz="1000">
                <a:solidFill>
                  <a:schemeClr val="accent3"/>
                </a:solidFill>
                <a:cs typeface="Poppins" pitchFamily="2" charset="77"/>
              </a:rPr>
              <a:t>: </a:t>
            </a:r>
            <a:r>
              <a:rPr lang="en-US" sz="1000" i="1">
                <a:solidFill>
                  <a:schemeClr val="accent3"/>
                </a:solidFill>
                <a:cs typeface="Poppins" pitchFamily="2" charset="77"/>
              </a:rPr>
              <a:t>(1L and 2L+) </a:t>
            </a:r>
            <a:r>
              <a:rPr lang="en-US" sz="1000">
                <a:solidFill>
                  <a:schemeClr val="accent3"/>
                </a:solidFill>
                <a:cs typeface="Poppins" pitchFamily="2" charset="77"/>
              </a:rPr>
              <a:t>BGB-58067's long-term PROs vs. SoC beyond specific PRO measures included in the CDP</a:t>
            </a:r>
          </a:p>
        </p:txBody>
      </p:sp>
      <p:grpSp>
        <p:nvGrpSpPr>
          <p:cNvPr id="3" name="Group 2">
            <a:extLst>
              <a:ext uri="{FF2B5EF4-FFF2-40B4-BE49-F238E27FC236}">
                <a16:creationId xmlns:a16="http://schemas.microsoft.com/office/drawing/2014/main" id="{A07FACBF-9887-F6C6-796E-674A6F29D4EC}"/>
              </a:ext>
            </a:extLst>
          </p:cNvPr>
          <p:cNvGrpSpPr/>
          <p:nvPr/>
        </p:nvGrpSpPr>
        <p:grpSpPr>
          <a:xfrm>
            <a:off x="8178392" y="4819255"/>
            <a:ext cx="3440815" cy="993698"/>
            <a:chOff x="8151857" y="5026415"/>
            <a:chExt cx="3440815" cy="993698"/>
          </a:xfrm>
        </p:grpSpPr>
        <p:grpSp>
          <p:nvGrpSpPr>
            <p:cNvPr id="6" name="Group 5">
              <a:extLst>
                <a:ext uri="{FF2B5EF4-FFF2-40B4-BE49-F238E27FC236}">
                  <a16:creationId xmlns:a16="http://schemas.microsoft.com/office/drawing/2014/main" id="{F1DCDB56-E5AB-F807-2750-894A20EB548D}"/>
                </a:ext>
              </a:extLst>
            </p:cNvPr>
            <p:cNvGrpSpPr/>
            <p:nvPr/>
          </p:nvGrpSpPr>
          <p:grpSpPr>
            <a:xfrm>
              <a:off x="8151857" y="5026415"/>
              <a:ext cx="3440815" cy="993698"/>
              <a:chOff x="8122464" y="5113470"/>
              <a:chExt cx="3440815" cy="993698"/>
            </a:xfrm>
          </p:grpSpPr>
          <p:sp>
            <p:nvSpPr>
              <p:cNvPr id="10" name="Rectangle: Rounded Corners 9">
                <a:extLst>
                  <a:ext uri="{FF2B5EF4-FFF2-40B4-BE49-F238E27FC236}">
                    <a16:creationId xmlns:a16="http://schemas.microsoft.com/office/drawing/2014/main" id="{AD463A04-15FD-8EC8-1772-168F86EBB4A3}"/>
                  </a:ext>
                </a:extLst>
              </p:cNvPr>
              <p:cNvSpPr/>
              <p:nvPr/>
            </p:nvSpPr>
            <p:spPr>
              <a:xfrm rot="16200000">
                <a:off x="9410624" y="3954512"/>
                <a:ext cx="993698" cy="3311613"/>
              </a:xfrm>
              <a:prstGeom prst="roundRect">
                <a:avLst>
                  <a:gd name="adj" fmla="val 3917"/>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13" name="TextBox 12">
                <a:extLst>
                  <a:ext uri="{FF2B5EF4-FFF2-40B4-BE49-F238E27FC236}">
                    <a16:creationId xmlns:a16="http://schemas.microsoft.com/office/drawing/2014/main" id="{762E4921-0A5B-DF06-6FAA-7A2465E187F2}"/>
                  </a:ext>
                </a:extLst>
              </p:cNvPr>
              <p:cNvSpPr txBox="1"/>
              <p:nvPr/>
            </p:nvSpPr>
            <p:spPr>
              <a:xfrm>
                <a:off x="8122464" y="5201821"/>
                <a:ext cx="1071704" cy="338554"/>
              </a:xfrm>
              <a:prstGeom prst="rect">
                <a:avLst/>
              </a:prstGeom>
              <a:noFill/>
            </p:spPr>
            <p:txBody>
              <a:bodyPr wrap="square" lIns="36000" tIns="91440" rIns="36000" bIns="91440" rtlCol="0">
                <a:spAutoFit/>
              </a:bodyPr>
              <a:lstStyle/>
              <a:p>
                <a:pPr algn="ctr"/>
                <a:r>
                  <a:rPr lang="en-US" sz="1000" b="1"/>
                  <a:t>Key:</a:t>
                </a:r>
                <a:endParaRPr lang="en-US" sz="1000"/>
              </a:p>
            </p:txBody>
          </p:sp>
          <p:sp>
            <p:nvSpPr>
              <p:cNvPr id="18" name="Rounded Rectangle 26">
                <a:extLst>
                  <a:ext uri="{FF2B5EF4-FFF2-40B4-BE49-F238E27FC236}">
                    <a16:creationId xmlns:a16="http://schemas.microsoft.com/office/drawing/2014/main" id="{A245BF5C-877C-00AB-52F9-4E946979758D}"/>
                  </a:ext>
                </a:extLst>
              </p:cNvPr>
              <p:cNvSpPr/>
              <p:nvPr/>
            </p:nvSpPr>
            <p:spPr>
              <a:xfrm>
                <a:off x="9015840" y="5767199"/>
                <a:ext cx="1097280" cy="219456"/>
              </a:xfrm>
              <a:prstGeom prst="roundRect">
                <a:avLst>
                  <a:gd name="adj" fmla="val 6677"/>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1"/>
                    </a:solidFill>
                    <a:effectLst/>
                    <a:uLnTx/>
                    <a:uFillTx/>
                    <a:latin typeface="Poppins" pitchFamily="2" charset="77"/>
                    <a:cs typeface="Poppins" pitchFamily="2" charset="77"/>
                  </a:rPr>
                  <a:t>High</a:t>
                </a:r>
              </a:p>
            </p:txBody>
          </p:sp>
          <p:sp>
            <p:nvSpPr>
              <p:cNvPr id="29" name="Rounded Rectangle 23">
                <a:extLst>
                  <a:ext uri="{FF2B5EF4-FFF2-40B4-BE49-F238E27FC236}">
                    <a16:creationId xmlns:a16="http://schemas.microsoft.com/office/drawing/2014/main" id="{ED144522-38EE-EF72-F89D-2257017E3673}"/>
                  </a:ext>
                </a:extLst>
              </p:cNvPr>
              <p:cNvSpPr/>
              <p:nvPr/>
            </p:nvSpPr>
            <p:spPr>
              <a:xfrm>
                <a:off x="9015840" y="5529797"/>
                <a:ext cx="1097280" cy="220101"/>
              </a:xfrm>
              <a:prstGeom prst="roundRect">
                <a:avLst>
                  <a:gd name="adj" fmla="val 6118"/>
                </a:avLst>
              </a:prstGeom>
              <a:solidFill>
                <a:srgbClr val="00808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4">
                        <a:lumMod val="75000"/>
                      </a:schemeClr>
                    </a:solidFill>
                    <a:effectLst/>
                    <a:uLnTx/>
                    <a:uFillTx/>
                    <a:latin typeface="Poppins" pitchFamily="2" charset="77"/>
                    <a:cs typeface="Poppins" pitchFamily="2" charset="77"/>
                  </a:rPr>
                  <a:t>Critical</a:t>
                </a:r>
              </a:p>
            </p:txBody>
          </p:sp>
          <p:sp>
            <p:nvSpPr>
              <p:cNvPr id="30" name="Rounded Rectangle 23">
                <a:extLst>
                  <a:ext uri="{FF2B5EF4-FFF2-40B4-BE49-F238E27FC236}">
                    <a16:creationId xmlns:a16="http://schemas.microsoft.com/office/drawing/2014/main" id="{1AD12F60-4143-822A-8CF4-F19C40135513}"/>
                  </a:ext>
                </a:extLst>
              </p:cNvPr>
              <p:cNvSpPr/>
              <p:nvPr/>
            </p:nvSpPr>
            <p:spPr>
              <a:xfrm>
                <a:off x="10150143" y="5767199"/>
                <a:ext cx="1097280" cy="219456"/>
              </a:xfrm>
              <a:prstGeom prst="roundRect">
                <a:avLst>
                  <a:gd name="adj" fmla="val 6118"/>
                </a:avLst>
              </a:prstGeom>
              <a:solidFill>
                <a:srgbClr val="CCD3E3"/>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3"/>
                    </a:solidFill>
                    <a:effectLst/>
                    <a:uLnTx/>
                    <a:uFillTx/>
                    <a:latin typeface="Poppins" pitchFamily="2" charset="77"/>
                    <a:cs typeface="Poppins" pitchFamily="2" charset="77"/>
                  </a:rPr>
                  <a:t>Addressed</a:t>
                </a:r>
              </a:p>
            </p:txBody>
          </p:sp>
          <p:sp>
            <p:nvSpPr>
              <p:cNvPr id="35" name="Rounded Rectangle 23">
                <a:extLst>
                  <a:ext uri="{FF2B5EF4-FFF2-40B4-BE49-F238E27FC236}">
                    <a16:creationId xmlns:a16="http://schemas.microsoft.com/office/drawing/2014/main" id="{5295F330-D0F5-5D76-55F4-8EAA5B44AA50}"/>
                  </a:ext>
                </a:extLst>
              </p:cNvPr>
              <p:cNvSpPr/>
              <p:nvPr/>
            </p:nvSpPr>
            <p:spPr>
              <a:xfrm>
                <a:off x="10150143" y="5529797"/>
                <a:ext cx="1097280" cy="219456"/>
              </a:xfrm>
              <a:prstGeom prst="roundRect">
                <a:avLst>
                  <a:gd name="adj" fmla="val 6118"/>
                </a:avLst>
              </a:prstGeom>
              <a:solidFill>
                <a:schemeClr val="bg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rgbClr val="757070"/>
                    </a:solidFill>
                    <a:effectLst/>
                    <a:uLnTx/>
                    <a:uFillTx/>
                    <a:latin typeface="Poppins" pitchFamily="2" charset="77"/>
                    <a:cs typeface="Poppins" pitchFamily="2" charset="77"/>
                  </a:rPr>
                  <a:t>Gated</a:t>
                </a:r>
              </a:p>
            </p:txBody>
          </p:sp>
          <p:sp>
            <p:nvSpPr>
              <p:cNvPr id="37" name="Rounded Rectangle 23">
                <a:extLst>
                  <a:ext uri="{FF2B5EF4-FFF2-40B4-BE49-F238E27FC236}">
                    <a16:creationId xmlns:a16="http://schemas.microsoft.com/office/drawing/2014/main" id="{D4C2DCB2-225B-6512-FA8E-FF57A31C0520}"/>
                  </a:ext>
                </a:extLst>
              </p:cNvPr>
              <p:cNvSpPr/>
              <p:nvPr/>
            </p:nvSpPr>
            <p:spPr>
              <a:xfrm>
                <a:off x="9182687" y="5256721"/>
                <a:ext cx="1954095" cy="228754"/>
              </a:xfrm>
              <a:prstGeom prst="roundRect">
                <a:avLst>
                  <a:gd name="adj" fmla="val 6118"/>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defTabSz="914400" rtl="0" eaLnBrk="1" fontAlgn="auto" latinLnBrk="0" hangingPunct="1">
                  <a:lnSpc>
                    <a:spcPct val="100000"/>
                  </a:lnSpc>
                  <a:buClrTx/>
                  <a:buSzTx/>
                  <a:buFontTx/>
                  <a:buNone/>
                  <a:tabLst/>
                  <a:defRPr/>
                </a:pPr>
                <a:r>
                  <a:rPr kumimoji="0" lang="en-US" sz="800" i="0" u="none" strike="noStrike" kern="1200" cap="none" spc="0" normalizeH="0" baseline="0" noProof="0">
                    <a:ln>
                      <a:noFill/>
                    </a:ln>
                    <a:solidFill>
                      <a:schemeClr val="tx1"/>
                    </a:solidFill>
                    <a:effectLst/>
                    <a:uLnTx/>
                    <a:uFillTx/>
                    <a:latin typeface="Poppins" pitchFamily="2" charset="77"/>
                    <a:cs typeface="Poppins" pitchFamily="2" charset="77"/>
                  </a:rPr>
                  <a:t>Indicates partially addressed gaps</a:t>
                </a:r>
              </a:p>
            </p:txBody>
          </p:sp>
        </p:grpSp>
        <p:pic>
          <p:nvPicPr>
            <p:cNvPr id="9" name="Graphic 8">
              <a:extLst>
                <a:ext uri="{FF2B5EF4-FFF2-40B4-BE49-F238E27FC236}">
                  <a16:creationId xmlns:a16="http://schemas.microsoft.com/office/drawing/2014/main" id="{A28FEE50-57B1-ACF8-FAAF-0A4556BEB4D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015737" y="5162599"/>
              <a:ext cx="252001" cy="252001"/>
            </a:xfrm>
            <a:prstGeom prst="rect">
              <a:avLst/>
            </a:prstGeom>
          </p:spPr>
        </p:pic>
      </p:grpSp>
      <p:pic>
        <p:nvPicPr>
          <p:cNvPr id="39" name="Graphic 38">
            <a:extLst>
              <a:ext uri="{FF2B5EF4-FFF2-40B4-BE49-F238E27FC236}">
                <a16:creationId xmlns:a16="http://schemas.microsoft.com/office/drawing/2014/main" id="{3CF17131-908B-5F27-948C-F0569AD1DB3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746344" y="4962506"/>
            <a:ext cx="252001" cy="252001"/>
          </a:xfrm>
          <a:prstGeom prst="rect">
            <a:avLst/>
          </a:prstGeom>
        </p:spPr>
      </p:pic>
      <p:pic>
        <p:nvPicPr>
          <p:cNvPr id="41" name="Graphic 40">
            <a:extLst>
              <a:ext uri="{FF2B5EF4-FFF2-40B4-BE49-F238E27FC236}">
                <a16:creationId xmlns:a16="http://schemas.microsoft.com/office/drawing/2014/main" id="{9B6FCE2C-6A9F-38E5-2D48-25703110CAC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773025" y="1831174"/>
            <a:ext cx="252001" cy="252001"/>
          </a:xfrm>
          <a:prstGeom prst="rect">
            <a:avLst/>
          </a:prstGeom>
        </p:spPr>
      </p:pic>
      <p:grpSp>
        <p:nvGrpSpPr>
          <p:cNvPr id="14" name="Group 13">
            <a:extLst>
              <a:ext uri="{FF2B5EF4-FFF2-40B4-BE49-F238E27FC236}">
                <a16:creationId xmlns:a16="http://schemas.microsoft.com/office/drawing/2014/main" id="{F17C73C9-5C06-66AB-5F56-E9B5F8C520D0}"/>
              </a:ext>
            </a:extLst>
          </p:cNvPr>
          <p:cNvGrpSpPr/>
          <p:nvPr/>
        </p:nvGrpSpPr>
        <p:grpSpPr>
          <a:xfrm>
            <a:off x="362743" y="10216"/>
            <a:ext cx="10042505" cy="252000"/>
            <a:chOff x="362743" y="10216"/>
            <a:chExt cx="10042505" cy="252000"/>
          </a:xfrm>
        </p:grpSpPr>
        <p:sp>
          <p:nvSpPr>
            <p:cNvPr id="15" name="Pentagon 47">
              <a:extLst>
                <a:ext uri="{FF2B5EF4-FFF2-40B4-BE49-F238E27FC236}">
                  <a16:creationId xmlns:a16="http://schemas.microsoft.com/office/drawing/2014/main" id="{F408E1B2-76AE-69C0-67B6-CCF1EAEFB618}"/>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16" name="Chevron 48">
              <a:extLst>
                <a:ext uri="{FF2B5EF4-FFF2-40B4-BE49-F238E27FC236}">
                  <a16:creationId xmlns:a16="http://schemas.microsoft.com/office/drawing/2014/main" id="{5A1FEF1B-E1F7-2FDD-2688-45C240CBD5D4}"/>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17" name="Chevron 52">
              <a:extLst>
                <a:ext uri="{FF2B5EF4-FFF2-40B4-BE49-F238E27FC236}">
                  <a16:creationId xmlns:a16="http://schemas.microsoft.com/office/drawing/2014/main" id="{2E18B0FA-53EC-926D-384A-13514AF786B3}"/>
                </a:ext>
              </a:extLst>
            </p:cNvPr>
            <p:cNvSpPr/>
            <p:nvPr/>
          </p:nvSpPr>
          <p:spPr>
            <a:xfrm>
              <a:off x="3701639"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24" name="Chevron 54">
              <a:extLst>
                <a:ext uri="{FF2B5EF4-FFF2-40B4-BE49-F238E27FC236}">
                  <a16:creationId xmlns:a16="http://schemas.microsoft.com/office/drawing/2014/main" id="{9A921FA9-1405-871E-0C63-5CACCE52A52B}"/>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31" name="Chevron 48">
              <a:extLst>
                <a:ext uri="{FF2B5EF4-FFF2-40B4-BE49-F238E27FC236}">
                  <a16:creationId xmlns:a16="http://schemas.microsoft.com/office/drawing/2014/main" id="{9121786F-62BF-59E5-A050-8BF43410EDBE}"/>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33" name="Chevron 48">
              <a:extLst>
                <a:ext uri="{FF2B5EF4-FFF2-40B4-BE49-F238E27FC236}">
                  <a16:creationId xmlns:a16="http://schemas.microsoft.com/office/drawing/2014/main" id="{891DA929-9ED0-AB23-6667-0407392C32BC}"/>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3826649173"/>
      </p:ext>
    </p:extLst>
  </p:cSld>
  <p:clrMapOvr>
    <a:masterClrMapping/>
  </p:clrMapOvr>
  <p:extLst>
    <p:ext uri="{6950BFC3-D8DA-4A85-94F7-54DA5524770B}">
      <p188:commentRel xmlns:p188="http://schemas.microsoft.com/office/powerpoint/2018/8/main" r:id="rId4"/>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226C9-F772-9302-4D5D-AC49A5CFD3C6}"/>
            </a:ext>
          </a:extLst>
        </p:cNvPr>
        <p:cNvGrpSpPr/>
        <p:nvPr/>
      </p:nvGrpSpPr>
      <p:grpSpPr>
        <a:xfrm>
          <a:off x="0" y="0"/>
          <a:ext cx="0" cy="0"/>
          <a:chOff x="0" y="0"/>
          <a:chExt cx="0" cy="0"/>
        </a:xfrm>
      </p:grpSpPr>
      <p:graphicFrame>
        <p:nvGraphicFramePr>
          <p:cNvPr id="59" name="think-cell data - do not delete" hidden="1">
            <a:extLst>
              <a:ext uri="{FF2B5EF4-FFF2-40B4-BE49-F238E27FC236}">
                <a16:creationId xmlns:a16="http://schemas.microsoft.com/office/drawing/2014/main" id="{01B5F7E0-4F3E-C0CE-5A7F-516E244C2AB6}"/>
              </a:ext>
            </a:extLst>
          </p:cNvPr>
          <p:cNvGraphicFramePr>
            <a:graphicFrameLocks/>
          </p:cNvGraphicFramePr>
          <p:nvPr>
            <p:custDataLst>
              <p:tags r:id="rId1"/>
            </p:custDataLst>
            <p:extLst>
              <p:ext uri="{D42A27DB-BD31-4B8C-83A1-F6EECF244321}">
                <p14:modId xmlns:p14="http://schemas.microsoft.com/office/powerpoint/2010/main" val="2724269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59" name="think-cell data - do not delete" hidden="1">
                        <a:extLst>
                          <a:ext uri="{FF2B5EF4-FFF2-40B4-BE49-F238E27FC236}">
                            <a16:creationId xmlns:a16="http://schemas.microsoft.com/office/drawing/2014/main" id="{01B5F7E0-4F3E-C0CE-5A7F-516E244C2AB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8" name="Title 57">
            <a:extLst>
              <a:ext uri="{FF2B5EF4-FFF2-40B4-BE49-F238E27FC236}">
                <a16:creationId xmlns:a16="http://schemas.microsoft.com/office/drawing/2014/main" id="{06BA65BA-2F35-918F-3753-3D5AAC3B5A7E}"/>
              </a:ext>
            </a:extLst>
          </p:cNvPr>
          <p:cNvSpPr>
            <a:spLocks noGrp="1"/>
          </p:cNvSpPr>
          <p:nvPr>
            <p:ph type="title"/>
          </p:nvPr>
        </p:nvSpPr>
        <p:spPr>
          <a:xfrm>
            <a:off x="358337" y="338328"/>
            <a:ext cx="11470125" cy="369332"/>
          </a:xfrm>
        </p:spPr>
        <p:txBody>
          <a:bodyPr vert="horz" rIns="0">
            <a:spAutoFit/>
          </a:bodyPr>
          <a:lstStyle/>
          <a:p>
            <a:r>
              <a:rPr lang="en-US" sz="2400"/>
              <a:t>Overview of Prioritized Evidence Gaps(SI2: Biomarkers)</a:t>
            </a:r>
          </a:p>
        </p:txBody>
      </p:sp>
      <p:sp>
        <p:nvSpPr>
          <p:cNvPr id="4" name="Text Placeholder 4">
            <a:extLst>
              <a:ext uri="{FF2B5EF4-FFF2-40B4-BE49-F238E27FC236}">
                <a16:creationId xmlns:a16="http://schemas.microsoft.com/office/drawing/2014/main" id="{DA48CD6C-ED96-59AF-BF2B-67744D1A6092}"/>
              </a:ext>
            </a:extLst>
          </p:cNvPr>
          <p:cNvSpPr txBox="1">
            <a:spLocks/>
          </p:cNvSpPr>
          <p:nvPr/>
        </p:nvSpPr>
        <p:spPr>
          <a:xfrm>
            <a:off x="354079" y="1274030"/>
            <a:ext cx="11483056" cy="432000"/>
          </a:xfrm>
          <a:prstGeom prst="roundRect">
            <a:avLst>
              <a:gd name="adj" fmla="val 10438"/>
            </a:avLst>
          </a:prstGeom>
          <a:solidFill>
            <a:srgbClr val="006680"/>
          </a:solidFill>
        </p:spPr>
        <p:txBody>
          <a:bodyPr lIns="432000" tIns="90000" rIns="91440" bIns="91440" anchor="ctr">
            <a:noAutofit/>
          </a:bodyPr>
          <a:lstStyle>
            <a:lvl1pPr marL="0" indent="0" algn="l" defTabSz="914400" rtl="0" eaLnBrk="1" latinLnBrk="0" hangingPunct="1">
              <a:lnSpc>
                <a:spcPct val="100000"/>
              </a:lnSpc>
              <a:spcBef>
                <a:spcPts val="1000"/>
              </a:spcBef>
              <a:buClr>
                <a:schemeClr val="accent1"/>
              </a:buClr>
              <a:buFontTx/>
              <a:buNone/>
              <a:defRPr sz="1200" b="0" i="0" kern="1200">
                <a:solidFill>
                  <a:schemeClr val="bg1"/>
                </a:solidFill>
                <a:latin typeface="+mj-lt"/>
                <a:ea typeface="Verdana" panose="020B0604030504040204" pitchFamily="34" charset="0"/>
                <a:cs typeface="Verdana" panose="020B0604030504040204" pitchFamily="34" charset="0"/>
              </a:defRPr>
            </a:lvl1pPr>
            <a:lvl2pPr marL="0" indent="0" algn="l" defTabSz="914400" rtl="0" eaLnBrk="1" latinLnBrk="0" hangingPunct="1">
              <a:lnSpc>
                <a:spcPct val="100000"/>
              </a:lnSpc>
              <a:spcBef>
                <a:spcPts val="1200"/>
              </a:spcBef>
              <a:buClr>
                <a:schemeClr val="accent1"/>
              </a:buClr>
              <a:buFontTx/>
              <a:buNone/>
              <a:tabLst/>
              <a:defRPr sz="1600" b="0" i="0" kern="1200">
                <a:solidFill>
                  <a:schemeClr val="bg1"/>
                </a:solidFill>
                <a:latin typeface="+mj-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6"/>
                    </a:ext>
                  </a:extLst>
                </a:blip>
              </a:buBlip>
              <a:tabLst/>
              <a:defRPr sz="1600" b="0" i="0" kern="1200">
                <a:solidFill>
                  <a:schemeClr val="bg1"/>
                </a:solidFill>
                <a:latin typeface="+mj-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1600" b="0" i="0" kern="1200">
                <a:solidFill>
                  <a:schemeClr val="bg1"/>
                </a:solidFill>
                <a:latin typeface="+mj-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1600" b="0" i="0" kern="1200">
                <a:solidFill>
                  <a:schemeClr val="bg1"/>
                </a:solidFill>
                <a:latin typeface="+mj-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
                <a:srgbClr val="D62B1E"/>
              </a:buClr>
              <a:buSzTx/>
              <a:buFontTx/>
              <a:buNone/>
              <a:tabLst/>
              <a:defRPr/>
            </a:pPr>
            <a:r>
              <a:rPr kumimoji="0" lang="en-US" sz="1600" i="0" u="none" strike="noStrike" kern="1200" cap="none" spc="0" normalizeH="0" baseline="0" noProof="0">
                <a:ln>
                  <a:noFill/>
                </a:ln>
                <a:solidFill>
                  <a:srgbClr val="FFFFFF"/>
                </a:solidFill>
                <a:effectLst/>
                <a:uLnTx/>
                <a:uFillTx/>
                <a:latin typeface="+mn-lt"/>
                <a:ea typeface="+mn-lt"/>
                <a:cs typeface="+mn-lt"/>
                <a:sym typeface="+mn-lt"/>
              </a:rPr>
              <a:t>Drive global awareness of MTAP deletion as a predictive biomarker for PRMT5i</a:t>
            </a:r>
          </a:p>
        </p:txBody>
      </p:sp>
      <p:grpSp>
        <p:nvGrpSpPr>
          <p:cNvPr id="6" name="Group 5">
            <a:extLst>
              <a:ext uri="{FF2B5EF4-FFF2-40B4-BE49-F238E27FC236}">
                <a16:creationId xmlns:a16="http://schemas.microsoft.com/office/drawing/2014/main" id="{189C048C-1CB2-007A-2681-F10AED0A7B1C}"/>
              </a:ext>
            </a:extLst>
          </p:cNvPr>
          <p:cNvGrpSpPr/>
          <p:nvPr/>
        </p:nvGrpSpPr>
        <p:grpSpPr>
          <a:xfrm>
            <a:off x="456554" y="1272981"/>
            <a:ext cx="309693" cy="266519"/>
            <a:chOff x="3566911" y="3888478"/>
            <a:chExt cx="498763" cy="423193"/>
          </a:xfrm>
        </p:grpSpPr>
        <p:sp>
          <p:nvSpPr>
            <p:cNvPr id="7" name="Round Same Side Corner Rectangle 46">
              <a:extLst>
                <a:ext uri="{FF2B5EF4-FFF2-40B4-BE49-F238E27FC236}">
                  <a16:creationId xmlns:a16="http://schemas.microsoft.com/office/drawing/2014/main" id="{35342399-3CAE-F9A2-B0E6-705532EC9C9B}"/>
                </a:ext>
              </a:extLst>
            </p:cNvPr>
            <p:cNvSpPr/>
            <p:nvPr/>
          </p:nvSpPr>
          <p:spPr>
            <a:xfrm rot="10800000">
              <a:off x="3566911" y="3888478"/>
              <a:ext cx="498763" cy="423193"/>
            </a:xfrm>
            <a:prstGeom prst="round2Same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8" name="Text Placeholder 32">
              <a:extLst>
                <a:ext uri="{FF2B5EF4-FFF2-40B4-BE49-F238E27FC236}">
                  <a16:creationId xmlns:a16="http://schemas.microsoft.com/office/drawing/2014/main" id="{B683689A-602C-E06F-645F-9D38D9DD7880}"/>
                </a:ext>
              </a:extLst>
            </p:cNvPr>
            <p:cNvSpPr txBox="1">
              <a:spLocks/>
            </p:cNvSpPr>
            <p:nvPr/>
          </p:nvSpPr>
          <p:spPr>
            <a:xfrm>
              <a:off x="3642486" y="3975121"/>
              <a:ext cx="347623" cy="303214"/>
            </a:xfrm>
            <a:prstGeom prst="rect">
              <a:avLst/>
            </a:prstGeom>
          </p:spPr>
          <p:txBody>
            <a:bodyPr anchor="ctr"/>
            <a:lst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a:extLst>
                      <a:ext uri="{96DAC541-7B7A-43D3-8B79-37D633B846F1}">
                        <asvg:svgBlip xmlns:asvg="http://schemas.microsoft.com/office/drawing/2016/SVG/main" r:embed="rId7"/>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6"/>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
                  <a:srgbClr val="D62B1E"/>
                </a:buClr>
                <a:buSzTx/>
                <a:buFontTx/>
                <a:buNone/>
                <a:tabLst/>
                <a:defRPr/>
              </a:pPr>
              <a:r>
                <a:rPr kumimoji="0" lang="en-US" sz="1200" b="1" i="0" u="none" strike="noStrike" kern="1200" cap="none" spc="0" normalizeH="0" baseline="0" noProof="0">
                  <a:ln>
                    <a:noFill/>
                  </a:ln>
                  <a:solidFill>
                    <a:srgbClr val="FFFFFF"/>
                  </a:solidFill>
                  <a:effectLst/>
                  <a:uLnTx/>
                  <a:uFillTx/>
                  <a:latin typeface="Poppins"/>
                  <a:ea typeface="Verdana" panose="020B0604030504040204" pitchFamily="34" charset="0"/>
                </a:rPr>
                <a:t>2</a:t>
              </a:r>
            </a:p>
          </p:txBody>
        </p:sp>
      </p:grpSp>
      <p:sp>
        <p:nvSpPr>
          <p:cNvPr id="33" name="Rounded Rectangle 23">
            <a:extLst>
              <a:ext uri="{FF2B5EF4-FFF2-40B4-BE49-F238E27FC236}">
                <a16:creationId xmlns:a16="http://schemas.microsoft.com/office/drawing/2014/main" id="{C20AB854-6CAF-FD2E-E946-740D8BEAE304}"/>
              </a:ext>
            </a:extLst>
          </p:cNvPr>
          <p:cNvSpPr/>
          <p:nvPr/>
        </p:nvSpPr>
        <p:spPr>
          <a:xfrm>
            <a:off x="354079" y="3216298"/>
            <a:ext cx="3708000" cy="576072"/>
          </a:xfrm>
          <a:prstGeom prst="roundRect">
            <a:avLst>
              <a:gd name="adj" fmla="val 6118"/>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accent1"/>
                </a:solidFill>
                <a:cs typeface="Poppins" pitchFamily="2" charset="77"/>
              </a:rPr>
              <a:t>NSCLC_HI_11</a:t>
            </a:r>
            <a:r>
              <a:rPr lang="en-US" sz="1000">
                <a:solidFill>
                  <a:schemeClr val="accent1"/>
                </a:solidFill>
                <a:cs typeface="Poppins" pitchFamily="2" charset="77"/>
              </a:rPr>
              <a:t>: </a:t>
            </a:r>
            <a:r>
              <a:rPr lang="en-US" sz="1000" i="1">
                <a:solidFill>
                  <a:schemeClr val="accent1"/>
                </a:solidFill>
              </a:rPr>
              <a:t>(1L) </a:t>
            </a:r>
            <a:r>
              <a:rPr lang="en-US" sz="1000">
                <a:solidFill>
                  <a:schemeClr val="accent1"/>
                </a:solidFill>
              </a:rPr>
              <a:t>Regulation of PD-L1 expression </a:t>
            </a:r>
          </a:p>
          <a:p>
            <a:pPr fontAlgn="ctr"/>
            <a:r>
              <a:rPr lang="en-US" sz="1000">
                <a:solidFill>
                  <a:schemeClr val="accent1"/>
                </a:solidFill>
              </a:rPr>
              <a:t>by BGB-58067 and associated efficacy across </a:t>
            </a:r>
          </a:p>
          <a:p>
            <a:pPr fontAlgn="ctr"/>
            <a:r>
              <a:rPr lang="en-US" sz="1000">
                <a:solidFill>
                  <a:schemeClr val="accent1"/>
                </a:solidFill>
              </a:rPr>
              <a:t>baseline PD-L1 subgroups </a:t>
            </a:r>
          </a:p>
        </p:txBody>
      </p:sp>
      <p:sp>
        <p:nvSpPr>
          <p:cNvPr id="35" name="Rounded Rectangle 23">
            <a:extLst>
              <a:ext uri="{FF2B5EF4-FFF2-40B4-BE49-F238E27FC236}">
                <a16:creationId xmlns:a16="http://schemas.microsoft.com/office/drawing/2014/main" id="{AF026DBA-E754-7A51-0C6E-8611B6D15E58}"/>
              </a:ext>
            </a:extLst>
          </p:cNvPr>
          <p:cNvSpPr/>
          <p:nvPr/>
        </p:nvSpPr>
        <p:spPr>
          <a:xfrm>
            <a:off x="4241607" y="5318477"/>
            <a:ext cx="3708000" cy="576072"/>
          </a:xfrm>
          <a:prstGeom prst="roundRect">
            <a:avLst>
              <a:gd name="adj" fmla="val 6118"/>
            </a:avLst>
          </a:prstGeom>
          <a:solidFill>
            <a:srgbClr val="CCD3E3"/>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tx2"/>
                </a:solidFill>
                <a:cs typeface="Poppins" pitchFamily="2" charset="77"/>
              </a:rPr>
              <a:t>NSCLC_AD_06</a:t>
            </a:r>
            <a:r>
              <a:rPr lang="en-US" sz="1000">
                <a:solidFill>
                  <a:schemeClr val="tx2"/>
                </a:solidFill>
                <a:cs typeface="Poppins" pitchFamily="2" charset="77"/>
              </a:rPr>
              <a:t>: </a:t>
            </a:r>
            <a:r>
              <a:rPr lang="en-US" sz="1000" i="1">
                <a:solidFill>
                  <a:schemeClr val="tx2"/>
                </a:solidFill>
              </a:rPr>
              <a:t>(1L and 2L+) </a:t>
            </a:r>
            <a:r>
              <a:rPr lang="en-US" sz="1000">
                <a:solidFill>
                  <a:schemeClr val="tx2"/>
                </a:solidFill>
              </a:rPr>
              <a:t>BGB-58067 efficacy across testing modalities and correlation with MTAP detection accuracy </a:t>
            </a:r>
          </a:p>
        </p:txBody>
      </p:sp>
      <p:sp>
        <p:nvSpPr>
          <p:cNvPr id="36" name="Rounded Rectangle 23">
            <a:extLst>
              <a:ext uri="{FF2B5EF4-FFF2-40B4-BE49-F238E27FC236}">
                <a16:creationId xmlns:a16="http://schemas.microsoft.com/office/drawing/2014/main" id="{7FEF5C6F-7897-DD2B-38C7-2480F0EE0E1F}"/>
              </a:ext>
            </a:extLst>
          </p:cNvPr>
          <p:cNvSpPr/>
          <p:nvPr/>
        </p:nvSpPr>
        <p:spPr>
          <a:xfrm>
            <a:off x="4241607" y="3216298"/>
            <a:ext cx="3708000" cy="576072"/>
          </a:xfrm>
          <a:prstGeom prst="roundRect">
            <a:avLst>
              <a:gd name="adj" fmla="val 6118"/>
            </a:avLst>
          </a:prstGeom>
          <a:solidFill>
            <a:srgbClr val="CCD3E3"/>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accent3"/>
                </a:solidFill>
                <a:cs typeface="Poppins" pitchFamily="2" charset="77"/>
              </a:rPr>
              <a:t>NSCLC_AD_03</a:t>
            </a:r>
            <a:r>
              <a:rPr lang="en-US" sz="1000">
                <a:solidFill>
                  <a:schemeClr val="accent3"/>
                </a:solidFill>
                <a:cs typeface="Poppins" pitchFamily="2" charset="77"/>
              </a:rPr>
              <a:t>: </a:t>
            </a:r>
            <a:r>
              <a:rPr lang="en-US" sz="1000" i="1">
                <a:solidFill>
                  <a:schemeClr val="accent3"/>
                </a:solidFill>
              </a:rPr>
              <a:t>(1L and 2L+)</a:t>
            </a:r>
            <a:r>
              <a:rPr lang="en-US" sz="1000">
                <a:solidFill>
                  <a:schemeClr val="accent3"/>
                </a:solidFill>
              </a:rPr>
              <a:t> MTAP-deletion prevalence and clinical characteristics in NSCLC with vs. without CNS metastases</a:t>
            </a:r>
          </a:p>
        </p:txBody>
      </p:sp>
      <p:sp>
        <p:nvSpPr>
          <p:cNvPr id="37" name="Rounded Rectangle 23">
            <a:extLst>
              <a:ext uri="{FF2B5EF4-FFF2-40B4-BE49-F238E27FC236}">
                <a16:creationId xmlns:a16="http://schemas.microsoft.com/office/drawing/2014/main" id="{AC9F8F44-865F-D284-9151-7AF259295D2E}"/>
              </a:ext>
            </a:extLst>
          </p:cNvPr>
          <p:cNvSpPr/>
          <p:nvPr/>
        </p:nvSpPr>
        <p:spPr>
          <a:xfrm>
            <a:off x="354079" y="5318477"/>
            <a:ext cx="3708000" cy="576072"/>
          </a:xfrm>
          <a:prstGeom prst="roundRect">
            <a:avLst>
              <a:gd name="adj" fmla="val 6118"/>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bg1">
                    <a:lumMod val="50000"/>
                  </a:schemeClr>
                </a:solidFill>
                <a:cs typeface="Poppins"/>
              </a:rPr>
              <a:t>NSCLC_GA_05</a:t>
            </a:r>
            <a:r>
              <a:rPr lang="en-US" sz="1000">
                <a:solidFill>
                  <a:schemeClr val="bg1">
                    <a:lumMod val="50000"/>
                  </a:schemeClr>
                </a:solidFill>
                <a:cs typeface="Poppins"/>
              </a:rPr>
              <a:t>: </a:t>
            </a:r>
            <a:r>
              <a:rPr lang="en-US" sz="1000" i="1">
                <a:solidFill>
                  <a:schemeClr val="bg1">
                    <a:lumMod val="50000"/>
                  </a:schemeClr>
                </a:solidFill>
              </a:rPr>
              <a:t>(1L and 2L+)</a:t>
            </a:r>
            <a:r>
              <a:rPr lang="en-US" sz="1000">
                <a:solidFill>
                  <a:schemeClr val="bg1">
                    <a:lumMod val="50000"/>
                  </a:schemeClr>
                </a:solidFill>
              </a:rPr>
              <a:t> Clinical predictive value of genomic MTAP deletion vs. MTAP protein loss for BGB-58067 response</a:t>
            </a:r>
          </a:p>
        </p:txBody>
      </p:sp>
      <p:sp>
        <p:nvSpPr>
          <p:cNvPr id="38" name="Rounded Rectangle 23">
            <a:extLst>
              <a:ext uri="{FF2B5EF4-FFF2-40B4-BE49-F238E27FC236}">
                <a16:creationId xmlns:a16="http://schemas.microsoft.com/office/drawing/2014/main" id="{7EA00395-79BC-DB02-873F-B02F37FDFD04}"/>
              </a:ext>
            </a:extLst>
          </p:cNvPr>
          <p:cNvSpPr/>
          <p:nvPr/>
        </p:nvSpPr>
        <p:spPr>
          <a:xfrm>
            <a:off x="8129135" y="2515571"/>
            <a:ext cx="3708000" cy="576072"/>
          </a:xfrm>
          <a:prstGeom prst="roundRect">
            <a:avLst>
              <a:gd name="adj" fmla="val 6118"/>
            </a:avLst>
          </a:prstGeom>
          <a:solidFill>
            <a:srgbClr val="CCD3E3"/>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tx2"/>
                </a:solidFill>
                <a:cs typeface="Poppins" pitchFamily="2" charset="77"/>
              </a:rPr>
              <a:t>NSCLC_AD_08</a:t>
            </a:r>
            <a:r>
              <a:rPr lang="en-US" sz="1000">
                <a:solidFill>
                  <a:schemeClr val="tx2"/>
                </a:solidFill>
                <a:cs typeface="Poppins" pitchFamily="2" charset="77"/>
              </a:rPr>
              <a:t>: </a:t>
            </a:r>
            <a:r>
              <a:rPr lang="en-US" sz="1000" i="1">
                <a:solidFill>
                  <a:schemeClr val="tx2"/>
                </a:solidFill>
              </a:rPr>
              <a:t>(1L and 2L+) </a:t>
            </a:r>
            <a:r>
              <a:rPr lang="en-US" sz="1000">
                <a:solidFill>
                  <a:schemeClr val="tx2"/>
                </a:solidFill>
              </a:rPr>
              <a:t>Predictive biomarkers of response, non-response, and safety for BGB-58067</a:t>
            </a:r>
            <a:br>
              <a:rPr lang="en-US" sz="1000">
                <a:solidFill>
                  <a:schemeClr val="tx2"/>
                </a:solidFill>
              </a:rPr>
            </a:br>
            <a:r>
              <a:rPr lang="en-US" sz="1000">
                <a:solidFill>
                  <a:schemeClr val="tx2"/>
                </a:solidFill>
              </a:rPr>
              <a:t>across lines of therapy</a:t>
            </a:r>
          </a:p>
        </p:txBody>
      </p:sp>
      <p:sp>
        <p:nvSpPr>
          <p:cNvPr id="39" name="Rounded Rectangle 23">
            <a:extLst>
              <a:ext uri="{FF2B5EF4-FFF2-40B4-BE49-F238E27FC236}">
                <a16:creationId xmlns:a16="http://schemas.microsoft.com/office/drawing/2014/main" id="{C870DFD5-1CEE-8898-073B-2847E87318DC}"/>
              </a:ext>
            </a:extLst>
          </p:cNvPr>
          <p:cNvSpPr/>
          <p:nvPr/>
        </p:nvSpPr>
        <p:spPr>
          <a:xfrm>
            <a:off x="4241607" y="3917025"/>
            <a:ext cx="3708000" cy="576072"/>
          </a:xfrm>
          <a:prstGeom prst="roundRect">
            <a:avLst>
              <a:gd name="adj" fmla="val 6118"/>
            </a:avLst>
          </a:prstGeom>
          <a:solidFill>
            <a:srgbClr val="CCD3E3"/>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tx2"/>
                </a:solidFill>
                <a:cs typeface="Poppins" pitchFamily="2" charset="77"/>
              </a:rPr>
              <a:t>NSCLC_AD_04</a:t>
            </a:r>
            <a:r>
              <a:rPr lang="en-US" sz="1000">
                <a:solidFill>
                  <a:schemeClr val="tx2"/>
                </a:solidFill>
                <a:cs typeface="Poppins" pitchFamily="2" charset="77"/>
              </a:rPr>
              <a:t>: </a:t>
            </a:r>
            <a:r>
              <a:rPr lang="en-US" sz="1000" i="1">
                <a:solidFill>
                  <a:schemeClr val="tx2"/>
                </a:solidFill>
              </a:rPr>
              <a:t>(1L and 2L+) </a:t>
            </a:r>
            <a:r>
              <a:rPr lang="en-US" sz="1000">
                <a:solidFill>
                  <a:schemeClr val="tx2"/>
                </a:solidFill>
              </a:rPr>
              <a:t>MTAP-del and co-mutation prevalence in squamous vs. non-squamous </a:t>
            </a:r>
            <a:r>
              <a:rPr lang="en-US" sz="1000" err="1">
                <a:solidFill>
                  <a:schemeClr val="tx2"/>
                </a:solidFill>
              </a:rPr>
              <a:t>histologies</a:t>
            </a:r>
            <a:endParaRPr lang="en-US" sz="1000">
              <a:solidFill>
                <a:schemeClr val="tx2"/>
              </a:solidFill>
            </a:endParaRPr>
          </a:p>
        </p:txBody>
      </p:sp>
      <p:sp>
        <p:nvSpPr>
          <p:cNvPr id="40" name="Rounded Rectangle 23">
            <a:extLst>
              <a:ext uri="{FF2B5EF4-FFF2-40B4-BE49-F238E27FC236}">
                <a16:creationId xmlns:a16="http://schemas.microsoft.com/office/drawing/2014/main" id="{1668D6A3-64B9-06D3-C61D-D89785EEDF6A}"/>
              </a:ext>
            </a:extLst>
          </p:cNvPr>
          <p:cNvSpPr/>
          <p:nvPr/>
        </p:nvSpPr>
        <p:spPr>
          <a:xfrm>
            <a:off x="354079" y="2515571"/>
            <a:ext cx="3708000" cy="576072"/>
          </a:xfrm>
          <a:prstGeom prst="roundRect">
            <a:avLst>
              <a:gd name="adj" fmla="val 6118"/>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accent1"/>
                </a:solidFill>
                <a:cs typeface="Poppins" pitchFamily="2" charset="77"/>
              </a:rPr>
              <a:t>NSCLC_HI_10</a:t>
            </a:r>
            <a:r>
              <a:rPr lang="en-US" sz="1000">
                <a:solidFill>
                  <a:schemeClr val="accent1"/>
                </a:solidFill>
                <a:cs typeface="Poppins" pitchFamily="2" charset="77"/>
              </a:rPr>
              <a:t>: </a:t>
            </a:r>
            <a:r>
              <a:rPr lang="en-US" sz="1000" i="1">
                <a:solidFill>
                  <a:schemeClr val="accent1"/>
                </a:solidFill>
              </a:rPr>
              <a:t>(1L and 2L+) </a:t>
            </a:r>
            <a:r>
              <a:rPr lang="en-US" sz="1000">
                <a:solidFill>
                  <a:schemeClr val="accent1"/>
                </a:solidFill>
              </a:rPr>
              <a:t>BGB-58067 response across</a:t>
            </a:r>
            <a:br>
              <a:rPr lang="en-US" sz="1000">
                <a:solidFill>
                  <a:schemeClr val="accent1"/>
                </a:solidFill>
              </a:rPr>
            </a:br>
            <a:r>
              <a:rPr lang="en-US" sz="1000">
                <a:solidFill>
                  <a:schemeClr val="accent1"/>
                </a:solidFill>
              </a:rPr>
              <a:t>MTAP-deletion heterogeneity levels</a:t>
            </a:r>
          </a:p>
        </p:txBody>
      </p:sp>
      <p:sp>
        <p:nvSpPr>
          <p:cNvPr id="45" name="Rounded Rectangle 23">
            <a:extLst>
              <a:ext uri="{FF2B5EF4-FFF2-40B4-BE49-F238E27FC236}">
                <a16:creationId xmlns:a16="http://schemas.microsoft.com/office/drawing/2014/main" id="{BFA9EFCB-DCCF-3557-B33F-C4D1D94FACD8}"/>
              </a:ext>
            </a:extLst>
          </p:cNvPr>
          <p:cNvSpPr/>
          <p:nvPr/>
        </p:nvSpPr>
        <p:spPr>
          <a:xfrm>
            <a:off x="8129135" y="3216298"/>
            <a:ext cx="3708000" cy="576072"/>
          </a:xfrm>
          <a:prstGeom prst="roundRect">
            <a:avLst>
              <a:gd name="adj" fmla="val 6118"/>
            </a:avLst>
          </a:prstGeom>
          <a:solidFill>
            <a:srgbClr val="CCD3E3"/>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tx2"/>
                </a:solidFill>
                <a:cs typeface="Poppins" pitchFamily="2" charset="77"/>
              </a:rPr>
              <a:t>NSCLC_AD_09</a:t>
            </a:r>
            <a:r>
              <a:rPr lang="en-US" sz="1000">
                <a:solidFill>
                  <a:schemeClr val="tx2"/>
                </a:solidFill>
                <a:cs typeface="Poppins" pitchFamily="2" charset="77"/>
              </a:rPr>
              <a:t>: </a:t>
            </a:r>
            <a:r>
              <a:rPr lang="en-US" sz="1000" i="1">
                <a:solidFill>
                  <a:schemeClr val="tx2"/>
                </a:solidFill>
              </a:rPr>
              <a:t>(1L and 2L+) </a:t>
            </a:r>
            <a:r>
              <a:rPr lang="en-US" sz="1000">
                <a:solidFill>
                  <a:schemeClr val="tx2"/>
                </a:solidFill>
              </a:rPr>
              <a:t>BGB-58067's impact on biomarker‑driven endpoints and their correlation with efficacy outcomes </a:t>
            </a:r>
          </a:p>
        </p:txBody>
      </p:sp>
      <p:sp>
        <p:nvSpPr>
          <p:cNvPr id="47" name="Rounded Rectangle 23">
            <a:extLst>
              <a:ext uri="{FF2B5EF4-FFF2-40B4-BE49-F238E27FC236}">
                <a16:creationId xmlns:a16="http://schemas.microsoft.com/office/drawing/2014/main" id="{92F88077-CE8D-D979-A78B-07B81BA74E0D}"/>
              </a:ext>
            </a:extLst>
          </p:cNvPr>
          <p:cNvSpPr/>
          <p:nvPr/>
        </p:nvSpPr>
        <p:spPr>
          <a:xfrm>
            <a:off x="8129135" y="1823879"/>
            <a:ext cx="3708000" cy="576072"/>
          </a:xfrm>
          <a:prstGeom prst="roundRect">
            <a:avLst>
              <a:gd name="adj" fmla="val 6118"/>
            </a:avLst>
          </a:prstGeom>
          <a:solidFill>
            <a:srgbClr val="CCD3E3"/>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tx2"/>
                </a:solidFill>
                <a:cs typeface="Poppins" pitchFamily="2" charset="77"/>
              </a:rPr>
              <a:t>NSCLC_AD_07</a:t>
            </a:r>
            <a:r>
              <a:rPr lang="en-US" sz="1000">
                <a:solidFill>
                  <a:schemeClr val="tx2"/>
                </a:solidFill>
                <a:cs typeface="Poppins" pitchFamily="2" charset="77"/>
              </a:rPr>
              <a:t>: </a:t>
            </a:r>
            <a:r>
              <a:rPr lang="en-US" sz="1000" i="1">
                <a:solidFill>
                  <a:schemeClr val="tx2"/>
                </a:solidFill>
              </a:rPr>
              <a:t>(1L and 2L+) </a:t>
            </a:r>
            <a:r>
              <a:rPr lang="en-US" sz="1000" err="1">
                <a:solidFill>
                  <a:schemeClr val="tx2"/>
                </a:solidFill>
              </a:rPr>
              <a:t>CDx</a:t>
            </a:r>
            <a:r>
              <a:rPr lang="en-US" sz="1000">
                <a:solidFill>
                  <a:schemeClr val="tx2"/>
                </a:solidFill>
              </a:rPr>
              <a:t> concordance across tissue NGS, blood NGS, and IHC MTAP-deletion testing methods</a:t>
            </a:r>
          </a:p>
        </p:txBody>
      </p:sp>
      <p:sp>
        <p:nvSpPr>
          <p:cNvPr id="48" name="Rounded Rectangle 23">
            <a:extLst>
              <a:ext uri="{FF2B5EF4-FFF2-40B4-BE49-F238E27FC236}">
                <a16:creationId xmlns:a16="http://schemas.microsoft.com/office/drawing/2014/main" id="{7AC425EF-A1FF-E264-3119-E61C7591D6A2}"/>
              </a:ext>
            </a:extLst>
          </p:cNvPr>
          <p:cNvSpPr/>
          <p:nvPr/>
        </p:nvSpPr>
        <p:spPr>
          <a:xfrm>
            <a:off x="4241607" y="4617752"/>
            <a:ext cx="3708000" cy="576072"/>
          </a:xfrm>
          <a:prstGeom prst="roundRect">
            <a:avLst>
              <a:gd name="adj" fmla="val 6118"/>
            </a:avLst>
          </a:prstGeom>
          <a:solidFill>
            <a:srgbClr val="CCD3E3"/>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tx2"/>
                </a:solidFill>
                <a:cs typeface="Poppins" pitchFamily="2" charset="77"/>
              </a:rPr>
              <a:t>NSCLC_AD_05</a:t>
            </a:r>
            <a:r>
              <a:rPr lang="en-US" sz="1000">
                <a:solidFill>
                  <a:schemeClr val="tx2"/>
                </a:solidFill>
                <a:cs typeface="Poppins" pitchFamily="2" charset="77"/>
              </a:rPr>
              <a:t>: </a:t>
            </a:r>
            <a:r>
              <a:rPr lang="en-US" sz="1000" i="1">
                <a:solidFill>
                  <a:schemeClr val="tx2"/>
                </a:solidFill>
              </a:rPr>
              <a:t>(1L and 2L+) </a:t>
            </a:r>
            <a:r>
              <a:rPr lang="en-US" sz="1000">
                <a:solidFill>
                  <a:schemeClr val="tx2"/>
                </a:solidFill>
              </a:rPr>
              <a:t>Identification of patients with alternative MTAP downregulation and their BGB-58067 outcomes</a:t>
            </a:r>
          </a:p>
        </p:txBody>
      </p:sp>
      <p:sp>
        <p:nvSpPr>
          <p:cNvPr id="51" name="Rounded Rectangle 23">
            <a:extLst>
              <a:ext uri="{FF2B5EF4-FFF2-40B4-BE49-F238E27FC236}">
                <a16:creationId xmlns:a16="http://schemas.microsoft.com/office/drawing/2014/main" id="{7DAC745B-E5B3-DFD8-718A-0C1DB5375F64}"/>
              </a:ext>
            </a:extLst>
          </p:cNvPr>
          <p:cNvSpPr/>
          <p:nvPr/>
        </p:nvSpPr>
        <p:spPr>
          <a:xfrm>
            <a:off x="354079" y="3917025"/>
            <a:ext cx="3708000" cy="576072"/>
          </a:xfrm>
          <a:prstGeom prst="roundRect">
            <a:avLst>
              <a:gd name="adj" fmla="val 6118"/>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defTabSz="914400"/>
            <a:r>
              <a:rPr lang="en-US" sz="1000" b="1">
                <a:solidFill>
                  <a:schemeClr val="accent1"/>
                </a:solidFill>
                <a:cs typeface="Poppins" pitchFamily="2" charset="77"/>
              </a:rPr>
              <a:t>NSCLC_HI_12</a:t>
            </a:r>
            <a:r>
              <a:rPr lang="en-US" sz="1000">
                <a:solidFill>
                  <a:schemeClr val="accent1"/>
                </a:solidFill>
                <a:cs typeface="Poppins" pitchFamily="2" charset="77"/>
              </a:rPr>
              <a:t>: </a:t>
            </a:r>
            <a:r>
              <a:rPr lang="en-US" sz="1000" i="1">
                <a:solidFill>
                  <a:schemeClr val="accent1"/>
                </a:solidFill>
                <a:cs typeface="Poppins" pitchFamily="2" charset="77"/>
              </a:rPr>
              <a:t>(1L and 2L+) </a:t>
            </a:r>
            <a:r>
              <a:rPr lang="en-US" sz="1000">
                <a:solidFill>
                  <a:schemeClr val="accent1"/>
                </a:solidFill>
                <a:cs typeface="Poppins" pitchFamily="2" charset="77"/>
              </a:rPr>
              <a:t>BGB-58067 outcomes in MTAP-del NSCLC with actionable co-mutations vs. single-mutation cohorts</a:t>
            </a:r>
          </a:p>
        </p:txBody>
      </p:sp>
      <p:sp>
        <p:nvSpPr>
          <p:cNvPr id="52" name="Rounded Rectangle 23">
            <a:extLst>
              <a:ext uri="{FF2B5EF4-FFF2-40B4-BE49-F238E27FC236}">
                <a16:creationId xmlns:a16="http://schemas.microsoft.com/office/drawing/2014/main" id="{AD40ABBC-2709-0AB6-6178-B2FC8F89097D}"/>
              </a:ext>
            </a:extLst>
          </p:cNvPr>
          <p:cNvSpPr/>
          <p:nvPr/>
        </p:nvSpPr>
        <p:spPr>
          <a:xfrm>
            <a:off x="4239399" y="1830683"/>
            <a:ext cx="3708000" cy="576072"/>
          </a:xfrm>
          <a:prstGeom prst="roundRect">
            <a:avLst>
              <a:gd name="adj" fmla="val 6118"/>
            </a:avLst>
          </a:prstGeom>
          <a:solidFill>
            <a:schemeClr val="bg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defTabSz="914400"/>
            <a:r>
              <a:rPr lang="en-US" sz="1000" b="1">
                <a:solidFill>
                  <a:schemeClr val="bg1">
                    <a:lumMod val="50000"/>
                  </a:schemeClr>
                </a:solidFill>
                <a:cs typeface="Poppins" pitchFamily="2" charset="77"/>
              </a:rPr>
              <a:t>NSCLC_GA_06</a:t>
            </a:r>
            <a:r>
              <a:rPr lang="en-US" sz="1000">
                <a:solidFill>
                  <a:schemeClr val="bg1">
                    <a:lumMod val="50000"/>
                  </a:schemeClr>
                </a:solidFill>
                <a:cs typeface="Poppins" pitchFamily="2" charset="77"/>
              </a:rPr>
              <a:t>: </a:t>
            </a:r>
            <a:r>
              <a:rPr lang="en-US" sz="1000" i="1">
                <a:solidFill>
                  <a:srgbClr val="757070"/>
                </a:solidFill>
                <a:cs typeface="Poppins" pitchFamily="2" charset="77"/>
              </a:rPr>
              <a:t>(2L+) </a:t>
            </a:r>
            <a:r>
              <a:rPr lang="en-US" sz="1000">
                <a:solidFill>
                  <a:srgbClr val="757070"/>
                </a:solidFill>
                <a:cs typeface="Poppins" pitchFamily="2" charset="77"/>
              </a:rPr>
              <a:t>Efficacy and safety of BGB-58067 vs. KRAS G12C inhibitors in MTAP-del NSCLC with KRAS co-mutations</a:t>
            </a:r>
          </a:p>
        </p:txBody>
      </p:sp>
      <p:sp>
        <p:nvSpPr>
          <p:cNvPr id="43" name="Rounded Rectangle 23">
            <a:extLst>
              <a:ext uri="{FF2B5EF4-FFF2-40B4-BE49-F238E27FC236}">
                <a16:creationId xmlns:a16="http://schemas.microsoft.com/office/drawing/2014/main" id="{2390C491-AE35-89EB-EAEE-11AB838CF6B6}"/>
              </a:ext>
            </a:extLst>
          </p:cNvPr>
          <p:cNvSpPr/>
          <p:nvPr/>
        </p:nvSpPr>
        <p:spPr>
          <a:xfrm>
            <a:off x="4239399" y="2515571"/>
            <a:ext cx="3708000" cy="576072"/>
          </a:xfrm>
          <a:prstGeom prst="roundRect">
            <a:avLst>
              <a:gd name="adj" fmla="val 6118"/>
            </a:avLst>
          </a:prstGeom>
          <a:solidFill>
            <a:schemeClr val="bg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defTabSz="914400"/>
            <a:r>
              <a:rPr lang="en-US" sz="1000" b="1">
                <a:solidFill>
                  <a:schemeClr val="bg1">
                    <a:lumMod val="50000"/>
                  </a:schemeClr>
                </a:solidFill>
                <a:cs typeface="Poppins" pitchFamily="2" charset="77"/>
              </a:rPr>
              <a:t>NSCLC_GA_07</a:t>
            </a:r>
            <a:r>
              <a:rPr lang="en-US" sz="1000">
                <a:solidFill>
                  <a:schemeClr val="bg1">
                    <a:lumMod val="50000"/>
                  </a:schemeClr>
                </a:solidFill>
                <a:cs typeface="Poppins" pitchFamily="2" charset="77"/>
              </a:rPr>
              <a:t>: </a:t>
            </a:r>
            <a:r>
              <a:rPr lang="en-US" sz="1000" i="1">
                <a:solidFill>
                  <a:srgbClr val="757070"/>
                </a:solidFill>
                <a:cs typeface="Poppins" pitchFamily="2" charset="77"/>
              </a:rPr>
              <a:t>(1L, 2L+) </a:t>
            </a:r>
            <a:r>
              <a:rPr lang="en-US" sz="1000">
                <a:solidFill>
                  <a:srgbClr val="757070"/>
                </a:solidFill>
                <a:cs typeface="Poppins" pitchFamily="2" charset="77"/>
              </a:rPr>
              <a:t>Variability in MTAP testing infrastructure, access, and interpretation across RW settings</a:t>
            </a:r>
          </a:p>
        </p:txBody>
      </p:sp>
      <p:sp>
        <p:nvSpPr>
          <p:cNvPr id="118" name="Footer Placeholder 2">
            <a:extLst>
              <a:ext uri="{FF2B5EF4-FFF2-40B4-BE49-F238E27FC236}">
                <a16:creationId xmlns:a16="http://schemas.microsoft.com/office/drawing/2014/main" id="{A6B5841B-DB1A-412D-5FC4-E64FB6826209}"/>
              </a:ext>
            </a:extLst>
          </p:cNvPr>
          <p:cNvSpPr>
            <a:spLocks noGrp="1"/>
          </p:cNvSpPr>
          <p:nvPr>
            <p:ph type="ftr" sz="quarter" idx="10"/>
          </p:nvPr>
        </p:nvSpPr>
        <p:spPr>
          <a:xfrm>
            <a:off x="358337" y="6468377"/>
            <a:ext cx="8541114" cy="365760"/>
          </a:xfrm>
        </p:spPr>
        <p:txBody>
          <a:bodyPr/>
          <a:lstStyle/>
          <a:p>
            <a:r>
              <a:rPr lang="en-US">
                <a:solidFill>
                  <a:srgbClr val="595959"/>
                </a:solidFill>
              </a:rPr>
              <a:t>Abbreviations: AD: Addressed; ALK: Anaplastic Lymphoma Kinase; </a:t>
            </a:r>
            <a:r>
              <a:rPr lang="en-US" err="1">
                <a:solidFill>
                  <a:srgbClr val="595959"/>
                </a:solidFill>
              </a:rPr>
              <a:t>CDx</a:t>
            </a:r>
            <a:r>
              <a:rPr lang="en-US">
                <a:solidFill>
                  <a:srgbClr val="595959"/>
                </a:solidFill>
              </a:rPr>
              <a:t>: Companion Diagnostic; CNS: Central Nervous System; Combos: Combinations; CTA: Clinical Trial Assay; EGFR: Epidermal Growth Factor Receptor; GA: Gated Priority; HI: High Priority; IHC: Immunohistochemistry; KRAS G12C: Kirsten Rat Sarcoma Virus Guanine Nucleotide 12 to Cysteine; MTAP: </a:t>
            </a:r>
            <a:r>
              <a:rPr lang="en-US" err="1">
                <a:solidFill>
                  <a:srgbClr val="595959"/>
                </a:solidFill>
              </a:rPr>
              <a:t>Methylthioadenosine</a:t>
            </a:r>
            <a:r>
              <a:rPr lang="en-US">
                <a:solidFill>
                  <a:srgbClr val="595959"/>
                </a:solidFill>
              </a:rPr>
              <a:t> Phosphorylase; NGS: Next-Generation Sequencing; NSCLC: Non-Small Cell Lung Cancer; NSQ: Non-Squamous; PD-L1: Programmed Death-Ligand 1; RW: Real World; SI: Strategic Imperative; SoC: Standard of Care; SQ: Squamous; TAT: Turn Around Time; TKI: Tyrosine Kinase Inhibitor</a:t>
            </a:r>
          </a:p>
        </p:txBody>
      </p:sp>
      <p:sp>
        <p:nvSpPr>
          <p:cNvPr id="20" name="Oval 19">
            <a:extLst>
              <a:ext uri="{FF2B5EF4-FFF2-40B4-BE49-F238E27FC236}">
                <a16:creationId xmlns:a16="http://schemas.microsoft.com/office/drawing/2014/main" id="{52CE91A6-E06C-1218-C5F1-E2F6A99A5FF0}"/>
              </a:ext>
            </a:extLst>
          </p:cNvPr>
          <p:cNvSpPr/>
          <p:nvPr/>
        </p:nvSpPr>
        <p:spPr>
          <a:xfrm>
            <a:off x="11425731" y="1303762"/>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algn="ctr"/>
            <a:endParaRPr lang="en-US">
              <a:solidFill>
                <a:schemeClr val="bg1"/>
              </a:solidFill>
            </a:endParaRPr>
          </a:p>
        </p:txBody>
      </p:sp>
      <p:pic>
        <p:nvPicPr>
          <p:cNvPr id="252" name="Graphic 251">
            <a:extLst>
              <a:ext uri="{FF2B5EF4-FFF2-40B4-BE49-F238E27FC236}">
                <a16:creationId xmlns:a16="http://schemas.microsoft.com/office/drawing/2014/main" id="{E8BA4710-FCA0-C8A9-FB9E-C96D9C7CD0E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447447" y="1331476"/>
            <a:ext cx="288000" cy="288000"/>
          </a:xfrm>
          <a:prstGeom prst="rect">
            <a:avLst/>
          </a:prstGeom>
        </p:spPr>
      </p:pic>
      <p:grpSp>
        <p:nvGrpSpPr>
          <p:cNvPr id="2" name="Group 1">
            <a:extLst>
              <a:ext uri="{FF2B5EF4-FFF2-40B4-BE49-F238E27FC236}">
                <a16:creationId xmlns:a16="http://schemas.microsoft.com/office/drawing/2014/main" id="{EA23ACFD-2BC1-E035-7404-1BF18027BE47}"/>
              </a:ext>
            </a:extLst>
          </p:cNvPr>
          <p:cNvGrpSpPr/>
          <p:nvPr/>
        </p:nvGrpSpPr>
        <p:grpSpPr>
          <a:xfrm>
            <a:off x="8178392" y="4819255"/>
            <a:ext cx="3440815" cy="993698"/>
            <a:chOff x="8151857" y="5026415"/>
            <a:chExt cx="3440815" cy="993698"/>
          </a:xfrm>
        </p:grpSpPr>
        <p:grpSp>
          <p:nvGrpSpPr>
            <p:cNvPr id="3" name="Group 2">
              <a:extLst>
                <a:ext uri="{FF2B5EF4-FFF2-40B4-BE49-F238E27FC236}">
                  <a16:creationId xmlns:a16="http://schemas.microsoft.com/office/drawing/2014/main" id="{DEE7F29E-2429-4646-D4F9-C3E1F2648755}"/>
                </a:ext>
              </a:extLst>
            </p:cNvPr>
            <p:cNvGrpSpPr/>
            <p:nvPr/>
          </p:nvGrpSpPr>
          <p:grpSpPr>
            <a:xfrm>
              <a:off x="8151857" y="5026415"/>
              <a:ext cx="3440815" cy="993698"/>
              <a:chOff x="8122464" y="5113470"/>
              <a:chExt cx="3440815" cy="993698"/>
            </a:xfrm>
          </p:grpSpPr>
          <p:sp>
            <p:nvSpPr>
              <p:cNvPr id="9" name="Rectangle: Rounded Corners 8">
                <a:extLst>
                  <a:ext uri="{FF2B5EF4-FFF2-40B4-BE49-F238E27FC236}">
                    <a16:creationId xmlns:a16="http://schemas.microsoft.com/office/drawing/2014/main" id="{11443ED8-4B1C-D558-F01A-78362AEE252D}"/>
                  </a:ext>
                </a:extLst>
              </p:cNvPr>
              <p:cNvSpPr/>
              <p:nvPr/>
            </p:nvSpPr>
            <p:spPr>
              <a:xfrm rot="16200000">
                <a:off x="9410624" y="3954512"/>
                <a:ext cx="993698" cy="3311613"/>
              </a:xfrm>
              <a:prstGeom prst="roundRect">
                <a:avLst>
                  <a:gd name="adj" fmla="val 3917"/>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10" name="TextBox 9">
                <a:extLst>
                  <a:ext uri="{FF2B5EF4-FFF2-40B4-BE49-F238E27FC236}">
                    <a16:creationId xmlns:a16="http://schemas.microsoft.com/office/drawing/2014/main" id="{D462F21E-B358-AF1D-2B77-9E090D091AD6}"/>
                  </a:ext>
                </a:extLst>
              </p:cNvPr>
              <p:cNvSpPr txBox="1"/>
              <p:nvPr/>
            </p:nvSpPr>
            <p:spPr>
              <a:xfrm>
                <a:off x="8122464" y="5201821"/>
                <a:ext cx="1071704" cy="338554"/>
              </a:xfrm>
              <a:prstGeom prst="rect">
                <a:avLst/>
              </a:prstGeom>
              <a:noFill/>
            </p:spPr>
            <p:txBody>
              <a:bodyPr wrap="square" lIns="36000" tIns="91440" rIns="36000" bIns="91440" rtlCol="0">
                <a:spAutoFit/>
              </a:bodyPr>
              <a:lstStyle/>
              <a:p>
                <a:pPr algn="ctr"/>
                <a:r>
                  <a:rPr lang="en-US" sz="1000" b="1"/>
                  <a:t>Key:</a:t>
                </a:r>
                <a:endParaRPr lang="en-US" sz="1000"/>
              </a:p>
            </p:txBody>
          </p:sp>
          <p:sp>
            <p:nvSpPr>
              <p:cNvPr id="11" name="Rounded Rectangle 26">
                <a:extLst>
                  <a:ext uri="{FF2B5EF4-FFF2-40B4-BE49-F238E27FC236}">
                    <a16:creationId xmlns:a16="http://schemas.microsoft.com/office/drawing/2014/main" id="{134E6E5D-297B-8674-A905-6F06C8A9EEE4}"/>
                  </a:ext>
                </a:extLst>
              </p:cNvPr>
              <p:cNvSpPr/>
              <p:nvPr/>
            </p:nvSpPr>
            <p:spPr>
              <a:xfrm>
                <a:off x="9015840" y="5767199"/>
                <a:ext cx="1097280" cy="219456"/>
              </a:xfrm>
              <a:prstGeom prst="roundRect">
                <a:avLst>
                  <a:gd name="adj" fmla="val 6677"/>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1"/>
                    </a:solidFill>
                    <a:effectLst/>
                    <a:uLnTx/>
                    <a:uFillTx/>
                    <a:latin typeface="Poppins" pitchFamily="2" charset="77"/>
                    <a:cs typeface="Poppins" pitchFamily="2" charset="77"/>
                  </a:rPr>
                  <a:t>High</a:t>
                </a:r>
              </a:p>
            </p:txBody>
          </p:sp>
          <p:sp>
            <p:nvSpPr>
              <p:cNvPr id="12" name="Rounded Rectangle 23">
                <a:extLst>
                  <a:ext uri="{FF2B5EF4-FFF2-40B4-BE49-F238E27FC236}">
                    <a16:creationId xmlns:a16="http://schemas.microsoft.com/office/drawing/2014/main" id="{10719912-A816-DF6D-9738-B5F083E6B254}"/>
                  </a:ext>
                </a:extLst>
              </p:cNvPr>
              <p:cNvSpPr/>
              <p:nvPr/>
            </p:nvSpPr>
            <p:spPr>
              <a:xfrm>
                <a:off x="9015840" y="5529797"/>
                <a:ext cx="1097280" cy="220101"/>
              </a:xfrm>
              <a:prstGeom prst="roundRect">
                <a:avLst>
                  <a:gd name="adj" fmla="val 6118"/>
                </a:avLst>
              </a:prstGeom>
              <a:solidFill>
                <a:srgbClr val="00808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4">
                        <a:lumMod val="75000"/>
                      </a:schemeClr>
                    </a:solidFill>
                    <a:effectLst/>
                    <a:uLnTx/>
                    <a:uFillTx/>
                    <a:latin typeface="Poppins" pitchFamily="2" charset="77"/>
                    <a:cs typeface="Poppins" pitchFamily="2" charset="77"/>
                  </a:rPr>
                  <a:t>Critical</a:t>
                </a:r>
              </a:p>
            </p:txBody>
          </p:sp>
          <p:sp>
            <p:nvSpPr>
              <p:cNvPr id="13" name="Rounded Rectangle 23">
                <a:extLst>
                  <a:ext uri="{FF2B5EF4-FFF2-40B4-BE49-F238E27FC236}">
                    <a16:creationId xmlns:a16="http://schemas.microsoft.com/office/drawing/2014/main" id="{34DCE760-A6CE-236E-4D2C-EAD70255C95E}"/>
                  </a:ext>
                </a:extLst>
              </p:cNvPr>
              <p:cNvSpPr/>
              <p:nvPr/>
            </p:nvSpPr>
            <p:spPr>
              <a:xfrm>
                <a:off x="10150143" y="5767199"/>
                <a:ext cx="1097280" cy="219456"/>
              </a:xfrm>
              <a:prstGeom prst="roundRect">
                <a:avLst>
                  <a:gd name="adj" fmla="val 6118"/>
                </a:avLst>
              </a:prstGeom>
              <a:solidFill>
                <a:srgbClr val="CCD3E3"/>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3"/>
                    </a:solidFill>
                    <a:effectLst/>
                    <a:uLnTx/>
                    <a:uFillTx/>
                    <a:latin typeface="Poppins" pitchFamily="2" charset="77"/>
                    <a:cs typeface="Poppins" pitchFamily="2" charset="77"/>
                  </a:rPr>
                  <a:t>Addressed</a:t>
                </a:r>
              </a:p>
            </p:txBody>
          </p:sp>
          <p:sp>
            <p:nvSpPr>
              <p:cNvPr id="14" name="Rounded Rectangle 23">
                <a:extLst>
                  <a:ext uri="{FF2B5EF4-FFF2-40B4-BE49-F238E27FC236}">
                    <a16:creationId xmlns:a16="http://schemas.microsoft.com/office/drawing/2014/main" id="{987FB44C-FE14-3677-ECD5-95BE20B9D879}"/>
                  </a:ext>
                </a:extLst>
              </p:cNvPr>
              <p:cNvSpPr/>
              <p:nvPr/>
            </p:nvSpPr>
            <p:spPr>
              <a:xfrm>
                <a:off x="10150143" y="5529797"/>
                <a:ext cx="1097280" cy="219456"/>
              </a:xfrm>
              <a:prstGeom prst="roundRect">
                <a:avLst>
                  <a:gd name="adj" fmla="val 6118"/>
                </a:avLst>
              </a:prstGeom>
              <a:solidFill>
                <a:schemeClr val="bg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rgbClr val="757070"/>
                    </a:solidFill>
                    <a:effectLst/>
                    <a:uLnTx/>
                    <a:uFillTx/>
                    <a:latin typeface="Poppins" pitchFamily="2" charset="77"/>
                    <a:cs typeface="Poppins" pitchFamily="2" charset="77"/>
                  </a:rPr>
                  <a:t>Gated</a:t>
                </a:r>
              </a:p>
            </p:txBody>
          </p:sp>
          <p:sp>
            <p:nvSpPr>
              <p:cNvPr id="15" name="Rounded Rectangle 23">
                <a:extLst>
                  <a:ext uri="{FF2B5EF4-FFF2-40B4-BE49-F238E27FC236}">
                    <a16:creationId xmlns:a16="http://schemas.microsoft.com/office/drawing/2014/main" id="{F8E8D1FC-6CEC-6340-C387-37E3C92210EB}"/>
                  </a:ext>
                </a:extLst>
              </p:cNvPr>
              <p:cNvSpPr/>
              <p:nvPr/>
            </p:nvSpPr>
            <p:spPr>
              <a:xfrm>
                <a:off x="9182687" y="5256721"/>
                <a:ext cx="1954095" cy="228754"/>
              </a:xfrm>
              <a:prstGeom prst="roundRect">
                <a:avLst>
                  <a:gd name="adj" fmla="val 6118"/>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defTabSz="914400" rtl="0" eaLnBrk="1" fontAlgn="auto" latinLnBrk="0" hangingPunct="1">
                  <a:lnSpc>
                    <a:spcPct val="100000"/>
                  </a:lnSpc>
                  <a:buClrTx/>
                  <a:buSzTx/>
                  <a:buFontTx/>
                  <a:buNone/>
                  <a:tabLst/>
                  <a:defRPr/>
                </a:pPr>
                <a:r>
                  <a:rPr kumimoji="0" lang="en-US" sz="800" i="0" u="none" strike="noStrike" kern="1200" cap="none" spc="0" normalizeH="0" baseline="0" noProof="0">
                    <a:ln>
                      <a:noFill/>
                    </a:ln>
                    <a:solidFill>
                      <a:schemeClr val="tx1"/>
                    </a:solidFill>
                    <a:effectLst/>
                    <a:uLnTx/>
                    <a:uFillTx/>
                    <a:latin typeface="Poppins" pitchFamily="2" charset="77"/>
                    <a:cs typeface="Poppins" pitchFamily="2" charset="77"/>
                  </a:rPr>
                  <a:t>Indicates partially addressed gaps</a:t>
                </a:r>
              </a:p>
            </p:txBody>
          </p:sp>
        </p:grpSp>
        <p:pic>
          <p:nvPicPr>
            <p:cNvPr id="5" name="Graphic 4">
              <a:extLst>
                <a:ext uri="{FF2B5EF4-FFF2-40B4-BE49-F238E27FC236}">
                  <a16:creationId xmlns:a16="http://schemas.microsoft.com/office/drawing/2014/main" id="{D88A0EA1-3B69-7DC2-DD06-2BBA8B1EB14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015737" y="5162599"/>
              <a:ext cx="252001" cy="252001"/>
            </a:xfrm>
            <a:prstGeom prst="rect">
              <a:avLst/>
            </a:prstGeom>
          </p:spPr>
        </p:pic>
      </p:grpSp>
      <p:pic>
        <p:nvPicPr>
          <p:cNvPr id="16" name="Graphic 15">
            <a:extLst>
              <a:ext uri="{FF2B5EF4-FFF2-40B4-BE49-F238E27FC236}">
                <a16:creationId xmlns:a16="http://schemas.microsoft.com/office/drawing/2014/main" id="{DB838D27-76F6-BC89-F818-2AB758AF632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801138" y="3239802"/>
            <a:ext cx="252001" cy="252001"/>
          </a:xfrm>
          <a:prstGeom prst="rect">
            <a:avLst/>
          </a:prstGeom>
        </p:spPr>
      </p:pic>
      <p:sp>
        <p:nvSpPr>
          <p:cNvPr id="17" name="Rounded Rectangle 23">
            <a:extLst>
              <a:ext uri="{FF2B5EF4-FFF2-40B4-BE49-F238E27FC236}">
                <a16:creationId xmlns:a16="http://schemas.microsoft.com/office/drawing/2014/main" id="{8B14836F-C07B-6B89-BEDB-53B0C6C9DE56}"/>
              </a:ext>
            </a:extLst>
          </p:cNvPr>
          <p:cNvSpPr/>
          <p:nvPr/>
        </p:nvSpPr>
        <p:spPr>
          <a:xfrm>
            <a:off x="8129135" y="3917025"/>
            <a:ext cx="3708000" cy="576072"/>
          </a:xfrm>
          <a:prstGeom prst="roundRect">
            <a:avLst>
              <a:gd name="adj" fmla="val 6118"/>
            </a:avLst>
          </a:prstGeom>
          <a:solidFill>
            <a:srgbClr val="CCD3E3"/>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tx2"/>
                </a:solidFill>
                <a:cs typeface="Poppins" pitchFamily="2" charset="77"/>
              </a:rPr>
              <a:t>NSCLC_AD_10: </a:t>
            </a:r>
            <a:r>
              <a:rPr lang="en-US" sz="1000" i="1">
                <a:solidFill>
                  <a:schemeClr val="tx2"/>
                </a:solidFill>
                <a:cs typeface="Poppins" pitchFamily="2" charset="77"/>
              </a:rPr>
              <a:t>(1L and 2L+) </a:t>
            </a:r>
            <a:r>
              <a:rPr lang="en-US" sz="1000">
                <a:solidFill>
                  <a:schemeClr val="tx2"/>
                </a:solidFill>
                <a:cs typeface="Poppins" pitchFamily="2" charset="77"/>
              </a:rPr>
              <a:t>MTAP deletion prevalence rates with expression of co-mutations (EGFR, ALK, KRAS, etc.)</a:t>
            </a:r>
          </a:p>
        </p:txBody>
      </p:sp>
      <p:grpSp>
        <p:nvGrpSpPr>
          <p:cNvPr id="21" name="Group 20">
            <a:extLst>
              <a:ext uri="{FF2B5EF4-FFF2-40B4-BE49-F238E27FC236}">
                <a16:creationId xmlns:a16="http://schemas.microsoft.com/office/drawing/2014/main" id="{AA57E022-AB9C-0494-7A55-A3131FC42D21}"/>
              </a:ext>
            </a:extLst>
          </p:cNvPr>
          <p:cNvGrpSpPr/>
          <p:nvPr/>
        </p:nvGrpSpPr>
        <p:grpSpPr>
          <a:xfrm>
            <a:off x="354079" y="1823879"/>
            <a:ext cx="3708000" cy="581058"/>
            <a:chOff x="354079" y="2510585"/>
            <a:chExt cx="3708000" cy="581058"/>
          </a:xfrm>
        </p:grpSpPr>
        <p:sp>
          <p:nvSpPr>
            <p:cNvPr id="46" name="Rounded Rectangle 23">
              <a:extLst>
                <a:ext uri="{FF2B5EF4-FFF2-40B4-BE49-F238E27FC236}">
                  <a16:creationId xmlns:a16="http://schemas.microsoft.com/office/drawing/2014/main" id="{3CCB73A7-8B1F-F242-2ECE-C707DBA46D1C}"/>
                </a:ext>
              </a:extLst>
            </p:cNvPr>
            <p:cNvSpPr/>
            <p:nvPr/>
          </p:nvSpPr>
          <p:spPr>
            <a:xfrm>
              <a:off x="354079" y="2515571"/>
              <a:ext cx="3708000" cy="576072"/>
            </a:xfrm>
            <a:prstGeom prst="roundRect">
              <a:avLst>
                <a:gd name="adj" fmla="val 6118"/>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accent1"/>
                  </a:solidFill>
                  <a:cs typeface="Poppins" pitchFamily="2" charset="77"/>
                </a:rPr>
                <a:t>NSCLC_HI_09</a:t>
              </a:r>
              <a:r>
                <a:rPr lang="en-US" sz="1000">
                  <a:solidFill>
                    <a:schemeClr val="accent1"/>
                  </a:solidFill>
                  <a:cs typeface="Poppins" pitchFamily="2" charset="77"/>
                </a:rPr>
                <a:t>: </a:t>
              </a:r>
              <a:r>
                <a:rPr lang="en-US" sz="1000" i="1">
                  <a:solidFill>
                    <a:schemeClr val="accent1"/>
                  </a:solidFill>
                </a:rPr>
                <a:t>(1L and 2L+) </a:t>
              </a:r>
              <a:r>
                <a:rPr lang="en-US" sz="1000">
                  <a:solidFill>
                    <a:schemeClr val="accent1"/>
                  </a:solidFill>
                </a:rPr>
                <a:t>CTA turnaround time </a:t>
              </a:r>
            </a:p>
            <a:p>
              <a:pPr fontAlgn="ctr"/>
              <a:r>
                <a:rPr lang="en-US" sz="1000">
                  <a:solidFill>
                    <a:schemeClr val="accent1"/>
                  </a:solidFill>
                </a:rPr>
                <a:t>Impact on BGB-58067 efficacy across testing methodologies</a:t>
              </a:r>
            </a:p>
          </p:txBody>
        </p:sp>
        <p:pic>
          <p:nvPicPr>
            <p:cNvPr id="19" name="Graphic 18">
              <a:extLst>
                <a:ext uri="{FF2B5EF4-FFF2-40B4-BE49-F238E27FC236}">
                  <a16:creationId xmlns:a16="http://schemas.microsoft.com/office/drawing/2014/main" id="{DA476FB1-C29F-E472-9DB5-F8CF0472BCE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801137" y="2510585"/>
              <a:ext cx="252001" cy="252001"/>
            </a:xfrm>
            <a:prstGeom prst="rect">
              <a:avLst/>
            </a:prstGeom>
          </p:spPr>
        </p:pic>
      </p:grpSp>
      <p:grpSp>
        <p:nvGrpSpPr>
          <p:cNvPr id="23" name="Group 22">
            <a:extLst>
              <a:ext uri="{FF2B5EF4-FFF2-40B4-BE49-F238E27FC236}">
                <a16:creationId xmlns:a16="http://schemas.microsoft.com/office/drawing/2014/main" id="{3F5F6F8B-FC32-31E1-19C1-04305D6743FE}"/>
              </a:ext>
            </a:extLst>
          </p:cNvPr>
          <p:cNvGrpSpPr/>
          <p:nvPr/>
        </p:nvGrpSpPr>
        <p:grpSpPr>
          <a:xfrm>
            <a:off x="354079" y="4617752"/>
            <a:ext cx="3708000" cy="576072"/>
            <a:chOff x="8129135" y="2534621"/>
            <a:chExt cx="3708000" cy="576072"/>
          </a:xfrm>
        </p:grpSpPr>
        <p:sp>
          <p:nvSpPr>
            <p:cNvPr id="41" name="Rounded Rectangle 23">
              <a:extLst>
                <a:ext uri="{FF2B5EF4-FFF2-40B4-BE49-F238E27FC236}">
                  <a16:creationId xmlns:a16="http://schemas.microsoft.com/office/drawing/2014/main" id="{B6AFAA5A-C27D-4828-0C21-FFE0387CAAB3}"/>
                </a:ext>
              </a:extLst>
            </p:cNvPr>
            <p:cNvSpPr/>
            <p:nvPr/>
          </p:nvSpPr>
          <p:spPr>
            <a:xfrm>
              <a:off x="8129135" y="2534621"/>
              <a:ext cx="3708000" cy="576072"/>
            </a:xfrm>
            <a:prstGeom prst="roundRect">
              <a:avLst>
                <a:gd name="adj" fmla="val 6118"/>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accent1"/>
                  </a:solidFill>
                  <a:cs typeface="Poppins" pitchFamily="2" charset="77"/>
                </a:rPr>
                <a:t>NSCLC_HI_13</a:t>
              </a:r>
              <a:r>
                <a:rPr lang="en-US" sz="1000">
                  <a:solidFill>
                    <a:schemeClr val="accent1"/>
                  </a:solidFill>
                  <a:cs typeface="Poppins" pitchFamily="2" charset="77"/>
                </a:rPr>
                <a:t>: </a:t>
              </a:r>
              <a:r>
                <a:rPr lang="en-US" sz="1000" i="1">
                  <a:solidFill>
                    <a:schemeClr val="accent1"/>
                  </a:solidFill>
                </a:rPr>
                <a:t>(1L and 2L+) </a:t>
              </a:r>
              <a:r>
                <a:rPr lang="en-US" sz="1000">
                  <a:solidFill>
                    <a:schemeClr val="accent1"/>
                  </a:solidFill>
                </a:rPr>
                <a:t>BGB-58067 efficacy and safety in MTAP del NSCLC with co-occurring non-actionable mutations vs. single-mutation cohorts</a:t>
              </a:r>
            </a:p>
          </p:txBody>
        </p:sp>
        <p:pic>
          <p:nvPicPr>
            <p:cNvPr id="22" name="Graphic 21">
              <a:extLst>
                <a:ext uri="{FF2B5EF4-FFF2-40B4-BE49-F238E27FC236}">
                  <a16:creationId xmlns:a16="http://schemas.microsoft.com/office/drawing/2014/main" id="{20BD0E09-67DF-1EE0-9453-83C63E8B5DE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576461" y="2534621"/>
              <a:ext cx="252001" cy="252001"/>
            </a:xfrm>
            <a:prstGeom prst="rect">
              <a:avLst/>
            </a:prstGeom>
          </p:spPr>
        </p:pic>
      </p:grpSp>
      <p:grpSp>
        <p:nvGrpSpPr>
          <p:cNvPr id="18" name="Group 17">
            <a:extLst>
              <a:ext uri="{FF2B5EF4-FFF2-40B4-BE49-F238E27FC236}">
                <a16:creationId xmlns:a16="http://schemas.microsoft.com/office/drawing/2014/main" id="{17C4A8E6-9C7A-71BF-4721-18A52519CDC8}"/>
              </a:ext>
            </a:extLst>
          </p:cNvPr>
          <p:cNvGrpSpPr/>
          <p:nvPr/>
        </p:nvGrpSpPr>
        <p:grpSpPr>
          <a:xfrm>
            <a:off x="362743" y="10216"/>
            <a:ext cx="10042505" cy="252000"/>
            <a:chOff x="362743" y="10216"/>
            <a:chExt cx="10042505" cy="252000"/>
          </a:xfrm>
        </p:grpSpPr>
        <p:sp>
          <p:nvSpPr>
            <p:cNvPr id="24" name="Pentagon 47">
              <a:extLst>
                <a:ext uri="{FF2B5EF4-FFF2-40B4-BE49-F238E27FC236}">
                  <a16:creationId xmlns:a16="http://schemas.microsoft.com/office/drawing/2014/main" id="{EB1E66BD-9E6A-00C0-E3AC-D8276CFFF0FA}"/>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25" name="Chevron 48">
              <a:extLst>
                <a:ext uri="{FF2B5EF4-FFF2-40B4-BE49-F238E27FC236}">
                  <a16:creationId xmlns:a16="http://schemas.microsoft.com/office/drawing/2014/main" id="{E85674B4-744E-AA7D-3405-6B32CAD1174E}"/>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26" name="Chevron 52">
              <a:extLst>
                <a:ext uri="{FF2B5EF4-FFF2-40B4-BE49-F238E27FC236}">
                  <a16:creationId xmlns:a16="http://schemas.microsoft.com/office/drawing/2014/main" id="{6AE1740B-BAC0-DAC1-E99B-E2D2A4A6FE29}"/>
                </a:ext>
              </a:extLst>
            </p:cNvPr>
            <p:cNvSpPr/>
            <p:nvPr/>
          </p:nvSpPr>
          <p:spPr>
            <a:xfrm>
              <a:off x="3701639"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42" name="Chevron 54">
              <a:extLst>
                <a:ext uri="{FF2B5EF4-FFF2-40B4-BE49-F238E27FC236}">
                  <a16:creationId xmlns:a16="http://schemas.microsoft.com/office/drawing/2014/main" id="{FC045A10-46E5-7FA0-8A3A-51E67BDA4D67}"/>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44" name="Chevron 48">
              <a:extLst>
                <a:ext uri="{FF2B5EF4-FFF2-40B4-BE49-F238E27FC236}">
                  <a16:creationId xmlns:a16="http://schemas.microsoft.com/office/drawing/2014/main" id="{10281E95-A32B-553D-6E51-C152A085BF7A}"/>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50" name="Chevron 48">
              <a:extLst>
                <a:ext uri="{FF2B5EF4-FFF2-40B4-BE49-F238E27FC236}">
                  <a16:creationId xmlns:a16="http://schemas.microsoft.com/office/drawing/2014/main" id="{CFFB5C80-958B-8CBD-990A-EB20E32D90B7}"/>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39671626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FB615-97BD-E646-1FEC-859022A3554C}"/>
            </a:ext>
          </a:extLst>
        </p:cNvPr>
        <p:cNvGrpSpPr/>
        <p:nvPr/>
      </p:nvGrpSpPr>
      <p:grpSpPr>
        <a:xfrm>
          <a:off x="0" y="0"/>
          <a:ext cx="0" cy="0"/>
          <a:chOff x="0" y="0"/>
          <a:chExt cx="0" cy="0"/>
        </a:xfrm>
      </p:grpSpPr>
      <p:graphicFrame>
        <p:nvGraphicFramePr>
          <p:cNvPr id="59" name="think-cell data - do not delete" hidden="1">
            <a:extLst>
              <a:ext uri="{FF2B5EF4-FFF2-40B4-BE49-F238E27FC236}">
                <a16:creationId xmlns:a16="http://schemas.microsoft.com/office/drawing/2014/main" id="{B5C380E7-0F9B-E8E2-6291-7BCF3C3FCD0C}"/>
              </a:ext>
            </a:extLst>
          </p:cNvPr>
          <p:cNvGraphicFramePr>
            <a:graphicFrameLocks/>
          </p:cNvGraphicFramePr>
          <p:nvPr>
            <p:custDataLst>
              <p:tags r:id="rId1"/>
            </p:custDataLst>
            <p:extLst>
              <p:ext uri="{D42A27DB-BD31-4B8C-83A1-F6EECF244321}">
                <p14:modId xmlns:p14="http://schemas.microsoft.com/office/powerpoint/2010/main" val="31373772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59" name="think-cell data - do not delete" hidden="1">
                        <a:extLst>
                          <a:ext uri="{FF2B5EF4-FFF2-40B4-BE49-F238E27FC236}">
                            <a16:creationId xmlns:a16="http://schemas.microsoft.com/office/drawing/2014/main" id="{B5C380E7-0F9B-E8E2-6291-7BCF3C3FCD0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Text Placeholder 4">
            <a:extLst>
              <a:ext uri="{FF2B5EF4-FFF2-40B4-BE49-F238E27FC236}">
                <a16:creationId xmlns:a16="http://schemas.microsoft.com/office/drawing/2014/main" id="{36AF0227-BCD5-30FF-625B-9D8AF19D6958}"/>
              </a:ext>
            </a:extLst>
          </p:cNvPr>
          <p:cNvSpPr txBox="1">
            <a:spLocks/>
          </p:cNvSpPr>
          <p:nvPr/>
        </p:nvSpPr>
        <p:spPr>
          <a:xfrm>
            <a:off x="354079" y="1273615"/>
            <a:ext cx="11483056" cy="432000"/>
          </a:xfrm>
          <a:prstGeom prst="roundRect">
            <a:avLst>
              <a:gd name="adj" fmla="val 10438"/>
            </a:avLst>
          </a:prstGeom>
          <a:solidFill>
            <a:srgbClr val="5085D9"/>
          </a:solidFill>
        </p:spPr>
        <p:txBody>
          <a:bodyPr lIns="432000" tIns="90000" rIns="91440" bIns="91440" anchor="ctr">
            <a:noAutofit/>
          </a:bodyPr>
          <a:lstStyle>
            <a:lvl1pPr marL="0" indent="0" algn="l" defTabSz="914400" rtl="0" eaLnBrk="1" latinLnBrk="0" hangingPunct="1">
              <a:lnSpc>
                <a:spcPct val="100000"/>
              </a:lnSpc>
              <a:spcBef>
                <a:spcPts val="1000"/>
              </a:spcBef>
              <a:buClr>
                <a:schemeClr val="accent1"/>
              </a:buClr>
              <a:buFontTx/>
              <a:buNone/>
              <a:defRPr sz="1200" b="0" i="0" kern="1200">
                <a:solidFill>
                  <a:schemeClr val="bg1"/>
                </a:solidFill>
                <a:latin typeface="+mj-lt"/>
                <a:ea typeface="Verdana" panose="020B0604030504040204" pitchFamily="34" charset="0"/>
                <a:cs typeface="Verdana" panose="020B0604030504040204" pitchFamily="34" charset="0"/>
              </a:defRPr>
            </a:lvl1pPr>
            <a:lvl2pPr marL="0" indent="0" algn="l" defTabSz="914400" rtl="0" eaLnBrk="1" latinLnBrk="0" hangingPunct="1">
              <a:lnSpc>
                <a:spcPct val="100000"/>
              </a:lnSpc>
              <a:spcBef>
                <a:spcPts val="1200"/>
              </a:spcBef>
              <a:buClr>
                <a:schemeClr val="accent1"/>
              </a:buClr>
              <a:buFontTx/>
              <a:buNone/>
              <a:tabLst/>
              <a:defRPr sz="1600" b="0" i="0" kern="1200">
                <a:solidFill>
                  <a:schemeClr val="bg1"/>
                </a:solidFill>
                <a:latin typeface="+mj-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7"/>
                    </a:ext>
                  </a:extLst>
                </a:blip>
              </a:buBlip>
              <a:tabLst/>
              <a:defRPr sz="1600" b="0" i="0" kern="1200">
                <a:solidFill>
                  <a:schemeClr val="bg1"/>
                </a:solidFill>
                <a:latin typeface="+mj-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1600" b="0" i="0" kern="1200">
                <a:solidFill>
                  <a:schemeClr val="bg1"/>
                </a:solidFill>
                <a:latin typeface="+mj-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1600" b="0" i="0" kern="1200">
                <a:solidFill>
                  <a:schemeClr val="bg1"/>
                </a:solidFill>
                <a:latin typeface="+mj-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mn-lt"/>
                <a:ea typeface="+mn-lt"/>
                <a:cs typeface="+mn-lt"/>
                <a:sym typeface="+mn-lt"/>
              </a:rPr>
              <a:t>Support scientific rationale for combo treatment and sequencing for BGB-58067</a:t>
            </a:r>
          </a:p>
        </p:txBody>
      </p:sp>
      <p:sp>
        <p:nvSpPr>
          <p:cNvPr id="58" name="Title 57">
            <a:extLst>
              <a:ext uri="{FF2B5EF4-FFF2-40B4-BE49-F238E27FC236}">
                <a16:creationId xmlns:a16="http://schemas.microsoft.com/office/drawing/2014/main" id="{9AFD328A-D61D-1D6D-3CF4-79322E7D793A}"/>
              </a:ext>
            </a:extLst>
          </p:cNvPr>
          <p:cNvSpPr>
            <a:spLocks noGrp="1"/>
          </p:cNvSpPr>
          <p:nvPr>
            <p:ph type="title"/>
          </p:nvPr>
        </p:nvSpPr>
        <p:spPr>
          <a:xfrm>
            <a:off x="358337" y="336887"/>
            <a:ext cx="11470125" cy="738664"/>
          </a:xfrm>
        </p:spPr>
        <p:txBody>
          <a:bodyPr vert="horz" rIns="0">
            <a:spAutoFit/>
          </a:bodyPr>
          <a:lstStyle/>
          <a:p>
            <a:r>
              <a:rPr lang="en-US" sz="2400"/>
              <a:t>Overview of Prioritized Evidence Gaps</a:t>
            </a:r>
            <a:br>
              <a:rPr lang="en-US" sz="2400"/>
            </a:br>
            <a:r>
              <a:rPr lang="en-US" sz="2400"/>
              <a:t>(SI3: Combinations and Sequencing, SI4: Resistance)</a:t>
            </a:r>
          </a:p>
        </p:txBody>
      </p:sp>
      <p:sp>
        <p:nvSpPr>
          <p:cNvPr id="53" name="Rounded Rectangle 23">
            <a:extLst>
              <a:ext uri="{FF2B5EF4-FFF2-40B4-BE49-F238E27FC236}">
                <a16:creationId xmlns:a16="http://schemas.microsoft.com/office/drawing/2014/main" id="{97020535-B7AA-D89E-283E-CC5A42FAB664}"/>
              </a:ext>
            </a:extLst>
          </p:cNvPr>
          <p:cNvSpPr/>
          <p:nvPr/>
        </p:nvSpPr>
        <p:spPr>
          <a:xfrm>
            <a:off x="8129135" y="2438290"/>
            <a:ext cx="3708000" cy="576072"/>
          </a:xfrm>
          <a:prstGeom prst="roundRect">
            <a:avLst>
              <a:gd name="adj" fmla="val 6118"/>
            </a:avLst>
          </a:prstGeom>
          <a:solidFill>
            <a:schemeClr val="bg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defTabSz="914400"/>
            <a:r>
              <a:rPr lang="en-US" sz="1000" b="1">
                <a:solidFill>
                  <a:schemeClr val="bg1">
                    <a:lumMod val="50000"/>
                  </a:schemeClr>
                </a:solidFill>
                <a:cs typeface="Poppins" pitchFamily="2" charset="77"/>
              </a:rPr>
              <a:t>NSCLC_GA_10</a:t>
            </a:r>
            <a:r>
              <a:rPr lang="en-US" sz="1000">
                <a:solidFill>
                  <a:schemeClr val="bg1">
                    <a:lumMod val="50000"/>
                  </a:schemeClr>
                </a:solidFill>
                <a:cs typeface="Poppins" pitchFamily="2" charset="77"/>
              </a:rPr>
              <a:t>: </a:t>
            </a:r>
            <a:r>
              <a:rPr lang="en-US" sz="1000" i="1">
                <a:solidFill>
                  <a:srgbClr val="757070"/>
                </a:solidFill>
                <a:cs typeface="Poppins" pitchFamily="2" charset="77"/>
              </a:rPr>
              <a:t>(1L and 2L+) </a:t>
            </a:r>
            <a:r>
              <a:rPr lang="en-US" sz="1000">
                <a:solidFill>
                  <a:srgbClr val="757070"/>
                </a:solidFill>
                <a:cs typeface="Poppins" pitchFamily="2" charset="77"/>
              </a:rPr>
              <a:t>Efficacy and safety of BGB-58067 + EGFR TKIs vs. EGFR TKI SoC monotherapy across </a:t>
            </a:r>
            <a:r>
              <a:rPr lang="en-US" sz="1000" err="1">
                <a:solidFill>
                  <a:srgbClr val="757070"/>
                </a:solidFill>
                <a:cs typeface="Poppins" pitchFamily="2" charset="77"/>
              </a:rPr>
              <a:t>LoTs</a:t>
            </a:r>
            <a:r>
              <a:rPr lang="en-US" sz="1000">
                <a:solidFill>
                  <a:srgbClr val="757070"/>
                </a:solidFill>
                <a:cs typeface="Poppins" pitchFamily="2" charset="77"/>
              </a:rPr>
              <a:t> in EGFRm</a:t>
            </a:r>
          </a:p>
        </p:txBody>
      </p:sp>
      <p:sp>
        <p:nvSpPr>
          <p:cNvPr id="23" name="Rounded Rectangle 23">
            <a:extLst>
              <a:ext uri="{FF2B5EF4-FFF2-40B4-BE49-F238E27FC236}">
                <a16:creationId xmlns:a16="http://schemas.microsoft.com/office/drawing/2014/main" id="{0B212FBB-8ACD-8B5D-F8AD-9183ADE2A906}"/>
              </a:ext>
            </a:extLst>
          </p:cNvPr>
          <p:cNvSpPr/>
          <p:nvPr/>
        </p:nvSpPr>
        <p:spPr>
          <a:xfrm>
            <a:off x="4237964" y="1805574"/>
            <a:ext cx="3708000" cy="576072"/>
          </a:xfrm>
          <a:prstGeom prst="roundRect">
            <a:avLst>
              <a:gd name="adj" fmla="val 6118"/>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accent1"/>
                </a:solidFill>
                <a:cs typeface="Poppins" pitchFamily="2" charset="77"/>
              </a:rPr>
              <a:t>NSCLC_HI_15</a:t>
            </a:r>
            <a:r>
              <a:rPr lang="en-US" sz="1000">
                <a:solidFill>
                  <a:schemeClr val="accent1"/>
                </a:solidFill>
                <a:cs typeface="Poppins" pitchFamily="2" charset="77"/>
              </a:rPr>
              <a:t>: </a:t>
            </a:r>
            <a:r>
              <a:rPr lang="en-US" sz="1000" i="1">
                <a:solidFill>
                  <a:schemeClr val="accent1"/>
                </a:solidFill>
              </a:rPr>
              <a:t>(1L and 2L+) </a:t>
            </a:r>
            <a:r>
              <a:rPr lang="en-US" sz="1000">
                <a:solidFill>
                  <a:schemeClr val="accent1"/>
                </a:solidFill>
              </a:rPr>
              <a:t>BGB-58067's efficacy and safety profile in combination with targeted therapies</a:t>
            </a:r>
            <a:endParaRPr lang="en-US" sz="1000" strike="sngStrike">
              <a:solidFill>
                <a:schemeClr val="accent1"/>
              </a:solidFill>
              <a:latin typeface="Arial" panose="020B0604020202020204" pitchFamily="34" charset="0"/>
            </a:endParaRPr>
          </a:p>
        </p:txBody>
      </p:sp>
      <p:sp>
        <p:nvSpPr>
          <p:cNvPr id="24" name="Rounded Rectangle 23">
            <a:extLst>
              <a:ext uri="{FF2B5EF4-FFF2-40B4-BE49-F238E27FC236}">
                <a16:creationId xmlns:a16="http://schemas.microsoft.com/office/drawing/2014/main" id="{E917DAF4-689F-6374-AC50-1AC01D678D7D}"/>
              </a:ext>
            </a:extLst>
          </p:cNvPr>
          <p:cNvSpPr/>
          <p:nvPr/>
        </p:nvSpPr>
        <p:spPr>
          <a:xfrm>
            <a:off x="354079" y="1805574"/>
            <a:ext cx="3708000" cy="576072"/>
          </a:xfrm>
          <a:prstGeom prst="roundRect">
            <a:avLst>
              <a:gd name="adj" fmla="val 6118"/>
            </a:avLst>
          </a:prstGeom>
          <a:solidFill>
            <a:srgbClr val="CCE6E6"/>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accent4"/>
                </a:solidFill>
                <a:cs typeface="Poppins" pitchFamily="2" charset="77"/>
              </a:rPr>
              <a:t>NSCLC_CE_05</a:t>
            </a:r>
            <a:r>
              <a:rPr lang="en-US" sz="1000">
                <a:solidFill>
                  <a:schemeClr val="accent4"/>
                </a:solidFill>
                <a:cs typeface="Poppins" pitchFamily="2" charset="77"/>
              </a:rPr>
              <a:t>: </a:t>
            </a:r>
            <a:r>
              <a:rPr lang="en-US" sz="1000" i="1">
                <a:solidFill>
                  <a:schemeClr val="accent4"/>
                </a:solidFill>
              </a:rPr>
              <a:t>(1L) </a:t>
            </a:r>
            <a:r>
              <a:rPr lang="en-US" sz="1000">
                <a:solidFill>
                  <a:schemeClr val="accent4"/>
                </a:solidFill>
              </a:rPr>
              <a:t>BGB-58067's efficacy, safety, and tolerability with concurrent vs. sequential SoC combinations</a:t>
            </a:r>
            <a:endParaRPr lang="en-US" sz="1000">
              <a:solidFill>
                <a:schemeClr val="accent4"/>
              </a:solidFill>
              <a:latin typeface="Arial" panose="020B0604020202020204" pitchFamily="34" charset="0"/>
            </a:endParaRPr>
          </a:p>
        </p:txBody>
      </p:sp>
      <p:sp>
        <p:nvSpPr>
          <p:cNvPr id="25" name="Rounded Rectangle 23">
            <a:extLst>
              <a:ext uri="{FF2B5EF4-FFF2-40B4-BE49-F238E27FC236}">
                <a16:creationId xmlns:a16="http://schemas.microsoft.com/office/drawing/2014/main" id="{5F38D1BF-19EC-66C1-F692-D1885026E14E}"/>
              </a:ext>
            </a:extLst>
          </p:cNvPr>
          <p:cNvSpPr/>
          <p:nvPr/>
        </p:nvSpPr>
        <p:spPr>
          <a:xfrm>
            <a:off x="4237964" y="2434269"/>
            <a:ext cx="3708000" cy="576072"/>
          </a:xfrm>
          <a:prstGeom prst="roundRect">
            <a:avLst>
              <a:gd name="adj" fmla="val 6118"/>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bg1">
                    <a:lumMod val="50000"/>
                  </a:schemeClr>
                </a:solidFill>
                <a:cs typeface="Poppins" pitchFamily="2" charset="77"/>
              </a:rPr>
              <a:t>NSCLC_GA_08</a:t>
            </a:r>
            <a:r>
              <a:rPr lang="en-US" sz="1000">
                <a:solidFill>
                  <a:schemeClr val="bg1">
                    <a:lumMod val="50000"/>
                  </a:schemeClr>
                </a:solidFill>
                <a:cs typeface="Poppins" pitchFamily="2" charset="77"/>
              </a:rPr>
              <a:t>: </a:t>
            </a:r>
            <a:r>
              <a:rPr lang="en-US" sz="1000" i="1">
                <a:solidFill>
                  <a:schemeClr val="bg1">
                    <a:lumMod val="50000"/>
                  </a:schemeClr>
                </a:solidFill>
              </a:rPr>
              <a:t>(1L) </a:t>
            </a:r>
            <a:r>
              <a:rPr lang="en-US" sz="1000">
                <a:solidFill>
                  <a:schemeClr val="bg1">
                    <a:lumMod val="50000"/>
                  </a:schemeClr>
                </a:solidFill>
              </a:rPr>
              <a:t>Impact of 1L BGB-58067 triplet therapy on subsequent response to KRAS-targeted Tx in 2L NSCLC</a:t>
            </a:r>
            <a:endParaRPr lang="en-US" sz="1000">
              <a:solidFill>
                <a:schemeClr val="bg1">
                  <a:lumMod val="50000"/>
                </a:schemeClr>
              </a:solidFill>
              <a:latin typeface="Arial" panose="020B0604020202020204" pitchFamily="34" charset="0"/>
            </a:endParaRPr>
          </a:p>
        </p:txBody>
      </p:sp>
      <p:sp>
        <p:nvSpPr>
          <p:cNvPr id="31" name="Rounded Rectangle 23">
            <a:extLst>
              <a:ext uri="{FF2B5EF4-FFF2-40B4-BE49-F238E27FC236}">
                <a16:creationId xmlns:a16="http://schemas.microsoft.com/office/drawing/2014/main" id="{9C65E711-EEDB-9DEB-AC49-EC82E693494B}"/>
              </a:ext>
            </a:extLst>
          </p:cNvPr>
          <p:cNvSpPr/>
          <p:nvPr/>
        </p:nvSpPr>
        <p:spPr>
          <a:xfrm>
            <a:off x="8129138" y="1809594"/>
            <a:ext cx="3708000" cy="576072"/>
          </a:xfrm>
          <a:prstGeom prst="roundRect">
            <a:avLst>
              <a:gd name="adj" fmla="val 6118"/>
            </a:avLst>
          </a:prstGeom>
          <a:solidFill>
            <a:schemeClr val="bg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defTabSz="914400"/>
            <a:r>
              <a:rPr lang="en-US" sz="1000" b="1">
                <a:solidFill>
                  <a:schemeClr val="bg1">
                    <a:lumMod val="50000"/>
                  </a:schemeClr>
                </a:solidFill>
                <a:cs typeface="Poppins" pitchFamily="2" charset="77"/>
              </a:rPr>
              <a:t>NSCLC_GA_09</a:t>
            </a:r>
            <a:r>
              <a:rPr lang="en-US" sz="1000">
                <a:solidFill>
                  <a:schemeClr val="bg1">
                    <a:lumMod val="50000"/>
                  </a:schemeClr>
                </a:solidFill>
                <a:cs typeface="Poppins" pitchFamily="2" charset="77"/>
              </a:rPr>
              <a:t>: </a:t>
            </a:r>
            <a:r>
              <a:rPr lang="en-US" sz="1000" i="1">
                <a:solidFill>
                  <a:srgbClr val="757070"/>
                </a:solidFill>
                <a:cs typeface="Poppins" pitchFamily="2" charset="77"/>
              </a:rPr>
              <a:t>(1L) </a:t>
            </a:r>
            <a:r>
              <a:rPr lang="en-US" sz="1000">
                <a:solidFill>
                  <a:srgbClr val="757070"/>
                </a:solidFill>
                <a:cs typeface="Poppins" pitchFamily="2" charset="77"/>
              </a:rPr>
              <a:t>BGB-58067 efficacy and safety in combination with alternative PD-1/PD-L1 inhibitors across geographies</a:t>
            </a:r>
          </a:p>
        </p:txBody>
      </p:sp>
      <p:sp>
        <p:nvSpPr>
          <p:cNvPr id="17" name="Rounded Rectangle 23">
            <a:extLst>
              <a:ext uri="{FF2B5EF4-FFF2-40B4-BE49-F238E27FC236}">
                <a16:creationId xmlns:a16="http://schemas.microsoft.com/office/drawing/2014/main" id="{7E65B453-A1BB-C571-1CA4-F3E877F1DAD7}"/>
              </a:ext>
            </a:extLst>
          </p:cNvPr>
          <p:cNvSpPr/>
          <p:nvPr/>
        </p:nvSpPr>
        <p:spPr>
          <a:xfrm>
            <a:off x="354079" y="3790055"/>
            <a:ext cx="3708000" cy="576072"/>
          </a:xfrm>
          <a:prstGeom prst="roundRect">
            <a:avLst>
              <a:gd name="adj" fmla="val 6118"/>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bg1">
                    <a:lumMod val="50000"/>
                  </a:schemeClr>
                </a:solidFill>
                <a:cs typeface="Poppins" pitchFamily="2" charset="77"/>
              </a:rPr>
              <a:t>NSCLC_GA_11</a:t>
            </a:r>
            <a:r>
              <a:rPr lang="en-US" sz="1000">
                <a:solidFill>
                  <a:schemeClr val="bg1">
                    <a:lumMod val="50000"/>
                  </a:schemeClr>
                </a:solidFill>
                <a:cs typeface="Poppins" pitchFamily="2" charset="77"/>
              </a:rPr>
              <a:t>: </a:t>
            </a:r>
            <a:r>
              <a:rPr lang="en-US" sz="1000" i="1">
                <a:solidFill>
                  <a:schemeClr val="bg1">
                    <a:lumMod val="50000"/>
                  </a:schemeClr>
                </a:solidFill>
              </a:rPr>
              <a:t>(1L and 2L+) </a:t>
            </a:r>
            <a:r>
              <a:rPr lang="en-US" sz="1000">
                <a:solidFill>
                  <a:schemeClr val="bg1">
                    <a:lumMod val="50000"/>
                  </a:schemeClr>
                </a:solidFill>
              </a:rPr>
              <a:t>Mechanisms of primary and acquired resistance to BGB-58067</a:t>
            </a:r>
          </a:p>
        </p:txBody>
      </p:sp>
      <p:sp>
        <p:nvSpPr>
          <p:cNvPr id="18" name="Rounded Rectangle 23">
            <a:extLst>
              <a:ext uri="{FF2B5EF4-FFF2-40B4-BE49-F238E27FC236}">
                <a16:creationId xmlns:a16="http://schemas.microsoft.com/office/drawing/2014/main" id="{7419D2C2-166E-A86C-248D-FCFBE7BDEB9A}"/>
              </a:ext>
            </a:extLst>
          </p:cNvPr>
          <p:cNvSpPr/>
          <p:nvPr/>
        </p:nvSpPr>
        <p:spPr>
          <a:xfrm>
            <a:off x="4237964" y="3790055"/>
            <a:ext cx="3708000" cy="576072"/>
          </a:xfrm>
          <a:prstGeom prst="roundRect">
            <a:avLst>
              <a:gd name="adj" fmla="val 6118"/>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bg1">
                    <a:lumMod val="50000"/>
                  </a:schemeClr>
                </a:solidFill>
                <a:cs typeface="Poppins" pitchFamily="2" charset="77"/>
              </a:rPr>
              <a:t>NSCLC_GA_12</a:t>
            </a:r>
            <a:r>
              <a:rPr lang="en-US" sz="1000">
                <a:solidFill>
                  <a:schemeClr val="bg1">
                    <a:lumMod val="50000"/>
                  </a:schemeClr>
                </a:solidFill>
                <a:cs typeface="Poppins" pitchFamily="2" charset="77"/>
              </a:rPr>
              <a:t>: </a:t>
            </a:r>
            <a:r>
              <a:rPr lang="en-US" sz="1000" i="1">
                <a:solidFill>
                  <a:schemeClr val="bg1">
                    <a:lumMod val="50000"/>
                  </a:schemeClr>
                </a:solidFill>
              </a:rPr>
              <a:t>(1L) </a:t>
            </a:r>
            <a:r>
              <a:rPr lang="en-US" sz="1000">
                <a:solidFill>
                  <a:schemeClr val="bg1">
                    <a:lumMod val="50000"/>
                  </a:schemeClr>
                </a:solidFill>
              </a:rPr>
              <a:t>BGB-58067's effect on PRMT5i resistance with continuous triplet maintenance vs.</a:t>
            </a:r>
            <a:br>
              <a:rPr lang="en-US" sz="1000">
                <a:solidFill>
                  <a:schemeClr val="bg1">
                    <a:lumMod val="50000"/>
                  </a:schemeClr>
                </a:solidFill>
              </a:rPr>
            </a:br>
            <a:r>
              <a:rPr lang="en-US" sz="1000">
                <a:solidFill>
                  <a:schemeClr val="bg1">
                    <a:lumMod val="50000"/>
                  </a:schemeClr>
                </a:solidFill>
              </a:rPr>
              <a:t>induction followed by de-escalation</a:t>
            </a:r>
            <a:endParaRPr lang="en-US" sz="1000">
              <a:solidFill>
                <a:schemeClr val="bg1">
                  <a:lumMod val="50000"/>
                </a:schemeClr>
              </a:solidFill>
              <a:latin typeface="Arial" panose="020B0604020202020204" pitchFamily="34" charset="0"/>
            </a:endParaRPr>
          </a:p>
        </p:txBody>
      </p:sp>
      <p:sp>
        <p:nvSpPr>
          <p:cNvPr id="19" name="Rounded Rectangle 23">
            <a:extLst>
              <a:ext uri="{FF2B5EF4-FFF2-40B4-BE49-F238E27FC236}">
                <a16:creationId xmlns:a16="http://schemas.microsoft.com/office/drawing/2014/main" id="{92E49C9B-E2AF-4E4C-5853-3662BF2E0E58}"/>
              </a:ext>
            </a:extLst>
          </p:cNvPr>
          <p:cNvSpPr/>
          <p:nvPr/>
        </p:nvSpPr>
        <p:spPr>
          <a:xfrm>
            <a:off x="8129135" y="3790055"/>
            <a:ext cx="3708000" cy="576072"/>
          </a:xfrm>
          <a:prstGeom prst="roundRect">
            <a:avLst>
              <a:gd name="adj" fmla="val 6118"/>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r>
              <a:rPr lang="en-US" sz="1000" b="1">
                <a:solidFill>
                  <a:schemeClr val="bg1">
                    <a:lumMod val="50000"/>
                  </a:schemeClr>
                </a:solidFill>
                <a:cs typeface="Poppins" pitchFamily="2" charset="77"/>
              </a:rPr>
              <a:t>NSCLC_GA_13</a:t>
            </a:r>
            <a:r>
              <a:rPr lang="en-US" sz="1000">
                <a:solidFill>
                  <a:schemeClr val="bg1">
                    <a:lumMod val="50000"/>
                  </a:schemeClr>
                </a:solidFill>
                <a:cs typeface="Poppins" pitchFamily="2" charset="77"/>
              </a:rPr>
              <a:t>: </a:t>
            </a:r>
            <a:r>
              <a:rPr lang="en-US" sz="1000" i="1">
                <a:solidFill>
                  <a:schemeClr val="bg1">
                    <a:lumMod val="50000"/>
                  </a:schemeClr>
                </a:solidFill>
              </a:rPr>
              <a:t>(2L) </a:t>
            </a:r>
            <a:r>
              <a:rPr lang="en-US" sz="1000">
                <a:solidFill>
                  <a:schemeClr val="bg1">
                    <a:lumMod val="50000"/>
                  </a:schemeClr>
                </a:solidFill>
              </a:rPr>
              <a:t>BGB-58067's efficacy in patients with acquired resistance to IO and targeted therapies vs. SoC</a:t>
            </a:r>
          </a:p>
        </p:txBody>
      </p:sp>
      <p:sp>
        <p:nvSpPr>
          <p:cNvPr id="118" name="Footer Placeholder 2">
            <a:extLst>
              <a:ext uri="{FF2B5EF4-FFF2-40B4-BE49-F238E27FC236}">
                <a16:creationId xmlns:a16="http://schemas.microsoft.com/office/drawing/2014/main" id="{603C27FB-495D-79E6-B440-E0BCBFB6221B}"/>
              </a:ext>
            </a:extLst>
          </p:cNvPr>
          <p:cNvSpPr>
            <a:spLocks noGrp="1"/>
          </p:cNvSpPr>
          <p:nvPr>
            <p:ph type="ftr" sz="quarter" idx="10"/>
          </p:nvPr>
        </p:nvSpPr>
        <p:spPr>
          <a:xfrm>
            <a:off x="358337" y="6468377"/>
            <a:ext cx="8541114" cy="365760"/>
          </a:xfrm>
        </p:spPr>
        <p:txBody>
          <a:bodyPr/>
          <a:lstStyle/>
          <a:p>
            <a:r>
              <a:rPr lang="en-US">
                <a:solidFill>
                  <a:srgbClr val="595959"/>
                </a:solidFill>
              </a:rPr>
              <a:t>Abbreviations: CE: Critical Priority; EGFR(m): Epidermal Growth Factor Receptor (mutation); GA: Gated Priority; HI: High Priority; IO: Immuno-Oncology; KRAS: Kirsten Rat Sarcoma Virus; </a:t>
            </a:r>
            <a:r>
              <a:rPr lang="en-US" err="1">
                <a:solidFill>
                  <a:srgbClr val="595959"/>
                </a:solidFill>
              </a:rPr>
              <a:t>LoT</a:t>
            </a:r>
            <a:r>
              <a:rPr lang="en-US">
                <a:solidFill>
                  <a:srgbClr val="595959"/>
                </a:solidFill>
              </a:rPr>
              <a:t>: Line Of Therapy; LT: Leadership Team; NSCLC: Non-Small Cell Lung Cancer; PD-1: Programmed Cell Death Protein 1; PD-L1: Programmed Death-Ligand 1; PRMT5i: Protein Arginine Methyltransferase 5 Inhibitor; SI: Strategic Imperative; SoC: Standard Of Care; TKI: Tyrosine Kinase Inhibitor; Tx: Treatment</a:t>
            </a:r>
          </a:p>
        </p:txBody>
      </p:sp>
      <p:sp>
        <p:nvSpPr>
          <p:cNvPr id="20" name="Oval 19">
            <a:extLst>
              <a:ext uri="{FF2B5EF4-FFF2-40B4-BE49-F238E27FC236}">
                <a16:creationId xmlns:a16="http://schemas.microsoft.com/office/drawing/2014/main" id="{A0B6B699-39C7-D36A-AB36-9E7431F4CEEB}"/>
              </a:ext>
            </a:extLst>
          </p:cNvPr>
          <p:cNvSpPr/>
          <p:nvPr/>
        </p:nvSpPr>
        <p:spPr>
          <a:xfrm>
            <a:off x="11374635" y="1293175"/>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algn="ctr"/>
            <a:endParaRPr lang="en-US">
              <a:solidFill>
                <a:schemeClr val="bg1"/>
              </a:solidFill>
            </a:endParaRPr>
          </a:p>
        </p:txBody>
      </p:sp>
      <p:grpSp>
        <p:nvGrpSpPr>
          <p:cNvPr id="9" name="Group 8">
            <a:extLst>
              <a:ext uri="{FF2B5EF4-FFF2-40B4-BE49-F238E27FC236}">
                <a16:creationId xmlns:a16="http://schemas.microsoft.com/office/drawing/2014/main" id="{53248992-09BB-A17D-E85F-2FF1A7A48EF1}"/>
              </a:ext>
            </a:extLst>
          </p:cNvPr>
          <p:cNvGrpSpPr/>
          <p:nvPr/>
        </p:nvGrpSpPr>
        <p:grpSpPr>
          <a:xfrm>
            <a:off x="456051" y="1274190"/>
            <a:ext cx="309693" cy="262382"/>
            <a:chOff x="3566915" y="3888474"/>
            <a:chExt cx="498763" cy="423193"/>
          </a:xfrm>
        </p:grpSpPr>
        <p:sp>
          <p:nvSpPr>
            <p:cNvPr id="10" name="Round Same Side Corner Rectangle 49">
              <a:extLst>
                <a:ext uri="{FF2B5EF4-FFF2-40B4-BE49-F238E27FC236}">
                  <a16:creationId xmlns:a16="http://schemas.microsoft.com/office/drawing/2014/main" id="{BE4BF2CE-2F70-2D31-F31F-4CF99E10A3BA}"/>
                </a:ext>
              </a:extLst>
            </p:cNvPr>
            <p:cNvSpPr/>
            <p:nvPr/>
          </p:nvSpPr>
          <p:spPr>
            <a:xfrm rot="10800000">
              <a:off x="3566915" y="3888474"/>
              <a:ext cx="498763" cy="423193"/>
            </a:xfrm>
            <a:prstGeom prst="round2Same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11" name="Text Placeholder 32">
              <a:extLst>
                <a:ext uri="{FF2B5EF4-FFF2-40B4-BE49-F238E27FC236}">
                  <a16:creationId xmlns:a16="http://schemas.microsoft.com/office/drawing/2014/main" id="{6B7417B6-7F72-0D17-4B3A-52BADFDD95F9}"/>
                </a:ext>
              </a:extLst>
            </p:cNvPr>
            <p:cNvSpPr txBox="1">
              <a:spLocks/>
            </p:cNvSpPr>
            <p:nvPr/>
          </p:nvSpPr>
          <p:spPr>
            <a:xfrm>
              <a:off x="3642485" y="3975121"/>
              <a:ext cx="347624" cy="303214"/>
            </a:xfrm>
            <a:prstGeom prst="rect">
              <a:avLst/>
            </a:prstGeom>
          </p:spPr>
          <p:txBody>
            <a:bodyPr anchor="ctr"/>
            <a:lst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a:extLst>
                      <a:ext uri="{96DAC541-7B7A-43D3-8B79-37D633B846F1}">
                        <asvg:svgBlip xmlns:asvg="http://schemas.microsoft.com/office/drawing/2016/SVG/main" r:embed="rId8"/>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7"/>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
                  <a:srgbClr val="D62B1E"/>
                </a:buClr>
                <a:buSzTx/>
                <a:buFontTx/>
                <a:buNone/>
                <a:tabLst/>
                <a:defRPr/>
              </a:pPr>
              <a:r>
                <a:rPr kumimoji="0" lang="en-US" sz="1200" b="1" i="0" u="none" strike="noStrike" kern="1200" cap="none" spc="0" normalizeH="0" baseline="0" noProof="0">
                  <a:ln>
                    <a:noFill/>
                  </a:ln>
                  <a:solidFill>
                    <a:srgbClr val="FFFFFF"/>
                  </a:solidFill>
                  <a:effectLst/>
                  <a:uLnTx/>
                  <a:uFillTx/>
                  <a:latin typeface="Poppins"/>
                  <a:ea typeface="Verdana" panose="020B0604030504040204" pitchFamily="34" charset="0"/>
                </a:rPr>
                <a:t>3</a:t>
              </a:r>
            </a:p>
          </p:txBody>
        </p:sp>
      </p:grpSp>
      <p:pic>
        <p:nvPicPr>
          <p:cNvPr id="253" name="Graphic 252">
            <a:extLst>
              <a:ext uri="{FF2B5EF4-FFF2-40B4-BE49-F238E27FC236}">
                <a16:creationId xmlns:a16="http://schemas.microsoft.com/office/drawing/2014/main" id="{8282B99C-F2D2-BB40-250D-27CB2682588D}"/>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11411049" y="1334784"/>
            <a:ext cx="287172" cy="276782"/>
          </a:xfrm>
          <a:prstGeom prst="rect">
            <a:avLst/>
          </a:prstGeom>
        </p:spPr>
      </p:pic>
      <p:grpSp>
        <p:nvGrpSpPr>
          <p:cNvPr id="36" name="Group 35">
            <a:extLst>
              <a:ext uri="{FF2B5EF4-FFF2-40B4-BE49-F238E27FC236}">
                <a16:creationId xmlns:a16="http://schemas.microsoft.com/office/drawing/2014/main" id="{1FA8475A-F1EB-657E-AC8B-2D345B43B441}"/>
              </a:ext>
            </a:extLst>
          </p:cNvPr>
          <p:cNvGrpSpPr/>
          <p:nvPr/>
        </p:nvGrpSpPr>
        <p:grpSpPr>
          <a:xfrm>
            <a:off x="354079" y="3258272"/>
            <a:ext cx="11472930" cy="432000"/>
            <a:chOff x="354079" y="4764570"/>
            <a:chExt cx="11472930" cy="432000"/>
          </a:xfrm>
        </p:grpSpPr>
        <p:sp>
          <p:nvSpPr>
            <p:cNvPr id="12" name="Text Placeholder 4">
              <a:extLst>
                <a:ext uri="{FF2B5EF4-FFF2-40B4-BE49-F238E27FC236}">
                  <a16:creationId xmlns:a16="http://schemas.microsoft.com/office/drawing/2014/main" id="{0A607394-EE01-F7AD-C769-86C0C99974CD}"/>
                </a:ext>
              </a:extLst>
            </p:cNvPr>
            <p:cNvSpPr txBox="1">
              <a:spLocks/>
            </p:cNvSpPr>
            <p:nvPr/>
          </p:nvSpPr>
          <p:spPr>
            <a:xfrm>
              <a:off x="354079" y="4764570"/>
              <a:ext cx="11472930" cy="432000"/>
            </a:xfrm>
            <a:prstGeom prst="roundRect">
              <a:avLst>
                <a:gd name="adj" fmla="val 10438"/>
              </a:avLst>
            </a:prstGeom>
            <a:solidFill>
              <a:schemeClr val="accent3"/>
            </a:solidFill>
          </p:spPr>
          <p:txBody>
            <a:bodyPr lIns="432000" tIns="90000" rIns="91440" bIns="91440" anchor="ctr">
              <a:noAutofit/>
            </a:bodyPr>
            <a:lstStyle>
              <a:lvl1pPr marL="0" indent="0" algn="l" defTabSz="914400" rtl="0" eaLnBrk="1" latinLnBrk="0" hangingPunct="1">
                <a:lnSpc>
                  <a:spcPct val="100000"/>
                </a:lnSpc>
                <a:spcBef>
                  <a:spcPts val="1000"/>
                </a:spcBef>
                <a:buClr>
                  <a:schemeClr val="accent1"/>
                </a:buClr>
                <a:buFontTx/>
                <a:buNone/>
                <a:defRPr sz="1200" b="0" i="0" kern="1200">
                  <a:solidFill>
                    <a:schemeClr val="bg1"/>
                  </a:solidFill>
                  <a:latin typeface="+mj-lt"/>
                  <a:ea typeface="Verdana" panose="020B0604030504040204" pitchFamily="34" charset="0"/>
                  <a:cs typeface="Verdana" panose="020B0604030504040204" pitchFamily="34" charset="0"/>
                </a:defRPr>
              </a:lvl1pPr>
              <a:lvl2pPr marL="0" indent="0" algn="l" defTabSz="914400" rtl="0" eaLnBrk="1" latinLnBrk="0" hangingPunct="1">
                <a:lnSpc>
                  <a:spcPct val="100000"/>
                </a:lnSpc>
                <a:spcBef>
                  <a:spcPts val="1200"/>
                </a:spcBef>
                <a:buClr>
                  <a:schemeClr val="accent1"/>
                </a:buClr>
                <a:buFontTx/>
                <a:buNone/>
                <a:tabLst/>
                <a:defRPr sz="1600" b="0" i="0" kern="1200">
                  <a:solidFill>
                    <a:schemeClr val="bg1"/>
                  </a:solidFill>
                  <a:latin typeface="+mj-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7"/>
                      </a:ext>
                    </a:extLst>
                  </a:blip>
                </a:buBlip>
                <a:tabLst/>
                <a:defRPr sz="1600" b="0" i="0" kern="1200">
                  <a:solidFill>
                    <a:schemeClr val="bg1"/>
                  </a:solidFill>
                  <a:latin typeface="+mj-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1600" b="0" i="0" kern="1200">
                  <a:solidFill>
                    <a:schemeClr val="bg1"/>
                  </a:solidFill>
                  <a:latin typeface="+mj-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1600" b="0" i="0" kern="1200">
                  <a:solidFill>
                    <a:schemeClr val="bg1"/>
                  </a:solidFill>
                  <a:latin typeface="+mj-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mn-lt"/>
                  <a:ea typeface="+mn-lt"/>
                  <a:cs typeface="+mn-lt"/>
                  <a:sym typeface="+mn-lt"/>
                </a:rPr>
                <a:t>Understand primary vs. secondary mechanisms of resistance for PRMT5i</a:t>
              </a:r>
            </a:p>
          </p:txBody>
        </p:sp>
        <p:grpSp>
          <p:nvGrpSpPr>
            <p:cNvPr id="13" name="Group 12">
              <a:extLst>
                <a:ext uri="{FF2B5EF4-FFF2-40B4-BE49-F238E27FC236}">
                  <a16:creationId xmlns:a16="http://schemas.microsoft.com/office/drawing/2014/main" id="{1E1EAE79-1EF8-A1CD-CA0D-96D7DD55C427}"/>
                </a:ext>
              </a:extLst>
            </p:cNvPr>
            <p:cNvGrpSpPr/>
            <p:nvPr/>
          </p:nvGrpSpPr>
          <p:grpSpPr>
            <a:xfrm>
              <a:off x="465498" y="4764570"/>
              <a:ext cx="309693" cy="262383"/>
              <a:chOff x="3566915" y="3888474"/>
              <a:chExt cx="498762" cy="423193"/>
            </a:xfrm>
          </p:grpSpPr>
          <p:sp>
            <p:nvSpPr>
              <p:cNvPr id="14" name="Round Same Side Corner Rectangle 49">
                <a:extLst>
                  <a:ext uri="{FF2B5EF4-FFF2-40B4-BE49-F238E27FC236}">
                    <a16:creationId xmlns:a16="http://schemas.microsoft.com/office/drawing/2014/main" id="{54B214A4-AB70-E986-81CB-D1FFE6B659CF}"/>
                  </a:ext>
                </a:extLst>
              </p:cNvPr>
              <p:cNvSpPr/>
              <p:nvPr/>
            </p:nvSpPr>
            <p:spPr>
              <a:xfrm rot="10800000">
                <a:off x="3566915" y="3888474"/>
                <a:ext cx="498762" cy="423193"/>
              </a:xfrm>
              <a:prstGeom prst="round2Same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15" name="Text Placeholder 32">
                <a:extLst>
                  <a:ext uri="{FF2B5EF4-FFF2-40B4-BE49-F238E27FC236}">
                    <a16:creationId xmlns:a16="http://schemas.microsoft.com/office/drawing/2014/main" id="{FADE84BD-C149-BD5F-7317-B62A82AC1E90}"/>
                  </a:ext>
                </a:extLst>
              </p:cNvPr>
              <p:cNvSpPr txBox="1">
                <a:spLocks/>
              </p:cNvSpPr>
              <p:nvPr/>
            </p:nvSpPr>
            <p:spPr>
              <a:xfrm>
                <a:off x="3642485" y="3975121"/>
                <a:ext cx="347624" cy="303214"/>
              </a:xfrm>
              <a:prstGeom prst="rect">
                <a:avLst/>
              </a:prstGeom>
            </p:spPr>
            <p:txBody>
              <a:bodyPr anchor="ctr"/>
              <a:lst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a:extLst>
                        <a:ext uri="{96DAC541-7B7A-43D3-8B79-37D633B846F1}">
                          <asvg:svgBlip xmlns:asvg="http://schemas.microsoft.com/office/drawing/2016/SVG/main" r:embed="rId8"/>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a:extLst>
                        <a:ext uri="{96DAC541-7B7A-43D3-8B79-37D633B846F1}">
                          <asvg:svgBlip xmlns:asvg="http://schemas.microsoft.com/office/drawing/2016/SVG/main" r:embed="rId7"/>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
                    <a:srgbClr val="D62B1E"/>
                  </a:buClr>
                  <a:buSzTx/>
                  <a:buFontTx/>
                  <a:buNone/>
                  <a:tabLst/>
                  <a:defRPr/>
                </a:pPr>
                <a:r>
                  <a:rPr kumimoji="0" lang="en-US" sz="1200" b="1" i="0" u="none" strike="noStrike" kern="1200" cap="none" spc="0" normalizeH="0" baseline="0" noProof="0">
                    <a:ln>
                      <a:noFill/>
                    </a:ln>
                    <a:solidFill>
                      <a:srgbClr val="FFFFFF"/>
                    </a:solidFill>
                    <a:effectLst/>
                    <a:uLnTx/>
                    <a:uFillTx/>
                    <a:latin typeface="Poppins"/>
                    <a:ea typeface="Verdana" panose="020B0604030504040204" pitchFamily="34" charset="0"/>
                  </a:rPr>
                  <a:t>4</a:t>
                </a:r>
              </a:p>
            </p:txBody>
          </p:sp>
        </p:grpSp>
        <p:sp>
          <p:nvSpPr>
            <p:cNvPr id="27" name="Oval 26">
              <a:extLst>
                <a:ext uri="{FF2B5EF4-FFF2-40B4-BE49-F238E27FC236}">
                  <a16:creationId xmlns:a16="http://schemas.microsoft.com/office/drawing/2014/main" id="{522715D8-2679-CA11-7570-8B231723997B}"/>
                </a:ext>
              </a:extLst>
            </p:cNvPr>
            <p:cNvSpPr/>
            <p:nvPr/>
          </p:nvSpPr>
          <p:spPr>
            <a:xfrm>
              <a:off x="11366503" y="4787429"/>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algn="ctr"/>
              <a:endParaRPr lang="en-US">
                <a:solidFill>
                  <a:schemeClr val="bg1"/>
                </a:solidFill>
              </a:endParaRPr>
            </a:p>
          </p:txBody>
        </p:sp>
        <p:pic>
          <p:nvPicPr>
            <p:cNvPr id="254" name="Graphic 253">
              <a:extLst>
                <a:ext uri="{FF2B5EF4-FFF2-40B4-BE49-F238E27FC236}">
                  <a16:creationId xmlns:a16="http://schemas.microsoft.com/office/drawing/2014/main" id="{2ACF13DA-505C-D6F9-C2BB-56482958EA14}"/>
                </a:ext>
              </a:extLst>
            </p:cNvPr>
            <p:cNvPicPr>
              <a:picLocks/>
            </p:cNvPicPr>
            <p:nvPr/>
          </p:nvPicPr>
          <p:blipFill>
            <a:blip>
              <a:extLst>
                <a:ext uri="{96DAC541-7B7A-43D3-8B79-37D633B846F1}">
                  <asvg:svgBlip xmlns:asvg="http://schemas.microsoft.com/office/drawing/2016/SVG/main" r:embed="rId10"/>
                </a:ext>
              </a:extLst>
            </a:blip>
            <a:stretch>
              <a:fillRect/>
            </a:stretch>
          </p:blipFill>
          <p:spPr>
            <a:xfrm>
              <a:off x="11420503" y="4841429"/>
              <a:ext cx="252000" cy="252000"/>
            </a:xfrm>
            <a:prstGeom prst="rect">
              <a:avLst/>
            </a:prstGeom>
          </p:spPr>
        </p:pic>
      </p:grpSp>
      <p:grpSp>
        <p:nvGrpSpPr>
          <p:cNvPr id="2" name="Group 1">
            <a:extLst>
              <a:ext uri="{FF2B5EF4-FFF2-40B4-BE49-F238E27FC236}">
                <a16:creationId xmlns:a16="http://schemas.microsoft.com/office/drawing/2014/main" id="{CA676AE9-86B6-5479-C5CC-D61E70AD8713}"/>
              </a:ext>
            </a:extLst>
          </p:cNvPr>
          <p:cNvGrpSpPr/>
          <p:nvPr/>
        </p:nvGrpSpPr>
        <p:grpSpPr>
          <a:xfrm>
            <a:off x="8178392" y="4819255"/>
            <a:ext cx="3440815" cy="993698"/>
            <a:chOff x="8151857" y="5026415"/>
            <a:chExt cx="3440815" cy="993698"/>
          </a:xfrm>
        </p:grpSpPr>
        <p:grpSp>
          <p:nvGrpSpPr>
            <p:cNvPr id="16" name="Group 15">
              <a:extLst>
                <a:ext uri="{FF2B5EF4-FFF2-40B4-BE49-F238E27FC236}">
                  <a16:creationId xmlns:a16="http://schemas.microsoft.com/office/drawing/2014/main" id="{2B422C06-F430-07E4-8629-30E006EB2C5C}"/>
                </a:ext>
              </a:extLst>
            </p:cNvPr>
            <p:cNvGrpSpPr/>
            <p:nvPr/>
          </p:nvGrpSpPr>
          <p:grpSpPr>
            <a:xfrm>
              <a:off x="8151857" y="5026415"/>
              <a:ext cx="3440815" cy="993698"/>
              <a:chOff x="8122464" y="5113470"/>
              <a:chExt cx="3440815" cy="993698"/>
            </a:xfrm>
          </p:grpSpPr>
          <p:sp>
            <p:nvSpPr>
              <p:cNvPr id="22" name="Rectangle: Rounded Corners 21">
                <a:extLst>
                  <a:ext uri="{FF2B5EF4-FFF2-40B4-BE49-F238E27FC236}">
                    <a16:creationId xmlns:a16="http://schemas.microsoft.com/office/drawing/2014/main" id="{4CADEFBA-998F-AD7E-E0ED-2462F19451D0}"/>
                  </a:ext>
                </a:extLst>
              </p:cNvPr>
              <p:cNvSpPr/>
              <p:nvPr/>
            </p:nvSpPr>
            <p:spPr>
              <a:xfrm rot="16200000">
                <a:off x="9410624" y="3954512"/>
                <a:ext cx="993698" cy="3311613"/>
              </a:xfrm>
              <a:prstGeom prst="roundRect">
                <a:avLst>
                  <a:gd name="adj" fmla="val 3917"/>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28" name="TextBox 27">
                <a:extLst>
                  <a:ext uri="{FF2B5EF4-FFF2-40B4-BE49-F238E27FC236}">
                    <a16:creationId xmlns:a16="http://schemas.microsoft.com/office/drawing/2014/main" id="{B247037A-3412-08A9-6302-B7CFF8A0F502}"/>
                  </a:ext>
                </a:extLst>
              </p:cNvPr>
              <p:cNvSpPr txBox="1"/>
              <p:nvPr/>
            </p:nvSpPr>
            <p:spPr>
              <a:xfrm>
                <a:off x="8122464" y="5201821"/>
                <a:ext cx="1071704" cy="338554"/>
              </a:xfrm>
              <a:prstGeom prst="rect">
                <a:avLst/>
              </a:prstGeom>
              <a:noFill/>
            </p:spPr>
            <p:txBody>
              <a:bodyPr wrap="square" lIns="36000" tIns="91440" rIns="36000" bIns="91440" rtlCol="0">
                <a:spAutoFit/>
              </a:bodyPr>
              <a:lstStyle/>
              <a:p>
                <a:pPr algn="ctr"/>
                <a:r>
                  <a:rPr lang="en-US" sz="1000" b="1"/>
                  <a:t>Key:</a:t>
                </a:r>
                <a:endParaRPr lang="en-US" sz="1000"/>
              </a:p>
            </p:txBody>
          </p:sp>
          <p:sp>
            <p:nvSpPr>
              <p:cNvPr id="29" name="Rounded Rectangle 26">
                <a:extLst>
                  <a:ext uri="{FF2B5EF4-FFF2-40B4-BE49-F238E27FC236}">
                    <a16:creationId xmlns:a16="http://schemas.microsoft.com/office/drawing/2014/main" id="{BD9E2DAC-D59E-0FDD-7E94-F74EF61E7ED6}"/>
                  </a:ext>
                </a:extLst>
              </p:cNvPr>
              <p:cNvSpPr/>
              <p:nvPr/>
            </p:nvSpPr>
            <p:spPr>
              <a:xfrm>
                <a:off x="9015840" y="5767199"/>
                <a:ext cx="1097280" cy="219456"/>
              </a:xfrm>
              <a:prstGeom prst="roundRect">
                <a:avLst>
                  <a:gd name="adj" fmla="val 6677"/>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1"/>
                    </a:solidFill>
                    <a:effectLst/>
                    <a:uLnTx/>
                    <a:uFillTx/>
                    <a:latin typeface="Poppins" pitchFamily="2" charset="77"/>
                    <a:cs typeface="Poppins" pitchFamily="2" charset="77"/>
                  </a:rPr>
                  <a:t>High</a:t>
                </a:r>
              </a:p>
            </p:txBody>
          </p:sp>
          <p:sp>
            <p:nvSpPr>
              <p:cNvPr id="30" name="Rounded Rectangle 23">
                <a:extLst>
                  <a:ext uri="{FF2B5EF4-FFF2-40B4-BE49-F238E27FC236}">
                    <a16:creationId xmlns:a16="http://schemas.microsoft.com/office/drawing/2014/main" id="{20DA808C-3701-A779-D3F4-4BAB83FAEB49}"/>
                  </a:ext>
                </a:extLst>
              </p:cNvPr>
              <p:cNvSpPr/>
              <p:nvPr/>
            </p:nvSpPr>
            <p:spPr>
              <a:xfrm>
                <a:off x="9015840" y="5529797"/>
                <a:ext cx="1097280" cy="220101"/>
              </a:xfrm>
              <a:prstGeom prst="roundRect">
                <a:avLst>
                  <a:gd name="adj" fmla="val 6118"/>
                </a:avLst>
              </a:prstGeom>
              <a:solidFill>
                <a:srgbClr val="00808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4">
                        <a:lumMod val="75000"/>
                      </a:schemeClr>
                    </a:solidFill>
                    <a:effectLst/>
                    <a:uLnTx/>
                    <a:uFillTx/>
                    <a:latin typeface="Poppins" pitchFamily="2" charset="77"/>
                    <a:cs typeface="Poppins" pitchFamily="2" charset="77"/>
                  </a:rPr>
                  <a:t>Critical</a:t>
                </a:r>
              </a:p>
            </p:txBody>
          </p:sp>
          <p:sp>
            <p:nvSpPr>
              <p:cNvPr id="37" name="Rounded Rectangle 23">
                <a:extLst>
                  <a:ext uri="{FF2B5EF4-FFF2-40B4-BE49-F238E27FC236}">
                    <a16:creationId xmlns:a16="http://schemas.microsoft.com/office/drawing/2014/main" id="{7D84EF3A-B551-5C2D-95B1-EF72EB420344}"/>
                  </a:ext>
                </a:extLst>
              </p:cNvPr>
              <p:cNvSpPr/>
              <p:nvPr/>
            </p:nvSpPr>
            <p:spPr>
              <a:xfrm>
                <a:off x="10150143" y="5767199"/>
                <a:ext cx="1097280" cy="219456"/>
              </a:xfrm>
              <a:prstGeom prst="roundRect">
                <a:avLst>
                  <a:gd name="adj" fmla="val 6118"/>
                </a:avLst>
              </a:prstGeom>
              <a:solidFill>
                <a:srgbClr val="CCD3E3"/>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3"/>
                    </a:solidFill>
                    <a:effectLst/>
                    <a:uLnTx/>
                    <a:uFillTx/>
                    <a:latin typeface="Poppins" pitchFamily="2" charset="77"/>
                    <a:cs typeface="Poppins" pitchFamily="2" charset="77"/>
                  </a:rPr>
                  <a:t>Addressed</a:t>
                </a:r>
              </a:p>
            </p:txBody>
          </p:sp>
          <p:sp>
            <p:nvSpPr>
              <p:cNvPr id="42" name="Rounded Rectangle 23">
                <a:extLst>
                  <a:ext uri="{FF2B5EF4-FFF2-40B4-BE49-F238E27FC236}">
                    <a16:creationId xmlns:a16="http://schemas.microsoft.com/office/drawing/2014/main" id="{324FFB8C-7E86-CDA4-B169-17327E178F98}"/>
                  </a:ext>
                </a:extLst>
              </p:cNvPr>
              <p:cNvSpPr/>
              <p:nvPr/>
            </p:nvSpPr>
            <p:spPr>
              <a:xfrm>
                <a:off x="10150143" y="5529797"/>
                <a:ext cx="1097280" cy="219456"/>
              </a:xfrm>
              <a:prstGeom prst="roundRect">
                <a:avLst>
                  <a:gd name="adj" fmla="val 6118"/>
                </a:avLst>
              </a:prstGeom>
              <a:solidFill>
                <a:schemeClr val="bg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rgbClr val="757070"/>
                    </a:solidFill>
                    <a:effectLst/>
                    <a:uLnTx/>
                    <a:uFillTx/>
                    <a:latin typeface="Poppins" pitchFamily="2" charset="77"/>
                    <a:cs typeface="Poppins" pitchFamily="2" charset="77"/>
                  </a:rPr>
                  <a:t>Gated</a:t>
                </a:r>
              </a:p>
            </p:txBody>
          </p:sp>
          <p:sp>
            <p:nvSpPr>
              <p:cNvPr id="45" name="Rounded Rectangle 23">
                <a:extLst>
                  <a:ext uri="{FF2B5EF4-FFF2-40B4-BE49-F238E27FC236}">
                    <a16:creationId xmlns:a16="http://schemas.microsoft.com/office/drawing/2014/main" id="{FAFBE4A0-1E74-4B52-EB0A-ABC9D390F532}"/>
                  </a:ext>
                </a:extLst>
              </p:cNvPr>
              <p:cNvSpPr/>
              <p:nvPr/>
            </p:nvSpPr>
            <p:spPr>
              <a:xfrm>
                <a:off x="9182687" y="5256721"/>
                <a:ext cx="1954095" cy="228754"/>
              </a:xfrm>
              <a:prstGeom prst="roundRect">
                <a:avLst>
                  <a:gd name="adj" fmla="val 6118"/>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defTabSz="914400" rtl="0" eaLnBrk="1" fontAlgn="auto" latinLnBrk="0" hangingPunct="1">
                  <a:lnSpc>
                    <a:spcPct val="100000"/>
                  </a:lnSpc>
                  <a:buClrTx/>
                  <a:buSzTx/>
                  <a:buFontTx/>
                  <a:buNone/>
                  <a:tabLst/>
                  <a:defRPr/>
                </a:pPr>
                <a:r>
                  <a:rPr kumimoji="0" lang="en-US" sz="800" i="0" u="none" strike="noStrike" kern="1200" cap="none" spc="0" normalizeH="0" baseline="0" noProof="0">
                    <a:ln>
                      <a:noFill/>
                    </a:ln>
                    <a:solidFill>
                      <a:schemeClr val="tx1"/>
                    </a:solidFill>
                    <a:effectLst/>
                    <a:uLnTx/>
                    <a:uFillTx/>
                    <a:latin typeface="Poppins" pitchFamily="2" charset="77"/>
                    <a:cs typeface="Poppins" pitchFamily="2" charset="77"/>
                  </a:rPr>
                  <a:t>Indicates partially addressed gaps</a:t>
                </a:r>
              </a:p>
            </p:txBody>
          </p:sp>
        </p:grpSp>
        <p:pic>
          <p:nvPicPr>
            <p:cNvPr id="21" name="Graphic 20">
              <a:extLst>
                <a:ext uri="{FF2B5EF4-FFF2-40B4-BE49-F238E27FC236}">
                  <a16:creationId xmlns:a16="http://schemas.microsoft.com/office/drawing/2014/main" id="{60C4941A-6AD6-F306-ED32-A322072736D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015737" y="5162599"/>
              <a:ext cx="252001" cy="252001"/>
            </a:xfrm>
            <a:prstGeom prst="rect">
              <a:avLst/>
            </a:prstGeom>
          </p:spPr>
        </p:pic>
      </p:grpSp>
      <p:sp>
        <p:nvSpPr>
          <p:cNvPr id="54" name="Rounded Rectangle 23">
            <a:extLst>
              <a:ext uri="{FF2B5EF4-FFF2-40B4-BE49-F238E27FC236}">
                <a16:creationId xmlns:a16="http://schemas.microsoft.com/office/drawing/2014/main" id="{A855F559-656D-9238-4441-D5E5D4CC879C}"/>
              </a:ext>
            </a:extLst>
          </p:cNvPr>
          <p:cNvSpPr/>
          <p:nvPr/>
        </p:nvSpPr>
        <p:spPr>
          <a:xfrm>
            <a:off x="354079" y="2434269"/>
            <a:ext cx="3708000" cy="576072"/>
          </a:xfrm>
          <a:prstGeom prst="roundRect">
            <a:avLst>
              <a:gd name="adj" fmla="val 6118"/>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91440" rIns="36000" bIns="91440" rtlCol="0" anchor="ctr"/>
          <a:lstStyle/>
          <a:p>
            <a:pPr fontAlgn="ctr"/>
            <a:r>
              <a:rPr lang="en-US" sz="1000" b="1">
                <a:solidFill>
                  <a:schemeClr val="accent1"/>
                </a:solidFill>
                <a:cs typeface="Poppins" pitchFamily="2" charset="77"/>
              </a:rPr>
              <a:t>NSCLC_HI_14</a:t>
            </a:r>
            <a:r>
              <a:rPr lang="en-US" sz="1000">
                <a:solidFill>
                  <a:schemeClr val="accent1"/>
                </a:solidFill>
                <a:cs typeface="Poppins" pitchFamily="2" charset="77"/>
              </a:rPr>
              <a:t>: </a:t>
            </a:r>
            <a:r>
              <a:rPr lang="en-US" sz="1000" i="1">
                <a:solidFill>
                  <a:schemeClr val="accent1"/>
                </a:solidFill>
              </a:rPr>
              <a:t>(1L) </a:t>
            </a:r>
            <a:r>
              <a:rPr lang="en-US" sz="1000">
                <a:solidFill>
                  <a:schemeClr val="accent1"/>
                </a:solidFill>
              </a:rPr>
              <a:t>Efficacy and safety of BGB-58067 triplet therapy across PD-L1 strata vs. doublet and anti-PD-1 mono</a:t>
            </a:r>
            <a:endParaRPr lang="en-US" sz="1000">
              <a:solidFill>
                <a:schemeClr val="accent1"/>
              </a:solidFill>
              <a:latin typeface="Arial" panose="020B0604020202020204" pitchFamily="34" charset="0"/>
            </a:endParaRPr>
          </a:p>
        </p:txBody>
      </p:sp>
      <p:grpSp>
        <p:nvGrpSpPr>
          <p:cNvPr id="3" name="Group 2">
            <a:extLst>
              <a:ext uri="{FF2B5EF4-FFF2-40B4-BE49-F238E27FC236}">
                <a16:creationId xmlns:a16="http://schemas.microsoft.com/office/drawing/2014/main" id="{947D27E0-45B4-1EC4-9C65-95D694C44331}"/>
              </a:ext>
            </a:extLst>
          </p:cNvPr>
          <p:cNvGrpSpPr/>
          <p:nvPr/>
        </p:nvGrpSpPr>
        <p:grpSpPr>
          <a:xfrm>
            <a:off x="362743" y="10216"/>
            <a:ext cx="10042505" cy="252000"/>
            <a:chOff x="362743" y="10216"/>
            <a:chExt cx="10042505" cy="252000"/>
          </a:xfrm>
        </p:grpSpPr>
        <p:sp>
          <p:nvSpPr>
            <p:cNvPr id="4" name="Pentagon 47">
              <a:extLst>
                <a:ext uri="{FF2B5EF4-FFF2-40B4-BE49-F238E27FC236}">
                  <a16:creationId xmlns:a16="http://schemas.microsoft.com/office/drawing/2014/main" id="{6EE1CCC8-5C3D-6944-9C77-4A7358055495}"/>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6" name="Chevron 48">
              <a:extLst>
                <a:ext uri="{FF2B5EF4-FFF2-40B4-BE49-F238E27FC236}">
                  <a16:creationId xmlns:a16="http://schemas.microsoft.com/office/drawing/2014/main" id="{8608AD55-990C-9052-BBD2-E215B157C121}"/>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7" name="Chevron 52">
              <a:extLst>
                <a:ext uri="{FF2B5EF4-FFF2-40B4-BE49-F238E27FC236}">
                  <a16:creationId xmlns:a16="http://schemas.microsoft.com/office/drawing/2014/main" id="{44535247-CE5B-9392-72B4-00B64001D2AB}"/>
                </a:ext>
              </a:extLst>
            </p:cNvPr>
            <p:cNvSpPr/>
            <p:nvPr/>
          </p:nvSpPr>
          <p:spPr>
            <a:xfrm>
              <a:off x="3701639"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8" name="Chevron 54">
              <a:extLst>
                <a:ext uri="{FF2B5EF4-FFF2-40B4-BE49-F238E27FC236}">
                  <a16:creationId xmlns:a16="http://schemas.microsoft.com/office/drawing/2014/main" id="{54148391-45A3-3EC3-ECEC-B6E9C1AC80C8}"/>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26" name="Chevron 48">
              <a:extLst>
                <a:ext uri="{FF2B5EF4-FFF2-40B4-BE49-F238E27FC236}">
                  <a16:creationId xmlns:a16="http://schemas.microsoft.com/office/drawing/2014/main" id="{31151620-23E7-BFFB-F6D2-7439FF2E2CD6}"/>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43" name="Chevron 48">
              <a:extLst>
                <a:ext uri="{FF2B5EF4-FFF2-40B4-BE49-F238E27FC236}">
                  <a16:creationId xmlns:a16="http://schemas.microsoft.com/office/drawing/2014/main" id="{7EE69823-7A4A-985D-D52C-1B66F1883C3C}"/>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2037926366"/>
      </p:ext>
    </p:extLst>
  </p:cSld>
  <p:clrMapOvr>
    <a:masterClrMapping/>
  </p:clrMapOvr>
  <p:extLst>
    <p:ext uri="{6950BFC3-D8DA-4A85-94F7-54DA5524770B}">
      <p188:commentRel xmlns:p188="http://schemas.microsoft.com/office/powerpoint/2018/8/main" r:id="rId4"/>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60BD3-798C-B3FF-EC0C-281EA059B605}"/>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EC1D44AE-D894-665A-7157-0DF5BD77ACF7}"/>
              </a:ext>
            </a:extLst>
          </p:cNvPr>
          <p:cNvSpPr/>
          <p:nvPr/>
        </p:nvSpPr>
        <p:spPr>
          <a:xfrm>
            <a:off x="7572976" y="6128998"/>
            <a:ext cx="4459396" cy="66816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algn="ctr"/>
            <a:endParaRPr lang="en-US" sz="1200">
              <a:solidFill>
                <a:schemeClr val="tx1"/>
              </a:solidFill>
            </a:endParaRPr>
          </a:p>
        </p:txBody>
      </p:sp>
      <p:graphicFrame>
        <p:nvGraphicFramePr>
          <p:cNvPr id="59" name="think-cell data - do not delete" hidden="1">
            <a:extLst>
              <a:ext uri="{FF2B5EF4-FFF2-40B4-BE49-F238E27FC236}">
                <a16:creationId xmlns:a16="http://schemas.microsoft.com/office/drawing/2014/main" id="{DCC94832-CDD0-1A17-68C3-9F15DA7D6CB4}"/>
              </a:ext>
            </a:extLst>
          </p:cNvPr>
          <p:cNvGraphicFramePr>
            <a:graphicFrameLocks/>
          </p:cNvGraphicFramePr>
          <p:nvPr>
            <p:custDataLst>
              <p:tags r:id="rId1"/>
            </p:custDataLst>
            <p:extLst>
              <p:ext uri="{D42A27DB-BD31-4B8C-83A1-F6EECF244321}">
                <p14:modId xmlns:p14="http://schemas.microsoft.com/office/powerpoint/2010/main" val="27069400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59" name="think-cell data - do not delete" hidden="1">
                        <a:extLst>
                          <a:ext uri="{FF2B5EF4-FFF2-40B4-BE49-F238E27FC236}">
                            <a16:creationId xmlns:a16="http://schemas.microsoft.com/office/drawing/2014/main" id="{DCC94832-CDD0-1A17-68C3-9F15DA7D6CB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8" name="Title 57">
            <a:extLst>
              <a:ext uri="{FF2B5EF4-FFF2-40B4-BE49-F238E27FC236}">
                <a16:creationId xmlns:a16="http://schemas.microsoft.com/office/drawing/2014/main" id="{919F0D07-60E5-D4DD-8B22-6C989E815BC5}"/>
              </a:ext>
            </a:extLst>
          </p:cNvPr>
          <p:cNvSpPr>
            <a:spLocks noGrp="1"/>
          </p:cNvSpPr>
          <p:nvPr>
            <p:ph type="title"/>
          </p:nvPr>
        </p:nvSpPr>
        <p:spPr>
          <a:xfrm>
            <a:off x="358337" y="338328"/>
            <a:ext cx="11470125" cy="738664"/>
          </a:xfrm>
        </p:spPr>
        <p:txBody>
          <a:bodyPr vert="horz" wrap="square" rIns="0">
            <a:spAutoFit/>
          </a:bodyPr>
          <a:lstStyle/>
          <a:p>
            <a:r>
              <a:rPr lang="en-US" sz="2400"/>
              <a:t>Prioritized evidence gaps: Drive differentiation of BGB-58067 as a brain-penetrant, highly selective and potent PRMT5i (1/4)</a:t>
            </a:r>
          </a:p>
        </p:txBody>
      </p:sp>
      <p:graphicFrame>
        <p:nvGraphicFramePr>
          <p:cNvPr id="3" name="Table 2">
            <a:extLst>
              <a:ext uri="{FF2B5EF4-FFF2-40B4-BE49-F238E27FC236}">
                <a16:creationId xmlns:a16="http://schemas.microsoft.com/office/drawing/2014/main" id="{C7CF1635-EDAF-0FFF-42F5-CC4EBCB9E845}"/>
              </a:ext>
            </a:extLst>
          </p:cNvPr>
          <p:cNvGraphicFramePr>
            <a:graphicFrameLocks noGrp="1"/>
          </p:cNvGraphicFramePr>
          <p:nvPr>
            <p:extLst>
              <p:ext uri="{D42A27DB-BD31-4B8C-83A1-F6EECF244321}">
                <p14:modId xmlns:p14="http://schemas.microsoft.com/office/powerpoint/2010/main" val="2728701315"/>
              </p:ext>
            </p:extLst>
          </p:nvPr>
        </p:nvGraphicFramePr>
        <p:xfrm>
          <a:off x="362744" y="1554579"/>
          <a:ext cx="11470125" cy="4456560"/>
        </p:xfrm>
        <a:graphic>
          <a:graphicData uri="http://schemas.openxmlformats.org/drawingml/2006/table">
            <a:tbl>
              <a:tblPr bandRow="1">
                <a:tableStyleId>{5C22544A-7EE6-4342-B048-85BDC9FD1C3A}</a:tableStyleId>
              </a:tblPr>
              <a:tblGrid>
                <a:gridCol w="1618456">
                  <a:extLst>
                    <a:ext uri="{9D8B030D-6E8A-4147-A177-3AD203B41FA5}">
                      <a16:colId xmlns:a16="http://schemas.microsoft.com/office/drawing/2014/main" val="1720362591"/>
                    </a:ext>
                  </a:extLst>
                </a:gridCol>
                <a:gridCol w="2400795">
                  <a:extLst>
                    <a:ext uri="{9D8B030D-6E8A-4147-A177-3AD203B41FA5}">
                      <a16:colId xmlns:a16="http://schemas.microsoft.com/office/drawing/2014/main" val="1362236069"/>
                    </a:ext>
                  </a:extLst>
                </a:gridCol>
                <a:gridCol w="3902469">
                  <a:extLst>
                    <a:ext uri="{9D8B030D-6E8A-4147-A177-3AD203B41FA5}">
                      <a16:colId xmlns:a16="http://schemas.microsoft.com/office/drawing/2014/main" val="366937182"/>
                    </a:ext>
                  </a:extLst>
                </a:gridCol>
                <a:gridCol w="3548405">
                  <a:extLst>
                    <a:ext uri="{9D8B030D-6E8A-4147-A177-3AD203B41FA5}">
                      <a16:colId xmlns:a16="http://schemas.microsoft.com/office/drawing/2014/main" val="320023064"/>
                    </a:ext>
                  </a:extLst>
                </a:gridCol>
              </a:tblGrid>
              <a:tr h="264439">
                <a:tc>
                  <a:txBody>
                    <a:bodyPr/>
                    <a:lstStyle/>
                    <a:p>
                      <a:pPr algn="ctr"/>
                      <a:r>
                        <a:rPr lang="en-US" sz="1200" b="1" i="0">
                          <a:solidFill>
                            <a:schemeClr val="bg1"/>
                          </a:solidFill>
                          <a:latin typeface="+mn-lt"/>
                          <a:cs typeface="Poppins" pitchFamily="2" charset="77"/>
                        </a:rPr>
                        <a:t>Gap ID and Priority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sz="1200" b="1" i="0">
                          <a:solidFill>
                            <a:schemeClr val="bg1"/>
                          </a:solidFill>
                          <a:latin typeface="+mn-lt"/>
                          <a:cs typeface="Poppins" pitchFamily="2" charset="77"/>
                        </a:rPr>
                        <a:t>Evidence Gap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sz="1200" b="1" i="0">
                          <a:solidFill>
                            <a:schemeClr val="bg1"/>
                          </a:solidFill>
                          <a:latin typeface="+mn-lt"/>
                          <a:cs typeface="Poppins" pitchFamily="2" charset="77"/>
                        </a:rPr>
                        <a:t>Rationale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sz="1200" b="1" i="0">
                          <a:solidFill>
                            <a:schemeClr val="bg1"/>
                          </a:solidFill>
                          <a:latin typeface="+mn-lt"/>
                          <a:cs typeface="Poppins" pitchFamily="2" charset="77"/>
                        </a:rPr>
                        <a:t>Tactics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323510155"/>
                  </a:ext>
                </a:extLst>
              </a:tr>
              <a:tr h="1802239">
                <a:tc>
                  <a:txBody>
                    <a:bodyPr/>
                    <a:lstStyle/>
                    <a:p>
                      <a:pPr algn="l"/>
                      <a:r>
                        <a:rPr lang="en-US" sz="1100" b="1" i="0">
                          <a:solidFill>
                            <a:schemeClr val="tx1"/>
                          </a:solidFill>
                          <a:latin typeface="+mn-lt"/>
                          <a:cs typeface="Poppins" pitchFamily="2" charset="77"/>
                        </a:rPr>
                        <a:t>NSCLC_CE_01</a:t>
                      </a:r>
                    </a:p>
                    <a:p>
                      <a:pPr algn="l"/>
                      <a:r>
                        <a:rPr lang="en-US" sz="1000" b="0" i="0">
                          <a:solidFill>
                            <a:schemeClr val="tx1"/>
                          </a:solidFill>
                          <a:latin typeface="+mn-lt"/>
                          <a:cs typeface="Poppins" pitchFamily="2" charset="77"/>
                        </a:rPr>
                        <a:t>Efficacy/Safety</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a:r>
                        <a:rPr lang="en-US" sz="1000" b="0" i="1">
                          <a:solidFill>
                            <a:schemeClr val="tx1"/>
                          </a:solidFill>
                          <a:latin typeface="+mn-lt"/>
                          <a:cs typeface="Poppins" pitchFamily="2" charset="77"/>
                        </a:rPr>
                        <a:t>(1L and 2L+) </a:t>
                      </a:r>
                      <a:r>
                        <a:rPr lang="en-US" sz="1000" b="0" i="0">
                          <a:solidFill>
                            <a:schemeClr val="tx1"/>
                          </a:solidFill>
                          <a:latin typeface="+mn-lt"/>
                          <a:cs typeface="Poppins" pitchFamily="2" charset="77"/>
                        </a:rPr>
                        <a:t>BGB-58067's long-term data on efficacy, quality-adjusted survival outcomes, safety and tolerability profile patterns </a:t>
                      </a:r>
                    </a:p>
                    <a:p>
                      <a:pPr algn="l"/>
                      <a:endParaRPr lang="en-US" sz="500" b="0" i="0">
                        <a:solidFill>
                          <a:schemeClr val="tx1"/>
                        </a:solidFill>
                        <a:latin typeface="+mn-lt"/>
                        <a:cs typeface="Poppins" pitchFamily="2" charset="77"/>
                      </a:endParaRPr>
                    </a:p>
                    <a:p>
                      <a:pPr algn="l"/>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  Regulators  Patients and PAGs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300"/>
                        </a:spcAft>
                        <a:buFont typeface="Arial" panose="020B0604020202020204" pitchFamily="34" charset="0"/>
                        <a:buChar char="•"/>
                      </a:pPr>
                      <a:r>
                        <a:rPr lang="en-US" sz="1000" b="0" i="0" kern="1200">
                          <a:solidFill>
                            <a:schemeClr val="tx1"/>
                          </a:solidFill>
                          <a:latin typeface="+mn-lt"/>
                          <a:ea typeface="+mn-ea"/>
                          <a:cs typeface="Poppins" pitchFamily="2" charset="77"/>
                        </a:rPr>
                        <a:t>Demonstrates sustained clinical benefit, tolerability, and quality-adjusted survival to support durability-driven differentiation and long-term value narratives</a:t>
                      </a:r>
                    </a:p>
                    <a:p>
                      <a:pPr marL="171450" indent="-171450" algn="l" defTabSz="914400" rtl="0" eaLnBrk="1" latinLnBrk="0" hangingPunct="1">
                        <a:spcAft>
                          <a:spcPts val="300"/>
                        </a:spcAft>
                        <a:buFont typeface="Arial" panose="020B0604020202020204" pitchFamily="34" charset="0"/>
                        <a:buChar char="•"/>
                      </a:pPr>
                      <a:r>
                        <a:rPr lang="en-US" sz="1000" b="0" i="0" kern="1200">
                          <a:solidFill>
                            <a:schemeClr val="tx1"/>
                          </a:solidFill>
                          <a:latin typeface="+mn-lt"/>
                          <a:ea typeface="+mn-ea"/>
                          <a:cs typeface="Poppins" pitchFamily="2" charset="77"/>
                        </a:rPr>
                        <a:t>Informs payer confidence in extended treatment investment and strengthens reimbursement positioning in key markets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defRPr/>
                      </a:pPr>
                      <a:r>
                        <a:rPr lang="en-US" sz="1000" b="1" i="0" u="none" strike="noStrike" kern="1200" noProof="0">
                          <a:solidFill>
                            <a:schemeClr val="tx1"/>
                          </a:solidFill>
                          <a:effectLst/>
                          <a:latin typeface="+mn-lt"/>
                          <a:ea typeface="+mn-ea"/>
                          <a:cs typeface="Poppins"/>
                          <a:hlinkClick r:id="rId7" action="ppaction://hlinksldjump">
                            <a:extLst>
                              <a:ext uri="{A12FA001-AC4F-418D-AE19-62706E023703}">
                                <ahyp:hlinkClr xmlns:ahyp="http://schemas.microsoft.com/office/drawing/2018/hyperlinkcolor" val="tx"/>
                              </a:ext>
                            </a:extLst>
                          </a:hlinkClick>
                        </a:rPr>
                        <a:t>Post-hoc analyses</a:t>
                      </a:r>
                      <a:r>
                        <a:rPr lang="en-US" sz="1000" b="0" i="0" u="none" strike="noStrike" kern="1200" noProof="0">
                          <a:solidFill>
                            <a:schemeClr val="tx1"/>
                          </a:solidFill>
                          <a:effectLst/>
                          <a:latin typeface="+mn-lt"/>
                          <a:ea typeface="+mn-ea"/>
                          <a:cs typeface="Poppins"/>
                          <a:hlinkClick r:id="rId7" action="ppaction://hlinksldjump">
                            <a:extLst>
                              <a:ext uri="{A12FA001-AC4F-418D-AE19-62706E023703}">
                                <ahyp:hlinkClr xmlns:ahyp="http://schemas.microsoft.com/office/drawing/2018/hyperlinkcolor" val="tx"/>
                              </a:ext>
                            </a:extLst>
                          </a:hlinkClick>
                        </a:rPr>
                        <a:t>: </a:t>
                      </a:r>
                      <a:r>
                        <a:rPr lang="en-US" sz="1000" b="0" i="0" u="none" strike="noStrike" kern="1200" noProof="0">
                          <a:solidFill>
                            <a:schemeClr val="tx1"/>
                          </a:solidFill>
                          <a:effectLst/>
                          <a:latin typeface="+mn-lt"/>
                          <a:ea typeface="+mn-ea"/>
                          <a:cs typeface="Poppins"/>
                        </a:rPr>
                        <a:t>Extended follow-up and planned long-term, post-hoc analyses within pivotal trials on key subgroups and long-term responder profiles</a:t>
                      </a:r>
                    </a:p>
                    <a:p>
                      <a:pPr marL="171450" marR="0" lvl="0" indent="-171450" algn="l" defTabSz="914400"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defRPr/>
                      </a:pPr>
                      <a:r>
                        <a:rPr lang="en-US" sz="1000" b="1" i="0" u="none" strike="noStrike" kern="1200" noProof="0">
                          <a:solidFill>
                            <a:schemeClr val="tx1"/>
                          </a:solidFill>
                          <a:effectLst/>
                          <a:latin typeface="+mn-lt"/>
                          <a:ea typeface="+mn-ea"/>
                          <a:cs typeface="Poppins"/>
                          <a:hlinkClick r:id="rId8" action="ppaction://hlinksldjump">
                            <a:extLst>
                              <a:ext uri="{A12FA001-AC4F-418D-AE19-62706E023703}">
                                <ahyp:hlinkClr xmlns:ahyp="http://schemas.microsoft.com/office/drawing/2018/hyperlinkcolor" val="tx"/>
                              </a:ext>
                            </a:extLst>
                          </a:hlinkClick>
                        </a:rPr>
                        <a:t>RWE</a:t>
                      </a:r>
                      <a:r>
                        <a:rPr lang="en-US" sz="1000" b="0" i="0" u="none" strike="noStrike" kern="1200" noProof="0">
                          <a:solidFill>
                            <a:schemeClr val="tx1"/>
                          </a:solidFill>
                          <a:effectLst/>
                          <a:latin typeface="+mn-lt"/>
                          <a:ea typeface="+mn-ea"/>
                          <a:cs typeface="Poppins"/>
                          <a:hlinkClick r:id="rId8" action="ppaction://hlinksldjump">
                            <a:extLst>
                              <a:ext uri="{A12FA001-AC4F-418D-AE19-62706E023703}">
                                <ahyp:hlinkClr xmlns:ahyp="http://schemas.microsoft.com/office/drawing/2018/hyperlinkcolor" val="tx"/>
                              </a:ext>
                            </a:extLst>
                          </a:hlinkClick>
                        </a:rPr>
                        <a:t>: </a:t>
                      </a:r>
                      <a:r>
                        <a:rPr lang="en-US" sz="1000" b="0" i="0" u="none" strike="noStrike" kern="1200" noProof="0">
                          <a:solidFill>
                            <a:schemeClr val="tx1"/>
                          </a:solidFill>
                          <a:effectLst/>
                          <a:latin typeface="+mn-lt"/>
                          <a:ea typeface="+mn-ea"/>
                          <a:cs typeface="Poppins"/>
                        </a:rPr>
                        <a:t>Prospective observational study for long-term effectiveness and tolerability</a:t>
                      </a:r>
                    </a:p>
                    <a:p>
                      <a:pPr marL="171450" marR="0" lvl="0" indent="-171450" algn="l" defTabSz="914400"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defRPr/>
                      </a:pPr>
                      <a:r>
                        <a:rPr lang="en-US" sz="1000" b="1" i="0" u="none" strike="noStrike" kern="1200" noProof="0">
                          <a:solidFill>
                            <a:schemeClr val="tx1"/>
                          </a:solidFill>
                          <a:effectLst/>
                          <a:latin typeface="+mn-lt"/>
                          <a:ea typeface="+mn-ea"/>
                          <a:cs typeface="Poppins"/>
                          <a:hlinkClick r:id="rId9" action="ppaction://hlinksldjump">
                            <a:extLst>
                              <a:ext uri="{A12FA001-AC4F-418D-AE19-62706E023703}">
                                <ahyp:hlinkClr xmlns:ahyp="http://schemas.microsoft.com/office/drawing/2018/hyperlinkcolor" val="tx"/>
                              </a:ext>
                            </a:extLst>
                          </a:hlinkClick>
                        </a:rPr>
                        <a:t>Surveys</a:t>
                      </a:r>
                      <a:r>
                        <a:rPr lang="en-US" sz="1000" b="0" i="0" u="none" strike="noStrike" kern="1200" noProof="0">
                          <a:solidFill>
                            <a:schemeClr val="tx1"/>
                          </a:solidFill>
                          <a:effectLst/>
                          <a:latin typeface="+mn-lt"/>
                          <a:ea typeface="+mn-ea"/>
                          <a:cs typeface="Poppins"/>
                        </a:rPr>
                        <a:t>: Patient preference,</a:t>
                      </a:r>
                      <a:r>
                        <a:rPr lang="en-US" sz="1000" b="1" i="0" u="none" strike="noStrike" kern="1200" noProof="0">
                          <a:solidFill>
                            <a:schemeClr val="tx1"/>
                          </a:solidFill>
                          <a:effectLst/>
                          <a:latin typeface="+mn-lt"/>
                          <a:ea typeface="+mn-ea"/>
                          <a:cs typeface="Poppins"/>
                        </a:rPr>
                        <a:t> </a:t>
                      </a:r>
                      <a:r>
                        <a:rPr lang="en-US" sz="1000" b="0" i="0" u="none" strike="noStrike" kern="1200" noProof="0">
                          <a:solidFill>
                            <a:schemeClr val="tx1"/>
                          </a:solidFill>
                          <a:effectLst/>
                          <a:latin typeface="+mn-lt"/>
                          <a:ea typeface="+mn-ea"/>
                          <a:cs typeface="Poppins"/>
                        </a:rPr>
                        <a:t>HCP, and caregiver surveys</a:t>
                      </a:r>
                    </a:p>
                    <a:p>
                      <a:pPr marL="171450" marR="0" lvl="0" indent="-171450" algn="l" defTabSz="914400"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defRPr/>
                      </a:pPr>
                      <a:r>
                        <a:rPr lang="en-US" sz="1000" b="1" i="0" u="none" strike="noStrike" kern="1200" noProof="0">
                          <a:solidFill>
                            <a:schemeClr val="tx1"/>
                          </a:solidFill>
                          <a:effectLst/>
                          <a:latin typeface="+mn-lt"/>
                          <a:ea typeface="+mn-ea"/>
                          <a:cs typeface="Poppins"/>
                          <a:hlinkClick r:id="rId10" action="ppaction://hlinksldjump">
                            <a:extLst>
                              <a:ext uri="{A12FA001-AC4F-418D-AE19-62706E023703}">
                                <ahyp:hlinkClr xmlns:ahyp="http://schemas.microsoft.com/office/drawing/2018/hyperlinkcolor" val="tx"/>
                              </a:ext>
                            </a:extLst>
                          </a:hlinkClick>
                        </a:rPr>
                        <a:t>Q-TWIST</a:t>
                      </a:r>
                      <a:r>
                        <a:rPr lang="en-US" sz="1000" b="0" i="0" u="none" strike="noStrike" kern="1200" noProof="0">
                          <a:solidFill>
                            <a:schemeClr val="tx1"/>
                          </a:solidFill>
                          <a:effectLst/>
                          <a:latin typeface="+mn-lt"/>
                          <a:ea typeface="+mn-ea"/>
                          <a:cs typeface="Poppins"/>
                          <a:hlinkClick r:id="rId10" action="ppaction://hlinksldjump">
                            <a:extLst>
                              <a:ext uri="{A12FA001-AC4F-418D-AE19-62706E023703}">
                                <ahyp:hlinkClr xmlns:ahyp="http://schemas.microsoft.com/office/drawing/2018/hyperlinkcolor" val="tx"/>
                              </a:ext>
                            </a:extLst>
                          </a:hlinkClick>
                        </a:rPr>
                        <a:t>: </a:t>
                      </a:r>
                      <a:r>
                        <a:rPr lang="en-US" sz="1000" b="0" i="0" u="none" strike="noStrike" kern="1200" noProof="0">
                          <a:solidFill>
                            <a:schemeClr val="tx1"/>
                          </a:solidFill>
                          <a:effectLst/>
                          <a:latin typeface="+mn-lt"/>
                          <a:ea typeface="+mn-ea"/>
                          <a:cs typeface="Poppins"/>
                        </a:rPr>
                        <a:t>Quality-adjusted survival analyses using pivotal and Phase 4 trial data (e.g., Q-TWiST, EQ-5D-5L, PRO-CTCAE)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74479344"/>
                  </a:ext>
                </a:extLst>
              </a:tr>
              <a:tr h="1097280">
                <a:tc>
                  <a:txBody>
                    <a:bodyPr/>
                    <a:lstStyle/>
                    <a:p>
                      <a:pPr algn="l"/>
                      <a:r>
                        <a:rPr lang="en-US" sz="1100" b="1" i="0">
                          <a:solidFill>
                            <a:schemeClr val="tx1"/>
                          </a:solidFill>
                          <a:latin typeface="+mn-lt"/>
                          <a:cs typeface="Poppins" pitchFamily="2" charset="77"/>
                        </a:rPr>
                        <a:t>NSCLC_CE_02</a:t>
                      </a:r>
                    </a:p>
                    <a:p>
                      <a:pPr algn="l"/>
                      <a:r>
                        <a:rPr lang="en-US" sz="1000" b="0" i="0">
                          <a:solidFill>
                            <a:schemeClr val="tx1"/>
                          </a:solidFill>
                          <a:latin typeface="+mn-lt"/>
                          <a:cs typeface="Poppins" pitchFamily="2" charset="77"/>
                        </a:rPr>
                        <a:t>Efficacy/Safety</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a:spcAft>
                          <a:spcPts val="500"/>
                        </a:spcAft>
                      </a:pPr>
                      <a:r>
                        <a:rPr lang="en-US" sz="1000" b="0" i="0">
                          <a:solidFill>
                            <a:schemeClr val="tx1"/>
                          </a:solidFill>
                          <a:latin typeface="+mn-lt"/>
                          <a:cs typeface="Poppins"/>
                        </a:rPr>
                        <a:t>BGB-58067's efficacy and safety in MTAP-del tumor types beyond those investigated in the CDP (e.g., mesothelioma, GBM, CCA, HNSCC, rare tumors)</a:t>
                      </a:r>
                    </a:p>
                    <a:p>
                      <a:pPr algn="l"/>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  Regulators  Patients and PAGs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indent="-171450" algn="l" defTabSz="914400" rtl="0" eaLnBrk="1" latinLnBrk="0" hangingPunct="1">
                        <a:spcAft>
                          <a:spcPts val="300"/>
                        </a:spcAft>
                        <a:buFont typeface="Arial" panose="020B0604020202020204" pitchFamily="34" charset="0"/>
                        <a:buChar char="•"/>
                      </a:pPr>
                      <a:r>
                        <a:rPr lang="en-US" sz="1000" b="0" i="0" kern="1200">
                          <a:solidFill>
                            <a:schemeClr val="tx1"/>
                          </a:solidFill>
                          <a:latin typeface="+mn-lt"/>
                          <a:ea typeface="+mn-ea"/>
                          <a:cs typeface="Poppins" pitchFamily="2" charset="77"/>
                        </a:rPr>
                        <a:t>Targets HCP-recognized unmet need in MTAP-deleted tumor subtypes (e.g., mesothelioma, GBM), supporting the therapeutic rationale for PRMT5i</a:t>
                      </a:r>
                    </a:p>
                    <a:p>
                      <a:pPr marL="171450" indent="-171450" algn="l" defTabSz="914400" rtl="0" eaLnBrk="1" latinLnBrk="0" hangingPunct="1">
                        <a:spcAft>
                          <a:spcPts val="300"/>
                        </a:spcAft>
                        <a:buFont typeface="Arial" panose="020B0604020202020204" pitchFamily="34" charset="0"/>
                        <a:buChar char="•"/>
                      </a:pPr>
                      <a:r>
                        <a:rPr lang="en-US" sz="1000" b="0" i="0" kern="1200">
                          <a:solidFill>
                            <a:schemeClr val="tx1"/>
                          </a:solidFill>
                          <a:latin typeface="+mn-lt"/>
                          <a:ea typeface="+mn-ea"/>
                          <a:cs typeface="Poppins" pitchFamily="2" charset="77"/>
                        </a:rPr>
                        <a:t>Guides indication prioritization/sequencing and clinical development planning, including expansion into tumor subtypes (e.g., via IITs) and generation of efficacy data to inform the CDP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lvl="0" indent="-171450">
                        <a:spcAft>
                          <a:spcPts val="300"/>
                        </a:spcAft>
                        <a:buClr>
                          <a:srgbClr val="000000"/>
                        </a:buClr>
                        <a:buFont typeface="Arial" panose="020B0604020202020204" pitchFamily="34" charset="0"/>
                        <a:buChar char="•"/>
                      </a:pPr>
                      <a:r>
                        <a:rPr lang="en-US" sz="1000" b="1" i="0" u="none" strike="noStrike" kern="1200" noProof="0">
                          <a:solidFill>
                            <a:schemeClr val="tx1"/>
                          </a:solidFill>
                          <a:effectLst/>
                          <a:latin typeface="+mn-lt"/>
                          <a:ea typeface="+mn-ea"/>
                          <a:cs typeface="Poppins"/>
                          <a:hlinkClick r:id="rId11" action="ppaction://hlinksldjump">
                            <a:extLst>
                              <a:ext uri="{A12FA001-AC4F-418D-AE19-62706E023703}">
                                <ahyp:hlinkClr xmlns:ahyp="http://schemas.microsoft.com/office/drawing/2018/hyperlinkcolor" val="tx"/>
                              </a:ext>
                            </a:extLst>
                          </a:hlinkClick>
                        </a:rPr>
                        <a:t>IIT</a:t>
                      </a:r>
                      <a:r>
                        <a:rPr lang="en-US" sz="1000" b="1" i="0" u="none" strike="noStrike" kern="1200" noProof="0">
                          <a:solidFill>
                            <a:schemeClr val="tx1"/>
                          </a:solidFill>
                          <a:effectLst/>
                          <a:latin typeface="+mn-lt"/>
                          <a:ea typeface="+mn-ea"/>
                          <a:cs typeface="Poppins"/>
                          <a:hlinkClick r:id="" action="ppaction://noaction">
                            <a:extLst>
                              <a:ext uri="{A12FA001-AC4F-418D-AE19-62706E023703}">
                                <ahyp:hlinkClr xmlns:ahyp="http://schemas.microsoft.com/office/drawing/2018/hyperlinkcolor" val="tx"/>
                              </a:ext>
                            </a:extLst>
                          </a:hlinkClick>
                        </a:rPr>
                        <a:t>:</a:t>
                      </a:r>
                      <a:r>
                        <a:rPr lang="en-US" sz="1000" b="0" i="0" u="none" strike="noStrike" kern="1200" noProof="0">
                          <a:solidFill>
                            <a:schemeClr val="tx1"/>
                          </a:solidFill>
                          <a:effectLst/>
                          <a:latin typeface="+mn-lt"/>
                          <a:ea typeface="+mn-ea"/>
                          <a:cs typeface="Poppins"/>
                          <a:hlinkClick r:id="" action="ppaction://noaction">
                            <a:extLst>
                              <a:ext uri="{A12FA001-AC4F-418D-AE19-62706E023703}">
                                <ahyp:hlinkClr xmlns:ahyp="http://schemas.microsoft.com/office/drawing/2018/hyperlinkcolor" val="tx"/>
                              </a:ext>
                            </a:extLst>
                          </a:hlinkClick>
                        </a:rPr>
                        <a:t> </a:t>
                      </a:r>
                      <a:r>
                        <a:rPr lang="en-US" sz="1000" b="0" i="0" u="none" strike="noStrike" kern="1200" noProof="0">
                          <a:solidFill>
                            <a:schemeClr val="tx1"/>
                          </a:solidFill>
                          <a:effectLst/>
                          <a:latin typeface="+mn-lt"/>
                          <a:ea typeface="+mn-ea"/>
                          <a:cs typeface="Poppins"/>
                        </a:rPr>
                        <a:t>High-interest non-CDP MTAP-del tumors</a:t>
                      </a:r>
                    </a:p>
                    <a:p>
                      <a:pPr marL="171450" marR="0" lvl="0" indent="-171450" algn="l" defTabSz="914400"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defRPr/>
                      </a:pPr>
                      <a:r>
                        <a:rPr lang="en-US" sz="1000" b="1" i="0" u="none" strike="noStrike" kern="1200" noProof="0">
                          <a:solidFill>
                            <a:schemeClr val="tx1"/>
                          </a:solidFill>
                          <a:effectLst/>
                          <a:latin typeface="+mn-lt"/>
                          <a:ea typeface="+mn-ea"/>
                          <a:cs typeface="Poppins"/>
                          <a:hlinkClick r:id="rId8" action="ppaction://hlinksldjump">
                            <a:extLst>
                              <a:ext uri="{A12FA001-AC4F-418D-AE19-62706E023703}">
                                <ahyp:hlinkClr xmlns:ahyp="http://schemas.microsoft.com/office/drawing/2018/hyperlinkcolor" val="tx"/>
                              </a:ext>
                            </a:extLst>
                          </a:hlinkClick>
                        </a:rPr>
                        <a:t>RWE</a:t>
                      </a:r>
                      <a:r>
                        <a:rPr lang="en-US" sz="1000" b="1" i="0" u="none" strike="noStrike" kern="1200" noProof="0">
                          <a:solidFill>
                            <a:schemeClr val="tx1"/>
                          </a:solidFill>
                          <a:effectLst/>
                          <a:latin typeface="+mn-lt"/>
                          <a:ea typeface="+mn-ea"/>
                          <a:cs typeface="Poppins"/>
                          <a:hlinkClick r:id="" action="ppaction://noaction">
                            <a:extLst>
                              <a:ext uri="{A12FA001-AC4F-418D-AE19-62706E023703}">
                                <ahyp:hlinkClr xmlns:ahyp="http://schemas.microsoft.com/office/drawing/2018/hyperlinkcolor" val="tx"/>
                              </a:ext>
                            </a:extLst>
                          </a:hlinkClick>
                        </a:rPr>
                        <a:t>:</a:t>
                      </a:r>
                      <a:r>
                        <a:rPr lang="en-US" sz="1000" b="0" i="0" u="none" strike="noStrike" kern="1200" noProof="0">
                          <a:solidFill>
                            <a:schemeClr val="tx1"/>
                          </a:solidFill>
                          <a:effectLst/>
                          <a:latin typeface="+mn-lt"/>
                          <a:ea typeface="+mn-ea"/>
                          <a:cs typeface="Poppins"/>
                          <a:hlinkClick r:id="" action="ppaction://noaction">
                            <a:extLst>
                              <a:ext uri="{A12FA001-AC4F-418D-AE19-62706E023703}">
                                <ahyp:hlinkClr xmlns:ahyp="http://schemas.microsoft.com/office/drawing/2018/hyperlinkcolor" val="tx"/>
                              </a:ext>
                            </a:extLst>
                          </a:hlinkClick>
                        </a:rPr>
                        <a:t> </a:t>
                      </a:r>
                      <a:r>
                        <a:rPr lang="en-US" sz="1000" b="0" i="0" u="none" strike="noStrike" kern="1200" noProof="0">
                          <a:solidFill>
                            <a:schemeClr val="tx1"/>
                          </a:solidFill>
                          <a:effectLst/>
                          <a:latin typeface="+mn-lt"/>
                          <a:ea typeface="+mn-ea"/>
                          <a:cs typeface="Poppins"/>
                        </a:rPr>
                        <a:t>Retrospective RWD study of MTAP-del tumor populations beyond the CDP (potentially via Tempus AI)</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569997677"/>
                  </a:ext>
                </a:extLst>
              </a:tr>
              <a:tr h="1097280">
                <a:tc>
                  <a:txBody>
                    <a:bodyPr/>
                    <a:lstStyle/>
                    <a:p>
                      <a:pPr algn="l"/>
                      <a:r>
                        <a:rPr lang="en-US" sz="1100" b="1" i="0">
                          <a:solidFill>
                            <a:schemeClr val="tx1"/>
                          </a:solidFill>
                          <a:latin typeface="+mn-lt"/>
                          <a:cs typeface="Poppins" pitchFamily="2" charset="77"/>
                        </a:rPr>
                        <a:t>NSCLC_CE_03</a:t>
                      </a:r>
                    </a:p>
                    <a:p>
                      <a:pPr algn="l"/>
                      <a:r>
                        <a:rPr lang="en-US" sz="1000" b="0" i="0">
                          <a:solidFill>
                            <a:schemeClr val="tx1"/>
                          </a:solidFill>
                          <a:latin typeface="+mn-lt"/>
                          <a:cs typeface="Poppins" pitchFamily="2" charset="77"/>
                        </a:rPr>
                        <a:t>Efficacy/Safety</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spcAft>
                          <a:spcPts val="500"/>
                        </a:spcAft>
                      </a:pPr>
                      <a:r>
                        <a:rPr lang="en-US" sz="1000" b="0" i="1">
                          <a:solidFill>
                            <a:schemeClr val="tx1"/>
                          </a:solidFill>
                        </a:rPr>
                        <a:t>(1L) </a:t>
                      </a:r>
                      <a:r>
                        <a:rPr lang="en-US" sz="1000" b="0">
                          <a:solidFill>
                            <a:schemeClr val="tx1"/>
                          </a:solidFill>
                        </a:rPr>
                        <a:t>Contribution of effect (COE) of BGB-58067 beyond PD-1 backbone therapy in 1L treatment </a:t>
                      </a:r>
                    </a:p>
                    <a:p>
                      <a:pPr algn="l">
                        <a:spcAft>
                          <a:spcPts val="500"/>
                        </a:spcAft>
                      </a:pPr>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  Regulators  Patients and PAGs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300"/>
                        </a:spcAft>
                        <a:buFont typeface="Arial" panose="020B0604020202020204" pitchFamily="34" charset="0"/>
                        <a:buChar char="•"/>
                      </a:pPr>
                      <a:r>
                        <a:rPr lang="en-US" sz="1000" b="0" i="0" kern="1200">
                          <a:solidFill>
                            <a:schemeClr val="tx1"/>
                          </a:solidFill>
                          <a:latin typeface="+mn-lt"/>
                          <a:ea typeface="+mn-ea"/>
                          <a:cs typeface="Poppins" pitchFamily="2" charset="77"/>
                        </a:rPr>
                        <a:t>Evaluates the incremental benefit from BGB-58067 treatment to justify its clinical use vs. PD-1 backbone therapy</a:t>
                      </a:r>
                    </a:p>
                    <a:p>
                      <a:pPr marL="171450" indent="-171450" algn="l" defTabSz="914400" rtl="0" eaLnBrk="1" latinLnBrk="0" hangingPunct="1">
                        <a:spcAft>
                          <a:spcPts val="300"/>
                        </a:spcAft>
                        <a:buFont typeface="Arial" panose="020B0604020202020204" pitchFamily="34" charset="0"/>
                        <a:buChar char="•"/>
                      </a:pPr>
                      <a:r>
                        <a:rPr lang="en-US" sz="1000" b="0" i="0" kern="1200">
                          <a:solidFill>
                            <a:schemeClr val="tx1"/>
                          </a:solidFill>
                          <a:latin typeface="+mn-lt"/>
                          <a:ea typeface="+mn-ea"/>
                          <a:cs typeface="Poppins" pitchFamily="2" charset="77"/>
                        </a:rPr>
                        <a:t>Supports reimbursement and uptake by justifying added cost and complexity</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lvl="0" indent="-171450">
                        <a:spcAft>
                          <a:spcPts val="300"/>
                        </a:spcAft>
                        <a:buClr>
                          <a:srgbClr val="000000"/>
                        </a:buClr>
                        <a:buFont typeface="Arial" panose="020B0604020202020204" pitchFamily="34" charset="0"/>
                        <a:buChar char="•"/>
                      </a:pPr>
                      <a:r>
                        <a:rPr lang="en-US" sz="1000" b="1" i="0" u="none" strike="noStrike" kern="1200" noProof="0">
                          <a:solidFill>
                            <a:schemeClr val="tx1"/>
                          </a:solidFill>
                          <a:effectLst/>
                          <a:latin typeface="+mn-lt"/>
                          <a:ea typeface="+mn-ea"/>
                          <a:cs typeface="Poppins"/>
                          <a:hlinkClick r:id="rId12" action="ppaction://hlinksldjump">
                            <a:extLst>
                              <a:ext uri="{A12FA001-AC4F-418D-AE19-62706E023703}">
                                <ahyp:hlinkClr xmlns:ahyp="http://schemas.microsoft.com/office/drawing/2018/hyperlinkcolor" val="tx"/>
                              </a:ext>
                            </a:extLst>
                          </a:hlinkClick>
                        </a:rPr>
                        <a:t>IIT</a:t>
                      </a:r>
                      <a:r>
                        <a:rPr lang="en-US" sz="1000" b="1" i="0" u="none" strike="noStrike" kern="1200" noProof="0">
                          <a:solidFill>
                            <a:schemeClr val="tx1"/>
                          </a:solidFill>
                          <a:effectLst/>
                          <a:latin typeface="+mn-lt"/>
                          <a:ea typeface="+mn-ea"/>
                          <a:cs typeface="Poppins"/>
                          <a:hlinkClick r:id="rId11" action="ppaction://hlinksldjump">
                            <a:extLst>
                              <a:ext uri="{A12FA001-AC4F-418D-AE19-62706E023703}">
                                <ahyp:hlinkClr xmlns:ahyp="http://schemas.microsoft.com/office/drawing/2018/hyperlinkcolor" val="tx"/>
                              </a:ext>
                            </a:extLst>
                          </a:hlinkClick>
                        </a:rPr>
                        <a:t>: </a:t>
                      </a:r>
                      <a:r>
                        <a:rPr lang="en-US" sz="1000" b="0" i="0" u="none" strike="noStrike" kern="1200" noProof="0">
                          <a:solidFill>
                            <a:schemeClr val="tx1"/>
                          </a:solidFill>
                          <a:effectLst/>
                          <a:latin typeface="+mn-lt"/>
                          <a:ea typeface="+mn-ea"/>
                          <a:cs typeface="Poppins"/>
                        </a:rPr>
                        <a:t>Exploring in metastatic setting (PD-1i combo vs. mono; fixed-duration of 58067 followed by PD-1i + chemo) or neoadjuvant setting (58067 before PD-1i +/- chemo)</a:t>
                      </a:r>
                    </a:p>
                    <a:p>
                      <a:pPr marL="171450" lvl="0" indent="-171450">
                        <a:spcAft>
                          <a:spcPts val="300"/>
                        </a:spcAft>
                        <a:buClr>
                          <a:srgbClr val="000000"/>
                        </a:buClr>
                        <a:buFont typeface="Arial" panose="020B0604020202020204" pitchFamily="34" charset="0"/>
                        <a:buChar char="•"/>
                      </a:pPr>
                      <a:r>
                        <a:rPr lang="en-US" sz="1000" b="1" i="0" u="none" strike="noStrike" kern="1200" noProof="0">
                          <a:solidFill>
                            <a:schemeClr val="tx1"/>
                          </a:solidFill>
                          <a:effectLst/>
                          <a:latin typeface="+mn-lt"/>
                          <a:ea typeface="+mn-ea"/>
                          <a:cs typeface="Poppins"/>
                          <a:hlinkClick r:id="rId13" action="ppaction://hlinksldjump">
                            <a:extLst>
                              <a:ext uri="{A12FA001-AC4F-418D-AE19-62706E023703}">
                                <ahyp:hlinkClr xmlns:ahyp="http://schemas.microsoft.com/office/drawing/2018/hyperlinkcolor" val="tx"/>
                              </a:ext>
                            </a:extLst>
                          </a:hlinkClick>
                        </a:rPr>
                        <a:t>ITC: </a:t>
                      </a:r>
                      <a:r>
                        <a:rPr lang="en-US" sz="1000" b="0" i="0" u="none" strike="noStrike" kern="1200" noProof="0">
                          <a:solidFill>
                            <a:schemeClr val="tx1"/>
                          </a:solidFill>
                          <a:effectLst/>
                          <a:latin typeface="+mn-lt"/>
                          <a:ea typeface="+mn-ea"/>
                          <a:cs typeface="Poppins"/>
                        </a:rPr>
                        <a:t>PD-L1 class level ITC</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643963820"/>
                  </a:ext>
                </a:extLst>
              </a:tr>
            </a:tbl>
          </a:graphicData>
        </a:graphic>
      </p:graphicFrame>
      <p:sp>
        <p:nvSpPr>
          <p:cNvPr id="46" name="Oval 45">
            <a:extLst>
              <a:ext uri="{FF2B5EF4-FFF2-40B4-BE49-F238E27FC236}">
                <a16:creationId xmlns:a16="http://schemas.microsoft.com/office/drawing/2014/main" id="{63D44DF6-BE72-E5F1-CA9C-4ACE6E12294A}"/>
              </a:ext>
            </a:extLst>
          </p:cNvPr>
          <p:cNvSpPr/>
          <p:nvPr/>
        </p:nvSpPr>
        <p:spPr>
          <a:xfrm>
            <a:off x="8344220" y="3210752"/>
            <a:ext cx="128016" cy="128016"/>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47" name="Oval 46">
            <a:extLst>
              <a:ext uri="{FF2B5EF4-FFF2-40B4-BE49-F238E27FC236}">
                <a16:creationId xmlns:a16="http://schemas.microsoft.com/office/drawing/2014/main" id="{FCDA0DF4-A2A8-818B-B8B9-5F56CC8D08AF}"/>
              </a:ext>
            </a:extLst>
          </p:cNvPr>
          <p:cNvSpPr/>
          <p:nvPr/>
        </p:nvSpPr>
        <p:spPr>
          <a:xfrm>
            <a:off x="8344220" y="2891319"/>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48" name="Oval 47">
            <a:extLst>
              <a:ext uri="{FF2B5EF4-FFF2-40B4-BE49-F238E27FC236}">
                <a16:creationId xmlns:a16="http://schemas.microsoft.com/office/drawing/2014/main" id="{0C53F9D9-1385-66B1-7BE3-297D043B6B41}"/>
              </a:ext>
            </a:extLst>
          </p:cNvPr>
          <p:cNvSpPr/>
          <p:nvPr/>
        </p:nvSpPr>
        <p:spPr>
          <a:xfrm>
            <a:off x="8344220" y="2560519"/>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49" name="Oval 48">
            <a:extLst>
              <a:ext uri="{FF2B5EF4-FFF2-40B4-BE49-F238E27FC236}">
                <a16:creationId xmlns:a16="http://schemas.microsoft.com/office/drawing/2014/main" id="{F3C2785F-A2AD-D521-6CEF-D57731FECB1B}"/>
              </a:ext>
            </a:extLst>
          </p:cNvPr>
          <p:cNvSpPr/>
          <p:nvPr/>
        </p:nvSpPr>
        <p:spPr>
          <a:xfrm>
            <a:off x="8344220" y="1912372"/>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50" name="Rounded Rectangle 23">
            <a:extLst>
              <a:ext uri="{FF2B5EF4-FFF2-40B4-BE49-F238E27FC236}">
                <a16:creationId xmlns:a16="http://schemas.microsoft.com/office/drawing/2014/main" id="{B5BABC17-2C4F-1067-86A2-3661E04C9F5A}"/>
              </a:ext>
            </a:extLst>
          </p:cNvPr>
          <p:cNvSpPr/>
          <p:nvPr/>
        </p:nvSpPr>
        <p:spPr>
          <a:xfrm>
            <a:off x="434537" y="2977969"/>
            <a:ext cx="860863" cy="210024"/>
          </a:xfrm>
          <a:prstGeom prst="roundRect">
            <a:avLst>
              <a:gd name="adj" fmla="val 6118"/>
            </a:avLst>
          </a:prstGeom>
          <a:solidFill>
            <a:srgbClr val="00808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4">
                    <a:lumMod val="75000"/>
                  </a:schemeClr>
                </a:solidFill>
                <a:effectLst/>
                <a:uLnTx/>
                <a:uFillTx/>
                <a:latin typeface="Poppins" pitchFamily="2" charset="77"/>
                <a:cs typeface="Poppins" pitchFamily="2" charset="77"/>
              </a:rPr>
              <a:t>Critical</a:t>
            </a:r>
          </a:p>
        </p:txBody>
      </p:sp>
      <p:sp>
        <p:nvSpPr>
          <p:cNvPr id="55" name="Oval 54">
            <a:extLst>
              <a:ext uri="{FF2B5EF4-FFF2-40B4-BE49-F238E27FC236}">
                <a16:creationId xmlns:a16="http://schemas.microsoft.com/office/drawing/2014/main" id="{D02EA33F-F3B6-8E41-64AC-85559EBE7833}"/>
              </a:ext>
            </a:extLst>
          </p:cNvPr>
          <p:cNvSpPr/>
          <p:nvPr/>
        </p:nvSpPr>
        <p:spPr>
          <a:xfrm>
            <a:off x="8344220" y="5075764"/>
            <a:ext cx="128016" cy="1280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56" name="Rounded Rectangle 23">
            <a:extLst>
              <a:ext uri="{FF2B5EF4-FFF2-40B4-BE49-F238E27FC236}">
                <a16:creationId xmlns:a16="http://schemas.microsoft.com/office/drawing/2014/main" id="{3601EA18-CD99-CA4F-178C-0882D2BE0572}"/>
              </a:ext>
            </a:extLst>
          </p:cNvPr>
          <p:cNvSpPr/>
          <p:nvPr/>
        </p:nvSpPr>
        <p:spPr>
          <a:xfrm>
            <a:off x="434535" y="5699246"/>
            <a:ext cx="860863" cy="210024"/>
          </a:xfrm>
          <a:prstGeom prst="roundRect">
            <a:avLst>
              <a:gd name="adj" fmla="val 6118"/>
            </a:avLst>
          </a:prstGeom>
          <a:solidFill>
            <a:srgbClr val="00808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4">
                    <a:lumMod val="75000"/>
                  </a:schemeClr>
                </a:solidFill>
                <a:effectLst/>
                <a:uLnTx/>
                <a:uFillTx/>
                <a:latin typeface="Poppins" pitchFamily="2" charset="77"/>
                <a:cs typeface="Poppins" pitchFamily="2" charset="77"/>
              </a:rPr>
              <a:t>Critical</a:t>
            </a:r>
          </a:p>
        </p:txBody>
      </p:sp>
      <p:sp>
        <p:nvSpPr>
          <p:cNvPr id="57" name="Oval 56">
            <a:extLst>
              <a:ext uri="{FF2B5EF4-FFF2-40B4-BE49-F238E27FC236}">
                <a16:creationId xmlns:a16="http://schemas.microsoft.com/office/drawing/2014/main" id="{05FA9FDA-CB64-15EF-DE0F-F3BD7EF09B04}"/>
              </a:ext>
            </a:extLst>
          </p:cNvPr>
          <p:cNvSpPr/>
          <p:nvPr/>
        </p:nvSpPr>
        <p:spPr>
          <a:xfrm>
            <a:off x="8344220" y="5729106"/>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60" name="Rounded Rectangle 23">
            <a:extLst>
              <a:ext uri="{FF2B5EF4-FFF2-40B4-BE49-F238E27FC236}">
                <a16:creationId xmlns:a16="http://schemas.microsoft.com/office/drawing/2014/main" id="{B320A609-126A-DA6E-C944-D5C256FE199D}"/>
              </a:ext>
            </a:extLst>
          </p:cNvPr>
          <p:cNvSpPr/>
          <p:nvPr/>
        </p:nvSpPr>
        <p:spPr>
          <a:xfrm>
            <a:off x="434535" y="4527920"/>
            <a:ext cx="860863" cy="210024"/>
          </a:xfrm>
          <a:prstGeom prst="roundRect">
            <a:avLst>
              <a:gd name="adj" fmla="val 6118"/>
            </a:avLst>
          </a:prstGeom>
          <a:solidFill>
            <a:srgbClr val="00808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4">
                    <a:lumMod val="75000"/>
                  </a:schemeClr>
                </a:solidFill>
                <a:effectLst/>
                <a:uLnTx/>
                <a:uFillTx/>
                <a:latin typeface="Poppins" pitchFamily="2" charset="77"/>
                <a:cs typeface="Poppins" pitchFamily="2" charset="77"/>
              </a:rPr>
              <a:t>Critical</a:t>
            </a:r>
          </a:p>
        </p:txBody>
      </p:sp>
      <p:sp>
        <p:nvSpPr>
          <p:cNvPr id="61" name="Oval 60">
            <a:extLst>
              <a:ext uri="{FF2B5EF4-FFF2-40B4-BE49-F238E27FC236}">
                <a16:creationId xmlns:a16="http://schemas.microsoft.com/office/drawing/2014/main" id="{F19B9F3B-90DD-48F1-404E-722A35C85AD3}"/>
              </a:ext>
            </a:extLst>
          </p:cNvPr>
          <p:cNvSpPr/>
          <p:nvPr/>
        </p:nvSpPr>
        <p:spPr>
          <a:xfrm>
            <a:off x="8344220" y="4003734"/>
            <a:ext cx="128016" cy="1280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62" name="Oval 61">
            <a:extLst>
              <a:ext uri="{FF2B5EF4-FFF2-40B4-BE49-F238E27FC236}">
                <a16:creationId xmlns:a16="http://schemas.microsoft.com/office/drawing/2014/main" id="{49989F2C-53B1-6757-5FDA-805C14B2CC54}"/>
              </a:ext>
            </a:extLst>
          </p:cNvPr>
          <p:cNvSpPr/>
          <p:nvPr/>
        </p:nvSpPr>
        <p:spPr>
          <a:xfrm>
            <a:off x="8344220" y="4191708"/>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17" name="Rectangle 16">
            <a:extLst>
              <a:ext uri="{FF2B5EF4-FFF2-40B4-BE49-F238E27FC236}">
                <a16:creationId xmlns:a16="http://schemas.microsoft.com/office/drawing/2014/main" id="{A15AB414-D88E-8A8B-7ECD-92C71BD70A6D}"/>
              </a:ext>
            </a:extLst>
          </p:cNvPr>
          <p:cNvSpPr/>
          <p:nvPr/>
        </p:nvSpPr>
        <p:spPr>
          <a:xfrm>
            <a:off x="371289" y="1259201"/>
            <a:ext cx="2520000" cy="167267"/>
          </a:xfrm>
          <a:prstGeom prst="rect">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1: Differentiation</a:t>
            </a:r>
          </a:p>
        </p:txBody>
      </p:sp>
      <p:sp>
        <p:nvSpPr>
          <p:cNvPr id="18" name="Rectangle 17">
            <a:extLst>
              <a:ext uri="{FF2B5EF4-FFF2-40B4-BE49-F238E27FC236}">
                <a16:creationId xmlns:a16="http://schemas.microsoft.com/office/drawing/2014/main" id="{3C3CCE35-5B55-5B73-319A-02E96CFAD4E7}"/>
              </a:ext>
            </a:extLst>
          </p:cNvPr>
          <p:cNvSpPr/>
          <p:nvPr/>
        </p:nvSpPr>
        <p:spPr>
          <a:xfrm>
            <a:off x="2940417"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2</a:t>
            </a:r>
          </a:p>
        </p:txBody>
      </p:sp>
      <p:sp>
        <p:nvSpPr>
          <p:cNvPr id="19" name="Rectangle 18">
            <a:extLst>
              <a:ext uri="{FF2B5EF4-FFF2-40B4-BE49-F238E27FC236}">
                <a16:creationId xmlns:a16="http://schemas.microsoft.com/office/drawing/2014/main" id="{A4BB6C3B-437F-F04A-FD75-78958D9D2C2F}"/>
              </a:ext>
            </a:extLst>
          </p:cNvPr>
          <p:cNvSpPr/>
          <p:nvPr/>
        </p:nvSpPr>
        <p:spPr>
          <a:xfrm>
            <a:off x="3745545"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3</a:t>
            </a:r>
          </a:p>
        </p:txBody>
      </p:sp>
      <p:sp>
        <p:nvSpPr>
          <p:cNvPr id="20" name="Rectangle 19">
            <a:extLst>
              <a:ext uri="{FF2B5EF4-FFF2-40B4-BE49-F238E27FC236}">
                <a16:creationId xmlns:a16="http://schemas.microsoft.com/office/drawing/2014/main" id="{69ABF6F2-446F-05E9-4DCC-3DE33DBA38D5}"/>
              </a:ext>
            </a:extLst>
          </p:cNvPr>
          <p:cNvSpPr/>
          <p:nvPr/>
        </p:nvSpPr>
        <p:spPr>
          <a:xfrm>
            <a:off x="4550674"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4</a:t>
            </a:r>
          </a:p>
        </p:txBody>
      </p:sp>
      <p:grpSp>
        <p:nvGrpSpPr>
          <p:cNvPr id="37" name="Group 36">
            <a:extLst>
              <a:ext uri="{FF2B5EF4-FFF2-40B4-BE49-F238E27FC236}">
                <a16:creationId xmlns:a16="http://schemas.microsoft.com/office/drawing/2014/main" id="{0249F1E2-C4EF-B13A-D36A-291F03D363F7}"/>
              </a:ext>
            </a:extLst>
          </p:cNvPr>
          <p:cNvGrpSpPr/>
          <p:nvPr/>
        </p:nvGrpSpPr>
        <p:grpSpPr>
          <a:xfrm>
            <a:off x="9588863" y="1238928"/>
            <a:ext cx="2240393" cy="363842"/>
            <a:chOff x="9746021" y="1221639"/>
            <a:chExt cx="2240393" cy="363842"/>
          </a:xfrm>
        </p:grpSpPr>
        <p:sp>
          <p:nvSpPr>
            <p:cNvPr id="28" name="Rectangle 27">
              <a:extLst>
                <a:ext uri="{FF2B5EF4-FFF2-40B4-BE49-F238E27FC236}">
                  <a16:creationId xmlns:a16="http://schemas.microsoft.com/office/drawing/2014/main" id="{10CDD847-F089-598A-10CE-B98591F8F6AF}"/>
                </a:ext>
              </a:extLst>
            </p:cNvPr>
            <p:cNvSpPr/>
            <p:nvPr/>
          </p:nvSpPr>
          <p:spPr>
            <a:xfrm>
              <a:off x="9852837" y="1221639"/>
              <a:ext cx="2133577" cy="3638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800">
                  <a:solidFill>
                    <a:schemeClr val="tx1"/>
                  </a:solidFill>
                </a:rPr>
                <a:t>Click the </a:t>
              </a:r>
              <a:r>
                <a:rPr lang="en-US" sz="800" b="1">
                  <a:solidFill>
                    <a:schemeClr val="tx1"/>
                  </a:solidFill>
                </a:rPr>
                <a:t>bolded tactic </a:t>
              </a:r>
              <a:r>
                <a:rPr lang="en-US" sz="800">
                  <a:solidFill>
                    <a:schemeClr val="tx1"/>
                  </a:solidFill>
                </a:rPr>
                <a:t>to navigate to the study approach details</a:t>
              </a:r>
            </a:p>
          </p:txBody>
        </p:sp>
        <p:pic>
          <p:nvPicPr>
            <p:cNvPr id="36" name="Graphic 35" descr="Cursor with solid fill">
              <a:extLst>
                <a:ext uri="{FF2B5EF4-FFF2-40B4-BE49-F238E27FC236}">
                  <a16:creationId xmlns:a16="http://schemas.microsoft.com/office/drawing/2014/main" id="{8098E58A-4FE0-6E82-9A24-DB91B37D11C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746021" y="1302723"/>
              <a:ext cx="216000" cy="216000"/>
            </a:xfrm>
            <a:prstGeom prst="rect">
              <a:avLst/>
            </a:prstGeom>
          </p:spPr>
        </p:pic>
      </p:grpSp>
      <p:sp>
        <p:nvSpPr>
          <p:cNvPr id="2" name="Footer Placeholder 2">
            <a:extLst>
              <a:ext uri="{FF2B5EF4-FFF2-40B4-BE49-F238E27FC236}">
                <a16:creationId xmlns:a16="http://schemas.microsoft.com/office/drawing/2014/main" id="{64CB6255-AD70-334C-E54D-A26FB6D874B3}"/>
              </a:ext>
            </a:extLst>
          </p:cNvPr>
          <p:cNvSpPr>
            <a:spLocks noGrp="1"/>
          </p:cNvSpPr>
          <p:nvPr>
            <p:ph type="ftr" sz="quarter" idx="10"/>
          </p:nvPr>
        </p:nvSpPr>
        <p:spPr>
          <a:xfrm>
            <a:off x="358337" y="6126480"/>
            <a:ext cx="6303239" cy="638946"/>
          </a:xfrm>
        </p:spPr>
        <p:txBody>
          <a:bodyPr/>
          <a:lstStyle/>
          <a:p>
            <a:pPr>
              <a:defRPr/>
            </a:pPr>
            <a:r>
              <a:rPr lang="en-US">
                <a:solidFill>
                  <a:srgbClr val="000000">
                    <a:lumMod val="65000"/>
                    <a:lumOff val="35000"/>
                  </a:srgbClr>
                </a:solidFill>
              </a:rPr>
              <a:t>Abbreviations: AI: Artificial Intelligence; CCA: Cholangiocarcinoma; CDP: Clinical Development Plan; CE: Critical Priority; COE: Contribution of Effect; EQ-5D: EuroQol 5-Dimension; EQ-5D-5L: EuroQoL 5-Dimension 5-Level Questionnaire; GBM: Glioblastoma; HCP: Healthcare Professional; HNSCC: Head and Neck Squamous Cell Carcinoma; IIT: Investigator-Initiated Trial; ITC: Indirect Treatment Comparison; MTAP: Methylthioadenosine Phosphorylase; NSCLC: Non-Small Cell Lung Cancer; PAGs: Patient Advocacy Groups; PD-1: Programmed Cell Death Protein 1; PD-1i: PD-1 Inhibitor; PD-L1: Programmed Death-Ligand 1; PRMT5i: Protein Arginine Methyltransferase 5 Inhibitor; PRO-CTCAE: Patient-Reported Outcomes Version of the Common Terminology Criteria for Adverse Events; Q-TWIST: Quality-adjusted Time Without Symptoms of Disease or Toxicity; RWD: Real-World Data</a:t>
            </a:r>
            <a:endParaRPr lang="en-US"/>
          </a:p>
        </p:txBody>
      </p:sp>
      <p:grpSp>
        <p:nvGrpSpPr>
          <p:cNvPr id="9" name="Group 8">
            <a:extLst>
              <a:ext uri="{FF2B5EF4-FFF2-40B4-BE49-F238E27FC236}">
                <a16:creationId xmlns:a16="http://schemas.microsoft.com/office/drawing/2014/main" id="{556E1BF7-A4DD-3362-3EE0-CB906C970F03}"/>
              </a:ext>
            </a:extLst>
          </p:cNvPr>
          <p:cNvGrpSpPr/>
          <p:nvPr/>
        </p:nvGrpSpPr>
        <p:grpSpPr>
          <a:xfrm>
            <a:off x="6707941" y="6082797"/>
            <a:ext cx="5283720" cy="661604"/>
            <a:chOff x="301330" y="6226576"/>
            <a:chExt cx="5283720" cy="661604"/>
          </a:xfrm>
        </p:grpSpPr>
        <p:grpSp>
          <p:nvGrpSpPr>
            <p:cNvPr id="12" name="Group 11">
              <a:extLst>
                <a:ext uri="{FF2B5EF4-FFF2-40B4-BE49-F238E27FC236}">
                  <a16:creationId xmlns:a16="http://schemas.microsoft.com/office/drawing/2014/main" id="{8E618EDA-73E3-72BC-9D8A-A62E3B2E0B91}"/>
                </a:ext>
              </a:extLst>
            </p:cNvPr>
            <p:cNvGrpSpPr/>
            <p:nvPr/>
          </p:nvGrpSpPr>
          <p:grpSpPr>
            <a:xfrm>
              <a:off x="328227" y="6580403"/>
              <a:ext cx="1894026" cy="307777"/>
              <a:chOff x="-2487500" y="6443238"/>
              <a:chExt cx="1894026" cy="307777"/>
            </a:xfrm>
          </p:grpSpPr>
          <p:sp>
            <p:nvSpPr>
              <p:cNvPr id="27" name="Oval 26">
                <a:extLst>
                  <a:ext uri="{FF2B5EF4-FFF2-40B4-BE49-F238E27FC236}">
                    <a16:creationId xmlns:a16="http://schemas.microsoft.com/office/drawing/2014/main" id="{C3CBD6EB-72FD-B019-DA44-AAC96B4FC28B}"/>
                  </a:ext>
                </a:extLst>
              </p:cNvPr>
              <p:cNvSpPr/>
              <p:nvPr/>
            </p:nvSpPr>
            <p:spPr>
              <a:xfrm>
                <a:off x="-2487500" y="6533526"/>
                <a:ext cx="129556" cy="12801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30" name="TextBox 29">
                <a:extLst>
                  <a:ext uri="{FF2B5EF4-FFF2-40B4-BE49-F238E27FC236}">
                    <a16:creationId xmlns:a16="http://schemas.microsoft.com/office/drawing/2014/main" id="{3002B1FF-1055-55F8-CCFA-3C8913F4D58E}"/>
                  </a:ext>
                </a:extLst>
              </p:cNvPr>
              <p:cNvSpPr txBox="1"/>
              <p:nvPr/>
            </p:nvSpPr>
            <p:spPr>
              <a:xfrm>
                <a:off x="-2426470" y="6443238"/>
                <a:ext cx="1832996" cy="307777"/>
              </a:xfrm>
              <a:prstGeom prst="rect">
                <a:avLst/>
              </a:prstGeom>
              <a:noFill/>
            </p:spPr>
            <p:txBody>
              <a:bodyPr wrap="square" lIns="91440" tIns="91440" rIns="91440" bIns="91440" rtlCol="0">
                <a:spAutoFit/>
              </a:bodyPr>
              <a:lstStyle/>
              <a:p>
                <a:pPr algn="l"/>
                <a:r>
                  <a:rPr lang="en-US" sz="800"/>
                  <a:t>Near-term (immediate action)</a:t>
                </a:r>
              </a:p>
            </p:txBody>
          </p:sp>
        </p:grpSp>
        <p:grpSp>
          <p:nvGrpSpPr>
            <p:cNvPr id="13" name="Group 12">
              <a:extLst>
                <a:ext uri="{FF2B5EF4-FFF2-40B4-BE49-F238E27FC236}">
                  <a16:creationId xmlns:a16="http://schemas.microsoft.com/office/drawing/2014/main" id="{B626C91A-688C-7972-FA73-0F28C453E574}"/>
                </a:ext>
              </a:extLst>
            </p:cNvPr>
            <p:cNvGrpSpPr/>
            <p:nvPr/>
          </p:nvGrpSpPr>
          <p:grpSpPr>
            <a:xfrm>
              <a:off x="2087638" y="6580403"/>
              <a:ext cx="2154029" cy="307777"/>
              <a:chOff x="-785805" y="6439612"/>
              <a:chExt cx="2154029" cy="307777"/>
            </a:xfrm>
          </p:grpSpPr>
          <p:sp>
            <p:nvSpPr>
              <p:cNvPr id="24" name="Oval 23">
                <a:extLst>
                  <a:ext uri="{FF2B5EF4-FFF2-40B4-BE49-F238E27FC236}">
                    <a16:creationId xmlns:a16="http://schemas.microsoft.com/office/drawing/2014/main" id="{ADD2F3C5-FB6D-05A4-0AC4-A433C94D733F}"/>
                  </a:ext>
                </a:extLst>
              </p:cNvPr>
              <p:cNvSpPr/>
              <p:nvPr/>
            </p:nvSpPr>
            <p:spPr>
              <a:xfrm>
                <a:off x="-785805" y="6529900"/>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25" name="TextBox 24">
                <a:extLst>
                  <a:ext uri="{FF2B5EF4-FFF2-40B4-BE49-F238E27FC236}">
                    <a16:creationId xmlns:a16="http://schemas.microsoft.com/office/drawing/2014/main" id="{4D140E73-7675-3E3B-582F-A1D1FB59C008}"/>
                  </a:ext>
                </a:extLst>
              </p:cNvPr>
              <p:cNvSpPr txBox="1"/>
              <p:nvPr/>
            </p:nvSpPr>
            <p:spPr>
              <a:xfrm>
                <a:off x="-730319" y="6439612"/>
                <a:ext cx="2098543" cy="307777"/>
              </a:xfrm>
              <a:prstGeom prst="rect">
                <a:avLst/>
              </a:prstGeom>
              <a:noFill/>
            </p:spPr>
            <p:txBody>
              <a:bodyPr wrap="square" lIns="91440" tIns="91440" rIns="91440" bIns="91440" rtlCol="0">
                <a:spAutoFit/>
              </a:bodyPr>
              <a:lstStyle/>
              <a:p>
                <a:pPr algn="l"/>
                <a:r>
                  <a:rPr lang="en-US" sz="800"/>
                  <a:t>Longer-term (no immediate action)</a:t>
                </a:r>
              </a:p>
            </p:txBody>
          </p:sp>
        </p:grpSp>
        <p:grpSp>
          <p:nvGrpSpPr>
            <p:cNvPr id="14" name="Group 13">
              <a:extLst>
                <a:ext uri="{FF2B5EF4-FFF2-40B4-BE49-F238E27FC236}">
                  <a16:creationId xmlns:a16="http://schemas.microsoft.com/office/drawing/2014/main" id="{37F61CC2-181B-46CA-8779-0CDF69EEED75}"/>
                </a:ext>
              </a:extLst>
            </p:cNvPr>
            <p:cNvGrpSpPr/>
            <p:nvPr/>
          </p:nvGrpSpPr>
          <p:grpSpPr>
            <a:xfrm>
              <a:off x="4094230" y="6580403"/>
              <a:ext cx="1335262" cy="307777"/>
              <a:chOff x="1858782" y="6448136"/>
              <a:chExt cx="1335262" cy="307777"/>
            </a:xfrm>
          </p:grpSpPr>
          <p:sp>
            <p:nvSpPr>
              <p:cNvPr id="22" name="Oval 21">
                <a:extLst>
                  <a:ext uri="{FF2B5EF4-FFF2-40B4-BE49-F238E27FC236}">
                    <a16:creationId xmlns:a16="http://schemas.microsoft.com/office/drawing/2014/main" id="{59B30E8E-374A-A92C-D182-8617B72A2A5C}"/>
                  </a:ext>
                </a:extLst>
              </p:cNvPr>
              <p:cNvSpPr/>
              <p:nvPr/>
            </p:nvSpPr>
            <p:spPr>
              <a:xfrm>
                <a:off x="1858782" y="6538424"/>
                <a:ext cx="128016" cy="128016"/>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23" name="TextBox 22">
                <a:extLst>
                  <a:ext uri="{FF2B5EF4-FFF2-40B4-BE49-F238E27FC236}">
                    <a16:creationId xmlns:a16="http://schemas.microsoft.com/office/drawing/2014/main" id="{E8F9B3B2-0A0C-880B-516F-F041CF54159A}"/>
                  </a:ext>
                </a:extLst>
              </p:cNvPr>
              <p:cNvSpPr txBox="1"/>
              <p:nvPr/>
            </p:nvSpPr>
            <p:spPr>
              <a:xfrm>
                <a:off x="1909630" y="6448136"/>
                <a:ext cx="1284414" cy="307777"/>
              </a:xfrm>
              <a:prstGeom prst="rect">
                <a:avLst/>
              </a:prstGeom>
              <a:noFill/>
            </p:spPr>
            <p:txBody>
              <a:bodyPr wrap="square" lIns="91440" tIns="91440" rIns="91440" bIns="91440" rtlCol="0">
                <a:spAutoFit/>
              </a:bodyPr>
              <a:lstStyle/>
              <a:p>
                <a:pPr algn="l"/>
                <a:r>
                  <a:rPr lang="en-US" sz="800"/>
                  <a:t>Planned / addressed</a:t>
                </a:r>
              </a:p>
            </p:txBody>
          </p:sp>
        </p:grpSp>
        <p:sp>
          <p:nvSpPr>
            <p:cNvPr id="15" name="TextBox 14">
              <a:extLst>
                <a:ext uri="{FF2B5EF4-FFF2-40B4-BE49-F238E27FC236}">
                  <a16:creationId xmlns:a16="http://schemas.microsoft.com/office/drawing/2014/main" id="{4A7D5015-A90A-660B-990A-38BA2A469FA2}"/>
                </a:ext>
              </a:extLst>
            </p:cNvPr>
            <p:cNvSpPr txBox="1"/>
            <p:nvPr/>
          </p:nvSpPr>
          <p:spPr>
            <a:xfrm>
              <a:off x="301330" y="6226576"/>
              <a:ext cx="5283720" cy="307777"/>
            </a:xfrm>
            <a:prstGeom prst="rect">
              <a:avLst/>
            </a:prstGeom>
            <a:noFill/>
          </p:spPr>
          <p:txBody>
            <a:bodyPr wrap="square" lIns="36000" tIns="91440" rIns="36000" bIns="91440" rtlCol="0">
              <a:spAutoFit/>
            </a:bodyPr>
            <a:lstStyle/>
            <a:p>
              <a:pPr>
                <a:spcBef>
                  <a:spcPts val="600"/>
                </a:spcBef>
              </a:pPr>
              <a:r>
                <a:rPr lang="en-US" sz="800" b="1"/>
                <a:t>Key:  Listed stakeholders represent the primary target audience for the evidence generated</a:t>
              </a:r>
            </a:p>
          </p:txBody>
        </p:sp>
        <p:sp>
          <p:nvSpPr>
            <p:cNvPr id="16" name="TextBox 15">
              <a:extLst>
                <a:ext uri="{FF2B5EF4-FFF2-40B4-BE49-F238E27FC236}">
                  <a16:creationId xmlns:a16="http://schemas.microsoft.com/office/drawing/2014/main" id="{6505FFC0-3628-8150-5E81-748BB37E718B}"/>
                </a:ext>
              </a:extLst>
            </p:cNvPr>
            <p:cNvSpPr txBox="1"/>
            <p:nvPr/>
          </p:nvSpPr>
          <p:spPr>
            <a:xfrm>
              <a:off x="301330" y="6396002"/>
              <a:ext cx="5283720" cy="307777"/>
            </a:xfrm>
            <a:prstGeom prst="rect">
              <a:avLst/>
            </a:prstGeom>
            <a:noFill/>
          </p:spPr>
          <p:txBody>
            <a:bodyPr wrap="square" lIns="36000" tIns="91440" rIns="36000" bIns="91440" rtlCol="0">
              <a:spAutoFit/>
            </a:bodyPr>
            <a:lstStyle/>
            <a:p>
              <a:pPr>
                <a:spcBef>
                  <a:spcPts val="600"/>
                </a:spcBef>
              </a:pPr>
              <a:r>
                <a:rPr lang="en-US" sz="800"/>
                <a:t>Tactics are characterized according to action required based on cross-functional workshop input:</a:t>
              </a:r>
            </a:p>
          </p:txBody>
        </p:sp>
        <p:cxnSp>
          <p:nvCxnSpPr>
            <p:cNvPr id="21" name="Straight Connector 20">
              <a:extLst>
                <a:ext uri="{FF2B5EF4-FFF2-40B4-BE49-F238E27FC236}">
                  <a16:creationId xmlns:a16="http://schemas.microsoft.com/office/drawing/2014/main" id="{31A0F3DA-6F3A-DA33-E89D-042AC17AA193}"/>
                </a:ext>
              </a:extLst>
            </p:cNvPr>
            <p:cNvCxnSpPr>
              <a:cxnSpLocks/>
            </p:cNvCxnSpPr>
            <p:nvPr/>
          </p:nvCxnSpPr>
          <p:spPr>
            <a:xfrm flipV="1">
              <a:off x="301330" y="6454640"/>
              <a:ext cx="5005344" cy="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981941C7-DD5E-3D60-A0B2-F7FF30F3E9CE}"/>
              </a:ext>
            </a:extLst>
          </p:cNvPr>
          <p:cNvGrpSpPr/>
          <p:nvPr/>
        </p:nvGrpSpPr>
        <p:grpSpPr>
          <a:xfrm>
            <a:off x="362743" y="10216"/>
            <a:ext cx="10042505" cy="252000"/>
            <a:chOff x="362743" y="10216"/>
            <a:chExt cx="10042505" cy="252000"/>
          </a:xfrm>
        </p:grpSpPr>
        <p:sp>
          <p:nvSpPr>
            <p:cNvPr id="39" name="Pentagon 47">
              <a:extLst>
                <a:ext uri="{FF2B5EF4-FFF2-40B4-BE49-F238E27FC236}">
                  <a16:creationId xmlns:a16="http://schemas.microsoft.com/office/drawing/2014/main" id="{EF62436E-9F23-CF10-FA33-DC970C2F85F0}"/>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40" name="Chevron 48">
              <a:extLst>
                <a:ext uri="{FF2B5EF4-FFF2-40B4-BE49-F238E27FC236}">
                  <a16:creationId xmlns:a16="http://schemas.microsoft.com/office/drawing/2014/main" id="{9CAE6558-58B0-CCFC-C9F1-337A6150A32A}"/>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51" name="Chevron 52">
              <a:extLst>
                <a:ext uri="{FF2B5EF4-FFF2-40B4-BE49-F238E27FC236}">
                  <a16:creationId xmlns:a16="http://schemas.microsoft.com/office/drawing/2014/main" id="{86DFD8CD-ABDC-2F6D-CF95-A4A328C7FCEE}"/>
                </a:ext>
              </a:extLst>
            </p:cNvPr>
            <p:cNvSpPr/>
            <p:nvPr/>
          </p:nvSpPr>
          <p:spPr>
            <a:xfrm>
              <a:off x="3701639"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54" name="Chevron 54">
              <a:extLst>
                <a:ext uri="{FF2B5EF4-FFF2-40B4-BE49-F238E27FC236}">
                  <a16:creationId xmlns:a16="http://schemas.microsoft.com/office/drawing/2014/main" id="{F5DEB723-8702-4744-F5C9-158397724354}"/>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63" name="Chevron 48">
              <a:extLst>
                <a:ext uri="{FF2B5EF4-FFF2-40B4-BE49-F238E27FC236}">
                  <a16:creationId xmlns:a16="http://schemas.microsoft.com/office/drawing/2014/main" id="{847DA338-AA91-3F8C-16F9-E1719EFBF539}"/>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65" name="Chevron 48">
              <a:extLst>
                <a:ext uri="{FF2B5EF4-FFF2-40B4-BE49-F238E27FC236}">
                  <a16:creationId xmlns:a16="http://schemas.microsoft.com/office/drawing/2014/main" id="{252B9E18-A28A-11C4-5035-D2D1F9529BA4}"/>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559414785"/>
      </p:ext>
    </p:extLst>
  </p:cSld>
  <p:clrMapOvr>
    <a:masterClrMapping/>
  </p:clrMapOvr>
  <p:extLst>
    <p:ext uri="{6950BFC3-D8DA-4A85-94F7-54DA5524770B}">
      <p188:commentRel xmlns:p188="http://schemas.microsoft.com/office/powerpoint/2018/8/main" r:id="rId4"/>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29741-ED14-9239-B486-7A5C72A0D6D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CDEB4D7-FDAA-C5BE-DF16-D3F222F2936F}"/>
              </a:ext>
            </a:extLst>
          </p:cNvPr>
          <p:cNvSpPr/>
          <p:nvPr/>
        </p:nvSpPr>
        <p:spPr>
          <a:xfrm>
            <a:off x="7572976" y="6128998"/>
            <a:ext cx="4459396" cy="66816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algn="ctr"/>
            <a:endParaRPr lang="en-US" sz="1200">
              <a:solidFill>
                <a:schemeClr val="tx1"/>
              </a:solidFill>
            </a:endParaRPr>
          </a:p>
        </p:txBody>
      </p:sp>
      <p:graphicFrame>
        <p:nvGraphicFramePr>
          <p:cNvPr id="59" name="think-cell data - do not delete" hidden="1">
            <a:extLst>
              <a:ext uri="{FF2B5EF4-FFF2-40B4-BE49-F238E27FC236}">
                <a16:creationId xmlns:a16="http://schemas.microsoft.com/office/drawing/2014/main" id="{EED75DFE-0C1F-4DD4-0751-5054CEAA7223}"/>
              </a:ext>
            </a:extLst>
          </p:cNvPr>
          <p:cNvGraphicFramePr>
            <a:graphicFrameLocks/>
          </p:cNvGraphicFramePr>
          <p:nvPr>
            <p:custDataLst>
              <p:tags r:id="rId1"/>
            </p:custDataLst>
            <p:extLst>
              <p:ext uri="{D42A27DB-BD31-4B8C-83A1-F6EECF244321}">
                <p14:modId xmlns:p14="http://schemas.microsoft.com/office/powerpoint/2010/main" val="5850361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59" name="think-cell data - do not delete" hidden="1">
                        <a:extLst>
                          <a:ext uri="{FF2B5EF4-FFF2-40B4-BE49-F238E27FC236}">
                            <a16:creationId xmlns:a16="http://schemas.microsoft.com/office/drawing/2014/main" id="{EED75DFE-0C1F-4DD4-0751-5054CEAA722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8" name="Title 57">
            <a:extLst>
              <a:ext uri="{FF2B5EF4-FFF2-40B4-BE49-F238E27FC236}">
                <a16:creationId xmlns:a16="http://schemas.microsoft.com/office/drawing/2014/main" id="{50455AB0-2B4C-5C45-0ED5-85E812908304}"/>
              </a:ext>
            </a:extLst>
          </p:cNvPr>
          <p:cNvSpPr>
            <a:spLocks noGrp="1"/>
          </p:cNvSpPr>
          <p:nvPr>
            <p:ph type="title"/>
          </p:nvPr>
        </p:nvSpPr>
        <p:spPr>
          <a:xfrm>
            <a:off x="358337" y="338328"/>
            <a:ext cx="11470125" cy="738664"/>
          </a:xfrm>
        </p:spPr>
        <p:txBody>
          <a:bodyPr vert="horz" rIns="0">
            <a:spAutoFit/>
          </a:bodyPr>
          <a:lstStyle/>
          <a:p>
            <a:r>
              <a:rPr lang="en-US" sz="2400"/>
              <a:t>Prioritized evidence gaps: Drive differentiation of BGB-58067 as a brain-penetrant, highly selective and potent PRMT5i (2/4)</a:t>
            </a:r>
          </a:p>
        </p:txBody>
      </p:sp>
      <p:graphicFrame>
        <p:nvGraphicFramePr>
          <p:cNvPr id="3" name="Table 2">
            <a:extLst>
              <a:ext uri="{FF2B5EF4-FFF2-40B4-BE49-F238E27FC236}">
                <a16:creationId xmlns:a16="http://schemas.microsoft.com/office/drawing/2014/main" id="{B135D61A-601C-361D-F343-79DDBA292AB8}"/>
              </a:ext>
            </a:extLst>
          </p:cNvPr>
          <p:cNvGraphicFramePr>
            <a:graphicFrameLocks noGrp="1"/>
          </p:cNvGraphicFramePr>
          <p:nvPr>
            <p:extLst>
              <p:ext uri="{D42A27DB-BD31-4B8C-83A1-F6EECF244321}">
                <p14:modId xmlns:p14="http://schemas.microsoft.com/office/powerpoint/2010/main" val="2208564854"/>
              </p:ext>
            </p:extLst>
          </p:nvPr>
        </p:nvGraphicFramePr>
        <p:xfrm>
          <a:off x="362744" y="1554580"/>
          <a:ext cx="11470125" cy="4748280"/>
        </p:xfrm>
        <a:graphic>
          <a:graphicData uri="http://schemas.openxmlformats.org/drawingml/2006/table">
            <a:tbl>
              <a:tblPr bandRow="1">
                <a:tableStyleId>{5C22544A-7EE6-4342-B048-85BDC9FD1C3A}</a:tableStyleId>
              </a:tblPr>
              <a:tblGrid>
                <a:gridCol w="1618456">
                  <a:extLst>
                    <a:ext uri="{9D8B030D-6E8A-4147-A177-3AD203B41FA5}">
                      <a16:colId xmlns:a16="http://schemas.microsoft.com/office/drawing/2014/main" val="1720362591"/>
                    </a:ext>
                  </a:extLst>
                </a:gridCol>
                <a:gridCol w="2171700">
                  <a:extLst>
                    <a:ext uri="{9D8B030D-6E8A-4147-A177-3AD203B41FA5}">
                      <a16:colId xmlns:a16="http://schemas.microsoft.com/office/drawing/2014/main" val="1362236069"/>
                    </a:ext>
                  </a:extLst>
                </a:gridCol>
                <a:gridCol w="3419475">
                  <a:extLst>
                    <a:ext uri="{9D8B030D-6E8A-4147-A177-3AD203B41FA5}">
                      <a16:colId xmlns:a16="http://schemas.microsoft.com/office/drawing/2014/main" val="366937182"/>
                    </a:ext>
                  </a:extLst>
                </a:gridCol>
                <a:gridCol w="4260494">
                  <a:extLst>
                    <a:ext uri="{9D8B030D-6E8A-4147-A177-3AD203B41FA5}">
                      <a16:colId xmlns:a16="http://schemas.microsoft.com/office/drawing/2014/main" val="320023064"/>
                    </a:ext>
                  </a:extLst>
                </a:gridCol>
              </a:tblGrid>
              <a:tr h="243883">
                <a:tc>
                  <a:txBody>
                    <a:bodyPr/>
                    <a:lstStyle/>
                    <a:p>
                      <a:pPr algn="ctr"/>
                      <a:r>
                        <a:rPr lang="en-US" sz="1200" b="1" i="0">
                          <a:solidFill>
                            <a:schemeClr val="bg1"/>
                          </a:solidFill>
                          <a:latin typeface="+mn-lt"/>
                          <a:cs typeface="Poppins" pitchFamily="2" charset="77"/>
                        </a:rPr>
                        <a:t>Gap ID and Priority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sz="1200" b="1" i="0">
                          <a:solidFill>
                            <a:schemeClr val="bg1"/>
                          </a:solidFill>
                          <a:latin typeface="+mn-lt"/>
                          <a:cs typeface="Poppins" pitchFamily="2" charset="77"/>
                        </a:rPr>
                        <a:t>Evidence Gap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sz="1200" b="1" i="0">
                          <a:solidFill>
                            <a:schemeClr val="bg1"/>
                          </a:solidFill>
                          <a:latin typeface="+mn-lt"/>
                          <a:cs typeface="Poppins" pitchFamily="2" charset="77"/>
                        </a:rPr>
                        <a:t>Rationale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sz="1200" b="1" i="0">
                          <a:solidFill>
                            <a:schemeClr val="bg1"/>
                          </a:solidFill>
                          <a:latin typeface="+mn-lt"/>
                          <a:cs typeface="Poppins" pitchFamily="2" charset="77"/>
                        </a:rPr>
                        <a:t>Tactics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323510155"/>
                  </a:ext>
                </a:extLst>
              </a:tr>
              <a:tr h="1426884">
                <a:tc>
                  <a:txBody>
                    <a:bodyPr/>
                    <a:lstStyle/>
                    <a:p>
                      <a:pPr algn="l"/>
                      <a:r>
                        <a:rPr lang="en-US" sz="1100" b="1" i="0">
                          <a:solidFill>
                            <a:schemeClr val="tx1"/>
                          </a:solidFill>
                          <a:latin typeface="+mn-lt"/>
                          <a:cs typeface="Poppins" pitchFamily="2" charset="77"/>
                        </a:rPr>
                        <a:t>NSCLC_CE_04</a:t>
                      </a:r>
                    </a:p>
                    <a:p>
                      <a:pPr algn="l"/>
                      <a:r>
                        <a:rPr lang="en-US" sz="1000" b="0" i="0">
                          <a:solidFill>
                            <a:schemeClr val="tx1"/>
                          </a:solidFill>
                          <a:latin typeface="+mn-lt"/>
                          <a:cs typeface="Poppins" pitchFamily="2" charset="77"/>
                        </a:rPr>
                        <a:t>CNS Differentiation</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000" b="0" i="0">
                          <a:solidFill>
                            <a:schemeClr val="tx1"/>
                          </a:solidFill>
                          <a:latin typeface="+mn-lt"/>
                          <a:cs typeface="Poppins" pitchFamily="2" charset="77"/>
                        </a:rPr>
                        <a:t>BGB-58067's impact on CNS metastases relative to control arm (1L and 2L+) and competitor PRMT5i in MTAP-deleted NSCLC or other tumors </a:t>
                      </a:r>
                    </a:p>
                    <a:p>
                      <a:pPr algn="l"/>
                      <a:endParaRPr lang="en-US" sz="500" b="0" i="0">
                        <a:solidFill>
                          <a:schemeClr val="tx1"/>
                        </a:solidFill>
                        <a:latin typeface="+mn-lt"/>
                        <a:cs typeface="Poppins" pitchFamily="2" charset="77"/>
                      </a:endParaRPr>
                    </a:p>
                    <a:p>
                      <a:pPr algn="l"/>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  Regulators  Patients and PAGs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Evaluates whether BGB-58067 modifies CNS disease trajectory by delaying metastasis development in a high-risk NSCLC population</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Supports earlier-line positioning, competitive differentiation, and potential health economic value through reduced CNS-related interventions and preservation of patient neurological function</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400"/>
                        </a:spcAft>
                        <a:buClr>
                          <a:srgbClr val="000000"/>
                        </a:buClr>
                        <a:buSzTx/>
                        <a:buFont typeface="Arial" panose="020B0604020202020204" pitchFamily="34" charset="0"/>
                        <a:buChar char="•"/>
                        <a:tabLst/>
                        <a:defRPr/>
                      </a:pPr>
                      <a:r>
                        <a:rPr lang="en-US" sz="1000" b="1" i="0" u="none" strike="noStrike" kern="1200" noProof="0">
                          <a:solidFill>
                            <a:schemeClr val="tx1"/>
                          </a:solidFill>
                          <a:effectLst/>
                          <a:latin typeface="+mn-lt"/>
                          <a:ea typeface="+mn-ea"/>
                          <a:cs typeface="Poppins"/>
                          <a:hlinkClick r:id="rId6" action="ppaction://hlinksldjump">
                            <a:extLst>
                              <a:ext uri="{A12FA001-AC4F-418D-AE19-62706E023703}">
                                <ahyp:hlinkClr xmlns:ahyp="http://schemas.microsoft.com/office/drawing/2018/hyperlinkcolor" val="tx"/>
                              </a:ext>
                            </a:extLst>
                          </a:hlinkClick>
                        </a:rPr>
                        <a:t>IIT</a:t>
                      </a:r>
                      <a:r>
                        <a:rPr lang="en-US" sz="1000" b="1" i="0" u="none" strike="noStrike" kern="1200" noProof="0">
                          <a:solidFill>
                            <a:schemeClr val="tx1"/>
                          </a:solidFill>
                          <a:effectLst/>
                          <a:latin typeface="+mn-lt"/>
                          <a:ea typeface="+mn-ea"/>
                          <a:cs typeface="Poppins"/>
                          <a:hlinkClick r:id="rId7" action="ppaction://hlinksldjump">
                            <a:extLst>
                              <a:ext uri="{A12FA001-AC4F-418D-AE19-62706E023703}">
                                <ahyp:hlinkClr xmlns:ahyp="http://schemas.microsoft.com/office/drawing/2018/hyperlinkcolor" val="tx"/>
                              </a:ext>
                            </a:extLst>
                          </a:hlinkClick>
                        </a:rPr>
                        <a:t>:</a:t>
                      </a:r>
                      <a:r>
                        <a:rPr lang="en-US" sz="1000" b="0" i="0" u="none" strike="noStrike" kern="1200" noProof="0">
                          <a:solidFill>
                            <a:schemeClr val="tx1"/>
                          </a:solidFill>
                          <a:effectLst/>
                          <a:latin typeface="+mn-lt"/>
                          <a:ea typeface="+mn-ea"/>
                          <a:cs typeface="Poppins"/>
                          <a:hlinkClick r:id="rId7" action="ppaction://hlinksldjump">
                            <a:extLst>
                              <a:ext uri="{A12FA001-AC4F-418D-AE19-62706E023703}">
                                <ahyp:hlinkClr xmlns:ahyp="http://schemas.microsoft.com/office/drawing/2018/hyperlinkcolor" val="tx"/>
                              </a:ext>
                            </a:extLst>
                          </a:hlinkClick>
                        </a:rPr>
                        <a:t> </a:t>
                      </a:r>
                      <a:r>
                        <a:rPr lang="en-US" sz="1000" b="0" i="0" u="none" strike="noStrike" kern="1200" noProof="0">
                          <a:solidFill>
                            <a:schemeClr val="tx1"/>
                          </a:solidFill>
                          <a:effectLst/>
                          <a:latin typeface="+mn-lt"/>
                          <a:ea typeface="+mn-ea"/>
                          <a:cs typeface="Poppins"/>
                        </a:rPr>
                        <a:t>Exploring use in patients with untreated, symptomatic (active) or stable/treated or asymptomatic brain mets at baseline</a:t>
                      </a:r>
                    </a:p>
                    <a:p>
                      <a:pPr marL="171450" marR="0" lvl="0" indent="-171450" algn="l" defTabSz="914400" rtl="0" eaLnBrk="1" fontAlgn="auto" latinLnBrk="0" hangingPunct="1">
                        <a:lnSpc>
                          <a:spcPct val="100000"/>
                        </a:lnSpc>
                        <a:spcBef>
                          <a:spcPts val="0"/>
                        </a:spcBef>
                        <a:spcAft>
                          <a:spcPts val="400"/>
                        </a:spcAft>
                        <a:buClr>
                          <a:srgbClr val="000000"/>
                        </a:buClr>
                        <a:buSzTx/>
                        <a:buFont typeface="Arial" panose="020B0604020202020204" pitchFamily="34" charset="0"/>
                        <a:buChar char="•"/>
                        <a:tabLst/>
                        <a:defRPr/>
                      </a:pPr>
                      <a:r>
                        <a:rPr lang="en-US" sz="1000" b="1" i="0" u="none" strike="noStrike" kern="1200" noProof="0">
                          <a:solidFill>
                            <a:schemeClr val="tx1"/>
                          </a:solidFill>
                          <a:effectLst/>
                          <a:latin typeface="+mn-lt"/>
                          <a:ea typeface="+mn-ea"/>
                          <a:cs typeface="Poppins"/>
                          <a:hlinkClick r:id="rId6" action="ppaction://hlinksldjump">
                            <a:extLst>
                              <a:ext uri="{A12FA001-AC4F-418D-AE19-62706E023703}">
                                <ahyp:hlinkClr xmlns:ahyp="http://schemas.microsoft.com/office/drawing/2018/hyperlinkcolor" val="tx"/>
                              </a:ext>
                            </a:extLst>
                          </a:hlinkClick>
                        </a:rPr>
                        <a:t>Post-hoc analysis</a:t>
                      </a:r>
                      <a:r>
                        <a:rPr lang="en-US" sz="1000" b="0" i="0" u="none" strike="noStrike" kern="1200" noProof="0">
                          <a:solidFill>
                            <a:schemeClr val="tx1"/>
                          </a:solidFill>
                          <a:effectLst/>
                          <a:latin typeface="+mn-lt"/>
                          <a:ea typeface="+mn-ea"/>
                          <a:cs typeface="Poppins"/>
                          <a:hlinkClick r:id="rId6" action="ppaction://hlinksldjump">
                            <a:extLst>
                              <a:ext uri="{A12FA001-AC4F-418D-AE19-62706E023703}">
                                <ahyp:hlinkClr xmlns:ahyp="http://schemas.microsoft.com/office/drawing/2018/hyperlinkcolor" val="tx"/>
                              </a:ext>
                            </a:extLst>
                          </a:hlinkClick>
                        </a:rPr>
                        <a:t>: </a:t>
                      </a:r>
                      <a:r>
                        <a:rPr lang="en-US" sz="1000" b="0" i="0" u="none" strike="noStrike" kern="1200" noProof="0">
                          <a:solidFill>
                            <a:schemeClr val="tx1"/>
                          </a:solidFill>
                          <a:effectLst/>
                          <a:latin typeface="+mn-lt"/>
                          <a:ea typeface="+mn-ea"/>
                          <a:cs typeface="Poppins"/>
                        </a:rPr>
                        <a:t>CNS-specific outcomes within pivotal trial (e.g., time to new CNS metastases vs. control arm)</a:t>
                      </a:r>
                    </a:p>
                    <a:p>
                      <a:pPr marL="171450" marR="0" lvl="0" indent="-171450" algn="l" defTabSz="914400" rtl="0" eaLnBrk="1" fontAlgn="auto" latinLnBrk="0" hangingPunct="1">
                        <a:lnSpc>
                          <a:spcPct val="100000"/>
                        </a:lnSpc>
                        <a:spcBef>
                          <a:spcPts val="0"/>
                        </a:spcBef>
                        <a:spcAft>
                          <a:spcPts val="400"/>
                        </a:spcAft>
                        <a:buClr>
                          <a:srgbClr val="000000"/>
                        </a:buClr>
                        <a:buSzTx/>
                        <a:buFont typeface="Arial" panose="020B0604020202020204" pitchFamily="34" charset="0"/>
                        <a:buChar char="•"/>
                        <a:tabLst/>
                        <a:defRPr/>
                      </a:pPr>
                      <a:r>
                        <a:rPr lang="en-US" sz="1000" b="1" i="0" u="none" strike="noStrike" kern="1200" noProof="0">
                          <a:solidFill>
                            <a:schemeClr val="tx1"/>
                          </a:solidFill>
                          <a:effectLst/>
                          <a:latin typeface="+mn-lt"/>
                          <a:ea typeface="+mn-ea"/>
                          <a:cs typeface="Poppins"/>
                          <a:hlinkClick r:id="rId8" action="ppaction://hlinksldjump">
                            <a:extLst>
                              <a:ext uri="{A12FA001-AC4F-418D-AE19-62706E023703}">
                                <ahyp:hlinkClr xmlns:ahyp="http://schemas.microsoft.com/office/drawing/2018/hyperlinkcolor" val="tx"/>
                              </a:ext>
                            </a:extLst>
                          </a:hlinkClick>
                        </a:rPr>
                        <a:t>RWE</a:t>
                      </a:r>
                      <a:r>
                        <a:rPr lang="en-US" sz="1000" b="1" i="0" u="none" strike="noStrike" kern="1200" noProof="0">
                          <a:solidFill>
                            <a:schemeClr val="tx1"/>
                          </a:solidFill>
                          <a:effectLst/>
                          <a:latin typeface="+mn-lt"/>
                          <a:ea typeface="+mn-ea"/>
                          <a:cs typeface="Poppins"/>
                          <a:hlinkClick r:id="rId9" action="ppaction://hlinksldjump">
                            <a:extLst>
                              <a:ext uri="{A12FA001-AC4F-418D-AE19-62706E023703}">
                                <ahyp:hlinkClr xmlns:ahyp="http://schemas.microsoft.com/office/drawing/2018/hyperlinkcolor" val="tx"/>
                              </a:ext>
                            </a:extLst>
                          </a:hlinkClick>
                        </a:rPr>
                        <a:t>: </a:t>
                      </a:r>
                      <a:r>
                        <a:rPr lang="en-US" sz="1000" b="0" i="0" u="none" strike="noStrike" kern="1200" noProof="0">
                          <a:solidFill>
                            <a:schemeClr val="tx1"/>
                          </a:solidFill>
                          <a:effectLst/>
                          <a:latin typeface="+mn-lt"/>
                          <a:ea typeface="+mn-ea"/>
                          <a:cs typeface="Poppins"/>
                        </a:rPr>
                        <a:t>Retrospective study of new CNS metastasis rates in MTAP-del NSCLC under SoC</a:t>
                      </a:r>
                    </a:p>
                    <a:p>
                      <a:pPr marL="171450" marR="0" lvl="0" indent="-171450" algn="l" defTabSz="914400" rtl="0" eaLnBrk="1" fontAlgn="auto" latinLnBrk="0" hangingPunct="1">
                        <a:lnSpc>
                          <a:spcPct val="100000"/>
                        </a:lnSpc>
                        <a:spcBef>
                          <a:spcPts val="0"/>
                        </a:spcBef>
                        <a:spcAft>
                          <a:spcPts val="400"/>
                        </a:spcAft>
                        <a:buClr>
                          <a:srgbClr val="000000"/>
                        </a:buClr>
                        <a:buSzTx/>
                        <a:buFont typeface="Arial" panose="020B0604020202020204" pitchFamily="34" charset="0"/>
                        <a:buChar char="•"/>
                        <a:tabLst/>
                        <a:defRPr/>
                      </a:pPr>
                      <a:r>
                        <a:rPr lang="en-US" sz="1000" b="1" i="0" u="none" strike="noStrike" kern="1200" noProof="0">
                          <a:solidFill>
                            <a:schemeClr val="tx1"/>
                          </a:solidFill>
                          <a:effectLst/>
                          <a:latin typeface="+mn-lt"/>
                          <a:ea typeface="+mn-ea"/>
                          <a:cs typeface="Poppins"/>
                          <a:hlinkClick r:id="rId10" action="ppaction://hlinksldjump">
                            <a:extLst>
                              <a:ext uri="{A12FA001-AC4F-418D-AE19-62706E023703}">
                                <ahyp:hlinkClr xmlns:ahyp="http://schemas.microsoft.com/office/drawing/2018/hyperlinkcolor" val="tx"/>
                              </a:ext>
                            </a:extLst>
                          </a:hlinkClick>
                        </a:rPr>
                        <a:t>ITC: </a:t>
                      </a:r>
                      <a:r>
                        <a:rPr lang="en-US" sz="1000" b="0" i="0" u="none" strike="noStrike" kern="1200" noProof="0">
                          <a:solidFill>
                            <a:schemeClr val="tx1"/>
                          </a:solidFill>
                          <a:effectLst/>
                          <a:latin typeface="+mn-lt"/>
                          <a:ea typeface="+mn-ea"/>
                          <a:cs typeface="Poppins"/>
                        </a:rPr>
                        <a:t>CNS outcomes versus current SoC and emerging PRMT5i</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74479344"/>
                  </a:ext>
                </a:extLst>
              </a:tr>
              <a:tr h="1426884">
                <a:tc>
                  <a:txBody>
                    <a:bodyPr/>
                    <a:lstStyle/>
                    <a:p>
                      <a:pPr algn="l"/>
                      <a:r>
                        <a:rPr lang="en-US" sz="1100" b="1" i="0">
                          <a:solidFill>
                            <a:schemeClr val="tx1"/>
                          </a:solidFill>
                          <a:latin typeface="+mn-lt"/>
                          <a:cs typeface="Poppins" pitchFamily="2" charset="77"/>
                        </a:rPr>
                        <a:t>NSCLC_HI_01</a:t>
                      </a:r>
                    </a:p>
                    <a:p>
                      <a:pPr algn="l"/>
                      <a:r>
                        <a:rPr lang="en-US" sz="1000" b="0" i="0">
                          <a:solidFill>
                            <a:schemeClr val="tx1"/>
                          </a:solidFill>
                          <a:latin typeface="+mn-lt"/>
                          <a:cs typeface="Poppins" pitchFamily="2" charset="77"/>
                        </a:rPr>
                        <a:t>Efficacy/Safety</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l">
                        <a:spcAft>
                          <a:spcPts val="500"/>
                        </a:spcAft>
                      </a:pPr>
                      <a:r>
                        <a:rPr lang="en-US" sz="1000" b="0" i="1">
                          <a:solidFill>
                            <a:schemeClr val="tx1"/>
                          </a:solidFill>
                          <a:latin typeface="+mn-lt"/>
                          <a:cs typeface="Poppins" pitchFamily="2" charset="77"/>
                        </a:rPr>
                        <a:t>(1L and 2L+) </a:t>
                      </a:r>
                      <a:r>
                        <a:rPr lang="en-US" sz="1000" b="0" i="0">
                          <a:solidFill>
                            <a:schemeClr val="tx1"/>
                          </a:solidFill>
                          <a:latin typeface="+mn-lt"/>
                          <a:cs typeface="Poppins" pitchFamily="2" charset="77"/>
                        </a:rPr>
                        <a:t>Characterization of the natural history, prognosis, and treatment outcomes of MTAP-deleted NSCLC across LoTs </a:t>
                      </a:r>
                    </a:p>
                    <a:p>
                      <a:pPr algn="l">
                        <a:spcAft>
                          <a:spcPts val="500"/>
                        </a:spcAft>
                      </a:pPr>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  Regulators  Patients and PAGs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Substantiates the high unmet need within MTAP-del NSCLC</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Evaluates BGB-58067 data to support regulatory, reimbursement and clinical decision-making, in reference to the lack of data on disease burden and outcomes</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Sets precedent for the importance of MTAP testing adoption and need for education on MTAP-deletion in the community setting</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171450" lvl="0" indent="-171450">
                        <a:spcAft>
                          <a:spcPts val="400"/>
                        </a:spcAft>
                        <a:buClr>
                          <a:srgbClr val="000000"/>
                        </a:buClr>
                        <a:buFont typeface="Arial" panose="020B0604020202020204" pitchFamily="34" charset="0"/>
                        <a:buChar char="•"/>
                      </a:pPr>
                      <a:r>
                        <a:rPr lang="en-US" sz="1000" b="1" i="0" u="none" strike="noStrike" kern="1200" noProof="0">
                          <a:solidFill>
                            <a:schemeClr val="tx1"/>
                          </a:solidFill>
                          <a:effectLst/>
                          <a:latin typeface="+mn-lt"/>
                          <a:ea typeface="+mn-ea"/>
                          <a:cs typeface="Poppins"/>
                          <a:hlinkClick r:id="rId11" action="ppaction://hlinksldjump">
                            <a:extLst>
                              <a:ext uri="{A12FA001-AC4F-418D-AE19-62706E023703}">
                                <ahyp:hlinkClr xmlns:ahyp="http://schemas.microsoft.com/office/drawing/2018/hyperlinkcolor" val="tx"/>
                              </a:ext>
                            </a:extLst>
                          </a:hlinkClick>
                        </a:rPr>
                        <a:t>SLR: </a:t>
                      </a:r>
                      <a:r>
                        <a:rPr lang="en-US" sz="1000" b="0" i="0" u="none" strike="noStrike" kern="1200" noProof="0">
                          <a:solidFill>
                            <a:schemeClr val="tx1"/>
                          </a:solidFill>
                          <a:effectLst/>
                          <a:latin typeface="+mn-lt"/>
                          <a:ea typeface="+mn-ea"/>
                          <a:cs typeface="Poppins"/>
                        </a:rPr>
                        <a:t>Natural history, prognosis, and treatment outcomes in MTAP-del NSCLC</a:t>
                      </a:r>
                      <a:endParaRPr lang="en-US" sz="1000" b="1" i="0" u="none" strike="noStrike" kern="1200" noProof="0">
                        <a:solidFill>
                          <a:schemeClr val="tx1"/>
                        </a:solidFill>
                        <a:effectLst/>
                        <a:latin typeface="+mn-lt"/>
                        <a:ea typeface="+mn-ea"/>
                        <a:cs typeface="Poppins"/>
                      </a:endParaRPr>
                    </a:p>
                    <a:p>
                      <a:pPr marL="171450" marR="0" lvl="0" indent="-171450" algn="l" defTabSz="914400" rtl="0" eaLnBrk="1" fontAlgn="auto" latinLnBrk="0" hangingPunct="1">
                        <a:lnSpc>
                          <a:spcPct val="100000"/>
                        </a:lnSpc>
                        <a:spcBef>
                          <a:spcPts val="0"/>
                        </a:spcBef>
                        <a:spcAft>
                          <a:spcPts val="400"/>
                        </a:spcAft>
                        <a:buClr>
                          <a:srgbClr val="000000"/>
                        </a:buClr>
                        <a:buSzTx/>
                        <a:buFont typeface="Arial" panose="020B0604020202020204" pitchFamily="34" charset="0"/>
                        <a:buChar char="•"/>
                        <a:tabLst/>
                        <a:defRPr/>
                      </a:pPr>
                      <a:r>
                        <a:rPr lang="en-US" sz="1000" b="1" i="0" u="none" strike="noStrike" kern="1200" noProof="0">
                          <a:solidFill>
                            <a:schemeClr val="tx1"/>
                          </a:solidFill>
                          <a:effectLst/>
                          <a:latin typeface="+mn-lt"/>
                          <a:ea typeface="+mn-ea"/>
                          <a:cs typeface="Poppins"/>
                          <a:hlinkClick r:id="rId6" action="ppaction://hlinksldjump">
                            <a:extLst>
                              <a:ext uri="{A12FA001-AC4F-418D-AE19-62706E023703}">
                                <ahyp:hlinkClr xmlns:ahyp="http://schemas.microsoft.com/office/drawing/2018/hyperlinkcolor" val="tx"/>
                              </a:ext>
                            </a:extLst>
                          </a:hlinkClick>
                        </a:rPr>
                        <a:t>Post-hoc analysis: </a:t>
                      </a:r>
                      <a:r>
                        <a:rPr lang="en-US" sz="1000" b="0" i="0" u="none" strike="noStrike" kern="1200" noProof="0">
                          <a:solidFill>
                            <a:schemeClr val="tx1"/>
                          </a:solidFill>
                          <a:effectLst/>
                          <a:latin typeface="+mn-lt"/>
                          <a:ea typeface="+mn-ea"/>
                          <a:cs typeface="Poppins"/>
                        </a:rPr>
                        <a:t>Subgroup analyses of prognosis and outcomes using pivotal trial or RWD dataset</a:t>
                      </a:r>
                    </a:p>
                    <a:p>
                      <a:pPr marL="171450" marR="0" lvl="0" indent="-171450" algn="l" defTabSz="914400" rtl="0" eaLnBrk="1" fontAlgn="auto" latinLnBrk="0" hangingPunct="1">
                        <a:lnSpc>
                          <a:spcPct val="100000"/>
                        </a:lnSpc>
                        <a:spcBef>
                          <a:spcPts val="0"/>
                        </a:spcBef>
                        <a:spcAft>
                          <a:spcPts val="400"/>
                        </a:spcAft>
                        <a:buClr>
                          <a:srgbClr val="000000"/>
                        </a:buClr>
                        <a:buSzTx/>
                        <a:buFont typeface="Arial" panose="020B0604020202020204" pitchFamily="34" charset="0"/>
                        <a:buChar char="•"/>
                        <a:tabLst/>
                        <a:defRPr/>
                      </a:pPr>
                      <a:r>
                        <a:rPr lang="en-US" sz="1000" b="1" i="0" u="none" strike="noStrike" kern="1200" noProof="0">
                          <a:solidFill>
                            <a:schemeClr val="tx1"/>
                          </a:solidFill>
                          <a:effectLst/>
                          <a:latin typeface="+mn-lt"/>
                          <a:ea typeface="+mn-ea"/>
                          <a:cs typeface="Poppins"/>
                          <a:hlinkClick r:id="rId8" action="ppaction://hlinksldjump">
                            <a:extLst>
                              <a:ext uri="{A12FA001-AC4F-418D-AE19-62706E023703}">
                                <ahyp:hlinkClr xmlns:ahyp="http://schemas.microsoft.com/office/drawing/2018/hyperlinkcolor" val="tx"/>
                              </a:ext>
                            </a:extLst>
                          </a:hlinkClick>
                        </a:rPr>
                        <a:t>RWE</a:t>
                      </a:r>
                      <a:r>
                        <a:rPr lang="en-US" sz="1000" b="1" i="0" u="none" strike="noStrike" kern="1200" noProof="0">
                          <a:solidFill>
                            <a:schemeClr val="tx1"/>
                          </a:solidFill>
                          <a:effectLst/>
                          <a:latin typeface="+mn-lt"/>
                          <a:ea typeface="+mn-ea"/>
                          <a:cs typeface="Poppins"/>
                          <a:hlinkClick r:id="rId9" action="ppaction://hlinksldjump">
                            <a:extLst>
                              <a:ext uri="{A12FA001-AC4F-418D-AE19-62706E023703}">
                                <ahyp:hlinkClr xmlns:ahyp="http://schemas.microsoft.com/office/drawing/2018/hyperlinkcolor" val="tx"/>
                              </a:ext>
                            </a:extLst>
                          </a:hlinkClick>
                        </a:rPr>
                        <a:t>:</a:t>
                      </a:r>
                      <a:r>
                        <a:rPr lang="en-US" sz="1000" b="1" i="0" u="none" strike="noStrike" kern="1200" noProof="0">
                          <a:solidFill>
                            <a:schemeClr val="tx1"/>
                          </a:solidFill>
                          <a:effectLst/>
                          <a:latin typeface="+mn-lt"/>
                          <a:ea typeface="+mn-ea"/>
                          <a:cs typeface="Poppins"/>
                        </a:rPr>
                        <a:t> </a:t>
                      </a:r>
                      <a:r>
                        <a:rPr lang="en-US" sz="1000" b="0" i="0" u="none" strike="noStrike" kern="1200" noProof="0">
                          <a:solidFill>
                            <a:schemeClr val="tx1"/>
                          </a:solidFill>
                          <a:effectLst/>
                          <a:latin typeface="+mn-lt"/>
                          <a:ea typeface="+mn-ea"/>
                          <a:cs typeface="Poppins"/>
                        </a:rPr>
                        <a:t>Multi-country retrospective RWE cohort study</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3643963820"/>
                  </a:ext>
                </a:extLst>
              </a:tr>
              <a:tr h="1158020">
                <a:tc>
                  <a:txBody>
                    <a:bodyPr/>
                    <a:lstStyle/>
                    <a:p>
                      <a:pPr algn="l"/>
                      <a:r>
                        <a:rPr lang="en-US" sz="1100" b="1" i="0">
                          <a:solidFill>
                            <a:schemeClr val="tx1"/>
                          </a:solidFill>
                          <a:latin typeface="+mn-lt"/>
                          <a:cs typeface="Poppins" pitchFamily="2" charset="77"/>
                        </a:rPr>
                        <a:t>NSCLC_HI_02</a:t>
                      </a:r>
                    </a:p>
                    <a:p>
                      <a:pPr algn="l"/>
                      <a:r>
                        <a:rPr lang="en-US" sz="1000" b="0" i="0">
                          <a:solidFill>
                            <a:schemeClr val="tx1"/>
                          </a:solidFill>
                          <a:latin typeface="+mn-lt"/>
                          <a:cs typeface="Poppins" pitchFamily="2" charset="77"/>
                        </a:rPr>
                        <a:t>Patient and </a:t>
                      </a:r>
                      <a:br>
                        <a:rPr lang="en-US" sz="1000" b="0" i="0">
                          <a:solidFill>
                            <a:schemeClr val="tx1"/>
                          </a:solidFill>
                          <a:latin typeface="+mn-lt"/>
                          <a:cs typeface="Poppins" pitchFamily="2" charset="77"/>
                        </a:rPr>
                      </a:br>
                      <a:r>
                        <a:rPr lang="en-US" sz="1000" b="0" i="0">
                          <a:solidFill>
                            <a:schemeClr val="tx1"/>
                          </a:solidFill>
                          <a:latin typeface="+mn-lt"/>
                          <a:cs typeface="Poppins" pitchFamily="2" charset="77"/>
                        </a:rPr>
                        <a:t>Economic Value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1">
                          <a:solidFill>
                            <a:schemeClr val="tx1"/>
                          </a:solidFill>
                        </a:rPr>
                        <a:t>(1L and 2L+) </a:t>
                      </a:r>
                      <a:r>
                        <a:rPr lang="en-US" sz="1000" b="0">
                          <a:solidFill>
                            <a:schemeClr val="tx1"/>
                          </a:solidFill>
                        </a:rPr>
                        <a:t>Cost effectiveness of MTAP testing strategies across NGS and IHC modalities </a:t>
                      </a:r>
                      <a:endParaRPr kumimoji="0" lang="en-US" sz="1000" b="0" i="0" u="none" strike="noStrike" kern="1200" cap="none" spc="0" normalizeH="0" baseline="0" noProof="0">
                        <a:ln>
                          <a:noFill/>
                        </a:ln>
                        <a:solidFill>
                          <a:schemeClr val="tx1"/>
                        </a:solidFill>
                        <a:effectLst/>
                        <a:uLnTx/>
                        <a:uFillTx/>
                        <a:latin typeface="+mn-lt"/>
                        <a:ea typeface="+mn-ea"/>
                        <a:cs typeface="Poppins" pitchFamily="2" charset="77"/>
                      </a:endParaRPr>
                    </a:p>
                    <a:p>
                      <a:pPr algn="l"/>
                      <a:endParaRPr lang="en-US" sz="500" b="0" i="0">
                        <a:solidFill>
                          <a:schemeClr val="tx1"/>
                        </a:solidFill>
                        <a:latin typeface="+mn-lt"/>
                        <a:cs typeface="Poppins" pitchFamily="2" charset="77"/>
                      </a:endParaRPr>
                    </a:p>
                    <a:p>
                      <a:pPr algn="l"/>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  Regulators </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Quantifies the relative cost-effectiveness of NGS vs. IHC for MTAP testing to inform reimbursement decisions and optimal diagnostic pathway selection</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Demonstrates whether a multi-assay approach enhances access and patient identification efficiency while maintaining value for healthcare systems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defRPr/>
                      </a:pPr>
                      <a:r>
                        <a:rPr lang="en-US" sz="1000" b="1" i="0" u="none" strike="noStrike" kern="1200" noProof="0">
                          <a:solidFill>
                            <a:schemeClr val="tx1"/>
                          </a:solidFill>
                          <a:effectLst/>
                          <a:latin typeface="+mn-lt"/>
                          <a:ea typeface="+mn-ea"/>
                          <a:cs typeface="Poppins"/>
                          <a:hlinkClick r:id="rId12" action="ppaction://hlinksldjump">
                            <a:extLst>
                              <a:ext uri="{A12FA001-AC4F-418D-AE19-62706E023703}">
                                <ahyp:hlinkClr xmlns:ahyp="http://schemas.microsoft.com/office/drawing/2018/hyperlinkcolor" val="tx"/>
                              </a:ext>
                            </a:extLst>
                          </a:hlinkClick>
                        </a:rPr>
                        <a:t>Modeling</a:t>
                      </a:r>
                      <a:r>
                        <a:rPr lang="en-US" sz="1000" b="0" i="0" u="none" strike="noStrike" kern="1200" noProof="0">
                          <a:solidFill>
                            <a:schemeClr val="tx1"/>
                          </a:solidFill>
                          <a:effectLst/>
                          <a:latin typeface="+mn-lt"/>
                          <a:ea typeface="+mn-ea"/>
                          <a:cs typeface="Poppins"/>
                          <a:hlinkClick r:id="rId12" action="ppaction://hlinksldjump">
                            <a:extLst>
                              <a:ext uri="{A12FA001-AC4F-418D-AE19-62706E023703}">
                                <ahyp:hlinkClr xmlns:ahyp="http://schemas.microsoft.com/office/drawing/2018/hyperlinkcolor" val="tx"/>
                              </a:ext>
                            </a:extLst>
                          </a:hlinkClick>
                        </a:rPr>
                        <a:t>: </a:t>
                      </a:r>
                      <a:r>
                        <a:rPr lang="en-US" sz="1000" b="0" i="0" u="none" strike="noStrike" kern="1200" noProof="0">
                          <a:solidFill>
                            <a:schemeClr val="tx1"/>
                          </a:solidFill>
                          <a:effectLst/>
                          <a:latin typeface="+mn-lt"/>
                          <a:ea typeface="+mn-ea"/>
                          <a:cs typeface="Poppins"/>
                        </a:rPr>
                        <a:t>Health economic modelling of MTAP testing pathways across IHC- and NGS-based algorithms (e.g., cost calculator, CE modelling)</a:t>
                      </a:r>
                      <a:endParaRPr lang="en-US" sz="1000" b="1" i="0" u="none" strike="noStrike" kern="1200" noProof="0">
                        <a:solidFill>
                          <a:schemeClr val="tx1"/>
                        </a:solidFill>
                        <a:effectLst/>
                        <a:latin typeface="+mn-lt"/>
                        <a:ea typeface="+mn-ea"/>
                        <a:cs typeface="Poppins"/>
                      </a:endParaRPr>
                    </a:p>
                    <a:p>
                      <a:pPr marL="171450" marR="0" lvl="0" indent="-171450" algn="l" defTabSz="914400"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defRPr/>
                      </a:pPr>
                      <a:r>
                        <a:rPr lang="en-US" sz="1000" b="1" i="0" u="none" strike="noStrike" kern="1200" noProof="0">
                          <a:solidFill>
                            <a:schemeClr val="tx1"/>
                          </a:solidFill>
                          <a:effectLst/>
                          <a:latin typeface="+mn-lt"/>
                          <a:ea typeface="+mn-ea"/>
                          <a:cs typeface="Poppins"/>
                          <a:hlinkClick r:id="rId8" action="ppaction://hlinksldjump">
                            <a:extLst>
                              <a:ext uri="{A12FA001-AC4F-418D-AE19-62706E023703}">
                                <ahyp:hlinkClr xmlns:ahyp="http://schemas.microsoft.com/office/drawing/2018/hyperlinkcolor" val="tx"/>
                              </a:ext>
                            </a:extLst>
                          </a:hlinkClick>
                        </a:rPr>
                        <a:t>RWE</a:t>
                      </a:r>
                      <a:r>
                        <a:rPr lang="en-US" sz="1000" b="1" i="0" u="none" strike="noStrike" kern="1200" noProof="0">
                          <a:solidFill>
                            <a:schemeClr val="tx1"/>
                          </a:solidFill>
                          <a:effectLst/>
                          <a:latin typeface="+mn-lt"/>
                          <a:ea typeface="+mn-ea"/>
                          <a:cs typeface="Poppins"/>
                          <a:hlinkClick r:id="" action="ppaction://noaction">
                            <a:extLst>
                              <a:ext uri="{A12FA001-AC4F-418D-AE19-62706E023703}">
                                <ahyp:hlinkClr xmlns:ahyp="http://schemas.microsoft.com/office/drawing/2018/hyperlinkcolor" val="tx"/>
                              </a:ext>
                            </a:extLst>
                          </a:hlinkClick>
                        </a:rPr>
                        <a:t>:</a:t>
                      </a:r>
                      <a:r>
                        <a:rPr lang="en-US" sz="1000" b="1" i="0" u="none" strike="noStrike" kern="1200" noProof="0">
                          <a:solidFill>
                            <a:schemeClr val="tx1"/>
                          </a:solidFill>
                          <a:effectLst/>
                          <a:latin typeface="+mn-lt"/>
                          <a:ea typeface="+mn-ea"/>
                          <a:cs typeface="Poppins"/>
                        </a:rPr>
                        <a:t> </a:t>
                      </a:r>
                      <a:r>
                        <a:rPr lang="en-US" sz="1000" b="0" i="0" u="none" strike="noStrike" kern="1200" noProof="0">
                          <a:solidFill>
                            <a:schemeClr val="tx1"/>
                          </a:solidFill>
                          <a:effectLst/>
                          <a:latin typeface="+mn-lt"/>
                          <a:ea typeface="+mn-ea"/>
                          <a:cs typeface="Poppins"/>
                        </a:rPr>
                        <a:t>Retrospective RWE study of MTAP testing workflows, positivity rates, and operational burden </a:t>
                      </a:r>
                    </a:p>
                    <a:p>
                      <a:pPr marL="171450" marR="0" lvl="0" indent="-171450" algn="l" defTabSz="914400"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defRPr/>
                      </a:pPr>
                      <a:r>
                        <a:rPr lang="en-US" sz="1000" b="1" i="0" u="none" strike="noStrike" kern="1200" noProof="0">
                          <a:solidFill>
                            <a:schemeClr val="tx1"/>
                          </a:solidFill>
                          <a:effectLst/>
                          <a:latin typeface="+mn-lt"/>
                          <a:ea typeface="+mn-ea"/>
                          <a:cs typeface="Poppins"/>
                          <a:hlinkClick r:id="rId13" action="ppaction://hlinksldjump">
                            <a:extLst>
                              <a:ext uri="{A12FA001-AC4F-418D-AE19-62706E023703}">
                                <ahyp:hlinkClr xmlns:ahyp="http://schemas.microsoft.com/office/drawing/2018/hyperlinkcolor" val="tx"/>
                              </a:ext>
                            </a:extLst>
                          </a:hlinkClick>
                        </a:rPr>
                        <a:t>Analytical concordance study: </a:t>
                      </a:r>
                      <a:r>
                        <a:rPr lang="en-US" sz="1000" b="0" i="0" u="none" strike="noStrike" kern="1200" noProof="0">
                          <a:solidFill>
                            <a:schemeClr val="tx1"/>
                          </a:solidFill>
                          <a:effectLst/>
                          <a:latin typeface="+mn-lt"/>
                          <a:ea typeface="+mn-ea"/>
                          <a:cs typeface="Poppins"/>
                        </a:rPr>
                        <a:t>Concordance across MTAP testing modalities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23850879"/>
                  </a:ext>
                </a:extLst>
              </a:tr>
            </a:tbl>
          </a:graphicData>
        </a:graphic>
      </p:graphicFrame>
      <p:sp>
        <p:nvSpPr>
          <p:cNvPr id="46" name="Oval 45">
            <a:extLst>
              <a:ext uri="{FF2B5EF4-FFF2-40B4-BE49-F238E27FC236}">
                <a16:creationId xmlns:a16="http://schemas.microsoft.com/office/drawing/2014/main" id="{BE4719FB-131C-A63C-525B-DFCB40A5D194}"/>
              </a:ext>
            </a:extLst>
          </p:cNvPr>
          <p:cNvSpPr/>
          <p:nvPr/>
        </p:nvSpPr>
        <p:spPr>
          <a:xfrm>
            <a:off x="7639370" y="2410891"/>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47" name="Oval 46">
            <a:extLst>
              <a:ext uri="{FF2B5EF4-FFF2-40B4-BE49-F238E27FC236}">
                <a16:creationId xmlns:a16="http://schemas.microsoft.com/office/drawing/2014/main" id="{CA3A794E-7E63-A4FA-8C10-91BDA2A8AE38}"/>
              </a:ext>
            </a:extLst>
          </p:cNvPr>
          <p:cNvSpPr/>
          <p:nvPr/>
        </p:nvSpPr>
        <p:spPr>
          <a:xfrm>
            <a:off x="7639370" y="2755374"/>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48" name="Oval 47">
            <a:extLst>
              <a:ext uri="{FF2B5EF4-FFF2-40B4-BE49-F238E27FC236}">
                <a16:creationId xmlns:a16="http://schemas.microsoft.com/office/drawing/2014/main" id="{E1E1DAF6-6E1E-654E-AEC9-ADC531D20E0F}"/>
              </a:ext>
            </a:extLst>
          </p:cNvPr>
          <p:cNvSpPr/>
          <p:nvPr/>
        </p:nvSpPr>
        <p:spPr>
          <a:xfrm>
            <a:off x="7639370" y="1891444"/>
            <a:ext cx="128016" cy="1280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49" name="Oval 48">
            <a:extLst>
              <a:ext uri="{FF2B5EF4-FFF2-40B4-BE49-F238E27FC236}">
                <a16:creationId xmlns:a16="http://schemas.microsoft.com/office/drawing/2014/main" id="{9EF531A9-E751-ABC6-2630-AC801055A1D1}"/>
              </a:ext>
            </a:extLst>
          </p:cNvPr>
          <p:cNvSpPr/>
          <p:nvPr/>
        </p:nvSpPr>
        <p:spPr>
          <a:xfrm>
            <a:off x="7639370" y="3106654"/>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50" name="Rounded Rectangle 23">
            <a:extLst>
              <a:ext uri="{FF2B5EF4-FFF2-40B4-BE49-F238E27FC236}">
                <a16:creationId xmlns:a16="http://schemas.microsoft.com/office/drawing/2014/main" id="{F8AD3AD5-C356-F044-9B38-863A17E494FE}"/>
              </a:ext>
            </a:extLst>
          </p:cNvPr>
          <p:cNvSpPr/>
          <p:nvPr/>
        </p:nvSpPr>
        <p:spPr>
          <a:xfrm>
            <a:off x="434537" y="2769412"/>
            <a:ext cx="860863" cy="210024"/>
          </a:xfrm>
          <a:prstGeom prst="roundRect">
            <a:avLst>
              <a:gd name="adj" fmla="val 6118"/>
            </a:avLst>
          </a:prstGeom>
          <a:solidFill>
            <a:srgbClr val="00808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4">
                    <a:lumMod val="75000"/>
                  </a:schemeClr>
                </a:solidFill>
                <a:effectLst/>
                <a:uLnTx/>
                <a:uFillTx/>
                <a:latin typeface="Poppins" pitchFamily="2" charset="77"/>
                <a:cs typeface="Poppins" pitchFamily="2" charset="77"/>
              </a:rPr>
              <a:t>Critical</a:t>
            </a:r>
          </a:p>
        </p:txBody>
      </p:sp>
      <p:sp>
        <p:nvSpPr>
          <p:cNvPr id="61" name="Oval 60">
            <a:extLst>
              <a:ext uri="{FF2B5EF4-FFF2-40B4-BE49-F238E27FC236}">
                <a16:creationId xmlns:a16="http://schemas.microsoft.com/office/drawing/2014/main" id="{1CCF2582-66C0-97BE-C6EC-E8EF4DC24D8D}"/>
              </a:ext>
            </a:extLst>
          </p:cNvPr>
          <p:cNvSpPr/>
          <p:nvPr/>
        </p:nvSpPr>
        <p:spPr>
          <a:xfrm>
            <a:off x="7639370" y="3691357"/>
            <a:ext cx="128016" cy="1280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62" name="Oval 61">
            <a:extLst>
              <a:ext uri="{FF2B5EF4-FFF2-40B4-BE49-F238E27FC236}">
                <a16:creationId xmlns:a16="http://schemas.microsoft.com/office/drawing/2014/main" id="{220BF5BA-F44F-9236-AC79-6598C521205A}"/>
              </a:ext>
            </a:extLst>
          </p:cNvPr>
          <p:cNvSpPr/>
          <p:nvPr/>
        </p:nvSpPr>
        <p:spPr>
          <a:xfrm>
            <a:off x="7639370" y="4049498"/>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2" name="Rounded Rectangle 26">
            <a:extLst>
              <a:ext uri="{FF2B5EF4-FFF2-40B4-BE49-F238E27FC236}">
                <a16:creationId xmlns:a16="http://schemas.microsoft.com/office/drawing/2014/main" id="{FADAEB75-73CD-B941-E249-4A3D634FD754}"/>
              </a:ext>
            </a:extLst>
          </p:cNvPr>
          <p:cNvSpPr/>
          <p:nvPr/>
        </p:nvSpPr>
        <p:spPr>
          <a:xfrm>
            <a:off x="434537" y="4313141"/>
            <a:ext cx="860863" cy="210024"/>
          </a:xfrm>
          <a:prstGeom prst="roundRect">
            <a:avLst>
              <a:gd name="adj" fmla="val 6677"/>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1"/>
                </a:solidFill>
                <a:effectLst/>
                <a:uLnTx/>
                <a:uFillTx/>
                <a:latin typeface="Poppins" pitchFamily="2" charset="77"/>
                <a:cs typeface="Poppins" pitchFamily="2" charset="77"/>
              </a:rPr>
              <a:t>High</a:t>
            </a:r>
          </a:p>
        </p:txBody>
      </p:sp>
      <p:sp>
        <p:nvSpPr>
          <p:cNvPr id="9" name="Oval 8">
            <a:extLst>
              <a:ext uri="{FF2B5EF4-FFF2-40B4-BE49-F238E27FC236}">
                <a16:creationId xmlns:a16="http://schemas.microsoft.com/office/drawing/2014/main" id="{7FD3A182-2AD0-A69F-672B-330061C49292}"/>
              </a:ext>
            </a:extLst>
          </p:cNvPr>
          <p:cNvSpPr/>
          <p:nvPr/>
        </p:nvSpPr>
        <p:spPr>
          <a:xfrm>
            <a:off x="7639370" y="4405561"/>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40" name="Rectangle 39">
            <a:extLst>
              <a:ext uri="{FF2B5EF4-FFF2-40B4-BE49-F238E27FC236}">
                <a16:creationId xmlns:a16="http://schemas.microsoft.com/office/drawing/2014/main" id="{1AD31E4A-A3C4-BDA5-521C-F96884E5A152}"/>
              </a:ext>
            </a:extLst>
          </p:cNvPr>
          <p:cNvSpPr/>
          <p:nvPr/>
        </p:nvSpPr>
        <p:spPr>
          <a:xfrm>
            <a:off x="371289" y="1259201"/>
            <a:ext cx="2520000" cy="167267"/>
          </a:xfrm>
          <a:prstGeom prst="rect">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1: Differentiation</a:t>
            </a:r>
          </a:p>
        </p:txBody>
      </p:sp>
      <p:sp>
        <p:nvSpPr>
          <p:cNvPr id="41" name="Rectangle 40">
            <a:extLst>
              <a:ext uri="{FF2B5EF4-FFF2-40B4-BE49-F238E27FC236}">
                <a16:creationId xmlns:a16="http://schemas.microsoft.com/office/drawing/2014/main" id="{38C4A506-2B40-54D7-4427-0B5B8096EC92}"/>
              </a:ext>
            </a:extLst>
          </p:cNvPr>
          <p:cNvSpPr/>
          <p:nvPr/>
        </p:nvSpPr>
        <p:spPr>
          <a:xfrm>
            <a:off x="2940417"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2</a:t>
            </a:r>
          </a:p>
        </p:txBody>
      </p:sp>
      <p:sp>
        <p:nvSpPr>
          <p:cNvPr id="42" name="Rectangle 41">
            <a:extLst>
              <a:ext uri="{FF2B5EF4-FFF2-40B4-BE49-F238E27FC236}">
                <a16:creationId xmlns:a16="http://schemas.microsoft.com/office/drawing/2014/main" id="{92FDC1C1-4CAA-31C7-46F3-FB315ACBE043}"/>
              </a:ext>
            </a:extLst>
          </p:cNvPr>
          <p:cNvSpPr/>
          <p:nvPr/>
        </p:nvSpPr>
        <p:spPr>
          <a:xfrm>
            <a:off x="3745545"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3</a:t>
            </a:r>
          </a:p>
        </p:txBody>
      </p:sp>
      <p:sp>
        <p:nvSpPr>
          <p:cNvPr id="43" name="Rectangle 42">
            <a:extLst>
              <a:ext uri="{FF2B5EF4-FFF2-40B4-BE49-F238E27FC236}">
                <a16:creationId xmlns:a16="http://schemas.microsoft.com/office/drawing/2014/main" id="{A0187CEC-FA23-46E7-70F2-2803A9A443B9}"/>
              </a:ext>
            </a:extLst>
          </p:cNvPr>
          <p:cNvSpPr/>
          <p:nvPr/>
        </p:nvSpPr>
        <p:spPr>
          <a:xfrm>
            <a:off x="4550674"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4</a:t>
            </a:r>
          </a:p>
        </p:txBody>
      </p:sp>
      <p:grpSp>
        <p:nvGrpSpPr>
          <p:cNvPr id="63" name="Group 62">
            <a:extLst>
              <a:ext uri="{FF2B5EF4-FFF2-40B4-BE49-F238E27FC236}">
                <a16:creationId xmlns:a16="http://schemas.microsoft.com/office/drawing/2014/main" id="{964AC4B6-3DED-0AB8-19CA-8D770AFE77A1}"/>
              </a:ext>
            </a:extLst>
          </p:cNvPr>
          <p:cNvGrpSpPr/>
          <p:nvPr/>
        </p:nvGrpSpPr>
        <p:grpSpPr>
          <a:xfrm>
            <a:off x="9588863" y="1238928"/>
            <a:ext cx="2240393" cy="363842"/>
            <a:chOff x="9746021" y="1221639"/>
            <a:chExt cx="2240393" cy="363842"/>
          </a:xfrm>
        </p:grpSpPr>
        <p:sp>
          <p:nvSpPr>
            <p:cNvPr id="64" name="Rectangle 63">
              <a:extLst>
                <a:ext uri="{FF2B5EF4-FFF2-40B4-BE49-F238E27FC236}">
                  <a16:creationId xmlns:a16="http://schemas.microsoft.com/office/drawing/2014/main" id="{021236A0-7288-C6B3-629E-146F21819689}"/>
                </a:ext>
              </a:extLst>
            </p:cNvPr>
            <p:cNvSpPr/>
            <p:nvPr/>
          </p:nvSpPr>
          <p:spPr>
            <a:xfrm>
              <a:off x="9852837" y="1221639"/>
              <a:ext cx="2133577" cy="3638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800">
                  <a:solidFill>
                    <a:schemeClr val="tx1"/>
                  </a:solidFill>
                </a:rPr>
                <a:t>Click the </a:t>
              </a:r>
              <a:r>
                <a:rPr lang="en-US" sz="800" b="1">
                  <a:solidFill>
                    <a:schemeClr val="tx1"/>
                  </a:solidFill>
                </a:rPr>
                <a:t>bolded tactic </a:t>
              </a:r>
              <a:r>
                <a:rPr lang="en-US" sz="800">
                  <a:solidFill>
                    <a:schemeClr val="tx1"/>
                  </a:solidFill>
                </a:rPr>
                <a:t>to navigate to the study approach details</a:t>
              </a:r>
            </a:p>
          </p:txBody>
        </p:sp>
        <p:pic>
          <p:nvPicPr>
            <p:cNvPr id="65" name="Graphic 64" descr="Cursor with solid fill">
              <a:extLst>
                <a:ext uri="{FF2B5EF4-FFF2-40B4-BE49-F238E27FC236}">
                  <a16:creationId xmlns:a16="http://schemas.microsoft.com/office/drawing/2014/main" id="{CAC34E09-95D9-FD08-0D57-6192B4719660}"/>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746021" y="1302723"/>
              <a:ext cx="216000" cy="216000"/>
            </a:xfrm>
            <a:prstGeom prst="rect">
              <a:avLst/>
            </a:prstGeom>
          </p:spPr>
        </p:pic>
      </p:grpSp>
      <p:sp>
        <p:nvSpPr>
          <p:cNvPr id="23" name="Oval 22">
            <a:extLst>
              <a:ext uri="{FF2B5EF4-FFF2-40B4-BE49-F238E27FC236}">
                <a16:creationId xmlns:a16="http://schemas.microsoft.com/office/drawing/2014/main" id="{288D478F-76BF-FFD0-98F1-6F20B1660D3C}"/>
              </a:ext>
            </a:extLst>
          </p:cNvPr>
          <p:cNvSpPr/>
          <p:nvPr/>
        </p:nvSpPr>
        <p:spPr>
          <a:xfrm>
            <a:off x="7639370" y="4986567"/>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25" name="Oval 24">
            <a:extLst>
              <a:ext uri="{FF2B5EF4-FFF2-40B4-BE49-F238E27FC236}">
                <a16:creationId xmlns:a16="http://schemas.microsoft.com/office/drawing/2014/main" id="{14FC7C34-80C0-D55D-2662-B08233139FDF}"/>
              </a:ext>
            </a:extLst>
          </p:cNvPr>
          <p:cNvSpPr/>
          <p:nvPr/>
        </p:nvSpPr>
        <p:spPr>
          <a:xfrm>
            <a:off x="7639370" y="5929421"/>
            <a:ext cx="128016" cy="128016"/>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28" name="Oval 27">
            <a:extLst>
              <a:ext uri="{FF2B5EF4-FFF2-40B4-BE49-F238E27FC236}">
                <a16:creationId xmlns:a16="http://schemas.microsoft.com/office/drawing/2014/main" id="{895974FD-54C9-A1C8-8B2A-320BC2725A50}"/>
              </a:ext>
            </a:extLst>
          </p:cNvPr>
          <p:cNvSpPr/>
          <p:nvPr/>
        </p:nvSpPr>
        <p:spPr>
          <a:xfrm>
            <a:off x="7639370" y="5548523"/>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30" name="Rounded Rectangle 26">
            <a:extLst>
              <a:ext uri="{FF2B5EF4-FFF2-40B4-BE49-F238E27FC236}">
                <a16:creationId xmlns:a16="http://schemas.microsoft.com/office/drawing/2014/main" id="{2537B981-8E95-1D42-1CE8-B6FD50BF2316}"/>
              </a:ext>
            </a:extLst>
          </p:cNvPr>
          <p:cNvSpPr/>
          <p:nvPr/>
        </p:nvSpPr>
        <p:spPr>
          <a:xfrm>
            <a:off x="434537" y="5881796"/>
            <a:ext cx="860863" cy="210024"/>
          </a:xfrm>
          <a:prstGeom prst="roundRect">
            <a:avLst>
              <a:gd name="adj" fmla="val 6677"/>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1"/>
                </a:solidFill>
                <a:effectLst/>
                <a:uLnTx/>
                <a:uFillTx/>
                <a:latin typeface="Poppins" pitchFamily="2" charset="77"/>
                <a:cs typeface="Poppins" pitchFamily="2" charset="77"/>
              </a:rPr>
              <a:t>High</a:t>
            </a:r>
          </a:p>
        </p:txBody>
      </p:sp>
      <p:sp>
        <p:nvSpPr>
          <p:cNvPr id="71" name="Footer Placeholder 2">
            <a:extLst>
              <a:ext uri="{FF2B5EF4-FFF2-40B4-BE49-F238E27FC236}">
                <a16:creationId xmlns:a16="http://schemas.microsoft.com/office/drawing/2014/main" id="{AD5EDAF5-0814-023F-F79A-CEB829BFB9FF}"/>
              </a:ext>
            </a:extLst>
          </p:cNvPr>
          <p:cNvSpPr>
            <a:spLocks noGrp="1"/>
          </p:cNvSpPr>
          <p:nvPr>
            <p:ph type="ftr" sz="quarter" idx="10"/>
          </p:nvPr>
        </p:nvSpPr>
        <p:spPr>
          <a:xfrm>
            <a:off x="371289" y="6270944"/>
            <a:ext cx="6287053" cy="554790"/>
          </a:xfrm>
        </p:spPr>
        <p:txBody>
          <a:bodyPr/>
          <a:lstStyle/>
          <a:p>
            <a:pPr>
              <a:defRPr/>
            </a:pPr>
            <a:r>
              <a:rPr lang="en-US">
                <a:solidFill>
                  <a:srgbClr val="000000">
                    <a:lumMod val="65000"/>
                    <a:lumOff val="35000"/>
                  </a:srgbClr>
                </a:solidFill>
              </a:rPr>
              <a:t>Abbreviations: </a:t>
            </a:r>
            <a:r>
              <a:rPr lang="en-US"/>
              <a:t>CE: Critical Priority; CNS: Central Nervous System; HCPs: Healthcare Professionals; HI: High Priority; IHC: Immunohistochemistry; IIT: Investigator-Initiated Trial; ITC: Indirect Treatment Comparison; </a:t>
            </a:r>
            <a:r>
              <a:rPr lang="en-US" err="1"/>
              <a:t>LoT</a:t>
            </a:r>
            <a:r>
              <a:rPr lang="en-US"/>
              <a:t>: Line of Therapy; MTAP: Methylthioadenosine Phosphorylase; NGS: Next-Generation Sequencing; NSCLC: Non-Small Cell Lung Cancer; PAGs: Patient Advocacy Groups; PRMT5i: Protein Arginine Methyltransferase 5 Inhibitor; RWD: Real-World Data; RWE: Real-World Evidence; SI: Strategic Imperative; SLR: Systematic Literature Review; SoC: Standard of Care</a:t>
            </a:r>
          </a:p>
        </p:txBody>
      </p:sp>
      <p:grpSp>
        <p:nvGrpSpPr>
          <p:cNvPr id="22" name="Group 21">
            <a:extLst>
              <a:ext uri="{FF2B5EF4-FFF2-40B4-BE49-F238E27FC236}">
                <a16:creationId xmlns:a16="http://schemas.microsoft.com/office/drawing/2014/main" id="{722A4AC7-D719-12A5-CEE5-FB071274B7B7}"/>
              </a:ext>
            </a:extLst>
          </p:cNvPr>
          <p:cNvGrpSpPr/>
          <p:nvPr/>
        </p:nvGrpSpPr>
        <p:grpSpPr>
          <a:xfrm>
            <a:off x="6707941" y="6242290"/>
            <a:ext cx="5283720" cy="661604"/>
            <a:chOff x="301330" y="6226576"/>
            <a:chExt cx="5283720" cy="661604"/>
          </a:xfrm>
        </p:grpSpPr>
        <p:grpSp>
          <p:nvGrpSpPr>
            <p:cNvPr id="24" name="Group 23">
              <a:extLst>
                <a:ext uri="{FF2B5EF4-FFF2-40B4-BE49-F238E27FC236}">
                  <a16:creationId xmlns:a16="http://schemas.microsoft.com/office/drawing/2014/main" id="{2684428A-ECEA-197D-48F7-DCC1E7CAEBDD}"/>
                </a:ext>
              </a:extLst>
            </p:cNvPr>
            <p:cNvGrpSpPr/>
            <p:nvPr/>
          </p:nvGrpSpPr>
          <p:grpSpPr>
            <a:xfrm>
              <a:off x="328227" y="6580403"/>
              <a:ext cx="1894026" cy="307777"/>
              <a:chOff x="-2487500" y="6443238"/>
              <a:chExt cx="1894026" cy="307777"/>
            </a:xfrm>
          </p:grpSpPr>
          <p:sp>
            <p:nvSpPr>
              <p:cNvPr id="45" name="Oval 44">
                <a:extLst>
                  <a:ext uri="{FF2B5EF4-FFF2-40B4-BE49-F238E27FC236}">
                    <a16:creationId xmlns:a16="http://schemas.microsoft.com/office/drawing/2014/main" id="{034FE79A-7DB6-A551-EF08-D62C851CA89F}"/>
                  </a:ext>
                </a:extLst>
              </p:cNvPr>
              <p:cNvSpPr/>
              <p:nvPr/>
            </p:nvSpPr>
            <p:spPr>
              <a:xfrm>
                <a:off x="-2487500" y="6533526"/>
                <a:ext cx="129556" cy="12801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72" name="TextBox 71">
                <a:extLst>
                  <a:ext uri="{FF2B5EF4-FFF2-40B4-BE49-F238E27FC236}">
                    <a16:creationId xmlns:a16="http://schemas.microsoft.com/office/drawing/2014/main" id="{3C000946-03C1-9542-9C7D-F9AEE8F83A65}"/>
                  </a:ext>
                </a:extLst>
              </p:cNvPr>
              <p:cNvSpPr txBox="1"/>
              <p:nvPr/>
            </p:nvSpPr>
            <p:spPr>
              <a:xfrm>
                <a:off x="-2426470" y="6443238"/>
                <a:ext cx="1832996" cy="307777"/>
              </a:xfrm>
              <a:prstGeom prst="rect">
                <a:avLst/>
              </a:prstGeom>
              <a:noFill/>
            </p:spPr>
            <p:txBody>
              <a:bodyPr wrap="square" lIns="91440" tIns="91440" rIns="91440" bIns="91440" rtlCol="0">
                <a:spAutoFit/>
              </a:bodyPr>
              <a:lstStyle/>
              <a:p>
                <a:pPr algn="l"/>
                <a:r>
                  <a:rPr lang="en-US" sz="800"/>
                  <a:t>Near-term (immediate action)</a:t>
                </a:r>
              </a:p>
            </p:txBody>
          </p:sp>
        </p:grpSp>
        <p:grpSp>
          <p:nvGrpSpPr>
            <p:cNvPr id="27" name="Group 26">
              <a:extLst>
                <a:ext uri="{FF2B5EF4-FFF2-40B4-BE49-F238E27FC236}">
                  <a16:creationId xmlns:a16="http://schemas.microsoft.com/office/drawing/2014/main" id="{BDB281A8-2324-5A20-7CBA-9C2C40796286}"/>
                </a:ext>
              </a:extLst>
            </p:cNvPr>
            <p:cNvGrpSpPr/>
            <p:nvPr/>
          </p:nvGrpSpPr>
          <p:grpSpPr>
            <a:xfrm>
              <a:off x="2087638" y="6580403"/>
              <a:ext cx="2154029" cy="307777"/>
              <a:chOff x="-785805" y="6439612"/>
              <a:chExt cx="2154029" cy="307777"/>
            </a:xfrm>
          </p:grpSpPr>
          <p:sp>
            <p:nvSpPr>
              <p:cNvPr id="39" name="Oval 38">
                <a:extLst>
                  <a:ext uri="{FF2B5EF4-FFF2-40B4-BE49-F238E27FC236}">
                    <a16:creationId xmlns:a16="http://schemas.microsoft.com/office/drawing/2014/main" id="{566982F6-66A0-CD06-296A-44BFC7878166}"/>
                  </a:ext>
                </a:extLst>
              </p:cNvPr>
              <p:cNvSpPr/>
              <p:nvPr/>
            </p:nvSpPr>
            <p:spPr>
              <a:xfrm>
                <a:off x="-785805" y="6529900"/>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44" name="TextBox 43">
                <a:extLst>
                  <a:ext uri="{FF2B5EF4-FFF2-40B4-BE49-F238E27FC236}">
                    <a16:creationId xmlns:a16="http://schemas.microsoft.com/office/drawing/2014/main" id="{B6CB7823-DA10-7304-5CD4-69735D702D2C}"/>
                  </a:ext>
                </a:extLst>
              </p:cNvPr>
              <p:cNvSpPr txBox="1"/>
              <p:nvPr/>
            </p:nvSpPr>
            <p:spPr>
              <a:xfrm>
                <a:off x="-730319" y="6439612"/>
                <a:ext cx="2098543" cy="307777"/>
              </a:xfrm>
              <a:prstGeom prst="rect">
                <a:avLst/>
              </a:prstGeom>
              <a:noFill/>
            </p:spPr>
            <p:txBody>
              <a:bodyPr wrap="square" lIns="91440" tIns="91440" rIns="91440" bIns="91440" rtlCol="0">
                <a:spAutoFit/>
              </a:bodyPr>
              <a:lstStyle/>
              <a:p>
                <a:pPr algn="l"/>
                <a:r>
                  <a:rPr lang="en-US" sz="800"/>
                  <a:t>Longer-term (no immediate action)</a:t>
                </a:r>
              </a:p>
            </p:txBody>
          </p:sp>
        </p:grpSp>
        <p:grpSp>
          <p:nvGrpSpPr>
            <p:cNvPr id="29" name="Group 28">
              <a:extLst>
                <a:ext uri="{FF2B5EF4-FFF2-40B4-BE49-F238E27FC236}">
                  <a16:creationId xmlns:a16="http://schemas.microsoft.com/office/drawing/2014/main" id="{EC5ADE76-3898-C009-2D16-AC84F61B83CD}"/>
                </a:ext>
              </a:extLst>
            </p:cNvPr>
            <p:cNvGrpSpPr/>
            <p:nvPr/>
          </p:nvGrpSpPr>
          <p:grpSpPr>
            <a:xfrm>
              <a:off x="4094230" y="6580403"/>
              <a:ext cx="1335262" cy="307777"/>
              <a:chOff x="1858782" y="6448136"/>
              <a:chExt cx="1335262" cy="307777"/>
            </a:xfrm>
          </p:grpSpPr>
          <p:sp>
            <p:nvSpPr>
              <p:cNvPr id="37" name="Oval 36">
                <a:extLst>
                  <a:ext uri="{FF2B5EF4-FFF2-40B4-BE49-F238E27FC236}">
                    <a16:creationId xmlns:a16="http://schemas.microsoft.com/office/drawing/2014/main" id="{8883F7FD-EB26-64BE-0EE4-CEF1E9EB4EB3}"/>
                  </a:ext>
                </a:extLst>
              </p:cNvPr>
              <p:cNvSpPr/>
              <p:nvPr/>
            </p:nvSpPr>
            <p:spPr>
              <a:xfrm>
                <a:off x="1858782" y="6538424"/>
                <a:ext cx="128016" cy="128016"/>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38" name="TextBox 37">
                <a:extLst>
                  <a:ext uri="{FF2B5EF4-FFF2-40B4-BE49-F238E27FC236}">
                    <a16:creationId xmlns:a16="http://schemas.microsoft.com/office/drawing/2014/main" id="{C22FC03E-63AA-85C6-B72A-C16612FABD65}"/>
                  </a:ext>
                </a:extLst>
              </p:cNvPr>
              <p:cNvSpPr txBox="1"/>
              <p:nvPr/>
            </p:nvSpPr>
            <p:spPr>
              <a:xfrm>
                <a:off x="1909630" y="6448136"/>
                <a:ext cx="1284414" cy="307777"/>
              </a:xfrm>
              <a:prstGeom prst="rect">
                <a:avLst/>
              </a:prstGeom>
              <a:noFill/>
            </p:spPr>
            <p:txBody>
              <a:bodyPr wrap="square" lIns="91440" tIns="91440" rIns="91440" bIns="91440" rtlCol="0">
                <a:spAutoFit/>
              </a:bodyPr>
              <a:lstStyle/>
              <a:p>
                <a:pPr algn="l"/>
                <a:r>
                  <a:rPr lang="en-US" sz="800"/>
                  <a:t>Planned / addressed</a:t>
                </a:r>
              </a:p>
            </p:txBody>
          </p:sp>
        </p:grpSp>
        <p:sp>
          <p:nvSpPr>
            <p:cNvPr id="31" name="TextBox 30">
              <a:extLst>
                <a:ext uri="{FF2B5EF4-FFF2-40B4-BE49-F238E27FC236}">
                  <a16:creationId xmlns:a16="http://schemas.microsoft.com/office/drawing/2014/main" id="{78885950-833B-347F-0121-BA46EDA53445}"/>
                </a:ext>
              </a:extLst>
            </p:cNvPr>
            <p:cNvSpPr txBox="1"/>
            <p:nvPr/>
          </p:nvSpPr>
          <p:spPr>
            <a:xfrm>
              <a:off x="301330" y="6226576"/>
              <a:ext cx="5283720" cy="307777"/>
            </a:xfrm>
            <a:prstGeom prst="rect">
              <a:avLst/>
            </a:prstGeom>
            <a:noFill/>
          </p:spPr>
          <p:txBody>
            <a:bodyPr wrap="square" lIns="36000" tIns="91440" rIns="36000" bIns="91440" rtlCol="0">
              <a:spAutoFit/>
            </a:bodyPr>
            <a:lstStyle/>
            <a:p>
              <a:pPr>
                <a:spcBef>
                  <a:spcPts val="600"/>
                </a:spcBef>
              </a:pPr>
              <a:r>
                <a:rPr lang="en-US" sz="800" b="1"/>
                <a:t>Key:  Listed stakeholders represent the primary target audience for the evidence generated</a:t>
              </a:r>
            </a:p>
          </p:txBody>
        </p:sp>
        <p:sp>
          <p:nvSpPr>
            <p:cNvPr id="35" name="TextBox 34">
              <a:extLst>
                <a:ext uri="{FF2B5EF4-FFF2-40B4-BE49-F238E27FC236}">
                  <a16:creationId xmlns:a16="http://schemas.microsoft.com/office/drawing/2014/main" id="{102970B8-F9BA-476B-C725-8F648D510A6A}"/>
                </a:ext>
              </a:extLst>
            </p:cNvPr>
            <p:cNvSpPr txBox="1"/>
            <p:nvPr/>
          </p:nvSpPr>
          <p:spPr>
            <a:xfrm>
              <a:off x="301330" y="6396002"/>
              <a:ext cx="5283720" cy="307777"/>
            </a:xfrm>
            <a:prstGeom prst="rect">
              <a:avLst/>
            </a:prstGeom>
            <a:noFill/>
          </p:spPr>
          <p:txBody>
            <a:bodyPr wrap="square" lIns="36000" tIns="91440" rIns="36000" bIns="91440" rtlCol="0">
              <a:spAutoFit/>
            </a:bodyPr>
            <a:lstStyle/>
            <a:p>
              <a:pPr>
                <a:spcBef>
                  <a:spcPts val="600"/>
                </a:spcBef>
              </a:pPr>
              <a:r>
                <a:rPr lang="en-US" sz="800"/>
                <a:t>Tactics are characterized according to action required based on cross-functional workshop input:</a:t>
              </a:r>
            </a:p>
          </p:txBody>
        </p:sp>
        <p:cxnSp>
          <p:nvCxnSpPr>
            <p:cNvPr id="36" name="Straight Connector 35">
              <a:extLst>
                <a:ext uri="{FF2B5EF4-FFF2-40B4-BE49-F238E27FC236}">
                  <a16:creationId xmlns:a16="http://schemas.microsoft.com/office/drawing/2014/main" id="{153EC51C-4E29-9B10-2BB8-D4FA5D29DAA4}"/>
                </a:ext>
              </a:extLst>
            </p:cNvPr>
            <p:cNvCxnSpPr>
              <a:cxnSpLocks/>
            </p:cNvCxnSpPr>
            <p:nvPr/>
          </p:nvCxnSpPr>
          <p:spPr>
            <a:xfrm flipV="1">
              <a:off x="301330" y="6454640"/>
              <a:ext cx="5005344" cy="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3" name="Group 72">
            <a:extLst>
              <a:ext uri="{FF2B5EF4-FFF2-40B4-BE49-F238E27FC236}">
                <a16:creationId xmlns:a16="http://schemas.microsoft.com/office/drawing/2014/main" id="{C7521189-793A-4D04-8B2F-47520A92979B}"/>
              </a:ext>
            </a:extLst>
          </p:cNvPr>
          <p:cNvGrpSpPr/>
          <p:nvPr/>
        </p:nvGrpSpPr>
        <p:grpSpPr>
          <a:xfrm>
            <a:off x="362743" y="10216"/>
            <a:ext cx="10042505" cy="252000"/>
            <a:chOff x="362743" y="10216"/>
            <a:chExt cx="10042505" cy="252000"/>
          </a:xfrm>
        </p:grpSpPr>
        <p:sp>
          <p:nvSpPr>
            <p:cNvPr id="74" name="Pentagon 47">
              <a:extLst>
                <a:ext uri="{FF2B5EF4-FFF2-40B4-BE49-F238E27FC236}">
                  <a16:creationId xmlns:a16="http://schemas.microsoft.com/office/drawing/2014/main" id="{72625A53-F99D-3ADF-1078-2DDA34272A0E}"/>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75" name="Chevron 48">
              <a:extLst>
                <a:ext uri="{FF2B5EF4-FFF2-40B4-BE49-F238E27FC236}">
                  <a16:creationId xmlns:a16="http://schemas.microsoft.com/office/drawing/2014/main" id="{FFA3E505-6277-FD13-01DE-272A48A85DB2}"/>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76" name="Chevron 52">
              <a:extLst>
                <a:ext uri="{FF2B5EF4-FFF2-40B4-BE49-F238E27FC236}">
                  <a16:creationId xmlns:a16="http://schemas.microsoft.com/office/drawing/2014/main" id="{04C367A0-E55B-E539-A4B5-7FCB62E7E5E5}"/>
                </a:ext>
              </a:extLst>
            </p:cNvPr>
            <p:cNvSpPr/>
            <p:nvPr/>
          </p:nvSpPr>
          <p:spPr>
            <a:xfrm>
              <a:off x="3701639"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77" name="Chevron 54">
              <a:extLst>
                <a:ext uri="{FF2B5EF4-FFF2-40B4-BE49-F238E27FC236}">
                  <a16:creationId xmlns:a16="http://schemas.microsoft.com/office/drawing/2014/main" id="{114F323E-785B-25AF-E6EC-86013C3DC9F8}"/>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78" name="Chevron 48">
              <a:extLst>
                <a:ext uri="{FF2B5EF4-FFF2-40B4-BE49-F238E27FC236}">
                  <a16:creationId xmlns:a16="http://schemas.microsoft.com/office/drawing/2014/main" id="{47F9DC8C-5B42-2E8E-38D9-92C83B74E718}"/>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80" name="Chevron 48">
              <a:extLst>
                <a:ext uri="{FF2B5EF4-FFF2-40B4-BE49-F238E27FC236}">
                  <a16:creationId xmlns:a16="http://schemas.microsoft.com/office/drawing/2014/main" id="{53361717-A89E-9936-05B2-EE44077A916A}"/>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3117215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A0877-FEA0-0A6D-8FAB-7AD32DD2AF1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F60C180-E54A-6996-F4B6-5F4ADB423D68}"/>
              </a:ext>
            </a:extLst>
          </p:cNvPr>
          <p:cNvSpPr/>
          <p:nvPr/>
        </p:nvSpPr>
        <p:spPr>
          <a:xfrm>
            <a:off x="7572976" y="6128998"/>
            <a:ext cx="4459396" cy="66816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algn="ctr"/>
            <a:endParaRPr lang="en-US" sz="1200">
              <a:solidFill>
                <a:schemeClr val="tx1"/>
              </a:solidFill>
            </a:endParaRPr>
          </a:p>
        </p:txBody>
      </p:sp>
      <p:graphicFrame>
        <p:nvGraphicFramePr>
          <p:cNvPr id="59" name="think-cell data - do not delete" hidden="1">
            <a:extLst>
              <a:ext uri="{FF2B5EF4-FFF2-40B4-BE49-F238E27FC236}">
                <a16:creationId xmlns:a16="http://schemas.microsoft.com/office/drawing/2014/main" id="{35518467-E778-ED69-84C6-2C0F185E3C7E}"/>
              </a:ext>
            </a:extLst>
          </p:cNvPr>
          <p:cNvGraphicFramePr>
            <a:graphicFrameLocks/>
          </p:cNvGraphicFramePr>
          <p:nvPr>
            <p:custDataLst>
              <p:tags r:id="rId1"/>
            </p:custDataLst>
            <p:extLst>
              <p:ext uri="{D42A27DB-BD31-4B8C-83A1-F6EECF244321}">
                <p14:modId xmlns:p14="http://schemas.microsoft.com/office/powerpoint/2010/main" val="1771938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59" name="think-cell data - do not delete" hidden="1">
                        <a:extLst>
                          <a:ext uri="{FF2B5EF4-FFF2-40B4-BE49-F238E27FC236}">
                            <a16:creationId xmlns:a16="http://schemas.microsoft.com/office/drawing/2014/main" id="{35518467-E778-ED69-84C6-2C0F185E3C7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8" name="Title 57">
            <a:extLst>
              <a:ext uri="{FF2B5EF4-FFF2-40B4-BE49-F238E27FC236}">
                <a16:creationId xmlns:a16="http://schemas.microsoft.com/office/drawing/2014/main" id="{79F34AEB-9B2B-5EEF-8719-DFA529D4E3CA}"/>
              </a:ext>
            </a:extLst>
          </p:cNvPr>
          <p:cNvSpPr>
            <a:spLocks noGrp="1"/>
          </p:cNvSpPr>
          <p:nvPr>
            <p:ph type="title"/>
          </p:nvPr>
        </p:nvSpPr>
        <p:spPr>
          <a:xfrm>
            <a:off x="358337" y="338328"/>
            <a:ext cx="11470125" cy="738664"/>
          </a:xfrm>
        </p:spPr>
        <p:txBody>
          <a:bodyPr vert="horz" rIns="0">
            <a:spAutoFit/>
          </a:bodyPr>
          <a:lstStyle/>
          <a:p>
            <a:r>
              <a:rPr lang="en-US" sz="2400"/>
              <a:t>Prioritized evidence gaps: Drive differentiation of BGB-58067 as a brain-penetrant, highly selective and potent PRMT5i (3/4)</a:t>
            </a:r>
          </a:p>
        </p:txBody>
      </p:sp>
      <p:graphicFrame>
        <p:nvGraphicFramePr>
          <p:cNvPr id="3" name="Table 2">
            <a:extLst>
              <a:ext uri="{FF2B5EF4-FFF2-40B4-BE49-F238E27FC236}">
                <a16:creationId xmlns:a16="http://schemas.microsoft.com/office/drawing/2014/main" id="{6D61C6BA-6CC1-032B-A714-0A91F70EE2F4}"/>
              </a:ext>
            </a:extLst>
          </p:cNvPr>
          <p:cNvGraphicFramePr>
            <a:graphicFrameLocks noGrp="1"/>
          </p:cNvGraphicFramePr>
          <p:nvPr>
            <p:extLst>
              <p:ext uri="{D42A27DB-BD31-4B8C-83A1-F6EECF244321}">
                <p14:modId xmlns:p14="http://schemas.microsoft.com/office/powerpoint/2010/main" val="2233861201"/>
              </p:ext>
            </p:extLst>
          </p:nvPr>
        </p:nvGraphicFramePr>
        <p:xfrm>
          <a:off x="362744" y="1554480"/>
          <a:ext cx="11470125" cy="4455700"/>
        </p:xfrm>
        <a:graphic>
          <a:graphicData uri="http://schemas.openxmlformats.org/drawingml/2006/table">
            <a:tbl>
              <a:tblPr bandRow="1">
                <a:tableStyleId>{5C22544A-7EE6-4342-B048-85BDC9FD1C3A}</a:tableStyleId>
              </a:tblPr>
              <a:tblGrid>
                <a:gridCol w="1618456">
                  <a:extLst>
                    <a:ext uri="{9D8B030D-6E8A-4147-A177-3AD203B41FA5}">
                      <a16:colId xmlns:a16="http://schemas.microsoft.com/office/drawing/2014/main" val="1720362591"/>
                    </a:ext>
                  </a:extLst>
                </a:gridCol>
                <a:gridCol w="2647950">
                  <a:extLst>
                    <a:ext uri="{9D8B030D-6E8A-4147-A177-3AD203B41FA5}">
                      <a16:colId xmlns:a16="http://schemas.microsoft.com/office/drawing/2014/main" val="1362236069"/>
                    </a:ext>
                  </a:extLst>
                </a:gridCol>
                <a:gridCol w="3655314">
                  <a:extLst>
                    <a:ext uri="{9D8B030D-6E8A-4147-A177-3AD203B41FA5}">
                      <a16:colId xmlns:a16="http://schemas.microsoft.com/office/drawing/2014/main" val="366937182"/>
                    </a:ext>
                  </a:extLst>
                </a:gridCol>
                <a:gridCol w="3548405">
                  <a:extLst>
                    <a:ext uri="{9D8B030D-6E8A-4147-A177-3AD203B41FA5}">
                      <a16:colId xmlns:a16="http://schemas.microsoft.com/office/drawing/2014/main" val="320023064"/>
                    </a:ext>
                  </a:extLst>
                </a:gridCol>
              </a:tblGrid>
              <a:tr h="274320">
                <a:tc>
                  <a:txBody>
                    <a:bodyPr/>
                    <a:lstStyle/>
                    <a:p>
                      <a:pPr algn="ctr"/>
                      <a:r>
                        <a:rPr lang="en-US" sz="1200" b="1" i="0">
                          <a:solidFill>
                            <a:schemeClr val="bg1"/>
                          </a:solidFill>
                          <a:latin typeface="+mn-lt"/>
                          <a:cs typeface="Poppins" pitchFamily="2" charset="77"/>
                        </a:rPr>
                        <a:t>Gap ID and Priority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sz="1200" b="1" i="0">
                          <a:solidFill>
                            <a:schemeClr val="bg1"/>
                          </a:solidFill>
                          <a:latin typeface="+mn-lt"/>
                          <a:cs typeface="Poppins" pitchFamily="2" charset="77"/>
                        </a:rPr>
                        <a:t>Evidence Gap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sz="1200" b="1" i="0">
                          <a:solidFill>
                            <a:schemeClr val="bg1"/>
                          </a:solidFill>
                          <a:latin typeface="+mn-lt"/>
                          <a:cs typeface="Poppins" pitchFamily="2" charset="77"/>
                        </a:rPr>
                        <a:t>Rationale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sz="1200" b="1" i="0">
                          <a:solidFill>
                            <a:schemeClr val="bg1"/>
                          </a:solidFill>
                          <a:latin typeface="+mn-lt"/>
                          <a:cs typeface="Poppins" pitchFamily="2" charset="77"/>
                        </a:rPr>
                        <a:t>Tactics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323510155"/>
                  </a:ext>
                </a:extLst>
              </a:tr>
              <a:tr h="1253900">
                <a:tc>
                  <a:txBody>
                    <a:bodyPr/>
                    <a:lstStyle/>
                    <a:p>
                      <a:pPr algn="l"/>
                      <a:r>
                        <a:rPr lang="en-US" sz="1100" b="1" i="0">
                          <a:solidFill>
                            <a:schemeClr val="tx1"/>
                          </a:solidFill>
                          <a:latin typeface="+mn-lt"/>
                          <a:cs typeface="Poppins" pitchFamily="2" charset="77"/>
                        </a:rPr>
                        <a:t>NSCLC_HI_03</a:t>
                      </a:r>
                    </a:p>
                    <a:p>
                      <a:pPr algn="l"/>
                      <a:r>
                        <a:rPr lang="en-US" sz="1000" b="0" i="0">
                          <a:solidFill>
                            <a:schemeClr val="tx1"/>
                          </a:solidFill>
                          <a:latin typeface="+mn-lt"/>
                          <a:cs typeface="Poppins" pitchFamily="2" charset="77"/>
                        </a:rPr>
                        <a:t>Efficacy/Safety</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1">
                          <a:solidFill>
                            <a:schemeClr val="tx1"/>
                          </a:solidFill>
                        </a:rPr>
                        <a:t>(1L) </a:t>
                      </a:r>
                      <a:r>
                        <a:rPr lang="en-US" sz="1000" b="0" i="0">
                          <a:solidFill>
                            <a:schemeClr val="tx1"/>
                          </a:solidFill>
                        </a:rPr>
                        <a:t>BGB-58067's efficacy and safety interaction profile when combined with SoC regimens</a:t>
                      </a:r>
                    </a:p>
                    <a:p>
                      <a:pPr algn="l"/>
                      <a:endParaRPr lang="en-US" sz="500" b="0" i="0">
                        <a:solidFill>
                          <a:schemeClr val="tx1"/>
                        </a:solidFill>
                        <a:latin typeface="+mn-lt"/>
                        <a:cs typeface="Poppins" pitchFamily="2" charset="77"/>
                      </a:endParaRPr>
                    </a:p>
                    <a:p>
                      <a:pPr algn="l"/>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  Regulators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Ensures safe integration of BGB-58067 into standard-of-care combinations by defining interaction-driven toxicity risks</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Supports prescriber confidence, proactive safety management, and feasibility of 1L triplet strategies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lvl="0" indent="-171450">
                        <a:spcAft>
                          <a:spcPts val="600"/>
                        </a:spcAft>
                        <a:buClr>
                          <a:srgbClr val="000000"/>
                        </a:buClr>
                        <a:buFont typeface="Arial" panose="020B0604020202020204" pitchFamily="34" charset="0"/>
                        <a:buChar char="•"/>
                      </a:pPr>
                      <a:r>
                        <a:rPr lang="en-US" sz="1000" b="1" i="0" u="none" strike="noStrike" kern="1200" noProof="0">
                          <a:solidFill>
                            <a:schemeClr val="tx1"/>
                          </a:solidFill>
                          <a:effectLst/>
                          <a:latin typeface="+mn-lt"/>
                          <a:ea typeface="+mn-ea"/>
                          <a:cs typeface="Poppins"/>
                          <a:hlinkClick r:id="rId6" action="ppaction://hlinksldjump">
                            <a:extLst>
                              <a:ext uri="{A12FA001-AC4F-418D-AE19-62706E023703}">
                                <ahyp:hlinkClr xmlns:ahyp="http://schemas.microsoft.com/office/drawing/2018/hyperlinkcolor" val="tx"/>
                              </a:ext>
                            </a:extLst>
                          </a:hlinkClick>
                        </a:rPr>
                        <a:t>IIT</a:t>
                      </a:r>
                      <a:r>
                        <a:rPr lang="en-US" sz="1000" b="1" i="0" u="none" strike="noStrike" kern="1200" noProof="0">
                          <a:solidFill>
                            <a:schemeClr val="tx1"/>
                          </a:solidFill>
                          <a:effectLst/>
                          <a:latin typeface="+mn-lt"/>
                          <a:ea typeface="+mn-ea"/>
                          <a:cs typeface="Poppins"/>
                          <a:hlinkClick r:id="rId7" action="ppaction://hlinksldjump">
                            <a:extLst>
                              <a:ext uri="{A12FA001-AC4F-418D-AE19-62706E023703}">
                                <ahyp:hlinkClr xmlns:ahyp="http://schemas.microsoft.com/office/drawing/2018/hyperlinkcolor" val="tx"/>
                              </a:ext>
                            </a:extLst>
                          </a:hlinkClick>
                        </a:rPr>
                        <a:t>: </a:t>
                      </a:r>
                      <a:r>
                        <a:rPr lang="en-US" sz="1000" b="0" i="0" u="none" strike="noStrike" kern="1200" noProof="0">
                          <a:solidFill>
                            <a:schemeClr val="tx1"/>
                          </a:solidFill>
                          <a:effectLst/>
                          <a:latin typeface="+mn-lt"/>
                          <a:ea typeface="+mn-ea"/>
                          <a:cs typeface="Poppins"/>
                        </a:rPr>
                        <a:t>Exploring combinations with priority SoC regimens beyond the CDP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74479344"/>
                  </a:ext>
                </a:extLst>
              </a:tr>
              <a:tr h="1253900">
                <a:tc>
                  <a:txBody>
                    <a:bodyPr/>
                    <a:lstStyle/>
                    <a:p>
                      <a:pPr algn="l"/>
                      <a:r>
                        <a:rPr lang="en-US" sz="1100" b="1" i="0">
                          <a:solidFill>
                            <a:schemeClr val="tx1"/>
                          </a:solidFill>
                          <a:latin typeface="+mn-lt"/>
                          <a:cs typeface="Poppins" pitchFamily="2" charset="77"/>
                        </a:rPr>
                        <a:t>NSCLC_HI_04</a:t>
                      </a:r>
                    </a:p>
                    <a:p>
                      <a:pPr algn="l"/>
                      <a:r>
                        <a:rPr lang="en-US" sz="1000" b="0" i="0">
                          <a:solidFill>
                            <a:schemeClr val="tx1"/>
                          </a:solidFill>
                          <a:latin typeface="+mn-lt"/>
                          <a:cs typeface="Poppins" pitchFamily="2" charset="77"/>
                        </a:rPr>
                        <a:t>Efficacy/Safety</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l" defTabSz="914400" rtl="0" eaLnBrk="1" fontAlgn="auto" latinLnBrk="0" hangingPunct="1">
                        <a:lnSpc>
                          <a:spcPct val="100000"/>
                        </a:lnSpc>
                        <a:spcBef>
                          <a:spcPts val="0"/>
                        </a:spcBef>
                        <a:spcAft>
                          <a:spcPts val="500"/>
                        </a:spcAft>
                        <a:buClrTx/>
                        <a:buSzTx/>
                        <a:buFontTx/>
                        <a:buNone/>
                        <a:tabLst/>
                        <a:defRPr/>
                      </a:pPr>
                      <a:r>
                        <a:rPr lang="en-US" sz="1000" b="0" i="1">
                          <a:solidFill>
                            <a:schemeClr val="tx1"/>
                          </a:solidFill>
                        </a:rPr>
                        <a:t>(1L and 2L+) </a:t>
                      </a:r>
                      <a:r>
                        <a:rPr lang="en-US" sz="1000" b="0" i="0">
                          <a:solidFill>
                            <a:schemeClr val="tx1"/>
                          </a:solidFill>
                        </a:rPr>
                        <a:t>BGB-58067's clinical efficacy and safety across  prespecified subgroups (i.e., patient race/ ethnicity (White, Black, Asian), PD-L1, histology, and geographies (e.g., Japan), lines of therapy (2L+ only)) </a:t>
                      </a:r>
                      <a:endParaRPr lang="en-US" sz="500" b="0" i="0">
                        <a:solidFill>
                          <a:schemeClr val="tx1"/>
                        </a:solidFill>
                        <a:latin typeface="+mn-lt"/>
                        <a:cs typeface="Poppins" pitchFamily="2" charset="77"/>
                      </a:endParaRPr>
                    </a:p>
                    <a:p>
                      <a:pPr algn="l"/>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  Regulators  Patients and PAGs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Evaluates consistency of BGB-58067 clinical benefit and safety across diverse racial and ethnic populations to support global regulatory approval, HTA acceptance, and generalizability of trial outcomes across regions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171450" lvl="0" indent="-171450">
                        <a:spcAft>
                          <a:spcPts val="600"/>
                        </a:spcAft>
                        <a:buClr>
                          <a:srgbClr val="000000"/>
                        </a:buClr>
                        <a:buFont typeface="Arial" panose="020B0604020202020204" pitchFamily="34" charset="0"/>
                        <a:buChar char="•"/>
                      </a:pPr>
                      <a:r>
                        <a:rPr lang="en-US" sz="1000" b="1" i="0" u="none" strike="noStrike" kern="1200" noProof="0">
                          <a:solidFill>
                            <a:schemeClr val="tx1"/>
                          </a:solidFill>
                          <a:effectLst/>
                          <a:latin typeface="+mn-lt"/>
                          <a:ea typeface="+mn-ea"/>
                          <a:cs typeface="Poppins"/>
                          <a:hlinkClick r:id="rId8" action="ppaction://hlinksldjump">
                            <a:extLst>
                              <a:ext uri="{A12FA001-AC4F-418D-AE19-62706E023703}">
                                <ahyp:hlinkClr xmlns:ahyp="http://schemas.microsoft.com/office/drawing/2018/hyperlinkcolor" val="tx"/>
                              </a:ext>
                            </a:extLst>
                          </a:hlinkClick>
                        </a:rPr>
                        <a:t>Post-hoc analysis</a:t>
                      </a:r>
                      <a:r>
                        <a:rPr lang="en-US" sz="1000" b="1" i="0" u="none" strike="noStrike" kern="1200" noProof="0">
                          <a:solidFill>
                            <a:schemeClr val="tx1"/>
                          </a:solidFill>
                          <a:effectLst/>
                          <a:latin typeface="+mn-lt"/>
                          <a:ea typeface="+mn-ea"/>
                          <a:cs typeface="Poppins"/>
                        </a:rPr>
                        <a:t>: </a:t>
                      </a:r>
                      <a:r>
                        <a:rPr lang="en-US" sz="1000" b="0" i="0" u="none" strike="noStrike" kern="1200" noProof="0">
                          <a:solidFill>
                            <a:schemeClr val="tx1"/>
                          </a:solidFill>
                          <a:effectLst/>
                          <a:latin typeface="+mn-lt"/>
                          <a:ea typeface="+mn-ea"/>
                          <a:cs typeface="Poppins"/>
                        </a:rPr>
                        <a:t>Treatment effect across subgroups</a:t>
                      </a:r>
                    </a:p>
                    <a:p>
                      <a:pPr marL="171450" lvl="0" indent="-171450">
                        <a:spcAft>
                          <a:spcPts val="600"/>
                        </a:spcAft>
                        <a:buClr>
                          <a:srgbClr val="000000"/>
                        </a:buClr>
                        <a:buFont typeface="Arial" panose="020B0604020202020204" pitchFamily="34" charset="0"/>
                        <a:buChar char="•"/>
                      </a:pPr>
                      <a:r>
                        <a:rPr lang="en-US" sz="1000" b="1" i="0" u="none" strike="noStrike" kern="1200" noProof="0">
                          <a:solidFill>
                            <a:schemeClr val="tx1"/>
                          </a:solidFill>
                          <a:effectLst/>
                          <a:latin typeface="+mn-lt"/>
                          <a:ea typeface="+mn-ea"/>
                          <a:cs typeface="Poppins"/>
                          <a:hlinkClick r:id="rId9" action="ppaction://hlinksldjump">
                            <a:extLst>
                              <a:ext uri="{A12FA001-AC4F-418D-AE19-62706E023703}">
                                <ahyp:hlinkClr xmlns:ahyp="http://schemas.microsoft.com/office/drawing/2018/hyperlinkcolor" val="tx"/>
                              </a:ext>
                            </a:extLst>
                          </a:hlinkClick>
                        </a:rPr>
                        <a:t>Bridging study</a:t>
                      </a:r>
                      <a:r>
                        <a:rPr lang="en-US" sz="1000" b="1" i="0" u="none" strike="noStrike" kern="1200" noProof="0">
                          <a:solidFill>
                            <a:schemeClr val="tx1"/>
                          </a:solidFill>
                          <a:effectLst/>
                          <a:latin typeface="+mn-lt"/>
                          <a:ea typeface="+mn-ea"/>
                          <a:cs typeface="Poppins"/>
                          <a:hlinkClick r:id="rId10" action="ppaction://hlinksldjump">
                            <a:extLst>
                              <a:ext uri="{A12FA001-AC4F-418D-AE19-62706E023703}">
                                <ahyp:hlinkClr xmlns:ahyp="http://schemas.microsoft.com/office/drawing/2018/hyperlinkcolor" val="tx"/>
                              </a:ext>
                            </a:extLst>
                          </a:hlinkClick>
                        </a:rPr>
                        <a:t>: </a:t>
                      </a:r>
                      <a:r>
                        <a:rPr lang="en-US" sz="1000" b="0" i="0" u="none" strike="noStrike" kern="1200" noProof="0">
                          <a:solidFill>
                            <a:schemeClr val="tx1"/>
                          </a:solidFill>
                          <a:effectLst/>
                          <a:latin typeface="+mn-lt"/>
                          <a:ea typeface="+mn-ea"/>
                          <a:cs typeface="Poppins"/>
                        </a:rPr>
                        <a:t>Regional expansion cohorts or bridging studies in key geographies</a:t>
                      </a:r>
                    </a:p>
                    <a:p>
                      <a:pPr marL="171450" lvl="0" indent="-171450">
                        <a:spcAft>
                          <a:spcPts val="600"/>
                        </a:spcAft>
                        <a:buClr>
                          <a:srgbClr val="000000"/>
                        </a:buClr>
                        <a:buFont typeface="Arial" panose="020B0604020202020204" pitchFamily="34" charset="0"/>
                        <a:buChar char="•"/>
                      </a:pPr>
                      <a:r>
                        <a:rPr lang="en-US" sz="1000" b="1" i="0" u="none" strike="noStrike" kern="1200" noProof="0">
                          <a:solidFill>
                            <a:schemeClr val="tx1"/>
                          </a:solidFill>
                          <a:effectLst/>
                          <a:latin typeface="+mn-lt"/>
                          <a:ea typeface="+mn-ea"/>
                          <a:cs typeface="Poppins"/>
                          <a:hlinkClick r:id="rId11" action="ppaction://hlinksldjump">
                            <a:extLst>
                              <a:ext uri="{A12FA001-AC4F-418D-AE19-62706E023703}">
                                <ahyp:hlinkClr xmlns:ahyp="http://schemas.microsoft.com/office/drawing/2018/hyperlinkcolor" val="tx"/>
                              </a:ext>
                            </a:extLst>
                          </a:hlinkClick>
                        </a:rPr>
                        <a:t>IIT</a:t>
                      </a:r>
                      <a:r>
                        <a:rPr lang="en-US" sz="1000" b="1" i="0" u="none" strike="noStrike" kern="1200" noProof="0">
                          <a:solidFill>
                            <a:schemeClr val="tx1"/>
                          </a:solidFill>
                          <a:effectLst/>
                          <a:latin typeface="+mn-lt"/>
                          <a:ea typeface="+mn-ea"/>
                          <a:cs typeface="Poppins"/>
                          <a:hlinkClick r:id="" action="ppaction://noaction">
                            <a:extLst>
                              <a:ext uri="{A12FA001-AC4F-418D-AE19-62706E023703}">
                                <ahyp:hlinkClr xmlns:ahyp="http://schemas.microsoft.com/office/drawing/2018/hyperlinkcolor" val="tx"/>
                              </a:ext>
                            </a:extLst>
                          </a:hlinkClick>
                        </a:rPr>
                        <a:t>:  </a:t>
                      </a:r>
                      <a:r>
                        <a:rPr lang="en-US" sz="1000" b="0" i="0" u="none" strike="noStrike" kern="1200" noProof="0">
                          <a:solidFill>
                            <a:schemeClr val="tx1"/>
                          </a:solidFill>
                          <a:effectLst/>
                          <a:latin typeface="+mn-lt"/>
                          <a:ea typeface="+mn-ea"/>
                          <a:cs typeface="Poppins"/>
                        </a:rPr>
                        <a:t>Priority or underrepresented subgroups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523614853"/>
                  </a:ext>
                </a:extLst>
              </a:tr>
              <a:tr h="1253900">
                <a:tc>
                  <a:txBody>
                    <a:bodyPr/>
                    <a:lstStyle/>
                    <a:p>
                      <a:pPr algn="l"/>
                      <a:r>
                        <a:rPr lang="en-US" sz="1100" b="1" i="0">
                          <a:solidFill>
                            <a:schemeClr val="tx1"/>
                          </a:solidFill>
                          <a:latin typeface="+mn-lt"/>
                          <a:cs typeface="Poppins" pitchFamily="2" charset="77"/>
                        </a:rPr>
                        <a:t>NSCLC_HI_05</a:t>
                      </a:r>
                    </a:p>
                    <a:p>
                      <a:pPr algn="l"/>
                      <a:r>
                        <a:rPr lang="en-US" sz="1000" b="0" i="0">
                          <a:solidFill>
                            <a:schemeClr val="tx1"/>
                          </a:solidFill>
                          <a:latin typeface="+mn-lt"/>
                          <a:cs typeface="Poppins" pitchFamily="2" charset="77"/>
                        </a:rPr>
                        <a:t>Efficacy/Safety</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500"/>
                        </a:spcAft>
                        <a:buClrTx/>
                        <a:buSzTx/>
                        <a:buFontTx/>
                        <a:buNone/>
                        <a:tabLst/>
                        <a:defRPr/>
                      </a:pPr>
                      <a:r>
                        <a:rPr lang="en-US" sz="1000" b="0" i="1">
                          <a:solidFill>
                            <a:schemeClr val="tx1"/>
                          </a:solidFill>
                        </a:rPr>
                        <a:t>(1L and 2L+) </a:t>
                      </a:r>
                      <a:r>
                        <a:rPr lang="en-US" sz="1000" b="0" i="0">
                          <a:solidFill>
                            <a:schemeClr val="tx1"/>
                          </a:solidFill>
                        </a:rPr>
                        <a:t>BGB-58067's efficacy and toxicity profile in MTAP-del population compared to emerging MTA-cooperative PRMT5i and other potential SoC</a:t>
                      </a:r>
                      <a:endParaRPr lang="en-US" sz="500" b="0" i="0">
                        <a:solidFill>
                          <a:schemeClr val="tx1"/>
                        </a:solidFill>
                        <a:latin typeface="+mn-lt"/>
                        <a:cs typeface="Poppins" pitchFamily="2" charset="77"/>
                      </a:endParaRPr>
                    </a:p>
                    <a:p>
                      <a:pPr algn="l"/>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  Regulators  Patients and PAGs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Ensures competitive advantage and market positioning as the treatment landscape evolves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lvl="0" indent="-171450">
                        <a:spcAft>
                          <a:spcPts val="300"/>
                        </a:spcAft>
                        <a:buClr>
                          <a:srgbClr val="000000"/>
                        </a:buClr>
                        <a:buFont typeface="Arial" panose="020B0604020202020204" pitchFamily="34" charset="0"/>
                        <a:buChar char="•"/>
                      </a:pPr>
                      <a:r>
                        <a:rPr lang="en-US" sz="1000" b="1" i="0" u="none" strike="noStrike" kern="1200" noProof="0">
                          <a:solidFill>
                            <a:schemeClr val="tx1"/>
                          </a:solidFill>
                          <a:effectLst/>
                          <a:latin typeface="+mn-lt"/>
                          <a:ea typeface="+mn-ea"/>
                          <a:cs typeface="Poppins"/>
                          <a:hlinkClick r:id="rId12" action="ppaction://hlinksldjump">
                            <a:extLst>
                              <a:ext uri="{A12FA001-AC4F-418D-AE19-62706E023703}">
                                <ahyp:hlinkClr xmlns:ahyp="http://schemas.microsoft.com/office/drawing/2018/hyperlinkcolor" val="tx"/>
                              </a:ext>
                            </a:extLst>
                          </a:hlinkClick>
                        </a:rPr>
                        <a:t>SL</a:t>
                      </a:r>
                      <a:r>
                        <a:rPr lang="en-US" sz="1000" b="1" i="0" u="none" strike="noStrike" kern="1200" noProof="0">
                          <a:solidFill>
                            <a:schemeClr val="accent3"/>
                          </a:solidFill>
                          <a:effectLst/>
                          <a:latin typeface="+mn-lt"/>
                          <a:ea typeface="+mn-ea"/>
                          <a:cs typeface="Poppins"/>
                          <a:hlinkClick r:id="rId12" action="ppaction://hlinksldjump">
                            <a:extLst>
                              <a:ext uri="{A12FA001-AC4F-418D-AE19-62706E023703}">
                                <ahyp:hlinkClr xmlns:ahyp="http://schemas.microsoft.com/office/drawing/2018/hyperlinkcolor" val="tx"/>
                              </a:ext>
                            </a:extLst>
                          </a:hlinkClick>
                        </a:rPr>
                        <a:t>R:</a:t>
                      </a:r>
                      <a:r>
                        <a:rPr lang="en-US" sz="1000" b="1" i="0" u="none" strike="noStrike" kern="1200" noProof="0">
                          <a:solidFill>
                            <a:schemeClr val="accent3"/>
                          </a:solidFill>
                          <a:effectLst/>
                          <a:latin typeface="+mn-lt"/>
                          <a:ea typeface="+mn-ea"/>
                          <a:cs typeface="Poppins"/>
                        </a:rPr>
                        <a:t> </a:t>
                      </a:r>
                      <a:r>
                        <a:rPr lang="en-US" sz="1000" b="0" i="0" u="none" strike="noStrike" kern="1200" noProof="0">
                          <a:solidFill>
                            <a:schemeClr val="tx1"/>
                          </a:solidFill>
                          <a:effectLst/>
                          <a:latin typeface="+mn-lt"/>
                          <a:ea typeface="+mn-ea"/>
                          <a:cs typeface="Poppins"/>
                        </a:rPr>
                        <a:t>Capturing</a:t>
                      </a:r>
                      <a:r>
                        <a:rPr lang="en-US" sz="1000" b="0">
                          <a:solidFill>
                            <a:schemeClr val="tx1"/>
                          </a:solidFill>
                          <a:latin typeface="+mn-lt"/>
                        </a:rPr>
                        <a:t> efficacy, safety and QoL/value data to feed into the ITC</a:t>
                      </a:r>
                      <a:endParaRPr lang="en-US" sz="1000" b="1" i="0" u="none" strike="noStrike" kern="1200" noProof="0">
                        <a:solidFill>
                          <a:schemeClr val="tx1"/>
                        </a:solidFill>
                        <a:effectLst/>
                        <a:latin typeface="+mn-lt"/>
                        <a:ea typeface="+mn-ea"/>
                        <a:cs typeface="Poppins"/>
                        <a:hlinkClick r:id="rId13" action="ppaction://hlinksldjump">
                          <a:extLst>
                            <a:ext uri="{A12FA001-AC4F-418D-AE19-62706E023703}">
                              <ahyp:hlinkClr xmlns:ahyp="http://schemas.microsoft.com/office/drawing/2018/hyperlinkcolor" val="tx"/>
                            </a:ext>
                          </a:extLst>
                        </a:hlinkClick>
                      </a:endParaRPr>
                    </a:p>
                    <a:p>
                      <a:pPr marL="171450" lvl="0" indent="-171450">
                        <a:spcAft>
                          <a:spcPts val="300"/>
                        </a:spcAft>
                        <a:buClr>
                          <a:srgbClr val="000000"/>
                        </a:buClr>
                        <a:buFont typeface="Arial" panose="020B0604020202020204" pitchFamily="34" charset="0"/>
                        <a:buChar char="•"/>
                      </a:pPr>
                      <a:r>
                        <a:rPr lang="en-US" sz="1000" b="1" i="0" u="none" strike="noStrike" kern="1200" noProof="0">
                          <a:solidFill>
                            <a:schemeClr val="tx1"/>
                          </a:solidFill>
                          <a:effectLst/>
                          <a:latin typeface="+mn-lt"/>
                          <a:ea typeface="+mn-ea"/>
                          <a:cs typeface="Poppins"/>
                          <a:hlinkClick r:id="rId14" action="ppaction://hlinksldjump">
                            <a:extLst>
                              <a:ext uri="{A12FA001-AC4F-418D-AE19-62706E023703}">
                                <ahyp:hlinkClr xmlns:ahyp="http://schemas.microsoft.com/office/drawing/2018/hyperlinkcolor" val="tx"/>
                              </a:ext>
                            </a:extLst>
                          </a:hlinkClick>
                        </a:rPr>
                        <a:t>ITC</a:t>
                      </a:r>
                      <a:r>
                        <a:rPr lang="en-US" sz="1000" b="1" i="0" u="none" strike="noStrike" kern="1200" noProof="0">
                          <a:solidFill>
                            <a:schemeClr val="tx1"/>
                          </a:solidFill>
                          <a:effectLst/>
                          <a:latin typeface="+mn-lt"/>
                          <a:ea typeface="+mn-ea"/>
                          <a:cs typeface="Poppins"/>
                        </a:rPr>
                        <a:t>: </a:t>
                      </a:r>
                      <a:r>
                        <a:rPr lang="en-US" sz="1000" b="0" i="0" u="none" strike="noStrike" kern="1200" noProof="0">
                          <a:solidFill>
                            <a:schemeClr val="tx1"/>
                          </a:solidFill>
                          <a:effectLst/>
                          <a:latin typeface="+mn-lt"/>
                          <a:ea typeface="+mn-ea"/>
                          <a:cs typeface="Poppins"/>
                        </a:rPr>
                        <a:t>Efficacy, safety, and QoL/value data to support an unanchored MAIC/STC model</a:t>
                      </a:r>
                    </a:p>
                    <a:p>
                      <a:pPr marL="171450" marR="0" lvl="0" indent="-171450" algn="l" defTabSz="914400"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defRPr/>
                      </a:pPr>
                      <a:r>
                        <a:rPr lang="en-US" sz="1000" b="1" i="0" u="none" strike="noStrike" kern="1200" noProof="0">
                          <a:solidFill>
                            <a:schemeClr val="tx1"/>
                          </a:solidFill>
                          <a:effectLst/>
                          <a:latin typeface="+mn-lt"/>
                          <a:ea typeface="+mn-ea"/>
                          <a:cs typeface="Poppins"/>
                          <a:hlinkClick r:id="rId15" action="ppaction://hlinksldjump">
                            <a:extLst>
                              <a:ext uri="{A12FA001-AC4F-418D-AE19-62706E023703}">
                                <ahyp:hlinkClr xmlns:ahyp="http://schemas.microsoft.com/office/drawing/2018/hyperlinkcolor" val="tx"/>
                              </a:ext>
                            </a:extLst>
                          </a:hlinkClick>
                        </a:rPr>
                        <a:t>RWE</a:t>
                      </a:r>
                      <a:r>
                        <a:rPr lang="en-US" sz="1000" b="1" i="0" u="none" strike="noStrike" kern="1200" noProof="0">
                          <a:solidFill>
                            <a:schemeClr val="tx1"/>
                          </a:solidFill>
                          <a:effectLst/>
                          <a:latin typeface="+mn-lt"/>
                          <a:ea typeface="+mn-ea"/>
                          <a:cs typeface="Poppins"/>
                        </a:rPr>
                        <a:t>:</a:t>
                      </a:r>
                      <a:r>
                        <a:rPr lang="en-US" sz="1000" b="0" i="0" u="none" strike="noStrike" kern="1200" noProof="0">
                          <a:solidFill>
                            <a:schemeClr val="tx1"/>
                          </a:solidFill>
                          <a:effectLst/>
                          <a:latin typeface="+mn-lt"/>
                          <a:ea typeface="+mn-ea"/>
                          <a:cs typeface="Poppins"/>
                        </a:rPr>
                        <a:t> Prospective comparative registry or post-marketing observational study on safety and effectiveness </a:t>
                      </a:r>
                    </a:p>
                    <a:p>
                      <a:pPr marL="171450" marR="0" lvl="0" indent="-171450" algn="l" defTabSz="914400"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defRPr/>
                      </a:pPr>
                      <a:r>
                        <a:rPr lang="en-US" sz="1000" b="1" i="0" u="none" strike="noStrike" kern="1200" noProof="0">
                          <a:solidFill>
                            <a:schemeClr val="tx1"/>
                          </a:solidFill>
                          <a:effectLst/>
                          <a:latin typeface="+mn-lt"/>
                          <a:ea typeface="+mn-ea"/>
                          <a:cs typeface="Poppins"/>
                          <a:hlinkClick r:id="rId9" action="ppaction://hlinksldjump">
                            <a:extLst>
                              <a:ext uri="{A12FA001-AC4F-418D-AE19-62706E023703}">
                                <ahyp:hlinkClr xmlns:ahyp="http://schemas.microsoft.com/office/drawing/2018/hyperlinkcolor" val="tx"/>
                              </a:ext>
                            </a:extLst>
                          </a:hlinkClick>
                        </a:rPr>
                        <a:t>IIT</a:t>
                      </a:r>
                      <a:r>
                        <a:rPr lang="en-US" sz="1000" b="1" i="0" u="none" strike="noStrike" kern="1200" noProof="0">
                          <a:solidFill>
                            <a:schemeClr val="tx1"/>
                          </a:solidFill>
                          <a:effectLst/>
                          <a:latin typeface="+mn-lt"/>
                          <a:ea typeface="+mn-ea"/>
                          <a:cs typeface="Poppins"/>
                          <a:hlinkClick r:id="rId10" action="ppaction://hlinksldjump">
                            <a:extLst>
                              <a:ext uri="{A12FA001-AC4F-418D-AE19-62706E023703}">
                                <ahyp:hlinkClr xmlns:ahyp="http://schemas.microsoft.com/office/drawing/2018/hyperlinkcolor" val="tx"/>
                              </a:ext>
                            </a:extLst>
                          </a:hlinkClick>
                        </a:rPr>
                        <a:t>: </a:t>
                      </a:r>
                      <a:r>
                        <a:rPr lang="en-US" sz="1000" b="0" i="0" u="none" strike="noStrike" kern="1200" noProof="0">
                          <a:solidFill>
                            <a:schemeClr val="tx1"/>
                          </a:solidFill>
                          <a:effectLst/>
                          <a:latin typeface="+mn-lt"/>
                          <a:ea typeface="+mn-ea"/>
                          <a:cs typeface="Poppins"/>
                        </a:rPr>
                        <a:t>Comparative safety and efficacy vs. emerging therapies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169709934"/>
                  </a:ext>
                </a:extLst>
              </a:tr>
            </a:tbl>
          </a:graphicData>
        </a:graphic>
      </p:graphicFrame>
      <p:sp>
        <p:nvSpPr>
          <p:cNvPr id="2" name="Rounded Rectangle 26">
            <a:extLst>
              <a:ext uri="{FF2B5EF4-FFF2-40B4-BE49-F238E27FC236}">
                <a16:creationId xmlns:a16="http://schemas.microsoft.com/office/drawing/2014/main" id="{73C00455-27E5-E189-1D32-AAE089D9C46C}"/>
              </a:ext>
            </a:extLst>
          </p:cNvPr>
          <p:cNvSpPr/>
          <p:nvPr/>
        </p:nvSpPr>
        <p:spPr>
          <a:xfrm>
            <a:off x="434537" y="2670432"/>
            <a:ext cx="860863" cy="210024"/>
          </a:xfrm>
          <a:prstGeom prst="roundRect">
            <a:avLst>
              <a:gd name="adj" fmla="val 6677"/>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1"/>
                </a:solidFill>
                <a:effectLst/>
                <a:uLnTx/>
                <a:uFillTx/>
                <a:latin typeface="Poppins" pitchFamily="2" charset="77"/>
                <a:cs typeface="Poppins" pitchFamily="2" charset="77"/>
              </a:rPr>
              <a:t>High</a:t>
            </a:r>
          </a:p>
        </p:txBody>
      </p:sp>
      <p:sp>
        <p:nvSpPr>
          <p:cNvPr id="11" name="Oval 10">
            <a:extLst>
              <a:ext uri="{FF2B5EF4-FFF2-40B4-BE49-F238E27FC236}">
                <a16:creationId xmlns:a16="http://schemas.microsoft.com/office/drawing/2014/main" id="{A4C487E7-8858-CC46-B1E4-59BF6207978A}"/>
              </a:ext>
            </a:extLst>
          </p:cNvPr>
          <p:cNvSpPr/>
          <p:nvPr/>
        </p:nvSpPr>
        <p:spPr>
          <a:xfrm>
            <a:off x="8344220" y="2315990"/>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12" name="Oval 11">
            <a:extLst>
              <a:ext uri="{FF2B5EF4-FFF2-40B4-BE49-F238E27FC236}">
                <a16:creationId xmlns:a16="http://schemas.microsoft.com/office/drawing/2014/main" id="{62967721-BE96-7ECB-C6B2-9A5B5AC5D97B}"/>
              </a:ext>
            </a:extLst>
          </p:cNvPr>
          <p:cNvSpPr/>
          <p:nvPr/>
        </p:nvSpPr>
        <p:spPr>
          <a:xfrm>
            <a:off x="8344220" y="3312217"/>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13" name="Oval 12">
            <a:extLst>
              <a:ext uri="{FF2B5EF4-FFF2-40B4-BE49-F238E27FC236}">
                <a16:creationId xmlns:a16="http://schemas.microsoft.com/office/drawing/2014/main" id="{BE9215FE-2043-35BD-4BC4-045D33DE7E99}"/>
              </a:ext>
            </a:extLst>
          </p:cNvPr>
          <p:cNvSpPr/>
          <p:nvPr/>
        </p:nvSpPr>
        <p:spPr>
          <a:xfrm>
            <a:off x="8344220" y="3708197"/>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14" name="Oval 13">
            <a:extLst>
              <a:ext uri="{FF2B5EF4-FFF2-40B4-BE49-F238E27FC236}">
                <a16:creationId xmlns:a16="http://schemas.microsoft.com/office/drawing/2014/main" id="{FBE9AD0C-136A-FCF1-126B-022479E69DCE}"/>
              </a:ext>
            </a:extLst>
          </p:cNvPr>
          <p:cNvSpPr/>
          <p:nvPr/>
        </p:nvSpPr>
        <p:spPr>
          <a:xfrm>
            <a:off x="8344220" y="4076881"/>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15" name="Rounded Rectangle 26">
            <a:extLst>
              <a:ext uri="{FF2B5EF4-FFF2-40B4-BE49-F238E27FC236}">
                <a16:creationId xmlns:a16="http://schemas.microsoft.com/office/drawing/2014/main" id="{444377A1-012E-C753-43F9-AE3ED6ADF6CB}"/>
              </a:ext>
            </a:extLst>
          </p:cNvPr>
          <p:cNvSpPr/>
          <p:nvPr/>
        </p:nvSpPr>
        <p:spPr>
          <a:xfrm>
            <a:off x="434537" y="3978107"/>
            <a:ext cx="860863" cy="210024"/>
          </a:xfrm>
          <a:prstGeom prst="roundRect">
            <a:avLst>
              <a:gd name="adj" fmla="val 6677"/>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1"/>
                </a:solidFill>
                <a:effectLst/>
                <a:uLnTx/>
                <a:uFillTx/>
                <a:latin typeface="Poppins" pitchFamily="2" charset="77"/>
                <a:cs typeface="Poppins" pitchFamily="2" charset="77"/>
              </a:rPr>
              <a:t>High</a:t>
            </a:r>
          </a:p>
        </p:txBody>
      </p:sp>
      <p:sp>
        <p:nvSpPr>
          <p:cNvPr id="16" name="Rounded Rectangle 26">
            <a:extLst>
              <a:ext uri="{FF2B5EF4-FFF2-40B4-BE49-F238E27FC236}">
                <a16:creationId xmlns:a16="http://schemas.microsoft.com/office/drawing/2014/main" id="{6FBBDA32-1BE5-12B9-7B02-6FB22E2C03FB}"/>
              </a:ext>
            </a:extLst>
          </p:cNvPr>
          <p:cNvSpPr/>
          <p:nvPr/>
        </p:nvSpPr>
        <p:spPr>
          <a:xfrm>
            <a:off x="434537" y="5434378"/>
            <a:ext cx="860863" cy="210024"/>
          </a:xfrm>
          <a:prstGeom prst="roundRect">
            <a:avLst>
              <a:gd name="adj" fmla="val 6677"/>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1"/>
                </a:solidFill>
                <a:effectLst/>
                <a:uLnTx/>
                <a:uFillTx/>
                <a:latin typeface="Poppins" pitchFamily="2" charset="77"/>
                <a:cs typeface="Poppins" pitchFamily="2" charset="77"/>
              </a:rPr>
              <a:t>High</a:t>
            </a:r>
          </a:p>
        </p:txBody>
      </p:sp>
      <p:sp>
        <p:nvSpPr>
          <p:cNvPr id="43" name="Rectangle 42">
            <a:extLst>
              <a:ext uri="{FF2B5EF4-FFF2-40B4-BE49-F238E27FC236}">
                <a16:creationId xmlns:a16="http://schemas.microsoft.com/office/drawing/2014/main" id="{B41418E7-74D7-8AD5-7922-4343BB10A414}"/>
              </a:ext>
            </a:extLst>
          </p:cNvPr>
          <p:cNvSpPr/>
          <p:nvPr/>
        </p:nvSpPr>
        <p:spPr>
          <a:xfrm>
            <a:off x="371289" y="1259201"/>
            <a:ext cx="2520000" cy="167267"/>
          </a:xfrm>
          <a:prstGeom prst="rect">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1: Differentiation</a:t>
            </a:r>
          </a:p>
        </p:txBody>
      </p:sp>
      <p:sp>
        <p:nvSpPr>
          <p:cNvPr id="44" name="Rectangle 43">
            <a:extLst>
              <a:ext uri="{FF2B5EF4-FFF2-40B4-BE49-F238E27FC236}">
                <a16:creationId xmlns:a16="http://schemas.microsoft.com/office/drawing/2014/main" id="{7046FD46-83A6-E00F-E97E-F58D3BB255CE}"/>
              </a:ext>
            </a:extLst>
          </p:cNvPr>
          <p:cNvSpPr/>
          <p:nvPr/>
        </p:nvSpPr>
        <p:spPr>
          <a:xfrm>
            <a:off x="2940417"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2</a:t>
            </a:r>
          </a:p>
        </p:txBody>
      </p:sp>
      <p:sp>
        <p:nvSpPr>
          <p:cNvPr id="45" name="Rectangle 44">
            <a:extLst>
              <a:ext uri="{FF2B5EF4-FFF2-40B4-BE49-F238E27FC236}">
                <a16:creationId xmlns:a16="http://schemas.microsoft.com/office/drawing/2014/main" id="{8D147372-A751-9ED9-6C11-F2323381BC56}"/>
              </a:ext>
            </a:extLst>
          </p:cNvPr>
          <p:cNvSpPr/>
          <p:nvPr/>
        </p:nvSpPr>
        <p:spPr>
          <a:xfrm>
            <a:off x="3745545"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3</a:t>
            </a:r>
          </a:p>
        </p:txBody>
      </p:sp>
      <p:sp>
        <p:nvSpPr>
          <p:cNvPr id="49" name="Rectangle 48">
            <a:extLst>
              <a:ext uri="{FF2B5EF4-FFF2-40B4-BE49-F238E27FC236}">
                <a16:creationId xmlns:a16="http://schemas.microsoft.com/office/drawing/2014/main" id="{E8017E30-8FA2-9DA7-EC19-F17245C19A3F}"/>
              </a:ext>
            </a:extLst>
          </p:cNvPr>
          <p:cNvSpPr/>
          <p:nvPr/>
        </p:nvSpPr>
        <p:spPr>
          <a:xfrm>
            <a:off x="4550674"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4</a:t>
            </a:r>
          </a:p>
        </p:txBody>
      </p:sp>
      <p:grpSp>
        <p:nvGrpSpPr>
          <p:cNvPr id="60" name="Group 59">
            <a:extLst>
              <a:ext uri="{FF2B5EF4-FFF2-40B4-BE49-F238E27FC236}">
                <a16:creationId xmlns:a16="http://schemas.microsoft.com/office/drawing/2014/main" id="{B369A5C1-C272-C0A3-3ED4-9F9CC218412C}"/>
              </a:ext>
            </a:extLst>
          </p:cNvPr>
          <p:cNvGrpSpPr/>
          <p:nvPr/>
        </p:nvGrpSpPr>
        <p:grpSpPr>
          <a:xfrm>
            <a:off x="9588863" y="1238928"/>
            <a:ext cx="2240393" cy="363842"/>
            <a:chOff x="9746021" y="1221639"/>
            <a:chExt cx="2240393" cy="363842"/>
          </a:xfrm>
        </p:grpSpPr>
        <p:sp>
          <p:nvSpPr>
            <p:cNvPr id="61" name="Rectangle 60">
              <a:extLst>
                <a:ext uri="{FF2B5EF4-FFF2-40B4-BE49-F238E27FC236}">
                  <a16:creationId xmlns:a16="http://schemas.microsoft.com/office/drawing/2014/main" id="{CE720195-C13A-78FF-EB78-428D5EAD442E}"/>
                </a:ext>
              </a:extLst>
            </p:cNvPr>
            <p:cNvSpPr/>
            <p:nvPr/>
          </p:nvSpPr>
          <p:spPr>
            <a:xfrm>
              <a:off x="9852837" y="1221639"/>
              <a:ext cx="2133577" cy="3638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800">
                  <a:solidFill>
                    <a:schemeClr val="tx1"/>
                  </a:solidFill>
                </a:rPr>
                <a:t>Click the </a:t>
              </a:r>
              <a:r>
                <a:rPr lang="en-US" sz="800" b="1">
                  <a:solidFill>
                    <a:schemeClr val="tx1"/>
                  </a:solidFill>
                </a:rPr>
                <a:t>bolded tactic </a:t>
              </a:r>
              <a:r>
                <a:rPr lang="en-US" sz="800">
                  <a:solidFill>
                    <a:schemeClr val="tx1"/>
                  </a:solidFill>
                </a:rPr>
                <a:t>to navigate to the study approach details</a:t>
              </a:r>
            </a:p>
          </p:txBody>
        </p:sp>
        <p:pic>
          <p:nvPicPr>
            <p:cNvPr id="62" name="Graphic 61" descr="Cursor with solid fill">
              <a:extLst>
                <a:ext uri="{FF2B5EF4-FFF2-40B4-BE49-F238E27FC236}">
                  <a16:creationId xmlns:a16="http://schemas.microsoft.com/office/drawing/2014/main" id="{BAC93021-BB3D-86C3-EBDF-9598AD59FC6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9746021" y="1302723"/>
              <a:ext cx="216000" cy="216000"/>
            </a:xfrm>
            <a:prstGeom prst="rect">
              <a:avLst/>
            </a:prstGeom>
          </p:spPr>
        </p:pic>
      </p:grpSp>
      <p:sp>
        <p:nvSpPr>
          <p:cNvPr id="27" name="Oval 26">
            <a:extLst>
              <a:ext uri="{FF2B5EF4-FFF2-40B4-BE49-F238E27FC236}">
                <a16:creationId xmlns:a16="http://schemas.microsoft.com/office/drawing/2014/main" id="{16944839-1C14-F910-2627-86B81E530021}"/>
              </a:ext>
            </a:extLst>
          </p:cNvPr>
          <p:cNvSpPr/>
          <p:nvPr/>
        </p:nvSpPr>
        <p:spPr>
          <a:xfrm>
            <a:off x="8344220" y="4846919"/>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29" name="Oval 28">
            <a:extLst>
              <a:ext uri="{FF2B5EF4-FFF2-40B4-BE49-F238E27FC236}">
                <a16:creationId xmlns:a16="http://schemas.microsoft.com/office/drawing/2014/main" id="{39166B76-8ED0-BF54-1F3C-23EBC741A89F}"/>
              </a:ext>
            </a:extLst>
          </p:cNvPr>
          <p:cNvSpPr/>
          <p:nvPr/>
        </p:nvSpPr>
        <p:spPr>
          <a:xfrm>
            <a:off x="8344220" y="5169713"/>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31" name="Oval 30">
            <a:extLst>
              <a:ext uri="{FF2B5EF4-FFF2-40B4-BE49-F238E27FC236}">
                <a16:creationId xmlns:a16="http://schemas.microsoft.com/office/drawing/2014/main" id="{C909EC66-521B-C003-6107-EC79772E6729}"/>
              </a:ext>
            </a:extLst>
          </p:cNvPr>
          <p:cNvSpPr/>
          <p:nvPr/>
        </p:nvSpPr>
        <p:spPr>
          <a:xfrm>
            <a:off x="8344220" y="5675446"/>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36" name="Oval 35">
            <a:extLst>
              <a:ext uri="{FF2B5EF4-FFF2-40B4-BE49-F238E27FC236}">
                <a16:creationId xmlns:a16="http://schemas.microsoft.com/office/drawing/2014/main" id="{168A9584-0551-2C25-97C4-688D046326CC}"/>
              </a:ext>
            </a:extLst>
          </p:cNvPr>
          <p:cNvSpPr/>
          <p:nvPr/>
        </p:nvSpPr>
        <p:spPr>
          <a:xfrm>
            <a:off x="8344220" y="4492150"/>
            <a:ext cx="128016" cy="1280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84" name="Footer Placeholder 2">
            <a:extLst>
              <a:ext uri="{FF2B5EF4-FFF2-40B4-BE49-F238E27FC236}">
                <a16:creationId xmlns:a16="http://schemas.microsoft.com/office/drawing/2014/main" id="{50949B9C-820A-0F95-DFBD-A0BE326CF86C}"/>
              </a:ext>
            </a:extLst>
          </p:cNvPr>
          <p:cNvSpPr>
            <a:spLocks noGrp="1"/>
          </p:cNvSpPr>
          <p:nvPr>
            <p:ph type="ftr" sz="quarter" idx="10"/>
          </p:nvPr>
        </p:nvSpPr>
        <p:spPr>
          <a:xfrm>
            <a:off x="371289" y="6126480"/>
            <a:ext cx="6261637" cy="554790"/>
          </a:xfrm>
        </p:spPr>
        <p:txBody>
          <a:bodyPr/>
          <a:lstStyle/>
          <a:p>
            <a:pPr>
              <a:defRPr/>
            </a:pPr>
            <a:r>
              <a:rPr lang="en-US">
                <a:solidFill>
                  <a:srgbClr val="000000">
                    <a:lumMod val="65000"/>
                    <a:lumOff val="35000"/>
                  </a:srgbClr>
                </a:solidFill>
              </a:rPr>
              <a:t>Abbreviations: </a:t>
            </a:r>
            <a:r>
              <a:rPr lang="en-US"/>
              <a:t>CDP: Clinical Development Plan; HCPs: Healthcare Professionals; HI: High Priority; HTA: Health Technology Assessment; IIT: Investigator-Initiated Trial; ITC: Indirect Treatment Comparison; MAIC: Matching-Adjusted Indirect Comparison; MTA: Methylthioadenosine; MTAP-del: Methylthioadenosine Phosphorylase-deleted; NSCLC: Non-Small Cell Lung Cancer; PAGs: Patient Advocacy Groups; PD-L1: Programmed Death-Ligand 1; PRMT5i: Protein Arginine Methyltransferase 5 Inhibitor; QoL: Quality of Life; RWE: Real-World Evidence; SI: Strategic Imperative; SLR: Systematic Literature Review; SoC: Standard of Care; STC: Simulated Treatment Comparison</a:t>
            </a:r>
          </a:p>
        </p:txBody>
      </p:sp>
      <p:grpSp>
        <p:nvGrpSpPr>
          <p:cNvPr id="52" name="Group 51">
            <a:extLst>
              <a:ext uri="{FF2B5EF4-FFF2-40B4-BE49-F238E27FC236}">
                <a16:creationId xmlns:a16="http://schemas.microsoft.com/office/drawing/2014/main" id="{87BA777F-5C7A-8919-AFDE-8C08705C0B58}"/>
              </a:ext>
            </a:extLst>
          </p:cNvPr>
          <p:cNvGrpSpPr/>
          <p:nvPr/>
        </p:nvGrpSpPr>
        <p:grpSpPr>
          <a:xfrm>
            <a:off x="6707941" y="6082797"/>
            <a:ext cx="5283720" cy="661604"/>
            <a:chOff x="301330" y="6226576"/>
            <a:chExt cx="5283720" cy="661604"/>
          </a:xfrm>
        </p:grpSpPr>
        <p:grpSp>
          <p:nvGrpSpPr>
            <p:cNvPr id="53" name="Group 52">
              <a:extLst>
                <a:ext uri="{FF2B5EF4-FFF2-40B4-BE49-F238E27FC236}">
                  <a16:creationId xmlns:a16="http://schemas.microsoft.com/office/drawing/2014/main" id="{BE3FD46B-64BA-D339-05EC-6C0A0D4CDE8E}"/>
                </a:ext>
              </a:extLst>
            </p:cNvPr>
            <p:cNvGrpSpPr/>
            <p:nvPr/>
          </p:nvGrpSpPr>
          <p:grpSpPr>
            <a:xfrm>
              <a:off x="328227" y="6580403"/>
              <a:ext cx="1894026" cy="307777"/>
              <a:chOff x="-2487500" y="6443238"/>
              <a:chExt cx="1894026" cy="307777"/>
            </a:xfrm>
          </p:grpSpPr>
          <p:sp>
            <p:nvSpPr>
              <p:cNvPr id="68" name="Oval 67">
                <a:extLst>
                  <a:ext uri="{FF2B5EF4-FFF2-40B4-BE49-F238E27FC236}">
                    <a16:creationId xmlns:a16="http://schemas.microsoft.com/office/drawing/2014/main" id="{36600FC5-03EE-8EC2-D623-C88F6BFE5B7B}"/>
                  </a:ext>
                </a:extLst>
              </p:cNvPr>
              <p:cNvSpPr/>
              <p:nvPr/>
            </p:nvSpPr>
            <p:spPr>
              <a:xfrm>
                <a:off x="-2487500" y="6533526"/>
                <a:ext cx="129556" cy="12801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69" name="TextBox 68">
                <a:extLst>
                  <a:ext uri="{FF2B5EF4-FFF2-40B4-BE49-F238E27FC236}">
                    <a16:creationId xmlns:a16="http://schemas.microsoft.com/office/drawing/2014/main" id="{458331F4-1A2C-7E93-060A-3F77BB20E834}"/>
                  </a:ext>
                </a:extLst>
              </p:cNvPr>
              <p:cNvSpPr txBox="1"/>
              <p:nvPr/>
            </p:nvSpPr>
            <p:spPr>
              <a:xfrm>
                <a:off x="-2426470" y="6443238"/>
                <a:ext cx="1832996" cy="307777"/>
              </a:xfrm>
              <a:prstGeom prst="rect">
                <a:avLst/>
              </a:prstGeom>
              <a:noFill/>
            </p:spPr>
            <p:txBody>
              <a:bodyPr wrap="square" lIns="91440" tIns="91440" rIns="91440" bIns="91440" rtlCol="0">
                <a:spAutoFit/>
              </a:bodyPr>
              <a:lstStyle/>
              <a:p>
                <a:pPr algn="l"/>
                <a:r>
                  <a:rPr lang="en-US" sz="800"/>
                  <a:t>Near-term (immediate action)</a:t>
                </a:r>
              </a:p>
            </p:txBody>
          </p:sp>
        </p:grpSp>
        <p:grpSp>
          <p:nvGrpSpPr>
            <p:cNvPr id="54" name="Group 53">
              <a:extLst>
                <a:ext uri="{FF2B5EF4-FFF2-40B4-BE49-F238E27FC236}">
                  <a16:creationId xmlns:a16="http://schemas.microsoft.com/office/drawing/2014/main" id="{E55288BF-EC20-1928-57D4-31ABFFA29A66}"/>
                </a:ext>
              </a:extLst>
            </p:cNvPr>
            <p:cNvGrpSpPr/>
            <p:nvPr/>
          </p:nvGrpSpPr>
          <p:grpSpPr>
            <a:xfrm>
              <a:off x="2087638" y="6580403"/>
              <a:ext cx="2154029" cy="307777"/>
              <a:chOff x="-785805" y="6439612"/>
              <a:chExt cx="2154029" cy="307777"/>
            </a:xfrm>
          </p:grpSpPr>
          <p:sp>
            <p:nvSpPr>
              <p:cNvPr id="66" name="Oval 65">
                <a:extLst>
                  <a:ext uri="{FF2B5EF4-FFF2-40B4-BE49-F238E27FC236}">
                    <a16:creationId xmlns:a16="http://schemas.microsoft.com/office/drawing/2014/main" id="{DB9F219B-5FBA-1D22-0E78-DB4098498430}"/>
                  </a:ext>
                </a:extLst>
              </p:cNvPr>
              <p:cNvSpPr/>
              <p:nvPr/>
            </p:nvSpPr>
            <p:spPr>
              <a:xfrm>
                <a:off x="-785805" y="6529900"/>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67" name="TextBox 66">
                <a:extLst>
                  <a:ext uri="{FF2B5EF4-FFF2-40B4-BE49-F238E27FC236}">
                    <a16:creationId xmlns:a16="http://schemas.microsoft.com/office/drawing/2014/main" id="{715C29E3-080F-2698-D837-A822BF53AD02}"/>
                  </a:ext>
                </a:extLst>
              </p:cNvPr>
              <p:cNvSpPr txBox="1"/>
              <p:nvPr/>
            </p:nvSpPr>
            <p:spPr>
              <a:xfrm>
                <a:off x="-730319" y="6439612"/>
                <a:ext cx="2098543" cy="307777"/>
              </a:xfrm>
              <a:prstGeom prst="rect">
                <a:avLst/>
              </a:prstGeom>
              <a:noFill/>
            </p:spPr>
            <p:txBody>
              <a:bodyPr wrap="square" lIns="91440" tIns="91440" rIns="91440" bIns="91440" rtlCol="0">
                <a:spAutoFit/>
              </a:bodyPr>
              <a:lstStyle/>
              <a:p>
                <a:pPr algn="l"/>
                <a:r>
                  <a:rPr lang="en-US" sz="800"/>
                  <a:t>Longer-term (no immediate action)</a:t>
                </a:r>
              </a:p>
            </p:txBody>
          </p:sp>
        </p:grpSp>
        <p:grpSp>
          <p:nvGrpSpPr>
            <p:cNvPr id="55" name="Group 54">
              <a:extLst>
                <a:ext uri="{FF2B5EF4-FFF2-40B4-BE49-F238E27FC236}">
                  <a16:creationId xmlns:a16="http://schemas.microsoft.com/office/drawing/2014/main" id="{2F1726DC-0633-0BEE-6F5C-8DB9530A4B20}"/>
                </a:ext>
              </a:extLst>
            </p:cNvPr>
            <p:cNvGrpSpPr/>
            <p:nvPr/>
          </p:nvGrpSpPr>
          <p:grpSpPr>
            <a:xfrm>
              <a:off x="4094230" y="6580403"/>
              <a:ext cx="1335262" cy="307777"/>
              <a:chOff x="1858782" y="6448136"/>
              <a:chExt cx="1335262" cy="307777"/>
            </a:xfrm>
          </p:grpSpPr>
          <p:sp>
            <p:nvSpPr>
              <p:cNvPr id="64" name="Oval 63">
                <a:extLst>
                  <a:ext uri="{FF2B5EF4-FFF2-40B4-BE49-F238E27FC236}">
                    <a16:creationId xmlns:a16="http://schemas.microsoft.com/office/drawing/2014/main" id="{0AD58F87-979B-7055-864B-A036D590C62F}"/>
                  </a:ext>
                </a:extLst>
              </p:cNvPr>
              <p:cNvSpPr/>
              <p:nvPr/>
            </p:nvSpPr>
            <p:spPr>
              <a:xfrm>
                <a:off x="1858782" y="6538424"/>
                <a:ext cx="128016" cy="128016"/>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65" name="TextBox 64">
                <a:extLst>
                  <a:ext uri="{FF2B5EF4-FFF2-40B4-BE49-F238E27FC236}">
                    <a16:creationId xmlns:a16="http://schemas.microsoft.com/office/drawing/2014/main" id="{583FDFB3-89FE-362B-42F3-9990E0A4B566}"/>
                  </a:ext>
                </a:extLst>
              </p:cNvPr>
              <p:cNvSpPr txBox="1"/>
              <p:nvPr/>
            </p:nvSpPr>
            <p:spPr>
              <a:xfrm>
                <a:off x="1909630" y="6448136"/>
                <a:ext cx="1284414" cy="307777"/>
              </a:xfrm>
              <a:prstGeom prst="rect">
                <a:avLst/>
              </a:prstGeom>
              <a:noFill/>
            </p:spPr>
            <p:txBody>
              <a:bodyPr wrap="square" lIns="91440" tIns="91440" rIns="91440" bIns="91440" rtlCol="0">
                <a:spAutoFit/>
              </a:bodyPr>
              <a:lstStyle/>
              <a:p>
                <a:pPr algn="l"/>
                <a:r>
                  <a:rPr lang="en-US" sz="800"/>
                  <a:t>Planned / addressed</a:t>
                </a:r>
              </a:p>
            </p:txBody>
          </p:sp>
        </p:grpSp>
        <p:sp>
          <p:nvSpPr>
            <p:cNvPr id="56" name="TextBox 55">
              <a:extLst>
                <a:ext uri="{FF2B5EF4-FFF2-40B4-BE49-F238E27FC236}">
                  <a16:creationId xmlns:a16="http://schemas.microsoft.com/office/drawing/2014/main" id="{FDD565B1-6796-86EA-A3EF-C83CB905B1BB}"/>
                </a:ext>
              </a:extLst>
            </p:cNvPr>
            <p:cNvSpPr txBox="1"/>
            <p:nvPr/>
          </p:nvSpPr>
          <p:spPr>
            <a:xfrm>
              <a:off x="301330" y="6226576"/>
              <a:ext cx="5283720" cy="307777"/>
            </a:xfrm>
            <a:prstGeom prst="rect">
              <a:avLst/>
            </a:prstGeom>
            <a:noFill/>
          </p:spPr>
          <p:txBody>
            <a:bodyPr wrap="square" lIns="36000" tIns="91440" rIns="36000" bIns="91440" rtlCol="0">
              <a:spAutoFit/>
            </a:bodyPr>
            <a:lstStyle/>
            <a:p>
              <a:pPr>
                <a:spcBef>
                  <a:spcPts val="600"/>
                </a:spcBef>
              </a:pPr>
              <a:r>
                <a:rPr lang="en-US" sz="800" b="1"/>
                <a:t>Key:  Listed stakeholders represent the primary target audience for the evidence generated</a:t>
              </a:r>
            </a:p>
          </p:txBody>
        </p:sp>
        <p:sp>
          <p:nvSpPr>
            <p:cNvPr id="57" name="TextBox 56">
              <a:extLst>
                <a:ext uri="{FF2B5EF4-FFF2-40B4-BE49-F238E27FC236}">
                  <a16:creationId xmlns:a16="http://schemas.microsoft.com/office/drawing/2014/main" id="{51666198-A590-7660-C99C-9E3521042A2B}"/>
                </a:ext>
              </a:extLst>
            </p:cNvPr>
            <p:cNvSpPr txBox="1"/>
            <p:nvPr/>
          </p:nvSpPr>
          <p:spPr>
            <a:xfrm>
              <a:off x="301330" y="6396002"/>
              <a:ext cx="5283720" cy="307777"/>
            </a:xfrm>
            <a:prstGeom prst="rect">
              <a:avLst/>
            </a:prstGeom>
            <a:noFill/>
          </p:spPr>
          <p:txBody>
            <a:bodyPr wrap="square" lIns="36000" tIns="91440" rIns="36000" bIns="91440" rtlCol="0">
              <a:spAutoFit/>
            </a:bodyPr>
            <a:lstStyle/>
            <a:p>
              <a:pPr>
                <a:spcBef>
                  <a:spcPts val="600"/>
                </a:spcBef>
              </a:pPr>
              <a:r>
                <a:rPr lang="en-US" sz="800"/>
                <a:t>Tactics are characterized according to action required based on cross-functional workshop input:</a:t>
              </a:r>
            </a:p>
          </p:txBody>
        </p:sp>
        <p:cxnSp>
          <p:nvCxnSpPr>
            <p:cNvPr id="63" name="Straight Connector 62">
              <a:extLst>
                <a:ext uri="{FF2B5EF4-FFF2-40B4-BE49-F238E27FC236}">
                  <a16:creationId xmlns:a16="http://schemas.microsoft.com/office/drawing/2014/main" id="{AF9CAE70-9AAF-FE56-CF3B-8163D97DCD44}"/>
                </a:ext>
              </a:extLst>
            </p:cNvPr>
            <p:cNvCxnSpPr>
              <a:cxnSpLocks/>
            </p:cNvCxnSpPr>
            <p:nvPr/>
          </p:nvCxnSpPr>
          <p:spPr>
            <a:xfrm flipV="1">
              <a:off x="301330" y="6454640"/>
              <a:ext cx="5005344" cy="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0" name="Group 69">
            <a:extLst>
              <a:ext uri="{FF2B5EF4-FFF2-40B4-BE49-F238E27FC236}">
                <a16:creationId xmlns:a16="http://schemas.microsoft.com/office/drawing/2014/main" id="{93B68070-B574-A775-F4CE-1A30B9EDD6DA}"/>
              </a:ext>
            </a:extLst>
          </p:cNvPr>
          <p:cNvGrpSpPr/>
          <p:nvPr/>
        </p:nvGrpSpPr>
        <p:grpSpPr>
          <a:xfrm>
            <a:off x="362743" y="10216"/>
            <a:ext cx="10042505" cy="252000"/>
            <a:chOff x="362743" y="10216"/>
            <a:chExt cx="10042505" cy="252000"/>
          </a:xfrm>
        </p:grpSpPr>
        <p:sp>
          <p:nvSpPr>
            <p:cNvPr id="85" name="Pentagon 47">
              <a:extLst>
                <a:ext uri="{FF2B5EF4-FFF2-40B4-BE49-F238E27FC236}">
                  <a16:creationId xmlns:a16="http://schemas.microsoft.com/office/drawing/2014/main" id="{B4B40FB9-0CE9-1261-60A2-BEABD3F5B1C7}"/>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86" name="Chevron 48">
              <a:extLst>
                <a:ext uri="{FF2B5EF4-FFF2-40B4-BE49-F238E27FC236}">
                  <a16:creationId xmlns:a16="http://schemas.microsoft.com/office/drawing/2014/main" id="{55933D52-56E5-1254-1CA8-54EF9EAB4AAD}"/>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87" name="Chevron 52">
              <a:extLst>
                <a:ext uri="{FF2B5EF4-FFF2-40B4-BE49-F238E27FC236}">
                  <a16:creationId xmlns:a16="http://schemas.microsoft.com/office/drawing/2014/main" id="{874CB785-2EEF-0050-F96F-83297CD002F4}"/>
                </a:ext>
              </a:extLst>
            </p:cNvPr>
            <p:cNvSpPr/>
            <p:nvPr/>
          </p:nvSpPr>
          <p:spPr>
            <a:xfrm>
              <a:off x="3701639"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88" name="Chevron 54">
              <a:extLst>
                <a:ext uri="{FF2B5EF4-FFF2-40B4-BE49-F238E27FC236}">
                  <a16:creationId xmlns:a16="http://schemas.microsoft.com/office/drawing/2014/main" id="{CFFE6586-CF87-BDC4-4D7D-C9D216EE303E}"/>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89" name="Chevron 48">
              <a:extLst>
                <a:ext uri="{FF2B5EF4-FFF2-40B4-BE49-F238E27FC236}">
                  <a16:creationId xmlns:a16="http://schemas.microsoft.com/office/drawing/2014/main" id="{29588293-4FC9-E90C-A60B-F11CC9B1F188}"/>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91" name="Chevron 48">
              <a:extLst>
                <a:ext uri="{FF2B5EF4-FFF2-40B4-BE49-F238E27FC236}">
                  <a16:creationId xmlns:a16="http://schemas.microsoft.com/office/drawing/2014/main" id="{98807AD7-834F-0663-B09E-8505DE48C14C}"/>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37554750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5E116-6C92-3FA1-478C-4B13A86FCC0D}"/>
            </a:ext>
          </a:extLst>
        </p:cNvPr>
        <p:cNvGrpSpPr/>
        <p:nvPr/>
      </p:nvGrpSpPr>
      <p:grpSpPr>
        <a:xfrm>
          <a:off x="0" y="0"/>
          <a:ext cx="0" cy="0"/>
          <a:chOff x="0" y="0"/>
          <a:chExt cx="0" cy="0"/>
        </a:xfrm>
      </p:grpSpPr>
      <p:graphicFrame>
        <p:nvGraphicFramePr>
          <p:cNvPr id="59" name="think-cell data - do not delete" hidden="1">
            <a:extLst>
              <a:ext uri="{FF2B5EF4-FFF2-40B4-BE49-F238E27FC236}">
                <a16:creationId xmlns:a16="http://schemas.microsoft.com/office/drawing/2014/main" id="{2C862BBF-307D-ABB5-E38A-1F75EA5A03E6}"/>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59" name="think-cell data - do not delete" hidden="1">
                        <a:extLst>
                          <a:ext uri="{FF2B5EF4-FFF2-40B4-BE49-F238E27FC236}">
                            <a16:creationId xmlns:a16="http://schemas.microsoft.com/office/drawing/2014/main" id="{2C862BBF-307D-ABB5-E38A-1F75EA5A03E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8" name="Title 57">
            <a:extLst>
              <a:ext uri="{FF2B5EF4-FFF2-40B4-BE49-F238E27FC236}">
                <a16:creationId xmlns:a16="http://schemas.microsoft.com/office/drawing/2014/main" id="{CAE70455-3BD2-1F18-F85B-97F464C3225C}"/>
              </a:ext>
            </a:extLst>
          </p:cNvPr>
          <p:cNvSpPr>
            <a:spLocks noGrp="1"/>
          </p:cNvSpPr>
          <p:nvPr>
            <p:ph type="title"/>
          </p:nvPr>
        </p:nvSpPr>
        <p:spPr>
          <a:xfrm>
            <a:off x="358337" y="338328"/>
            <a:ext cx="11470125" cy="738664"/>
          </a:xfrm>
        </p:spPr>
        <p:txBody>
          <a:bodyPr vert="horz" rIns="0">
            <a:spAutoFit/>
          </a:bodyPr>
          <a:lstStyle/>
          <a:p>
            <a:r>
              <a:rPr lang="en-US" sz="2400"/>
              <a:t>Prioritized evidence gaps: Drive differentiation of BGB-58067 as a brain-penetrant, highly selective and potent PRMT5i (4/4)</a:t>
            </a:r>
          </a:p>
        </p:txBody>
      </p:sp>
      <p:graphicFrame>
        <p:nvGraphicFramePr>
          <p:cNvPr id="3" name="Table 2">
            <a:extLst>
              <a:ext uri="{FF2B5EF4-FFF2-40B4-BE49-F238E27FC236}">
                <a16:creationId xmlns:a16="http://schemas.microsoft.com/office/drawing/2014/main" id="{49F264FD-823D-9C0A-2779-A6021EFE4A7E}"/>
              </a:ext>
            </a:extLst>
          </p:cNvPr>
          <p:cNvGraphicFramePr>
            <a:graphicFrameLocks noGrp="1"/>
          </p:cNvGraphicFramePr>
          <p:nvPr>
            <p:extLst>
              <p:ext uri="{D42A27DB-BD31-4B8C-83A1-F6EECF244321}">
                <p14:modId xmlns:p14="http://schemas.microsoft.com/office/powerpoint/2010/main" val="4108404851"/>
              </p:ext>
            </p:extLst>
          </p:nvPr>
        </p:nvGraphicFramePr>
        <p:xfrm>
          <a:off x="362744" y="1554579"/>
          <a:ext cx="11470125" cy="4417600"/>
        </p:xfrm>
        <a:graphic>
          <a:graphicData uri="http://schemas.openxmlformats.org/drawingml/2006/table">
            <a:tbl>
              <a:tblPr bandRow="1">
                <a:tableStyleId>{5C22544A-7EE6-4342-B048-85BDC9FD1C3A}</a:tableStyleId>
              </a:tblPr>
              <a:tblGrid>
                <a:gridCol w="1618456">
                  <a:extLst>
                    <a:ext uri="{9D8B030D-6E8A-4147-A177-3AD203B41FA5}">
                      <a16:colId xmlns:a16="http://schemas.microsoft.com/office/drawing/2014/main" val="1720362591"/>
                    </a:ext>
                  </a:extLst>
                </a:gridCol>
                <a:gridCol w="2647950">
                  <a:extLst>
                    <a:ext uri="{9D8B030D-6E8A-4147-A177-3AD203B41FA5}">
                      <a16:colId xmlns:a16="http://schemas.microsoft.com/office/drawing/2014/main" val="1362236069"/>
                    </a:ext>
                  </a:extLst>
                </a:gridCol>
                <a:gridCol w="3655314">
                  <a:extLst>
                    <a:ext uri="{9D8B030D-6E8A-4147-A177-3AD203B41FA5}">
                      <a16:colId xmlns:a16="http://schemas.microsoft.com/office/drawing/2014/main" val="366937182"/>
                    </a:ext>
                  </a:extLst>
                </a:gridCol>
                <a:gridCol w="3548405">
                  <a:extLst>
                    <a:ext uri="{9D8B030D-6E8A-4147-A177-3AD203B41FA5}">
                      <a16:colId xmlns:a16="http://schemas.microsoft.com/office/drawing/2014/main" val="320023064"/>
                    </a:ext>
                  </a:extLst>
                </a:gridCol>
              </a:tblGrid>
              <a:tr h="274320">
                <a:tc>
                  <a:txBody>
                    <a:bodyPr/>
                    <a:lstStyle/>
                    <a:p>
                      <a:pPr algn="ctr"/>
                      <a:r>
                        <a:rPr lang="en-US" sz="1200" b="1" i="0">
                          <a:solidFill>
                            <a:schemeClr val="bg1"/>
                          </a:solidFill>
                          <a:latin typeface="+mn-lt"/>
                          <a:cs typeface="Poppins" pitchFamily="2" charset="77"/>
                        </a:rPr>
                        <a:t>Gap ID and Priority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sz="1200" b="1" i="0">
                          <a:solidFill>
                            <a:schemeClr val="bg1"/>
                          </a:solidFill>
                          <a:latin typeface="+mn-lt"/>
                          <a:cs typeface="Poppins" pitchFamily="2" charset="77"/>
                        </a:rPr>
                        <a:t>Evidence Gap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sz="1200" b="1" i="0">
                          <a:solidFill>
                            <a:schemeClr val="bg1"/>
                          </a:solidFill>
                          <a:latin typeface="+mn-lt"/>
                          <a:cs typeface="Poppins" pitchFamily="2" charset="77"/>
                        </a:rPr>
                        <a:t>Rationale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sz="1200" b="1" i="0">
                          <a:solidFill>
                            <a:schemeClr val="bg1"/>
                          </a:solidFill>
                          <a:latin typeface="+mn-lt"/>
                          <a:cs typeface="Poppins" pitchFamily="2" charset="77"/>
                        </a:rPr>
                        <a:t>Tactics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323510155"/>
                  </a:ext>
                </a:extLst>
              </a:tr>
              <a:tr h="1253900">
                <a:tc>
                  <a:txBody>
                    <a:bodyPr/>
                    <a:lstStyle/>
                    <a:p>
                      <a:pPr algn="l"/>
                      <a:r>
                        <a:rPr lang="en-US" sz="1100" b="1" i="0">
                          <a:solidFill>
                            <a:schemeClr val="tx1"/>
                          </a:solidFill>
                          <a:latin typeface="+mn-lt"/>
                          <a:cs typeface="Poppins" pitchFamily="2" charset="77"/>
                        </a:rPr>
                        <a:t>NSCLC_HI_06</a:t>
                      </a:r>
                    </a:p>
                    <a:p>
                      <a:pPr algn="l"/>
                      <a:r>
                        <a:rPr lang="en-US" sz="1000" b="0" i="0">
                          <a:solidFill>
                            <a:schemeClr val="tx1"/>
                          </a:solidFill>
                          <a:latin typeface="+mn-lt"/>
                          <a:cs typeface="Poppins" pitchFamily="2" charset="77"/>
                        </a:rPr>
                        <a:t>CNS Differentiation</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1">
                          <a:solidFill>
                            <a:schemeClr val="tx1"/>
                          </a:solidFill>
                        </a:rPr>
                        <a:t>(1L and 2L+) </a:t>
                      </a:r>
                      <a:r>
                        <a:rPr lang="en-US" sz="1000" b="0" i="0">
                          <a:solidFill>
                            <a:schemeClr val="tx1"/>
                          </a:solidFill>
                        </a:rPr>
                        <a:t>BGB-58067's blood-brain barrier penetration profile and CSF pharmacokinetics compared to existing PRMT5 inhibitors </a:t>
                      </a:r>
                    </a:p>
                    <a:p>
                      <a:pPr algn="l"/>
                      <a:endParaRPr lang="en-US" sz="500" b="0" i="0">
                        <a:solidFill>
                          <a:schemeClr val="tx1"/>
                        </a:solidFill>
                        <a:latin typeface="+mn-lt"/>
                        <a:cs typeface="Poppins" pitchFamily="2" charset="77"/>
                      </a:endParaRPr>
                    </a:p>
                    <a:p>
                      <a:pPr algn="l"/>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Regulators </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Establishes mechanistic credibility for CNS activity by confirming adequate BBB penetration and therapeutic CSF exposure</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Supports differentiation vs. PRMT5 inhibitors with limited CNS access and underpins clinical positioning in patients at high risk of brain metastases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lvl="0" indent="-171450">
                        <a:spcAft>
                          <a:spcPts val="600"/>
                        </a:spcAft>
                        <a:buClr>
                          <a:srgbClr val="000000"/>
                        </a:buClr>
                        <a:buFont typeface="Arial" panose="020B0604020202020204" pitchFamily="34" charset="0"/>
                        <a:buChar char="•"/>
                      </a:pPr>
                      <a:r>
                        <a:rPr lang="en-US" sz="1000" b="1" i="0" u="none" strike="noStrike" kern="1200" noProof="0">
                          <a:solidFill>
                            <a:schemeClr val="tx1"/>
                          </a:solidFill>
                          <a:effectLst/>
                          <a:latin typeface="+mn-lt"/>
                          <a:ea typeface="+mn-ea"/>
                          <a:cs typeface="Poppins"/>
                          <a:hlinkClick r:id="rId6" action="ppaction://hlinksldjump">
                            <a:extLst>
                              <a:ext uri="{A12FA001-AC4F-418D-AE19-62706E023703}">
                                <ahyp:hlinkClr xmlns:ahyp="http://schemas.microsoft.com/office/drawing/2018/hyperlinkcolor" val="tx"/>
                              </a:ext>
                            </a:extLst>
                          </a:hlinkClick>
                        </a:rPr>
                        <a:t>IIT</a:t>
                      </a:r>
                      <a:r>
                        <a:rPr lang="en-US" sz="1000" b="1" i="0" u="none" strike="noStrike" kern="1200" noProof="0">
                          <a:solidFill>
                            <a:schemeClr val="tx1"/>
                          </a:solidFill>
                          <a:effectLst/>
                          <a:latin typeface="+mn-lt"/>
                          <a:ea typeface="+mn-ea"/>
                          <a:cs typeface="Poppins"/>
                          <a:hlinkClick r:id="rId7" action="ppaction://hlinksldjump">
                            <a:extLst>
                              <a:ext uri="{A12FA001-AC4F-418D-AE19-62706E023703}">
                                <ahyp:hlinkClr xmlns:ahyp="http://schemas.microsoft.com/office/drawing/2018/hyperlinkcolor" val="tx"/>
                              </a:ext>
                            </a:extLst>
                          </a:hlinkClick>
                        </a:rPr>
                        <a:t>: </a:t>
                      </a:r>
                      <a:r>
                        <a:rPr lang="en-US" sz="1000" b="0" i="0" u="none" strike="noStrike" kern="1200" noProof="0">
                          <a:solidFill>
                            <a:schemeClr val="tx1"/>
                          </a:solidFill>
                          <a:effectLst/>
                          <a:latin typeface="+mn-lt"/>
                          <a:ea typeface="+mn-ea"/>
                          <a:cs typeface="Poppins"/>
                        </a:rPr>
                        <a:t>Exploring CNS tumor populations with embedded PK sampling</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74479344"/>
                  </a:ext>
                </a:extLst>
              </a:tr>
              <a:tr h="1253900">
                <a:tc>
                  <a:txBody>
                    <a:bodyPr/>
                    <a:lstStyle/>
                    <a:p>
                      <a:pPr algn="l"/>
                      <a:r>
                        <a:rPr lang="en-US" sz="1100" b="1" i="0">
                          <a:solidFill>
                            <a:schemeClr val="tx1"/>
                          </a:solidFill>
                          <a:latin typeface="+mn-lt"/>
                          <a:cs typeface="Poppins" pitchFamily="2" charset="77"/>
                        </a:rPr>
                        <a:t>NSCLC_HI_07</a:t>
                      </a:r>
                    </a:p>
                    <a:p>
                      <a:pPr algn="l"/>
                      <a:r>
                        <a:rPr lang="en-US" sz="1000" b="0" i="0">
                          <a:solidFill>
                            <a:schemeClr val="tx1"/>
                          </a:solidFill>
                          <a:latin typeface="+mn-lt"/>
                          <a:cs typeface="Poppins" pitchFamily="2" charset="77"/>
                        </a:rPr>
                        <a:t>Patient and Economic Value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1">
                          <a:solidFill>
                            <a:schemeClr val="tx1"/>
                          </a:solidFill>
                        </a:rPr>
                        <a:t>(1L and 2L+) </a:t>
                      </a:r>
                      <a:r>
                        <a:rPr lang="en-US" sz="1000" b="0" i="0">
                          <a:solidFill>
                            <a:schemeClr val="tx1"/>
                          </a:solidFill>
                        </a:rPr>
                        <a:t>Impact of BGB-58067 on healthcare resource utilization (HCRU) and cost vs. SoC</a:t>
                      </a:r>
                    </a:p>
                    <a:p>
                      <a:pPr algn="l"/>
                      <a:endParaRPr lang="en-US" sz="500" b="0" i="0">
                        <a:solidFill>
                          <a:schemeClr val="tx1"/>
                        </a:solidFill>
                        <a:latin typeface="+mn-lt"/>
                        <a:cs typeface="Poppins" pitchFamily="2" charset="77"/>
                      </a:endParaRPr>
                    </a:p>
                    <a:p>
                      <a:pPr algn="l"/>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Quantifies healthcare resource and cost impact of BGB-58067 relative to SoC to inform cost-effectiveness modeling, budget impact analysis, pricing justification, and payer negotiations across markets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171450" lvl="0" indent="-171450">
                        <a:spcAft>
                          <a:spcPts val="600"/>
                        </a:spcAft>
                        <a:buClr>
                          <a:srgbClr val="000000"/>
                        </a:buClr>
                        <a:buFont typeface="Arial" panose="020B0604020202020204" pitchFamily="34" charset="0"/>
                        <a:buChar char="•"/>
                      </a:pPr>
                      <a:r>
                        <a:rPr lang="en-US" sz="1000" b="1" i="0" u="none" strike="noStrike" kern="1200" noProof="0">
                          <a:solidFill>
                            <a:schemeClr val="tx1"/>
                          </a:solidFill>
                          <a:effectLst/>
                          <a:latin typeface="+mn-lt"/>
                          <a:ea typeface="+mn-ea"/>
                          <a:cs typeface="Poppins"/>
                          <a:hlinkClick r:id="rId8" action="ppaction://hlinksldjump">
                            <a:extLst>
                              <a:ext uri="{A12FA001-AC4F-418D-AE19-62706E023703}">
                                <ahyp:hlinkClr xmlns:ahyp="http://schemas.microsoft.com/office/drawing/2018/hyperlinkcolor" val="tx"/>
                              </a:ext>
                            </a:extLst>
                          </a:hlinkClick>
                        </a:rPr>
                        <a:t>Post-hoc analysis</a:t>
                      </a:r>
                      <a:r>
                        <a:rPr lang="en-US" sz="1000" b="1" i="0" u="none" strike="noStrike" kern="1200" noProof="0">
                          <a:solidFill>
                            <a:schemeClr val="tx1"/>
                          </a:solidFill>
                          <a:effectLst/>
                          <a:latin typeface="+mn-lt"/>
                          <a:ea typeface="+mn-ea"/>
                          <a:cs typeface="Poppins"/>
                        </a:rPr>
                        <a:t>: </a:t>
                      </a:r>
                      <a:r>
                        <a:rPr lang="en-US" sz="1000" b="0" i="0" u="none" strike="noStrike" kern="1200" noProof="0">
                          <a:solidFill>
                            <a:schemeClr val="tx1"/>
                          </a:solidFill>
                          <a:effectLst/>
                          <a:latin typeface="+mn-lt"/>
                          <a:ea typeface="+mn-ea"/>
                          <a:cs typeface="Poppins"/>
                        </a:rPr>
                        <a:t>Pre-approval post-hoc analyses of HCRU proxies, treatment burden, and AE burden within clinical trials</a:t>
                      </a:r>
                    </a:p>
                    <a:p>
                      <a:pPr marL="171450" marR="0" lvl="0" indent="-171450" algn="l" defTabSz="914400"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defRPr/>
                      </a:pPr>
                      <a:r>
                        <a:rPr lang="en-US" sz="1000" b="1" i="0" u="none" strike="noStrike" kern="1200" noProof="0">
                          <a:solidFill>
                            <a:schemeClr val="tx1"/>
                          </a:solidFill>
                          <a:effectLst/>
                          <a:latin typeface="+mn-lt"/>
                          <a:ea typeface="+mn-ea"/>
                          <a:cs typeface="Poppins"/>
                          <a:hlinkClick r:id="rId9" action="ppaction://hlinksldjump">
                            <a:extLst>
                              <a:ext uri="{A12FA001-AC4F-418D-AE19-62706E023703}">
                                <ahyp:hlinkClr xmlns:ahyp="http://schemas.microsoft.com/office/drawing/2018/hyperlinkcolor" val="tx"/>
                              </a:ext>
                            </a:extLst>
                          </a:hlinkClick>
                        </a:rPr>
                        <a:t>RWE</a:t>
                      </a:r>
                      <a:r>
                        <a:rPr lang="en-US" sz="1000" b="1" i="0" u="none" strike="noStrike" kern="1200" noProof="0">
                          <a:solidFill>
                            <a:schemeClr val="tx1"/>
                          </a:solidFill>
                          <a:effectLst/>
                          <a:latin typeface="+mn-lt"/>
                          <a:ea typeface="+mn-ea"/>
                          <a:cs typeface="Poppins"/>
                          <a:hlinkClick r:id="rId10" action="ppaction://hlinksldjump">
                            <a:extLst>
                              <a:ext uri="{A12FA001-AC4F-418D-AE19-62706E023703}">
                                <ahyp:hlinkClr xmlns:ahyp="http://schemas.microsoft.com/office/drawing/2018/hyperlinkcolor" val="tx"/>
                              </a:ext>
                            </a:extLst>
                          </a:hlinkClick>
                        </a:rPr>
                        <a:t>: </a:t>
                      </a:r>
                      <a:r>
                        <a:rPr lang="en-US" sz="1000" b="0" i="0" u="none" strike="noStrike" kern="1200" noProof="0">
                          <a:solidFill>
                            <a:schemeClr val="tx1"/>
                          </a:solidFill>
                          <a:effectLst/>
                          <a:latin typeface="+mn-lt"/>
                          <a:ea typeface="+mn-ea"/>
                          <a:cs typeface="Poppins"/>
                        </a:rPr>
                        <a:t>Post-approval retrospective comparative RWE study of HCRU and costs vs. SoC</a:t>
                      </a:r>
                    </a:p>
                    <a:p>
                      <a:pPr marL="171450" marR="0" lvl="0" indent="-171450" algn="l" defTabSz="914400"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defRPr/>
                      </a:pPr>
                      <a:r>
                        <a:rPr lang="en-US" sz="1000" b="1" i="0" u="none" strike="noStrike" kern="1200" noProof="0">
                          <a:solidFill>
                            <a:schemeClr val="tx1"/>
                          </a:solidFill>
                          <a:effectLst/>
                          <a:latin typeface="+mn-lt"/>
                          <a:ea typeface="+mn-ea"/>
                          <a:cs typeface="Poppins"/>
                          <a:hlinkClick r:id="rId11" action="ppaction://hlinksldjump">
                            <a:extLst>
                              <a:ext uri="{A12FA001-AC4F-418D-AE19-62706E023703}">
                                <ahyp:hlinkClr xmlns:ahyp="http://schemas.microsoft.com/office/drawing/2018/hyperlinkcolor" val="tx"/>
                              </a:ext>
                            </a:extLst>
                          </a:hlinkClick>
                        </a:rPr>
                        <a:t>Surveys: </a:t>
                      </a:r>
                      <a:r>
                        <a:rPr lang="en-US" sz="1000" b="0" i="0" u="none" strike="noStrike" kern="1200" noProof="0">
                          <a:solidFill>
                            <a:schemeClr val="tx1"/>
                          </a:solidFill>
                          <a:effectLst/>
                          <a:latin typeface="+mn-lt"/>
                          <a:ea typeface="+mn-ea"/>
                          <a:cs typeface="Poppins"/>
                        </a:rPr>
                        <a:t>Patient surveys for evaluation of CNS control and psychiatric state/mood</a:t>
                      </a:r>
                    </a:p>
                    <a:p>
                      <a:pPr marL="171450" marR="0" lvl="0" indent="-171450" algn="l" defTabSz="914400"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defRPr/>
                      </a:pPr>
                      <a:r>
                        <a:rPr lang="en-US" sz="1000" b="1" i="0" u="sng" strike="noStrike" kern="1200" noProof="0">
                          <a:solidFill>
                            <a:schemeClr val="tx1"/>
                          </a:solidFill>
                          <a:effectLst/>
                          <a:latin typeface="+mn-lt"/>
                          <a:ea typeface="+mn-ea"/>
                          <a:cs typeface="Poppins"/>
                        </a:rPr>
                        <a:t>Modeling</a:t>
                      </a:r>
                      <a:r>
                        <a:rPr lang="en-US" sz="1000" b="1" i="0" u="none" strike="noStrike" kern="1200" noProof="0">
                          <a:solidFill>
                            <a:schemeClr val="tx1"/>
                          </a:solidFill>
                          <a:effectLst/>
                          <a:latin typeface="+mn-lt"/>
                          <a:ea typeface="+mn-ea"/>
                          <a:cs typeface="Poppins"/>
                        </a:rPr>
                        <a:t>:</a:t>
                      </a:r>
                      <a:r>
                        <a:rPr lang="en-US" sz="1000" b="1" i="0" u="sng" strike="noStrike" kern="1200" noProof="0">
                          <a:solidFill>
                            <a:schemeClr val="tx1"/>
                          </a:solidFill>
                          <a:effectLst/>
                          <a:latin typeface="+mn-lt"/>
                          <a:ea typeface="+mn-ea"/>
                          <a:cs typeface="Poppins"/>
                        </a:rPr>
                        <a:t> </a:t>
                      </a:r>
                      <a:r>
                        <a:rPr lang="en-US" sz="1000" b="0" i="0" u="none" strike="noStrike" kern="1200" noProof="0">
                          <a:solidFill>
                            <a:schemeClr val="tx1"/>
                          </a:solidFill>
                          <a:effectLst/>
                          <a:latin typeface="+mn-lt"/>
                          <a:ea typeface="+mn-ea"/>
                          <a:cs typeface="Poppins"/>
                        </a:rPr>
                        <a:t>Budget impact and CE modeling</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523614853"/>
                  </a:ext>
                </a:extLst>
              </a:tr>
              <a:tr h="1253900">
                <a:tc>
                  <a:txBody>
                    <a:bodyPr/>
                    <a:lstStyle/>
                    <a:p>
                      <a:pPr algn="l"/>
                      <a:r>
                        <a:rPr lang="en-US" sz="1100" b="1" i="0">
                          <a:solidFill>
                            <a:schemeClr val="tx1"/>
                          </a:solidFill>
                          <a:latin typeface="+mn-lt"/>
                          <a:cs typeface="Poppins" pitchFamily="2" charset="77"/>
                        </a:rPr>
                        <a:t>NSCLC_HI_08</a:t>
                      </a:r>
                    </a:p>
                    <a:p>
                      <a:pPr algn="l"/>
                      <a:r>
                        <a:rPr lang="en-US" sz="1000" b="0" i="0">
                          <a:solidFill>
                            <a:schemeClr val="tx1"/>
                          </a:solidFill>
                          <a:latin typeface="+mn-lt"/>
                          <a:cs typeface="Poppins" pitchFamily="2" charset="77"/>
                        </a:rPr>
                        <a:t>Patient and Economic Value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500"/>
                        </a:spcAft>
                        <a:buClrTx/>
                        <a:buSzTx/>
                        <a:buFontTx/>
                        <a:buNone/>
                        <a:tabLst/>
                        <a:defRPr/>
                      </a:pPr>
                      <a:r>
                        <a:rPr lang="en-US" sz="1000" b="0" i="1">
                          <a:solidFill>
                            <a:schemeClr val="tx1"/>
                          </a:solidFill>
                        </a:rPr>
                        <a:t>(1L and 2L+) </a:t>
                      </a:r>
                      <a:r>
                        <a:rPr lang="en-US" sz="1000" b="0" i="0">
                          <a:solidFill>
                            <a:schemeClr val="tx1"/>
                          </a:solidFill>
                        </a:rPr>
                        <a:t>Impact of BGB-58067 on patient-reported HRQoL and treatment burden overall (e.g., time to deterioration) and in key subpopulations (e.g., elderly, ECOG ≥1, co-mutated, CNS involvement) versus standard of care</a:t>
                      </a:r>
                    </a:p>
                    <a:p>
                      <a:pPr algn="l"/>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  Patients and PAGs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Supports competitive differentiation by demonstrating patient-reported HRQoL and tolerability advantages, including in high unmet need subgroups, vs. toxicity-intensive comparators</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Informs guideline positioning, shared decision-making, and value-based reimbursement discussions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defRPr/>
                      </a:pPr>
                      <a:r>
                        <a:rPr lang="en-US" sz="1000" b="1" i="0" u="none" strike="noStrike" kern="1200" noProof="0">
                          <a:solidFill>
                            <a:schemeClr val="tx1"/>
                          </a:solidFill>
                          <a:effectLst/>
                          <a:latin typeface="+mn-lt"/>
                          <a:ea typeface="+mn-ea"/>
                          <a:cs typeface="Poppins"/>
                          <a:hlinkClick r:id="rId8" action="ppaction://hlinksldjump">
                            <a:extLst>
                              <a:ext uri="{A12FA001-AC4F-418D-AE19-62706E023703}">
                                <ahyp:hlinkClr xmlns:ahyp="http://schemas.microsoft.com/office/drawing/2018/hyperlinkcolor" val="tx"/>
                              </a:ext>
                            </a:extLst>
                          </a:hlinkClick>
                        </a:rPr>
                        <a:t>Post-hoc analysis</a:t>
                      </a:r>
                      <a:r>
                        <a:rPr lang="en-US" sz="1000" b="1" i="0" u="none" strike="noStrike" kern="1200" noProof="0">
                          <a:solidFill>
                            <a:schemeClr val="tx1"/>
                          </a:solidFill>
                          <a:effectLst/>
                          <a:latin typeface="+mn-lt"/>
                          <a:ea typeface="+mn-ea"/>
                          <a:cs typeface="Poppins"/>
                          <a:hlinkClick r:id="rId12" action="ppaction://hlinksldjump">
                            <a:extLst>
                              <a:ext uri="{A12FA001-AC4F-418D-AE19-62706E023703}">
                                <ahyp:hlinkClr xmlns:ahyp="http://schemas.microsoft.com/office/drawing/2018/hyperlinkcolor" val="tx"/>
                              </a:ext>
                            </a:extLst>
                          </a:hlinkClick>
                        </a:rPr>
                        <a:t>: </a:t>
                      </a:r>
                      <a:r>
                        <a:rPr lang="en-US" sz="1000" b="0" i="0" u="none" strike="noStrike" kern="1200" noProof="0">
                          <a:solidFill>
                            <a:schemeClr val="tx1"/>
                          </a:solidFill>
                          <a:effectLst/>
                          <a:latin typeface="+mn-lt"/>
                          <a:ea typeface="+mn-ea"/>
                          <a:cs typeface="Poppins"/>
                        </a:rPr>
                        <a:t>Trial segmentation and subgroup analyses of PRO data</a:t>
                      </a:r>
                    </a:p>
                    <a:p>
                      <a:pPr marL="171450" lvl="0" indent="-171450">
                        <a:spcAft>
                          <a:spcPts val="600"/>
                        </a:spcAft>
                        <a:buClr>
                          <a:srgbClr val="000000"/>
                        </a:buClr>
                        <a:buFont typeface="Arial" panose="020B0604020202020204" pitchFamily="34" charset="0"/>
                        <a:buChar char="•"/>
                      </a:pPr>
                      <a:r>
                        <a:rPr lang="en-US" sz="1000" b="1" i="0" u="none" strike="noStrike" kern="1200" noProof="0">
                          <a:solidFill>
                            <a:schemeClr val="tx1"/>
                          </a:solidFill>
                          <a:effectLst/>
                          <a:latin typeface="+mn-lt"/>
                          <a:ea typeface="+mn-ea"/>
                          <a:cs typeface="Poppins"/>
                          <a:hlinkClick r:id="rId13" action="ppaction://hlinksldjump">
                            <a:extLst>
                              <a:ext uri="{A12FA001-AC4F-418D-AE19-62706E023703}">
                                <ahyp:hlinkClr xmlns:ahyp="http://schemas.microsoft.com/office/drawing/2018/hyperlinkcolor" val="tx"/>
                              </a:ext>
                            </a:extLst>
                          </a:hlinkClick>
                        </a:rPr>
                        <a:t>Q-TWIST:</a:t>
                      </a:r>
                      <a:r>
                        <a:rPr lang="en-US" sz="1000" b="0" i="0" u="none" strike="noStrike" kern="1200" noProof="0">
                          <a:solidFill>
                            <a:schemeClr val="tx1"/>
                          </a:solidFill>
                          <a:effectLst/>
                          <a:latin typeface="+mn-lt"/>
                          <a:ea typeface="+mn-ea"/>
                          <a:cs typeface="Poppins"/>
                          <a:hlinkClick r:id="rId13" action="ppaction://hlinksldjump">
                            <a:extLst>
                              <a:ext uri="{A12FA001-AC4F-418D-AE19-62706E023703}">
                                <ahyp:hlinkClr xmlns:ahyp="http://schemas.microsoft.com/office/drawing/2018/hyperlinkcolor" val="tx"/>
                              </a:ext>
                            </a:extLst>
                          </a:hlinkClick>
                        </a:rPr>
                        <a:t> </a:t>
                      </a:r>
                      <a:r>
                        <a:rPr lang="en-US" sz="1000" b="0" i="0" u="none" strike="noStrike" kern="1200" noProof="0">
                          <a:solidFill>
                            <a:schemeClr val="tx1"/>
                          </a:solidFill>
                          <a:effectLst/>
                          <a:latin typeface="+mn-lt"/>
                          <a:ea typeface="+mn-ea"/>
                          <a:cs typeface="Poppins"/>
                        </a:rPr>
                        <a:t>Quality-adjusted survival analyses using pivotal trial data</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169709934"/>
                  </a:ext>
                </a:extLst>
              </a:tr>
            </a:tbl>
          </a:graphicData>
        </a:graphic>
      </p:graphicFrame>
      <p:sp>
        <p:nvSpPr>
          <p:cNvPr id="46" name="Oval 45">
            <a:extLst>
              <a:ext uri="{FF2B5EF4-FFF2-40B4-BE49-F238E27FC236}">
                <a16:creationId xmlns:a16="http://schemas.microsoft.com/office/drawing/2014/main" id="{E78A03BB-4A43-4A3C-67E7-24BF5E7002C3}"/>
              </a:ext>
            </a:extLst>
          </p:cNvPr>
          <p:cNvSpPr/>
          <p:nvPr/>
        </p:nvSpPr>
        <p:spPr>
          <a:xfrm>
            <a:off x="8344220" y="2346954"/>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2" name="Rounded Rectangle 26">
            <a:extLst>
              <a:ext uri="{FF2B5EF4-FFF2-40B4-BE49-F238E27FC236}">
                <a16:creationId xmlns:a16="http://schemas.microsoft.com/office/drawing/2014/main" id="{00B06582-8298-9E0B-2EF8-CF410F316BCA}"/>
              </a:ext>
            </a:extLst>
          </p:cNvPr>
          <p:cNvSpPr/>
          <p:nvPr/>
        </p:nvSpPr>
        <p:spPr>
          <a:xfrm>
            <a:off x="434537" y="2690475"/>
            <a:ext cx="860863" cy="210024"/>
          </a:xfrm>
          <a:prstGeom prst="roundRect">
            <a:avLst>
              <a:gd name="adj" fmla="val 6677"/>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1"/>
                </a:solidFill>
                <a:effectLst/>
                <a:uLnTx/>
                <a:uFillTx/>
                <a:latin typeface="Poppins" pitchFamily="2" charset="77"/>
                <a:cs typeface="Poppins" pitchFamily="2" charset="77"/>
              </a:rPr>
              <a:t>High</a:t>
            </a:r>
          </a:p>
        </p:txBody>
      </p:sp>
      <p:sp>
        <p:nvSpPr>
          <p:cNvPr id="11" name="Oval 10">
            <a:extLst>
              <a:ext uri="{FF2B5EF4-FFF2-40B4-BE49-F238E27FC236}">
                <a16:creationId xmlns:a16="http://schemas.microsoft.com/office/drawing/2014/main" id="{D69BA2C6-9181-AB81-F3F5-F27C7A78DF2E}"/>
              </a:ext>
            </a:extLst>
          </p:cNvPr>
          <p:cNvSpPr/>
          <p:nvPr/>
        </p:nvSpPr>
        <p:spPr>
          <a:xfrm>
            <a:off x="8344220" y="3153904"/>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12" name="Oval 11">
            <a:extLst>
              <a:ext uri="{FF2B5EF4-FFF2-40B4-BE49-F238E27FC236}">
                <a16:creationId xmlns:a16="http://schemas.microsoft.com/office/drawing/2014/main" id="{7B55C2BD-57D5-C647-A037-F12F6A1F330A}"/>
              </a:ext>
            </a:extLst>
          </p:cNvPr>
          <p:cNvSpPr/>
          <p:nvPr/>
        </p:nvSpPr>
        <p:spPr>
          <a:xfrm>
            <a:off x="8344220" y="3675446"/>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13" name="Oval 12">
            <a:extLst>
              <a:ext uri="{FF2B5EF4-FFF2-40B4-BE49-F238E27FC236}">
                <a16:creationId xmlns:a16="http://schemas.microsoft.com/office/drawing/2014/main" id="{D8CFE5C9-F35C-1ADC-E792-52CFA5059ADE}"/>
              </a:ext>
            </a:extLst>
          </p:cNvPr>
          <p:cNvSpPr/>
          <p:nvPr/>
        </p:nvSpPr>
        <p:spPr>
          <a:xfrm>
            <a:off x="8344220" y="4061901"/>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14" name="Oval 13">
            <a:extLst>
              <a:ext uri="{FF2B5EF4-FFF2-40B4-BE49-F238E27FC236}">
                <a16:creationId xmlns:a16="http://schemas.microsoft.com/office/drawing/2014/main" id="{834F9E32-1A80-5702-4CE3-421D74FFB570}"/>
              </a:ext>
            </a:extLst>
          </p:cNvPr>
          <p:cNvSpPr/>
          <p:nvPr/>
        </p:nvSpPr>
        <p:spPr>
          <a:xfrm>
            <a:off x="8344220" y="4966829"/>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15" name="Rounded Rectangle 26">
            <a:extLst>
              <a:ext uri="{FF2B5EF4-FFF2-40B4-BE49-F238E27FC236}">
                <a16:creationId xmlns:a16="http://schemas.microsoft.com/office/drawing/2014/main" id="{021992D5-D9A3-3F60-7AC8-67F23173DC57}"/>
              </a:ext>
            </a:extLst>
          </p:cNvPr>
          <p:cNvSpPr/>
          <p:nvPr/>
        </p:nvSpPr>
        <p:spPr>
          <a:xfrm>
            <a:off x="434537" y="4159368"/>
            <a:ext cx="860863" cy="210024"/>
          </a:xfrm>
          <a:prstGeom prst="roundRect">
            <a:avLst>
              <a:gd name="adj" fmla="val 6677"/>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1"/>
                </a:solidFill>
                <a:effectLst/>
                <a:uLnTx/>
                <a:uFillTx/>
                <a:latin typeface="Poppins" pitchFamily="2" charset="77"/>
                <a:cs typeface="Poppins" pitchFamily="2" charset="77"/>
              </a:rPr>
              <a:t>High</a:t>
            </a:r>
          </a:p>
        </p:txBody>
      </p:sp>
      <p:sp>
        <p:nvSpPr>
          <p:cNvPr id="16" name="Rounded Rectangle 26">
            <a:extLst>
              <a:ext uri="{FF2B5EF4-FFF2-40B4-BE49-F238E27FC236}">
                <a16:creationId xmlns:a16="http://schemas.microsoft.com/office/drawing/2014/main" id="{0A6C5D66-975F-7959-D2CB-75E3EC944DDF}"/>
              </a:ext>
            </a:extLst>
          </p:cNvPr>
          <p:cNvSpPr/>
          <p:nvPr/>
        </p:nvSpPr>
        <p:spPr>
          <a:xfrm>
            <a:off x="434537" y="5597161"/>
            <a:ext cx="860863" cy="210024"/>
          </a:xfrm>
          <a:prstGeom prst="roundRect">
            <a:avLst>
              <a:gd name="adj" fmla="val 6677"/>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1"/>
                </a:solidFill>
                <a:effectLst/>
                <a:uLnTx/>
                <a:uFillTx/>
                <a:latin typeface="Poppins" pitchFamily="2" charset="77"/>
                <a:cs typeface="Poppins" pitchFamily="2" charset="77"/>
              </a:rPr>
              <a:t>High</a:t>
            </a:r>
          </a:p>
        </p:txBody>
      </p:sp>
      <p:sp>
        <p:nvSpPr>
          <p:cNvPr id="5" name="Oval 4">
            <a:extLst>
              <a:ext uri="{FF2B5EF4-FFF2-40B4-BE49-F238E27FC236}">
                <a16:creationId xmlns:a16="http://schemas.microsoft.com/office/drawing/2014/main" id="{3B2838CB-7274-C635-F1EE-4F23B942ECBB}"/>
              </a:ext>
            </a:extLst>
          </p:cNvPr>
          <p:cNvSpPr/>
          <p:nvPr/>
        </p:nvSpPr>
        <p:spPr>
          <a:xfrm>
            <a:off x="8344220" y="5339679"/>
            <a:ext cx="128016" cy="128016"/>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44" name="Rectangle 43">
            <a:extLst>
              <a:ext uri="{FF2B5EF4-FFF2-40B4-BE49-F238E27FC236}">
                <a16:creationId xmlns:a16="http://schemas.microsoft.com/office/drawing/2014/main" id="{E2B9DAC1-2BB2-16D6-6BE1-068F452DAA71}"/>
              </a:ext>
            </a:extLst>
          </p:cNvPr>
          <p:cNvSpPr/>
          <p:nvPr/>
        </p:nvSpPr>
        <p:spPr>
          <a:xfrm>
            <a:off x="371289" y="1259201"/>
            <a:ext cx="2520000" cy="167267"/>
          </a:xfrm>
          <a:prstGeom prst="rect">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1: Differentiation</a:t>
            </a:r>
          </a:p>
        </p:txBody>
      </p:sp>
      <p:sp>
        <p:nvSpPr>
          <p:cNvPr id="45" name="Rectangle 44">
            <a:extLst>
              <a:ext uri="{FF2B5EF4-FFF2-40B4-BE49-F238E27FC236}">
                <a16:creationId xmlns:a16="http://schemas.microsoft.com/office/drawing/2014/main" id="{FA2F789B-E5DA-7CA8-634C-1579DCF3ED73}"/>
              </a:ext>
            </a:extLst>
          </p:cNvPr>
          <p:cNvSpPr/>
          <p:nvPr/>
        </p:nvSpPr>
        <p:spPr>
          <a:xfrm>
            <a:off x="2940417"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2</a:t>
            </a:r>
          </a:p>
        </p:txBody>
      </p:sp>
      <p:sp>
        <p:nvSpPr>
          <p:cNvPr id="47" name="Rectangle 46">
            <a:extLst>
              <a:ext uri="{FF2B5EF4-FFF2-40B4-BE49-F238E27FC236}">
                <a16:creationId xmlns:a16="http://schemas.microsoft.com/office/drawing/2014/main" id="{C7922D60-0BC6-402A-4C73-863320D7C939}"/>
              </a:ext>
            </a:extLst>
          </p:cNvPr>
          <p:cNvSpPr/>
          <p:nvPr/>
        </p:nvSpPr>
        <p:spPr>
          <a:xfrm>
            <a:off x="3745545"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3</a:t>
            </a:r>
          </a:p>
        </p:txBody>
      </p:sp>
      <p:sp>
        <p:nvSpPr>
          <p:cNvPr id="48" name="Rectangle 47">
            <a:extLst>
              <a:ext uri="{FF2B5EF4-FFF2-40B4-BE49-F238E27FC236}">
                <a16:creationId xmlns:a16="http://schemas.microsoft.com/office/drawing/2014/main" id="{90708016-DE17-26C4-26C0-D73B69A5D670}"/>
              </a:ext>
            </a:extLst>
          </p:cNvPr>
          <p:cNvSpPr/>
          <p:nvPr/>
        </p:nvSpPr>
        <p:spPr>
          <a:xfrm>
            <a:off x="4550674"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4</a:t>
            </a:r>
          </a:p>
        </p:txBody>
      </p:sp>
      <p:grpSp>
        <p:nvGrpSpPr>
          <p:cNvPr id="57" name="Group 56">
            <a:extLst>
              <a:ext uri="{FF2B5EF4-FFF2-40B4-BE49-F238E27FC236}">
                <a16:creationId xmlns:a16="http://schemas.microsoft.com/office/drawing/2014/main" id="{B7C042AC-C172-74EA-FFCE-01961604B016}"/>
              </a:ext>
            </a:extLst>
          </p:cNvPr>
          <p:cNvGrpSpPr/>
          <p:nvPr/>
        </p:nvGrpSpPr>
        <p:grpSpPr>
          <a:xfrm>
            <a:off x="9588863" y="1238928"/>
            <a:ext cx="2240393" cy="363842"/>
            <a:chOff x="9746021" y="1221639"/>
            <a:chExt cx="2240393" cy="363842"/>
          </a:xfrm>
        </p:grpSpPr>
        <p:sp>
          <p:nvSpPr>
            <p:cNvPr id="60" name="Rectangle 59">
              <a:extLst>
                <a:ext uri="{FF2B5EF4-FFF2-40B4-BE49-F238E27FC236}">
                  <a16:creationId xmlns:a16="http://schemas.microsoft.com/office/drawing/2014/main" id="{6C6CEA0E-C4EF-31BC-B8C1-1342ED94534F}"/>
                </a:ext>
              </a:extLst>
            </p:cNvPr>
            <p:cNvSpPr/>
            <p:nvPr/>
          </p:nvSpPr>
          <p:spPr>
            <a:xfrm>
              <a:off x="9852837" y="1221639"/>
              <a:ext cx="2133577" cy="3638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800">
                  <a:solidFill>
                    <a:schemeClr val="tx1"/>
                  </a:solidFill>
                </a:rPr>
                <a:t>Click the </a:t>
              </a:r>
              <a:r>
                <a:rPr lang="en-US" sz="800" b="1">
                  <a:solidFill>
                    <a:schemeClr val="tx1"/>
                  </a:solidFill>
                </a:rPr>
                <a:t>bolded tactic </a:t>
              </a:r>
              <a:r>
                <a:rPr lang="en-US" sz="800">
                  <a:solidFill>
                    <a:schemeClr val="tx1"/>
                  </a:solidFill>
                </a:rPr>
                <a:t>to navigate to the study approach details</a:t>
              </a:r>
            </a:p>
          </p:txBody>
        </p:sp>
        <p:pic>
          <p:nvPicPr>
            <p:cNvPr id="61" name="Graphic 60" descr="Cursor with solid fill">
              <a:extLst>
                <a:ext uri="{FF2B5EF4-FFF2-40B4-BE49-F238E27FC236}">
                  <a16:creationId xmlns:a16="http://schemas.microsoft.com/office/drawing/2014/main" id="{4464C822-A68B-4C61-B915-F514C44354E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746021" y="1302723"/>
              <a:ext cx="216000" cy="216000"/>
            </a:xfrm>
            <a:prstGeom prst="rect">
              <a:avLst/>
            </a:prstGeom>
          </p:spPr>
        </p:pic>
      </p:grpSp>
      <p:sp>
        <p:nvSpPr>
          <p:cNvPr id="62" name="Rectangle 61">
            <a:extLst>
              <a:ext uri="{FF2B5EF4-FFF2-40B4-BE49-F238E27FC236}">
                <a16:creationId xmlns:a16="http://schemas.microsoft.com/office/drawing/2014/main" id="{2819C3FE-3CC0-B507-6866-922F9BDBF6C9}"/>
              </a:ext>
            </a:extLst>
          </p:cNvPr>
          <p:cNvSpPr/>
          <p:nvPr/>
        </p:nvSpPr>
        <p:spPr>
          <a:xfrm>
            <a:off x="7572976" y="6128998"/>
            <a:ext cx="4459396" cy="66816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algn="ctr"/>
            <a:endParaRPr lang="en-US" sz="1200">
              <a:solidFill>
                <a:schemeClr val="tx1"/>
              </a:solidFill>
            </a:endParaRPr>
          </a:p>
        </p:txBody>
      </p:sp>
      <p:sp>
        <p:nvSpPr>
          <p:cNvPr id="38" name="Footer Placeholder 2">
            <a:extLst>
              <a:ext uri="{FF2B5EF4-FFF2-40B4-BE49-F238E27FC236}">
                <a16:creationId xmlns:a16="http://schemas.microsoft.com/office/drawing/2014/main" id="{C90F7B04-003A-00AF-BFF0-F225665E495A}"/>
              </a:ext>
            </a:extLst>
          </p:cNvPr>
          <p:cNvSpPr>
            <a:spLocks noGrp="1"/>
          </p:cNvSpPr>
          <p:nvPr>
            <p:ph type="ftr" sz="quarter" idx="10"/>
          </p:nvPr>
        </p:nvSpPr>
        <p:spPr>
          <a:xfrm>
            <a:off x="371289" y="6126480"/>
            <a:ext cx="6261637" cy="542600"/>
          </a:xfrm>
        </p:spPr>
        <p:txBody>
          <a:bodyPr/>
          <a:lstStyle/>
          <a:p>
            <a:pPr>
              <a:defRPr/>
            </a:pPr>
            <a:r>
              <a:rPr lang="en-US">
                <a:solidFill>
                  <a:srgbClr val="000000">
                    <a:lumMod val="65000"/>
                    <a:lumOff val="35000"/>
                  </a:srgbClr>
                </a:solidFill>
              </a:rPr>
              <a:t>Abbreviations: </a:t>
            </a:r>
            <a:r>
              <a:rPr lang="en-US"/>
              <a:t>AE: Adverse Event; BBB: Blood–Brain Barrier; CE: Cost-effectiveness; CNS: Central Nervous System; CSF: Cerebrospinal Fluid; ECOG: Eastern Cooperative Oncology Group; HCPs: Healthcare Professionals; HCRU: Healthcare Resource Utilization; HI: High Priority; </a:t>
            </a:r>
            <a:r>
              <a:rPr lang="en-US" err="1"/>
              <a:t>HRQoL</a:t>
            </a:r>
            <a:r>
              <a:rPr lang="en-US"/>
              <a:t>: Health-Related Quality of Life; IIT: Investigator-Initiated Trial; NSCLC: Non-Small Cell Lung Cancer; PAGs: Patient Advocacy Groups; PK: Pharmacokinetics; PRMT5i: Protein Arginine Methyltransferase 5 Inhibitor; PRO: Patient-Reported Outcome; Q-TWIST: Quality-Adjusted Time Without Symptoms of Disease or Toxicity; RWE: Real-World Evidence; SI: Strategic Imperative; SoC: Standard of Care</a:t>
            </a:r>
          </a:p>
        </p:txBody>
      </p:sp>
      <p:sp>
        <p:nvSpPr>
          <p:cNvPr id="6" name="Oval 5">
            <a:extLst>
              <a:ext uri="{FF2B5EF4-FFF2-40B4-BE49-F238E27FC236}">
                <a16:creationId xmlns:a16="http://schemas.microsoft.com/office/drawing/2014/main" id="{486AC279-364B-2530-DF32-69857931B647}"/>
              </a:ext>
            </a:extLst>
          </p:cNvPr>
          <p:cNvSpPr/>
          <p:nvPr/>
        </p:nvSpPr>
        <p:spPr>
          <a:xfrm>
            <a:off x="8344220" y="4432035"/>
            <a:ext cx="128016" cy="128016"/>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grpSp>
        <p:nvGrpSpPr>
          <p:cNvPr id="40" name="Group 39">
            <a:extLst>
              <a:ext uri="{FF2B5EF4-FFF2-40B4-BE49-F238E27FC236}">
                <a16:creationId xmlns:a16="http://schemas.microsoft.com/office/drawing/2014/main" id="{C57D721D-3C6B-7384-3C81-296F33070027}"/>
              </a:ext>
            </a:extLst>
          </p:cNvPr>
          <p:cNvGrpSpPr/>
          <p:nvPr/>
        </p:nvGrpSpPr>
        <p:grpSpPr>
          <a:xfrm>
            <a:off x="6707941" y="6082797"/>
            <a:ext cx="5283720" cy="661604"/>
            <a:chOff x="301330" y="6226576"/>
            <a:chExt cx="5283720" cy="661604"/>
          </a:xfrm>
        </p:grpSpPr>
        <p:grpSp>
          <p:nvGrpSpPr>
            <p:cNvPr id="41" name="Group 40">
              <a:extLst>
                <a:ext uri="{FF2B5EF4-FFF2-40B4-BE49-F238E27FC236}">
                  <a16:creationId xmlns:a16="http://schemas.microsoft.com/office/drawing/2014/main" id="{8978A319-BE51-EF2D-CF53-FF40469DE261}"/>
                </a:ext>
              </a:extLst>
            </p:cNvPr>
            <p:cNvGrpSpPr/>
            <p:nvPr/>
          </p:nvGrpSpPr>
          <p:grpSpPr>
            <a:xfrm>
              <a:off x="328227" y="6580403"/>
              <a:ext cx="1894026" cy="307777"/>
              <a:chOff x="-2487500" y="6443238"/>
              <a:chExt cx="1894026" cy="307777"/>
            </a:xfrm>
          </p:grpSpPr>
          <p:sp>
            <p:nvSpPr>
              <p:cNvPr id="56" name="Oval 55">
                <a:extLst>
                  <a:ext uri="{FF2B5EF4-FFF2-40B4-BE49-F238E27FC236}">
                    <a16:creationId xmlns:a16="http://schemas.microsoft.com/office/drawing/2014/main" id="{7828A1D1-90F7-2A09-22A1-DB48A628FB6D}"/>
                  </a:ext>
                </a:extLst>
              </p:cNvPr>
              <p:cNvSpPr/>
              <p:nvPr/>
            </p:nvSpPr>
            <p:spPr>
              <a:xfrm>
                <a:off x="-2487500" y="6533526"/>
                <a:ext cx="129556" cy="12801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63" name="TextBox 62">
                <a:extLst>
                  <a:ext uri="{FF2B5EF4-FFF2-40B4-BE49-F238E27FC236}">
                    <a16:creationId xmlns:a16="http://schemas.microsoft.com/office/drawing/2014/main" id="{77F5331B-C0BD-DD0E-00C1-B201C0358F53}"/>
                  </a:ext>
                </a:extLst>
              </p:cNvPr>
              <p:cNvSpPr txBox="1"/>
              <p:nvPr/>
            </p:nvSpPr>
            <p:spPr>
              <a:xfrm>
                <a:off x="-2426470" y="6443238"/>
                <a:ext cx="1832996" cy="307777"/>
              </a:xfrm>
              <a:prstGeom prst="rect">
                <a:avLst/>
              </a:prstGeom>
              <a:noFill/>
            </p:spPr>
            <p:txBody>
              <a:bodyPr wrap="square" lIns="91440" tIns="91440" rIns="91440" bIns="91440" rtlCol="0">
                <a:spAutoFit/>
              </a:bodyPr>
              <a:lstStyle/>
              <a:p>
                <a:pPr algn="l"/>
                <a:r>
                  <a:rPr lang="en-US" sz="800"/>
                  <a:t>Near-term (immediate action)</a:t>
                </a:r>
              </a:p>
            </p:txBody>
          </p:sp>
        </p:grpSp>
        <p:grpSp>
          <p:nvGrpSpPr>
            <p:cNvPr id="42" name="Group 41">
              <a:extLst>
                <a:ext uri="{FF2B5EF4-FFF2-40B4-BE49-F238E27FC236}">
                  <a16:creationId xmlns:a16="http://schemas.microsoft.com/office/drawing/2014/main" id="{DD26A359-BC15-A397-CE8B-25BF677D2BCB}"/>
                </a:ext>
              </a:extLst>
            </p:cNvPr>
            <p:cNvGrpSpPr/>
            <p:nvPr/>
          </p:nvGrpSpPr>
          <p:grpSpPr>
            <a:xfrm>
              <a:off x="2087638" y="6580403"/>
              <a:ext cx="2154029" cy="307777"/>
              <a:chOff x="-785805" y="6439612"/>
              <a:chExt cx="2154029" cy="307777"/>
            </a:xfrm>
          </p:grpSpPr>
          <p:sp>
            <p:nvSpPr>
              <p:cNvPr id="54" name="Oval 53">
                <a:extLst>
                  <a:ext uri="{FF2B5EF4-FFF2-40B4-BE49-F238E27FC236}">
                    <a16:creationId xmlns:a16="http://schemas.microsoft.com/office/drawing/2014/main" id="{253FD71D-3309-1DC4-7DC0-7D2618855A18}"/>
                  </a:ext>
                </a:extLst>
              </p:cNvPr>
              <p:cNvSpPr/>
              <p:nvPr/>
            </p:nvSpPr>
            <p:spPr>
              <a:xfrm>
                <a:off x="-785805" y="6529900"/>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55" name="TextBox 54">
                <a:extLst>
                  <a:ext uri="{FF2B5EF4-FFF2-40B4-BE49-F238E27FC236}">
                    <a16:creationId xmlns:a16="http://schemas.microsoft.com/office/drawing/2014/main" id="{6916BB5A-8CC4-BC35-B7D1-4059737904E1}"/>
                  </a:ext>
                </a:extLst>
              </p:cNvPr>
              <p:cNvSpPr txBox="1"/>
              <p:nvPr/>
            </p:nvSpPr>
            <p:spPr>
              <a:xfrm>
                <a:off x="-730319" y="6439612"/>
                <a:ext cx="2098543" cy="307777"/>
              </a:xfrm>
              <a:prstGeom prst="rect">
                <a:avLst/>
              </a:prstGeom>
              <a:noFill/>
            </p:spPr>
            <p:txBody>
              <a:bodyPr wrap="square" lIns="91440" tIns="91440" rIns="91440" bIns="91440" rtlCol="0">
                <a:spAutoFit/>
              </a:bodyPr>
              <a:lstStyle/>
              <a:p>
                <a:pPr algn="l"/>
                <a:r>
                  <a:rPr lang="en-US" sz="800"/>
                  <a:t>Longer-term (no immediate action)</a:t>
                </a:r>
              </a:p>
            </p:txBody>
          </p:sp>
        </p:grpSp>
        <p:grpSp>
          <p:nvGrpSpPr>
            <p:cNvPr id="43" name="Group 42">
              <a:extLst>
                <a:ext uri="{FF2B5EF4-FFF2-40B4-BE49-F238E27FC236}">
                  <a16:creationId xmlns:a16="http://schemas.microsoft.com/office/drawing/2014/main" id="{73D27567-F895-6392-8DF6-42C325CB7D8A}"/>
                </a:ext>
              </a:extLst>
            </p:cNvPr>
            <p:cNvGrpSpPr/>
            <p:nvPr/>
          </p:nvGrpSpPr>
          <p:grpSpPr>
            <a:xfrm>
              <a:off x="4094230" y="6580403"/>
              <a:ext cx="1335262" cy="307777"/>
              <a:chOff x="1858782" y="6448136"/>
              <a:chExt cx="1335262" cy="307777"/>
            </a:xfrm>
          </p:grpSpPr>
          <p:sp>
            <p:nvSpPr>
              <p:cNvPr id="52" name="Oval 51">
                <a:extLst>
                  <a:ext uri="{FF2B5EF4-FFF2-40B4-BE49-F238E27FC236}">
                    <a16:creationId xmlns:a16="http://schemas.microsoft.com/office/drawing/2014/main" id="{49FB7167-4133-9300-D19E-6730E66F3D16}"/>
                  </a:ext>
                </a:extLst>
              </p:cNvPr>
              <p:cNvSpPr/>
              <p:nvPr/>
            </p:nvSpPr>
            <p:spPr>
              <a:xfrm>
                <a:off x="1858782" y="6538424"/>
                <a:ext cx="128016" cy="128016"/>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53" name="TextBox 52">
                <a:extLst>
                  <a:ext uri="{FF2B5EF4-FFF2-40B4-BE49-F238E27FC236}">
                    <a16:creationId xmlns:a16="http://schemas.microsoft.com/office/drawing/2014/main" id="{E79FBA88-9629-D1D1-09B1-69A0006C62D4}"/>
                  </a:ext>
                </a:extLst>
              </p:cNvPr>
              <p:cNvSpPr txBox="1"/>
              <p:nvPr/>
            </p:nvSpPr>
            <p:spPr>
              <a:xfrm>
                <a:off x="1909630" y="6448136"/>
                <a:ext cx="1284414" cy="307777"/>
              </a:xfrm>
              <a:prstGeom prst="rect">
                <a:avLst/>
              </a:prstGeom>
              <a:noFill/>
            </p:spPr>
            <p:txBody>
              <a:bodyPr wrap="square" lIns="91440" tIns="91440" rIns="91440" bIns="91440" rtlCol="0">
                <a:spAutoFit/>
              </a:bodyPr>
              <a:lstStyle/>
              <a:p>
                <a:pPr algn="l"/>
                <a:r>
                  <a:rPr lang="en-US" sz="800"/>
                  <a:t>Planned / addressed</a:t>
                </a:r>
              </a:p>
            </p:txBody>
          </p:sp>
        </p:grpSp>
        <p:sp>
          <p:nvSpPr>
            <p:cNvPr id="49" name="TextBox 48">
              <a:extLst>
                <a:ext uri="{FF2B5EF4-FFF2-40B4-BE49-F238E27FC236}">
                  <a16:creationId xmlns:a16="http://schemas.microsoft.com/office/drawing/2014/main" id="{8A8E4741-DD4C-40EB-C114-6CF41F5DA81D}"/>
                </a:ext>
              </a:extLst>
            </p:cNvPr>
            <p:cNvSpPr txBox="1"/>
            <p:nvPr/>
          </p:nvSpPr>
          <p:spPr>
            <a:xfrm>
              <a:off x="301330" y="6226576"/>
              <a:ext cx="5283720" cy="307777"/>
            </a:xfrm>
            <a:prstGeom prst="rect">
              <a:avLst/>
            </a:prstGeom>
            <a:noFill/>
          </p:spPr>
          <p:txBody>
            <a:bodyPr wrap="square" lIns="36000" tIns="91440" rIns="36000" bIns="91440" rtlCol="0">
              <a:spAutoFit/>
            </a:bodyPr>
            <a:lstStyle/>
            <a:p>
              <a:pPr>
                <a:spcBef>
                  <a:spcPts val="600"/>
                </a:spcBef>
              </a:pPr>
              <a:r>
                <a:rPr lang="en-US" sz="800" b="1"/>
                <a:t>Key:  Listed stakeholders represent the primary target audience for the evidence generated</a:t>
              </a:r>
            </a:p>
          </p:txBody>
        </p:sp>
        <p:sp>
          <p:nvSpPr>
            <p:cNvPr id="50" name="TextBox 49">
              <a:extLst>
                <a:ext uri="{FF2B5EF4-FFF2-40B4-BE49-F238E27FC236}">
                  <a16:creationId xmlns:a16="http://schemas.microsoft.com/office/drawing/2014/main" id="{18F3FC2C-36C3-49C4-C94C-E5AAC26B5979}"/>
                </a:ext>
              </a:extLst>
            </p:cNvPr>
            <p:cNvSpPr txBox="1"/>
            <p:nvPr/>
          </p:nvSpPr>
          <p:spPr>
            <a:xfrm>
              <a:off x="301330" y="6396002"/>
              <a:ext cx="5283720" cy="307777"/>
            </a:xfrm>
            <a:prstGeom prst="rect">
              <a:avLst/>
            </a:prstGeom>
            <a:noFill/>
          </p:spPr>
          <p:txBody>
            <a:bodyPr wrap="square" lIns="36000" tIns="91440" rIns="36000" bIns="91440" rtlCol="0">
              <a:spAutoFit/>
            </a:bodyPr>
            <a:lstStyle/>
            <a:p>
              <a:pPr>
                <a:spcBef>
                  <a:spcPts val="600"/>
                </a:spcBef>
              </a:pPr>
              <a:r>
                <a:rPr lang="en-US" sz="800"/>
                <a:t>Tactics are characterized according to action required based on cross-functional workshop input:</a:t>
              </a:r>
            </a:p>
          </p:txBody>
        </p:sp>
        <p:cxnSp>
          <p:nvCxnSpPr>
            <p:cNvPr id="51" name="Straight Connector 50">
              <a:extLst>
                <a:ext uri="{FF2B5EF4-FFF2-40B4-BE49-F238E27FC236}">
                  <a16:creationId xmlns:a16="http://schemas.microsoft.com/office/drawing/2014/main" id="{6CC08CD1-F70E-4E6C-787A-0A8CF291B096}"/>
                </a:ext>
              </a:extLst>
            </p:cNvPr>
            <p:cNvCxnSpPr>
              <a:cxnSpLocks/>
            </p:cNvCxnSpPr>
            <p:nvPr/>
          </p:nvCxnSpPr>
          <p:spPr>
            <a:xfrm flipV="1">
              <a:off x="301330" y="6454640"/>
              <a:ext cx="5005344" cy="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64" name="Group 63">
            <a:extLst>
              <a:ext uri="{FF2B5EF4-FFF2-40B4-BE49-F238E27FC236}">
                <a16:creationId xmlns:a16="http://schemas.microsoft.com/office/drawing/2014/main" id="{17EE2CA5-0CE2-4113-440B-B0CFF30BFE00}"/>
              </a:ext>
            </a:extLst>
          </p:cNvPr>
          <p:cNvGrpSpPr/>
          <p:nvPr/>
        </p:nvGrpSpPr>
        <p:grpSpPr>
          <a:xfrm>
            <a:off x="362743" y="10216"/>
            <a:ext cx="10042505" cy="252000"/>
            <a:chOff x="362743" y="10216"/>
            <a:chExt cx="10042505" cy="252000"/>
          </a:xfrm>
        </p:grpSpPr>
        <p:sp>
          <p:nvSpPr>
            <p:cNvPr id="65" name="Pentagon 47">
              <a:extLst>
                <a:ext uri="{FF2B5EF4-FFF2-40B4-BE49-F238E27FC236}">
                  <a16:creationId xmlns:a16="http://schemas.microsoft.com/office/drawing/2014/main" id="{1600B2E1-6726-0863-518B-4A6C7FFC7916}"/>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66" name="Chevron 48">
              <a:extLst>
                <a:ext uri="{FF2B5EF4-FFF2-40B4-BE49-F238E27FC236}">
                  <a16:creationId xmlns:a16="http://schemas.microsoft.com/office/drawing/2014/main" id="{8D42AB06-8061-36AD-E7FF-D1386788D984}"/>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67" name="Chevron 52">
              <a:extLst>
                <a:ext uri="{FF2B5EF4-FFF2-40B4-BE49-F238E27FC236}">
                  <a16:creationId xmlns:a16="http://schemas.microsoft.com/office/drawing/2014/main" id="{3676BAF3-DE65-F2D3-03F3-8F2D61A04294}"/>
                </a:ext>
              </a:extLst>
            </p:cNvPr>
            <p:cNvSpPr/>
            <p:nvPr/>
          </p:nvSpPr>
          <p:spPr>
            <a:xfrm>
              <a:off x="3701639"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68" name="Chevron 54">
              <a:extLst>
                <a:ext uri="{FF2B5EF4-FFF2-40B4-BE49-F238E27FC236}">
                  <a16:creationId xmlns:a16="http://schemas.microsoft.com/office/drawing/2014/main" id="{AE77587E-EA53-0AEE-AD4D-ADED5ED34A62}"/>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69" name="Chevron 48">
              <a:extLst>
                <a:ext uri="{FF2B5EF4-FFF2-40B4-BE49-F238E27FC236}">
                  <a16:creationId xmlns:a16="http://schemas.microsoft.com/office/drawing/2014/main" id="{63E339B6-2A80-7CB6-12F1-B80F139C52BF}"/>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71" name="Chevron 48">
              <a:extLst>
                <a:ext uri="{FF2B5EF4-FFF2-40B4-BE49-F238E27FC236}">
                  <a16:creationId xmlns:a16="http://schemas.microsoft.com/office/drawing/2014/main" id="{D9CE5A34-6905-3DFE-7469-6BE6CB529FD7}"/>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32486345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81A2D-0D9B-14A5-EF4C-2B013B983AA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BD30E31-17E1-30E0-00BB-E5018D4E5DA9}"/>
              </a:ext>
            </a:extLst>
          </p:cNvPr>
          <p:cNvSpPr/>
          <p:nvPr/>
        </p:nvSpPr>
        <p:spPr>
          <a:xfrm>
            <a:off x="7572976" y="6128998"/>
            <a:ext cx="4459396" cy="66816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algn="ctr"/>
            <a:endParaRPr lang="en-US" sz="1200">
              <a:solidFill>
                <a:schemeClr val="tx1"/>
              </a:solidFill>
            </a:endParaRPr>
          </a:p>
        </p:txBody>
      </p:sp>
      <p:graphicFrame>
        <p:nvGraphicFramePr>
          <p:cNvPr id="59" name="think-cell data - do not delete" hidden="1">
            <a:extLst>
              <a:ext uri="{FF2B5EF4-FFF2-40B4-BE49-F238E27FC236}">
                <a16:creationId xmlns:a16="http://schemas.microsoft.com/office/drawing/2014/main" id="{FDF053F5-B17D-A180-1DCC-BE25DD30A979}"/>
              </a:ext>
            </a:extLst>
          </p:cNvPr>
          <p:cNvGraphicFramePr>
            <a:graphicFrameLocks/>
          </p:cNvGraphicFramePr>
          <p:nvPr>
            <p:custDataLst>
              <p:tags r:id="rId1"/>
            </p:custDataLst>
            <p:extLst>
              <p:ext uri="{D42A27DB-BD31-4B8C-83A1-F6EECF244321}">
                <p14:modId xmlns:p14="http://schemas.microsoft.com/office/powerpoint/2010/main" val="22867327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59" name="think-cell data - do not delete" hidden="1">
                        <a:extLst>
                          <a:ext uri="{FF2B5EF4-FFF2-40B4-BE49-F238E27FC236}">
                            <a16:creationId xmlns:a16="http://schemas.microsoft.com/office/drawing/2014/main" id="{FDF053F5-B17D-A180-1DCC-BE25DD30A97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8" name="Title 57">
            <a:extLst>
              <a:ext uri="{FF2B5EF4-FFF2-40B4-BE49-F238E27FC236}">
                <a16:creationId xmlns:a16="http://schemas.microsoft.com/office/drawing/2014/main" id="{4A3125FE-0F08-567B-227D-C3CB0C2BD74C}"/>
              </a:ext>
            </a:extLst>
          </p:cNvPr>
          <p:cNvSpPr>
            <a:spLocks noGrp="1"/>
          </p:cNvSpPr>
          <p:nvPr>
            <p:ph type="title"/>
          </p:nvPr>
        </p:nvSpPr>
        <p:spPr>
          <a:xfrm>
            <a:off x="358337" y="338328"/>
            <a:ext cx="11470125" cy="738664"/>
          </a:xfrm>
        </p:spPr>
        <p:txBody>
          <a:bodyPr vert="horz" rIns="0">
            <a:spAutoFit/>
          </a:bodyPr>
          <a:lstStyle/>
          <a:p>
            <a:r>
              <a:rPr lang="en-US" sz="2400"/>
              <a:t>Prioritized evidence gaps: Drive global awareness of MTAP deletion as a predictive biomarker for PRMT5i (1/2)</a:t>
            </a:r>
          </a:p>
        </p:txBody>
      </p:sp>
      <p:graphicFrame>
        <p:nvGraphicFramePr>
          <p:cNvPr id="3" name="Table 2">
            <a:extLst>
              <a:ext uri="{FF2B5EF4-FFF2-40B4-BE49-F238E27FC236}">
                <a16:creationId xmlns:a16="http://schemas.microsoft.com/office/drawing/2014/main" id="{1884314C-136C-59B0-BAC0-A02AC87BD262}"/>
              </a:ext>
            </a:extLst>
          </p:cNvPr>
          <p:cNvGraphicFramePr>
            <a:graphicFrameLocks noGrp="1"/>
          </p:cNvGraphicFramePr>
          <p:nvPr>
            <p:extLst>
              <p:ext uri="{D42A27DB-BD31-4B8C-83A1-F6EECF244321}">
                <p14:modId xmlns:p14="http://schemas.microsoft.com/office/powerpoint/2010/main" val="1002410913"/>
              </p:ext>
            </p:extLst>
          </p:nvPr>
        </p:nvGraphicFramePr>
        <p:xfrm>
          <a:off x="362744" y="1555464"/>
          <a:ext cx="11470125" cy="4719603"/>
        </p:xfrm>
        <a:graphic>
          <a:graphicData uri="http://schemas.openxmlformats.org/drawingml/2006/table">
            <a:tbl>
              <a:tblPr bandRow="1">
                <a:tableStyleId>{5C22544A-7EE6-4342-B048-85BDC9FD1C3A}</a:tableStyleId>
              </a:tblPr>
              <a:tblGrid>
                <a:gridCol w="1618456">
                  <a:extLst>
                    <a:ext uri="{9D8B030D-6E8A-4147-A177-3AD203B41FA5}">
                      <a16:colId xmlns:a16="http://schemas.microsoft.com/office/drawing/2014/main" val="1720362591"/>
                    </a:ext>
                  </a:extLst>
                </a:gridCol>
                <a:gridCol w="2647950">
                  <a:extLst>
                    <a:ext uri="{9D8B030D-6E8A-4147-A177-3AD203B41FA5}">
                      <a16:colId xmlns:a16="http://schemas.microsoft.com/office/drawing/2014/main" val="1362236069"/>
                    </a:ext>
                  </a:extLst>
                </a:gridCol>
                <a:gridCol w="3655314">
                  <a:extLst>
                    <a:ext uri="{9D8B030D-6E8A-4147-A177-3AD203B41FA5}">
                      <a16:colId xmlns:a16="http://schemas.microsoft.com/office/drawing/2014/main" val="366937182"/>
                    </a:ext>
                  </a:extLst>
                </a:gridCol>
                <a:gridCol w="3548405">
                  <a:extLst>
                    <a:ext uri="{9D8B030D-6E8A-4147-A177-3AD203B41FA5}">
                      <a16:colId xmlns:a16="http://schemas.microsoft.com/office/drawing/2014/main" val="320023064"/>
                    </a:ext>
                  </a:extLst>
                </a:gridCol>
              </a:tblGrid>
              <a:tr h="0">
                <a:tc>
                  <a:txBody>
                    <a:bodyPr/>
                    <a:lstStyle/>
                    <a:p>
                      <a:pPr algn="ctr"/>
                      <a:r>
                        <a:rPr lang="en-US" sz="1200" b="1" i="0">
                          <a:solidFill>
                            <a:schemeClr val="bg1"/>
                          </a:solidFill>
                          <a:latin typeface="+mn-lt"/>
                          <a:cs typeface="Poppins" pitchFamily="2" charset="77"/>
                        </a:rPr>
                        <a:t>Gap ID and Priority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1200" b="1" i="0">
                          <a:solidFill>
                            <a:schemeClr val="bg1"/>
                          </a:solidFill>
                          <a:latin typeface="+mn-lt"/>
                          <a:cs typeface="Poppins" pitchFamily="2" charset="77"/>
                        </a:rPr>
                        <a:t>Evidence Gap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1200" b="1" i="0">
                          <a:solidFill>
                            <a:schemeClr val="bg1"/>
                          </a:solidFill>
                          <a:latin typeface="+mn-lt"/>
                          <a:cs typeface="Poppins" pitchFamily="2" charset="77"/>
                        </a:rPr>
                        <a:t>Rationale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1200" b="1" i="0">
                          <a:solidFill>
                            <a:schemeClr val="bg1"/>
                          </a:solidFill>
                          <a:latin typeface="+mn-lt"/>
                          <a:cs typeface="Poppins" pitchFamily="2" charset="77"/>
                        </a:rPr>
                        <a:t>Tactics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323510155"/>
                  </a:ext>
                </a:extLst>
              </a:tr>
              <a:tr h="867535">
                <a:tc>
                  <a:txBody>
                    <a:bodyPr/>
                    <a:lstStyle/>
                    <a:p>
                      <a:pPr algn="l"/>
                      <a:r>
                        <a:rPr lang="en-US" sz="1100" b="1" i="0">
                          <a:solidFill>
                            <a:schemeClr val="tx1"/>
                          </a:solidFill>
                          <a:latin typeface="+mn-lt"/>
                          <a:cs typeface="Poppins" pitchFamily="2" charset="77"/>
                        </a:rPr>
                        <a:t>NSCLC_HI_09</a:t>
                      </a:r>
                    </a:p>
                    <a:p>
                      <a:pPr algn="l"/>
                      <a:r>
                        <a:rPr lang="en-US" sz="1000" b="0" i="0">
                          <a:solidFill>
                            <a:schemeClr val="tx1"/>
                          </a:solidFill>
                          <a:latin typeface="+mn-lt"/>
                          <a:cs typeface="Poppins" pitchFamily="2" charset="77"/>
                        </a:rPr>
                        <a:t>Testing</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1">
                          <a:solidFill>
                            <a:schemeClr val="tx1"/>
                          </a:solidFill>
                        </a:rPr>
                        <a:t>(1L and 2L+) </a:t>
                      </a:r>
                      <a:r>
                        <a:rPr lang="en-US" sz="1000" b="0" i="0">
                          <a:solidFill>
                            <a:schemeClr val="tx1"/>
                          </a:solidFill>
                        </a:rPr>
                        <a:t>CTA turnaround time impact on BGB-58067 efficacy across testing methodologies (NGS and IHC)</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00" b="0" i="0">
                        <a:solidFill>
                          <a:schemeClr val="tx1"/>
                        </a:solidFill>
                        <a:latin typeface="+mn-lt"/>
                        <a:cs typeface="Poppins" pitchFamily="2" charset="77"/>
                      </a:endParaRPr>
                    </a:p>
                    <a:p>
                      <a:pPr algn="l"/>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 Regulators </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Ensures that diagnostic selection does not compromise timely treatment initiation or observed clinical efficacy of BGB-58067, particularly in 2L+ settings where treatment decisions need to be made more rapidly</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defRPr/>
                      </a:pPr>
                      <a:r>
                        <a:rPr lang="en-US" sz="1000" b="1" i="0" u="none" strike="noStrike" kern="1200" noProof="0">
                          <a:solidFill>
                            <a:schemeClr val="tx1"/>
                          </a:solidFill>
                          <a:effectLst/>
                          <a:latin typeface="+mn-lt"/>
                          <a:ea typeface="+mn-ea"/>
                          <a:cs typeface="Poppins"/>
                          <a:hlinkClick r:id="rId7" action="ppaction://hlinksldjump">
                            <a:extLst>
                              <a:ext uri="{A12FA001-AC4F-418D-AE19-62706E023703}">
                                <ahyp:hlinkClr xmlns:ahyp="http://schemas.microsoft.com/office/drawing/2018/hyperlinkcolor" val="tx"/>
                              </a:ext>
                            </a:extLst>
                          </a:hlinkClick>
                        </a:rPr>
                        <a:t>Modeling</a:t>
                      </a:r>
                      <a:r>
                        <a:rPr lang="en-US" sz="1000" b="0" i="0" u="none" strike="noStrike" kern="1200" noProof="0">
                          <a:solidFill>
                            <a:schemeClr val="tx1"/>
                          </a:solidFill>
                          <a:effectLst/>
                          <a:latin typeface="+mn-lt"/>
                          <a:ea typeface="+mn-ea"/>
                          <a:cs typeface="Poppins"/>
                          <a:hlinkClick r:id="rId7" action="ppaction://hlinksldjump">
                            <a:extLst>
                              <a:ext uri="{A12FA001-AC4F-418D-AE19-62706E023703}">
                                <ahyp:hlinkClr xmlns:ahyp="http://schemas.microsoft.com/office/drawing/2018/hyperlinkcolor" val="tx"/>
                              </a:ext>
                            </a:extLst>
                          </a:hlinkClick>
                        </a:rPr>
                        <a:t>: </a:t>
                      </a:r>
                      <a:r>
                        <a:rPr lang="en-US" sz="1000" b="0" i="0" u="none" strike="noStrike" kern="1200" noProof="0">
                          <a:solidFill>
                            <a:schemeClr val="tx1"/>
                          </a:solidFill>
                          <a:effectLst/>
                          <a:latin typeface="+mn-lt"/>
                          <a:ea typeface="+mn-ea"/>
                          <a:cs typeface="Poppins"/>
                        </a:rPr>
                        <a:t>Time-to-treatment modelling / simulation study</a:t>
                      </a:r>
                    </a:p>
                    <a:p>
                      <a:pPr marL="171450" lvl="0" indent="-171450">
                        <a:spcAft>
                          <a:spcPts val="600"/>
                        </a:spcAft>
                        <a:buClr>
                          <a:srgbClr val="000000"/>
                        </a:buClr>
                        <a:buFont typeface="Arial" panose="020B0604020202020204" pitchFamily="34" charset="0"/>
                        <a:buChar char="•"/>
                      </a:pPr>
                      <a:r>
                        <a:rPr lang="en-US" sz="1000" b="1" i="0" u="none" strike="noStrike" kern="1200" noProof="0">
                          <a:solidFill>
                            <a:schemeClr val="tx1"/>
                          </a:solidFill>
                          <a:effectLst/>
                          <a:latin typeface="+mn-lt"/>
                          <a:ea typeface="+mn-ea"/>
                          <a:cs typeface="Poppins"/>
                          <a:hlinkClick r:id="rId8" action="ppaction://hlinksldjump">
                            <a:extLst>
                              <a:ext uri="{A12FA001-AC4F-418D-AE19-62706E023703}">
                                <ahyp:hlinkClr xmlns:ahyp="http://schemas.microsoft.com/office/drawing/2018/hyperlinkcolor" val="tx"/>
                              </a:ext>
                            </a:extLst>
                          </a:hlinkClick>
                        </a:rPr>
                        <a:t>Post-hoc analysis</a:t>
                      </a:r>
                      <a:r>
                        <a:rPr lang="en-US" sz="1000" b="1" i="0" u="none" strike="noStrike" kern="1200" noProof="0">
                          <a:solidFill>
                            <a:schemeClr val="tx1"/>
                          </a:solidFill>
                          <a:effectLst/>
                          <a:latin typeface="+mn-lt"/>
                          <a:ea typeface="+mn-ea"/>
                          <a:cs typeface="Poppins"/>
                          <a:hlinkClick r:id="rId9" action="ppaction://hlinksldjump">
                            <a:extLst>
                              <a:ext uri="{A12FA001-AC4F-418D-AE19-62706E023703}">
                                <ahyp:hlinkClr xmlns:ahyp="http://schemas.microsoft.com/office/drawing/2018/hyperlinkcolor" val="tx"/>
                              </a:ext>
                            </a:extLst>
                          </a:hlinkClick>
                        </a:rPr>
                        <a:t>: </a:t>
                      </a:r>
                      <a:r>
                        <a:rPr lang="en-US" sz="1000" b="0" i="0" u="none" strike="noStrike" kern="1200" noProof="0">
                          <a:solidFill>
                            <a:schemeClr val="tx1"/>
                          </a:solidFill>
                          <a:effectLst/>
                          <a:latin typeface="+mn-lt"/>
                          <a:ea typeface="+mn-ea"/>
                          <a:cs typeface="Poppins"/>
                        </a:rPr>
                        <a:t>Efficacy by biomarker testing modality and time from testing to treatment</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523614853"/>
                  </a:ext>
                </a:extLst>
              </a:tr>
              <a:tr h="1424588">
                <a:tc>
                  <a:txBody>
                    <a:bodyPr/>
                    <a:lstStyle/>
                    <a:p>
                      <a:pPr algn="l"/>
                      <a:r>
                        <a:rPr lang="en-US" sz="1100" b="1" i="0">
                          <a:solidFill>
                            <a:schemeClr val="tx1"/>
                          </a:solidFill>
                          <a:latin typeface="+mn-lt"/>
                          <a:cs typeface="Poppins" pitchFamily="2" charset="77"/>
                        </a:rPr>
                        <a:t>NSCLC_HI_10</a:t>
                      </a:r>
                    </a:p>
                    <a:p>
                      <a:pPr algn="l"/>
                      <a:r>
                        <a:rPr lang="en-US" sz="1000" b="0" i="0">
                          <a:solidFill>
                            <a:schemeClr val="tx1"/>
                          </a:solidFill>
                          <a:latin typeface="+mn-lt"/>
                          <a:cs typeface="Poppins" pitchFamily="2" charset="77"/>
                        </a:rPr>
                        <a:t>Predictors of Response</a:t>
                      </a:r>
                    </a:p>
                    <a:p>
                      <a:pPr algn="l"/>
                      <a:endParaRPr lang="en-US" sz="1000" b="0"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1">
                          <a:solidFill>
                            <a:schemeClr val="tx1"/>
                          </a:solidFill>
                        </a:rPr>
                        <a:t>(1L and 2L+) </a:t>
                      </a:r>
                      <a:r>
                        <a:rPr lang="en-US" sz="1000" b="0" i="0">
                          <a:solidFill>
                            <a:schemeClr val="tx1"/>
                          </a:solidFill>
                        </a:rPr>
                        <a:t>BGB-58067's response rates across MTAP-deletion heterogeneity levels </a:t>
                      </a:r>
                    </a:p>
                    <a:p>
                      <a:pPr algn="l"/>
                      <a:endParaRPr lang="en-US" sz="500" b="0" i="0">
                        <a:solidFill>
                          <a:schemeClr val="tx1"/>
                        </a:solidFill>
                        <a:latin typeface="+mn-lt"/>
                        <a:cs typeface="Poppins" pitchFamily="2" charset="77"/>
                      </a:endParaRPr>
                    </a:p>
                    <a:p>
                      <a:pPr algn="l"/>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 Regulators  Patients and PAGs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Supports definition of the optimal MTAP threshold for patient selection, maximizing treatment enrichment and clinical benefit</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Clarifies biomarker precision to strengthen CDx development, payer confidence, and competitive differentiation in an increasingly crowded targeted-therapy landscape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171450" lvl="0" indent="-171450">
                        <a:spcAft>
                          <a:spcPts val="600"/>
                        </a:spcAft>
                        <a:buClr>
                          <a:srgbClr val="000000"/>
                        </a:buClr>
                        <a:buFont typeface="Arial" panose="020B0604020202020204" pitchFamily="34" charset="0"/>
                        <a:buChar char="•"/>
                      </a:pPr>
                      <a:r>
                        <a:rPr lang="en-US" sz="1000" b="1" i="0" u="none" strike="noStrike" kern="1200" noProof="0">
                          <a:solidFill>
                            <a:schemeClr val="tx1"/>
                          </a:solidFill>
                          <a:effectLst/>
                          <a:latin typeface="+mn-lt"/>
                          <a:ea typeface="+mn-ea"/>
                          <a:cs typeface="Poppins"/>
                          <a:hlinkClick r:id="rId10" action="ppaction://hlinksldjump">
                            <a:extLst>
                              <a:ext uri="{A12FA001-AC4F-418D-AE19-62706E023703}">
                                <ahyp:hlinkClr xmlns:ahyp="http://schemas.microsoft.com/office/drawing/2018/hyperlinkcolor" val="tx"/>
                              </a:ext>
                            </a:extLst>
                          </a:hlinkClick>
                        </a:rPr>
                        <a:t>IIT</a:t>
                      </a:r>
                      <a:r>
                        <a:rPr lang="en-US" sz="1000" b="1" i="0" u="none" strike="noStrike" kern="1200" noProof="0">
                          <a:solidFill>
                            <a:schemeClr val="tx1"/>
                          </a:solidFill>
                          <a:effectLst/>
                          <a:latin typeface="+mn-lt"/>
                          <a:ea typeface="+mn-ea"/>
                          <a:cs typeface="Poppins"/>
                          <a:hlinkClick r:id="rId9" action="ppaction://hlinksldjump">
                            <a:extLst>
                              <a:ext uri="{A12FA001-AC4F-418D-AE19-62706E023703}">
                                <ahyp:hlinkClr xmlns:ahyp="http://schemas.microsoft.com/office/drawing/2018/hyperlinkcolor" val="tx"/>
                              </a:ext>
                            </a:extLst>
                          </a:hlinkClick>
                        </a:rPr>
                        <a:t>: </a:t>
                      </a:r>
                      <a:r>
                        <a:rPr lang="en-US" sz="1000" b="0" i="0" u="none" strike="noStrike" kern="1200" noProof="0">
                          <a:solidFill>
                            <a:schemeClr val="tx1"/>
                          </a:solidFill>
                          <a:effectLst/>
                          <a:latin typeface="+mn-lt"/>
                          <a:ea typeface="+mn-ea"/>
                          <a:cs typeface="Poppins"/>
                        </a:rPr>
                        <a:t>Efficacy by homozygous vs. heterozygous MTAP deletion and clonality</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2742881760"/>
                  </a:ext>
                </a:extLst>
              </a:tr>
              <a:tr h="2100274">
                <a:tc>
                  <a:txBody>
                    <a:bodyPr/>
                    <a:lstStyle/>
                    <a:p>
                      <a:pPr algn="l"/>
                      <a:r>
                        <a:rPr lang="en-US" sz="1100" b="1" i="0">
                          <a:solidFill>
                            <a:schemeClr val="tx1"/>
                          </a:solidFill>
                          <a:latin typeface="+mn-lt"/>
                          <a:cs typeface="Poppins" pitchFamily="2" charset="77"/>
                        </a:rPr>
                        <a:t>NSCLC_HI_11</a:t>
                      </a:r>
                    </a:p>
                    <a:p>
                      <a:pPr algn="l"/>
                      <a:r>
                        <a:rPr lang="en-US" sz="1000" b="0" i="0">
                          <a:solidFill>
                            <a:schemeClr val="tx1"/>
                          </a:solidFill>
                          <a:latin typeface="+mn-lt"/>
                          <a:cs typeface="Poppins" pitchFamily="2" charset="77"/>
                        </a:rPr>
                        <a:t>Predictors of Response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1">
                          <a:solidFill>
                            <a:schemeClr val="tx1"/>
                          </a:solidFill>
                        </a:rPr>
                        <a:t>(1L and 2L+) </a:t>
                      </a:r>
                      <a:r>
                        <a:rPr lang="en-US" sz="1000" b="0" i="0">
                          <a:solidFill>
                            <a:schemeClr val="tx1"/>
                          </a:solidFill>
                        </a:rPr>
                        <a:t>(1L) Regulation of PD-L1 expression by BGB-58067 and associated efficacy across baseline PD-L1 subgroups</a:t>
                      </a:r>
                    </a:p>
                    <a:p>
                      <a:pPr algn="l"/>
                      <a:endParaRPr lang="en-US" sz="500" b="0" i="0">
                        <a:solidFill>
                          <a:schemeClr val="tx1"/>
                        </a:solidFill>
                        <a:latin typeface="+mn-lt"/>
                        <a:cs typeface="Poppins" pitchFamily="2" charset="77"/>
                      </a:endParaRPr>
                    </a:p>
                    <a:p>
                      <a:pPr algn="l"/>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Regulators </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Supports mechanistic rationale for PD-1/PD-L1 combination and informs patient selection by clarifying whether BGB-58067 alters PD-L1 biology and drives differential benefit across PD-L1 strata</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Enables prioritization of 1L combination strategies and strengthens competitive differentiation</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Enables clear competitive positioning relative to IO-based therapies through differentiated efficacy or mechanism</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Informs prioritization of 1L combination strategies and assesses potential to displace PD-L1 + chemotherapy SoC</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defRPr/>
                      </a:pPr>
                      <a:r>
                        <a:rPr lang="en-US" sz="1000" b="1" i="0" u="none" strike="noStrike" kern="1200" noProof="0">
                          <a:solidFill>
                            <a:schemeClr val="tx1"/>
                          </a:solidFill>
                          <a:effectLst/>
                          <a:latin typeface="+mn-lt"/>
                          <a:ea typeface="+mn-ea"/>
                          <a:cs typeface="Poppins"/>
                          <a:hlinkClick r:id="rId8" action="ppaction://hlinksldjump">
                            <a:extLst>
                              <a:ext uri="{A12FA001-AC4F-418D-AE19-62706E023703}">
                                <ahyp:hlinkClr xmlns:ahyp="http://schemas.microsoft.com/office/drawing/2018/hyperlinkcolor" val="tx"/>
                              </a:ext>
                            </a:extLst>
                          </a:hlinkClick>
                        </a:rPr>
                        <a:t>Post-hoc analysis: </a:t>
                      </a:r>
                      <a:r>
                        <a:rPr lang="en-US" sz="1000" b="0" i="0" u="none" strike="noStrike" kern="1200" noProof="0">
                          <a:solidFill>
                            <a:schemeClr val="tx1"/>
                          </a:solidFill>
                          <a:effectLst/>
                          <a:latin typeface="+mn-lt"/>
                          <a:ea typeface="+mn-ea"/>
                          <a:cs typeface="Poppins"/>
                        </a:rPr>
                        <a:t>Efficacy across baseline PD-L1 subgroups*</a:t>
                      </a:r>
                    </a:p>
                    <a:p>
                      <a:pPr marL="171450" marR="0" lvl="0" indent="-171450" algn="l" defTabSz="914400"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defRPr/>
                      </a:pPr>
                      <a:r>
                        <a:rPr lang="en-US" sz="1000" b="1" i="0" u="none" strike="noStrike" kern="1200" noProof="0">
                          <a:solidFill>
                            <a:schemeClr val="tx1"/>
                          </a:solidFill>
                          <a:effectLst/>
                          <a:latin typeface="+mn-lt"/>
                          <a:ea typeface="+mn-ea"/>
                          <a:cs typeface="Poppins"/>
                          <a:hlinkClick r:id="rId11" action="ppaction://hlinksldjump">
                            <a:extLst>
                              <a:ext uri="{A12FA001-AC4F-418D-AE19-62706E023703}">
                                <ahyp:hlinkClr xmlns:ahyp="http://schemas.microsoft.com/office/drawing/2018/hyperlinkcolor" val="tx"/>
                              </a:ext>
                            </a:extLst>
                          </a:hlinkClick>
                        </a:rPr>
                        <a:t>IIT</a:t>
                      </a:r>
                      <a:r>
                        <a:rPr lang="en-US" sz="1000" b="1" i="0" u="none" strike="noStrike" kern="1200" noProof="0">
                          <a:solidFill>
                            <a:schemeClr val="tx1"/>
                          </a:solidFill>
                          <a:effectLst/>
                          <a:latin typeface="+mn-lt"/>
                          <a:ea typeface="+mn-ea"/>
                          <a:cs typeface="Poppins"/>
                          <a:hlinkClick r:id="" action="ppaction://noaction">
                            <a:extLst>
                              <a:ext uri="{A12FA001-AC4F-418D-AE19-62706E023703}">
                                <ahyp:hlinkClr xmlns:ahyp="http://schemas.microsoft.com/office/drawing/2018/hyperlinkcolor" val="tx"/>
                              </a:ext>
                            </a:extLst>
                          </a:hlinkClick>
                        </a:rPr>
                        <a:t>:</a:t>
                      </a:r>
                      <a:r>
                        <a:rPr lang="en-US" sz="1000" b="0" i="0" u="none" strike="noStrike" kern="1200" noProof="0">
                          <a:solidFill>
                            <a:schemeClr val="tx1"/>
                          </a:solidFill>
                          <a:effectLst/>
                          <a:latin typeface="+mn-lt"/>
                          <a:ea typeface="+mn-ea"/>
                          <a:cs typeface="Poppins"/>
                          <a:hlinkClick r:id="" action="ppaction://noaction">
                            <a:extLst>
                              <a:ext uri="{A12FA001-AC4F-418D-AE19-62706E023703}">
                                <ahyp:hlinkClr xmlns:ahyp="http://schemas.microsoft.com/office/drawing/2018/hyperlinkcolor" val="tx"/>
                              </a:ext>
                            </a:extLst>
                          </a:hlinkClick>
                        </a:rPr>
                        <a:t> </a:t>
                      </a:r>
                      <a:r>
                        <a:rPr lang="en-US" sz="1000" b="0" i="0" u="none" strike="noStrike" kern="1200" noProof="0">
                          <a:solidFill>
                            <a:schemeClr val="tx1"/>
                          </a:solidFill>
                          <a:effectLst/>
                          <a:latin typeface="+mn-lt"/>
                          <a:ea typeface="+mn-ea"/>
                          <a:cs typeface="Poppins"/>
                        </a:rPr>
                        <a:t>Exploring efficacy in biomarker-enriched population (e.g., PD-L1 low/negative vs. high)</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169709934"/>
                  </a:ext>
                </a:extLst>
              </a:tr>
            </a:tbl>
          </a:graphicData>
        </a:graphic>
      </p:graphicFrame>
      <p:sp>
        <p:nvSpPr>
          <p:cNvPr id="46" name="Oval 45">
            <a:extLst>
              <a:ext uri="{FF2B5EF4-FFF2-40B4-BE49-F238E27FC236}">
                <a16:creationId xmlns:a16="http://schemas.microsoft.com/office/drawing/2014/main" id="{1823CF19-F0B6-11D3-8964-947AF25D81C6}"/>
              </a:ext>
            </a:extLst>
          </p:cNvPr>
          <p:cNvSpPr/>
          <p:nvPr/>
        </p:nvSpPr>
        <p:spPr>
          <a:xfrm>
            <a:off x="8344220" y="4865943"/>
            <a:ext cx="128016" cy="128016"/>
          </a:xfrm>
          <a:prstGeom prst="ellipse">
            <a:avLst/>
          </a:prstGeom>
          <a:gradFill>
            <a:gsLst>
              <a:gs pos="0">
                <a:schemeClr val="accent4"/>
              </a:gs>
              <a:gs pos="100000">
                <a:schemeClr val="bg1">
                  <a:lumMod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2" name="Rounded Rectangle 26">
            <a:extLst>
              <a:ext uri="{FF2B5EF4-FFF2-40B4-BE49-F238E27FC236}">
                <a16:creationId xmlns:a16="http://schemas.microsoft.com/office/drawing/2014/main" id="{DAB8AF3D-8815-5699-F9DB-8457662041F6}"/>
              </a:ext>
            </a:extLst>
          </p:cNvPr>
          <p:cNvSpPr/>
          <p:nvPr/>
        </p:nvSpPr>
        <p:spPr>
          <a:xfrm>
            <a:off x="434537" y="2458751"/>
            <a:ext cx="860863" cy="210024"/>
          </a:xfrm>
          <a:prstGeom prst="roundRect">
            <a:avLst>
              <a:gd name="adj" fmla="val 6677"/>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1"/>
                </a:solidFill>
                <a:effectLst/>
                <a:uLnTx/>
                <a:uFillTx/>
                <a:latin typeface="Poppins" pitchFamily="2" charset="77"/>
                <a:cs typeface="Poppins" pitchFamily="2" charset="77"/>
              </a:rPr>
              <a:t>High</a:t>
            </a:r>
          </a:p>
        </p:txBody>
      </p:sp>
      <p:sp>
        <p:nvSpPr>
          <p:cNvPr id="11" name="Oval 10">
            <a:extLst>
              <a:ext uri="{FF2B5EF4-FFF2-40B4-BE49-F238E27FC236}">
                <a16:creationId xmlns:a16="http://schemas.microsoft.com/office/drawing/2014/main" id="{12CD556B-A71D-660E-F671-0A25DDD6E655}"/>
              </a:ext>
            </a:extLst>
          </p:cNvPr>
          <p:cNvSpPr/>
          <p:nvPr/>
        </p:nvSpPr>
        <p:spPr>
          <a:xfrm>
            <a:off x="8344220" y="1970815"/>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13" name="Oval 12">
            <a:extLst>
              <a:ext uri="{FF2B5EF4-FFF2-40B4-BE49-F238E27FC236}">
                <a16:creationId xmlns:a16="http://schemas.microsoft.com/office/drawing/2014/main" id="{E5ACD077-119F-0845-2439-84B2D1CE56D4}"/>
              </a:ext>
            </a:extLst>
          </p:cNvPr>
          <p:cNvSpPr/>
          <p:nvPr/>
        </p:nvSpPr>
        <p:spPr>
          <a:xfrm>
            <a:off x="8344220" y="5250398"/>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15" name="Rounded Rectangle 26">
            <a:extLst>
              <a:ext uri="{FF2B5EF4-FFF2-40B4-BE49-F238E27FC236}">
                <a16:creationId xmlns:a16="http://schemas.microsoft.com/office/drawing/2014/main" id="{77CF2C9F-49AE-4B72-ED5E-1CFFC98913BC}"/>
              </a:ext>
            </a:extLst>
          </p:cNvPr>
          <p:cNvSpPr/>
          <p:nvPr/>
        </p:nvSpPr>
        <p:spPr>
          <a:xfrm>
            <a:off x="434537" y="5565096"/>
            <a:ext cx="860863" cy="210024"/>
          </a:xfrm>
          <a:prstGeom prst="roundRect">
            <a:avLst>
              <a:gd name="adj" fmla="val 6677"/>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1"/>
                </a:solidFill>
                <a:effectLst/>
                <a:uLnTx/>
                <a:uFillTx/>
                <a:latin typeface="Poppins" pitchFamily="2" charset="77"/>
                <a:cs typeface="Poppins" pitchFamily="2" charset="77"/>
              </a:rPr>
              <a:t>High</a:t>
            </a:r>
          </a:p>
        </p:txBody>
      </p:sp>
      <p:sp>
        <p:nvSpPr>
          <p:cNvPr id="12" name="Oval 11">
            <a:extLst>
              <a:ext uri="{FF2B5EF4-FFF2-40B4-BE49-F238E27FC236}">
                <a16:creationId xmlns:a16="http://schemas.microsoft.com/office/drawing/2014/main" id="{5115C3E3-996E-A458-8FE4-5B5FCC5B328C}"/>
              </a:ext>
            </a:extLst>
          </p:cNvPr>
          <p:cNvSpPr/>
          <p:nvPr/>
        </p:nvSpPr>
        <p:spPr>
          <a:xfrm>
            <a:off x="8344220" y="2329453"/>
            <a:ext cx="128016" cy="128016"/>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17" name="Oval 16">
            <a:extLst>
              <a:ext uri="{FF2B5EF4-FFF2-40B4-BE49-F238E27FC236}">
                <a16:creationId xmlns:a16="http://schemas.microsoft.com/office/drawing/2014/main" id="{7675F1BF-4A47-89EA-D02D-03E9D9C4F410}"/>
              </a:ext>
            </a:extLst>
          </p:cNvPr>
          <p:cNvSpPr/>
          <p:nvPr/>
        </p:nvSpPr>
        <p:spPr>
          <a:xfrm>
            <a:off x="8344566" y="3273657"/>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19" name="Rounded Rectangle 26">
            <a:extLst>
              <a:ext uri="{FF2B5EF4-FFF2-40B4-BE49-F238E27FC236}">
                <a16:creationId xmlns:a16="http://schemas.microsoft.com/office/drawing/2014/main" id="{8FB9B702-BE9B-A19F-600D-342D67DA682E}"/>
              </a:ext>
            </a:extLst>
          </p:cNvPr>
          <p:cNvSpPr/>
          <p:nvPr/>
        </p:nvSpPr>
        <p:spPr>
          <a:xfrm>
            <a:off x="434537" y="3679883"/>
            <a:ext cx="860863" cy="210024"/>
          </a:xfrm>
          <a:prstGeom prst="roundRect">
            <a:avLst>
              <a:gd name="adj" fmla="val 6677"/>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1"/>
                </a:solidFill>
                <a:effectLst/>
                <a:uLnTx/>
                <a:uFillTx/>
                <a:latin typeface="Poppins" pitchFamily="2" charset="77"/>
                <a:cs typeface="Poppins" pitchFamily="2" charset="77"/>
              </a:rPr>
              <a:t>High</a:t>
            </a:r>
          </a:p>
        </p:txBody>
      </p:sp>
      <p:sp>
        <p:nvSpPr>
          <p:cNvPr id="43" name="Rectangle 42">
            <a:extLst>
              <a:ext uri="{FF2B5EF4-FFF2-40B4-BE49-F238E27FC236}">
                <a16:creationId xmlns:a16="http://schemas.microsoft.com/office/drawing/2014/main" id="{711CF240-2F52-AFBC-A406-A5E2A17E8F66}"/>
              </a:ext>
            </a:extLst>
          </p:cNvPr>
          <p:cNvSpPr/>
          <p:nvPr/>
        </p:nvSpPr>
        <p:spPr>
          <a:xfrm>
            <a:off x="371289"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1</a:t>
            </a:r>
          </a:p>
        </p:txBody>
      </p:sp>
      <p:sp>
        <p:nvSpPr>
          <p:cNvPr id="45" name="Rectangle 44">
            <a:extLst>
              <a:ext uri="{FF2B5EF4-FFF2-40B4-BE49-F238E27FC236}">
                <a16:creationId xmlns:a16="http://schemas.microsoft.com/office/drawing/2014/main" id="{1C5AEE02-94EF-D05A-136C-E27971DA6F96}"/>
              </a:ext>
            </a:extLst>
          </p:cNvPr>
          <p:cNvSpPr/>
          <p:nvPr/>
        </p:nvSpPr>
        <p:spPr>
          <a:xfrm>
            <a:off x="3745545"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3</a:t>
            </a:r>
          </a:p>
        </p:txBody>
      </p:sp>
      <p:sp>
        <p:nvSpPr>
          <p:cNvPr id="44" name="Rectangle 43">
            <a:extLst>
              <a:ext uri="{FF2B5EF4-FFF2-40B4-BE49-F238E27FC236}">
                <a16:creationId xmlns:a16="http://schemas.microsoft.com/office/drawing/2014/main" id="{E1A80879-34EC-B67B-8F26-DDB073178FCE}"/>
              </a:ext>
            </a:extLst>
          </p:cNvPr>
          <p:cNvSpPr/>
          <p:nvPr/>
        </p:nvSpPr>
        <p:spPr>
          <a:xfrm>
            <a:off x="1176417" y="1259201"/>
            <a:ext cx="2520000" cy="167267"/>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2: Biomarkers</a:t>
            </a:r>
          </a:p>
        </p:txBody>
      </p:sp>
      <p:sp>
        <p:nvSpPr>
          <p:cNvPr id="47" name="Rectangle 46">
            <a:extLst>
              <a:ext uri="{FF2B5EF4-FFF2-40B4-BE49-F238E27FC236}">
                <a16:creationId xmlns:a16="http://schemas.microsoft.com/office/drawing/2014/main" id="{E1D90268-EE17-4CFC-9034-F04E763B5121}"/>
              </a:ext>
            </a:extLst>
          </p:cNvPr>
          <p:cNvSpPr/>
          <p:nvPr/>
        </p:nvSpPr>
        <p:spPr>
          <a:xfrm>
            <a:off x="4550674"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4</a:t>
            </a:r>
          </a:p>
        </p:txBody>
      </p:sp>
      <p:grpSp>
        <p:nvGrpSpPr>
          <p:cNvPr id="56" name="Group 55">
            <a:extLst>
              <a:ext uri="{FF2B5EF4-FFF2-40B4-BE49-F238E27FC236}">
                <a16:creationId xmlns:a16="http://schemas.microsoft.com/office/drawing/2014/main" id="{6B2DA737-159C-21DF-65B0-C48A95BD2835}"/>
              </a:ext>
            </a:extLst>
          </p:cNvPr>
          <p:cNvGrpSpPr/>
          <p:nvPr/>
        </p:nvGrpSpPr>
        <p:grpSpPr>
          <a:xfrm>
            <a:off x="9588863" y="1238928"/>
            <a:ext cx="2240393" cy="363842"/>
            <a:chOff x="9746021" y="1221639"/>
            <a:chExt cx="2240393" cy="363842"/>
          </a:xfrm>
        </p:grpSpPr>
        <p:sp>
          <p:nvSpPr>
            <p:cNvPr id="57" name="Rectangle 56">
              <a:extLst>
                <a:ext uri="{FF2B5EF4-FFF2-40B4-BE49-F238E27FC236}">
                  <a16:creationId xmlns:a16="http://schemas.microsoft.com/office/drawing/2014/main" id="{E0C4F9CC-A17D-B73B-9DF7-97F57C44DAB8}"/>
                </a:ext>
              </a:extLst>
            </p:cNvPr>
            <p:cNvSpPr/>
            <p:nvPr/>
          </p:nvSpPr>
          <p:spPr>
            <a:xfrm>
              <a:off x="9852837" y="1221639"/>
              <a:ext cx="2133577" cy="3638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800">
                  <a:solidFill>
                    <a:schemeClr val="tx1"/>
                  </a:solidFill>
                </a:rPr>
                <a:t>Click the </a:t>
              </a:r>
              <a:r>
                <a:rPr lang="en-US" sz="800" b="1">
                  <a:solidFill>
                    <a:schemeClr val="tx1"/>
                  </a:solidFill>
                </a:rPr>
                <a:t>bolded tactic </a:t>
              </a:r>
              <a:r>
                <a:rPr lang="en-US" sz="800">
                  <a:solidFill>
                    <a:schemeClr val="tx1"/>
                  </a:solidFill>
                </a:rPr>
                <a:t>to navigate to the study approach details</a:t>
              </a:r>
            </a:p>
          </p:txBody>
        </p:sp>
        <p:pic>
          <p:nvPicPr>
            <p:cNvPr id="60" name="Graphic 59" descr="Cursor with solid fill">
              <a:extLst>
                <a:ext uri="{FF2B5EF4-FFF2-40B4-BE49-F238E27FC236}">
                  <a16:creationId xmlns:a16="http://schemas.microsoft.com/office/drawing/2014/main" id="{79253B0C-D7E3-5E66-FB6B-98DC1791424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746021" y="1302723"/>
              <a:ext cx="216000" cy="216000"/>
            </a:xfrm>
            <a:prstGeom prst="rect">
              <a:avLst/>
            </a:prstGeom>
          </p:spPr>
        </p:pic>
      </p:grpSp>
      <p:sp>
        <p:nvSpPr>
          <p:cNvPr id="42" name="Footer Placeholder 2">
            <a:extLst>
              <a:ext uri="{FF2B5EF4-FFF2-40B4-BE49-F238E27FC236}">
                <a16:creationId xmlns:a16="http://schemas.microsoft.com/office/drawing/2014/main" id="{DEFD85BA-D8D1-3A9B-042D-3E949C560529}"/>
              </a:ext>
            </a:extLst>
          </p:cNvPr>
          <p:cNvSpPr>
            <a:spLocks noGrp="1"/>
          </p:cNvSpPr>
          <p:nvPr>
            <p:ph type="ftr" sz="quarter" idx="10"/>
          </p:nvPr>
        </p:nvSpPr>
        <p:spPr>
          <a:xfrm>
            <a:off x="371289" y="6281472"/>
            <a:ext cx="6261637" cy="554790"/>
          </a:xfrm>
        </p:spPr>
        <p:txBody>
          <a:bodyPr/>
          <a:lstStyle/>
          <a:p>
            <a:pPr>
              <a:defRPr/>
            </a:pPr>
            <a:r>
              <a:rPr lang="en-US">
                <a:solidFill>
                  <a:srgbClr val="595959"/>
                </a:solidFill>
              </a:rPr>
              <a:t>Notes: *Post-hoc is planned for the TPS </a:t>
            </a:r>
            <a:r>
              <a:rPr lang="en-US">
                <a:solidFill>
                  <a:srgbClr val="595959"/>
                </a:solidFill>
                <a:cs typeface="Times New Roman" panose="02020603050405020304" pitchFamily="18" charset="0"/>
              </a:rPr>
              <a:t>≥ 50% population</a:t>
            </a:r>
            <a:r>
              <a:rPr lang="en-US">
                <a:solidFill>
                  <a:srgbClr val="000000">
                    <a:lumMod val="65000"/>
                    <a:lumOff val="35000"/>
                  </a:srgbClr>
                </a:solidFill>
              </a:rPr>
              <a:t>; Abbreviations: </a:t>
            </a:r>
            <a:r>
              <a:rPr lang="en-US" err="1"/>
              <a:t>CDx</a:t>
            </a:r>
            <a:r>
              <a:rPr lang="en-US"/>
              <a:t>: Companion Diagnostic; CTA: Clinical Trial Assay; HCPs: Healthcare Professionals; HI: High Priority; IHC: Immunohistochemistry; IIT: Investigator-Initiated Trial; IO: Immuno-Oncology; MTAP: </a:t>
            </a:r>
            <a:r>
              <a:rPr lang="en-US" err="1"/>
              <a:t>Methylthioadenosine</a:t>
            </a:r>
            <a:r>
              <a:rPr lang="en-US"/>
              <a:t> Phosphorylase; NGS: Next-Generation Sequencing; NSCLC: Non-Small Cell Lung Cancer; PAGs: Patient Advocacy Groups; PD-1: Programmed Cell Death Protein 1; PD-L1: Programmed Death-Ligand 1; PRMT5i: Protein Arginine Methyltransferase 5 Inhibitor; SI: Strategic Imperative; SoC: Standard of Care</a:t>
            </a:r>
          </a:p>
        </p:txBody>
      </p:sp>
      <p:grpSp>
        <p:nvGrpSpPr>
          <p:cNvPr id="50" name="Group 49">
            <a:extLst>
              <a:ext uri="{FF2B5EF4-FFF2-40B4-BE49-F238E27FC236}">
                <a16:creationId xmlns:a16="http://schemas.microsoft.com/office/drawing/2014/main" id="{99526C62-22AD-816C-EB4F-125F6DCC6A7B}"/>
              </a:ext>
            </a:extLst>
          </p:cNvPr>
          <p:cNvGrpSpPr/>
          <p:nvPr/>
        </p:nvGrpSpPr>
        <p:grpSpPr>
          <a:xfrm>
            <a:off x="6707941" y="6221023"/>
            <a:ext cx="5283720" cy="661604"/>
            <a:chOff x="301330" y="6226576"/>
            <a:chExt cx="5283720" cy="661604"/>
          </a:xfrm>
        </p:grpSpPr>
        <p:grpSp>
          <p:nvGrpSpPr>
            <p:cNvPr id="51" name="Group 50">
              <a:extLst>
                <a:ext uri="{FF2B5EF4-FFF2-40B4-BE49-F238E27FC236}">
                  <a16:creationId xmlns:a16="http://schemas.microsoft.com/office/drawing/2014/main" id="{37C6DD2B-A4B1-FA04-BC6B-84118ED12326}"/>
                </a:ext>
              </a:extLst>
            </p:cNvPr>
            <p:cNvGrpSpPr/>
            <p:nvPr/>
          </p:nvGrpSpPr>
          <p:grpSpPr>
            <a:xfrm>
              <a:off x="328227" y="6580403"/>
              <a:ext cx="1894026" cy="307777"/>
              <a:chOff x="-2487500" y="6443238"/>
              <a:chExt cx="1894026" cy="307777"/>
            </a:xfrm>
          </p:grpSpPr>
          <p:sp>
            <p:nvSpPr>
              <p:cNvPr id="66" name="Oval 65">
                <a:extLst>
                  <a:ext uri="{FF2B5EF4-FFF2-40B4-BE49-F238E27FC236}">
                    <a16:creationId xmlns:a16="http://schemas.microsoft.com/office/drawing/2014/main" id="{C778CF68-2115-B769-BAED-493C5F6C9163}"/>
                  </a:ext>
                </a:extLst>
              </p:cNvPr>
              <p:cNvSpPr/>
              <p:nvPr/>
            </p:nvSpPr>
            <p:spPr>
              <a:xfrm>
                <a:off x="-2487500" y="6533526"/>
                <a:ext cx="129556" cy="12801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67" name="TextBox 66">
                <a:extLst>
                  <a:ext uri="{FF2B5EF4-FFF2-40B4-BE49-F238E27FC236}">
                    <a16:creationId xmlns:a16="http://schemas.microsoft.com/office/drawing/2014/main" id="{C24DF92E-8FF0-5E28-87E3-1544928C7A03}"/>
                  </a:ext>
                </a:extLst>
              </p:cNvPr>
              <p:cNvSpPr txBox="1"/>
              <p:nvPr/>
            </p:nvSpPr>
            <p:spPr>
              <a:xfrm>
                <a:off x="-2426470" y="6443238"/>
                <a:ext cx="1832996" cy="307777"/>
              </a:xfrm>
              <a:prstGeom prst="rect">
                <a:avLst/>
              </a:prstGeom>
              <a:noFill/>
            </p:spPr>
            <p:txBody>
              <a:bodyPr wrap="square" lIns="91440" tIns="91440" rIns="91440" bIns="91440" rtlCol="0">
                <a:spAutoFit/>
              </a:bodyPr>
              <a:lstStyle/>
              <a:p>
                <a:pPr algn="l"/>
                <a:r>
                  <a:rPr lang="en-US" sz="800"/>
                  <a:t>Near-term (immediate action)</a:t>
                </a:r>
              </a:p>
            </p:txBody>
          </p:sp>
        </p:grpSp>
        <p:grpSp>
          <p:nvGrpSpPr>
            <p:cNvPr id="52" name="Group 51">
              <a:extLst>
                <a:ext uri="{FF2B5EF4-FFF2-40B4-BE49-F238E27FC236}">
                  <a16:creationId xmlns:a16="http://schemas.microsoft.com/office/drawing/2014/main" id="{789E9AAC-FB7C-DF56-6BF7-AAB5790DA4C6}"/>
                </a:ext>
              </a:extLst>
            </p:cNvPr>
            <p:cNvGrpSpPr/>
            <p:nvPr/>
          </p:nvGrpSpPr>
          <p:grpSpPr>
            <a:xfrm>
              <a:off x="2087638" y="6580403"/>
              <a:ext cx="2154029" cy="307777"/>
              <a:chOff x="-785805" y="6439612"/>
              <a:chExt cx="2154029" cy="307777"/>
            </a:xfrm>
          </p:grpSpPr>
          <p:sp>
            <p:nvSpPr>
              <p:cNvPr id="64" name="Oval 63">
                <a:extLst>
                  <a:ext uri="{FF2B5EF4-FFF2-40B4-BE49-F238E27FC236}">
                    <a16:creationId xmlns:a16="http://schemas.microsoft.com/office/drawing/2014/main" id="{8F78B616-DEB3-BB3F-47DC-C75509E75DAA}"/>
                  </a:ext>
                </a:extLst>
              </p:cNvPr>
              <p:cNvSpPr/>
              <p:nvPr/>
            </p:nvSpPr>
            <p:spPr>
              <a:xfrm>
                <a:off x="-785805" y="6529900"/>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65" name="TextBox 64">
                <a:extLst>
                  <a:ext uri="{FF2B5EF4-FFF2-40B4-BE49-F238E27FC236}">
                    <a16:creationId xmlns:a16="http://schemas.microsoft.com/office/drawing/2014/main" id="{1FC89E40-295A-FA15-786E-466B82D3759D}"/>
                  </a:ext>
                </a:extLst>
              </p:cNvPr>
              <p:cNvSpPr txBox="1"/>
              <p:nvPr/>
            </p:nvSpPr>
            <p:spPr>
              <a:xfrm>
                <a:off x="-730319" y="6439612"/>
                <a:ext cx="2098543" cy="307777"/>
              </a:xfrm>
              <a:prstGeom prst="rect">
                <a:avLst/>
              </a:prstGeom>
              <a:noFill/>
            </p:spPr>
            <p:txBody>
              <a:bodyPr wrap="square" lIns="91440" tIns="91440" rIns="91440" bIns="91440" rtlCol="0">
                <a:spAutoFit/>
              </a:bodyPr>
              <a:lstStyle/>
              <a:p>
                <a:pPr algn="l"/>
                <a:r>
                  <a:rPr lang="en-US" sz="800"/>
                  <a:t>Longer-term (no immediate action)</a:t>
                </a:r>
              </a:p>
            </p:txBody>
          </p:sp>
        </p:grpSp>
        <p:grpSp>
          <p:nvGrpSpPr>
            <p:cNvPr id="53" name="Group 52">
              <a:extLst>
                <a:ext uri="{FF2B5EF4-FFF2-40B4-BE49-F238E27FC236}">
                  <a16:creationId xmlns:a16="http://schemas.microsoft.com/office/drawing/2014/main" id="{2D034652-4268-F831-C873-95C1C3830560}"/>
                </a:ext>
              </a:extLst>
            </p:cNvPr>
            <p:cNvGrpSpPr/>
            <p:nvPr/>
          </p:nvGrpSpPr>
          <p:grpSpPr>
            <a:xfrm>
              <a:off x="4094230" y="6580403"/>
              <a:ext cx="1335262" cy="307777"/>
              <a:chOff x="1858782" y="6448136"/>
              <a:chExt cx="1335262" cy="307777"/>
            </a:xfrm>
          </p:grpSpPr>
          <p:sp>
            <p:nvSpPr>
              <p:cNvPr id="62" name="Oval 61">
                <a:extLst>
                  <a:ext uri="{FF2B5EF4-FFF2-40B4-BE49-F238E27FC236}">
                    <a16:creationId xmlns:a16="http://schemas.microsoft.com/office/drawing/2014/main" id="{1F70DAA6-69CC-34F9-D082-233C8E76032E}"/>
                  </a:ext>
                </a:extLst>
              </p:cNvPr>
              <p:cNvSpPr/>
              <p:nvPr/>
            </p:nvSpPr>
            <p:spPr>
              <a:xfrm>
                <a:off x="1858782" y="6538424"/>
                <a:ext cx="128016" cy="128016"/>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63" name="TextBox 62">
                <a:extLst>
                  <a:ext uri="{FF2B5EF4-FFF2-40B4-BE49-F238E27FC236}">
                    <a16:creationId xmlns:a16="http://schemas.microsoft.com/office/drawing/2014/main" id="{7C86E70E-2DAE-E73A-F60E-5A11BBFA4F8A}"/>
                  </a:ext>
                </a:extLst>
              </p:cNvPr>
              <p:cNvSpPr txBox="1"/>
              <p:nvPr/>
            </p:nvSpPr>
            <p:spPr>
              <a:xfrm>
                <a:off x="1909630" y="6448136"/>
                <a:ext cx="1284414" cy="307777"/>
              </a:xfrm>
              <a:prstGeom prst="rect">
                <a:avLst/>
              </a:prstGeom>
              <a:noFill/>
            </p:spPr>
            <p:txBody>
              <a:bodyPr wrap="square" lIns="91440" tIns="91440" rIns="91440" bIns="91440" rtlCol="0">
                <a:spAutoFit/>
              </a:bodyPr>
              <a:lstStyle/>
              <a:p>
                <a:pPr algn="l"/>
                <a:r>
                  <a:rPr lang="en-US" sz="800"/>
                  <a:t>Planned / addressed</a:t>
                </a:r>
              </a:p>
            </p:txBody>
          </p:sp>
        </p:grpSp>
        <p:sp>
          <p:nvSpPr>
            <p:cNvPr id="54" name="TextBox 53">
              <a:extLst>
                <a:ext uri="{FF2B5EF4-FFF2-40B4-BE49-F238E27FC236}">
                  <a16:creationId xmlns:a16="http://schemas.microsoft.com/office/drawing/2014/main" id="{C1645BFB-6C17-9D09-2509-BFD908E45D7B}"/>
                </a:ext>
              </a:extLst>
            </p:cNvPr>
            <p:cNvSpPr txBox="1"/>
            <p:nvPr/>
          </p:nvSpPr>
          <p:spPr>
            <a:xfrm>
              <a:off x="301330" y="6226576"/>
              <a:ext cx="5283720" cy="307777"/>
            </a:xfrm>
            <a:prstGeom prst="rect">
              <a:avLst/>
            </a:prstGeom>
            <a:noFill/>
          </p:spPr>
          <p:txBody>
            <a:bodyPr wrap="square" lIns="36000" tIns="91440" rIns="36000" bIns="91440" rtlCol="0">
              <a:spAutoFit/>
            </a:bodyPr>
            <a:lstStyle/>
            <a:p>
              <a:pPr>
                <a:spcBef>
                  <a:spcPts val="600"/>
                </a:spcBef>
              </a:pPr>
              <a:r>
                <a:rPr lang="en-US" sz="800" b="1"/>
                <a:t>Key:  Listed stakeholders represent the primary target audience for the evidence generated</a:t>
              </a:r>
            </a:p>
          </p:txBody>
        </p:sp>
        <p:sp>
          <p:nvSpPr>
            <p:cNvPr id="55" name="TextBox 54">
              <a:extLst>
                <a:ext uri="{FF2B5EF4-FFF2-40B4-BE49-F238E27FC236}">
                  <a16:creationId xmlns:a16="http://schemas.microsoft.com/office/drawing/2014/main" id="{7D595D32-535E-131A-5495-23C93BFFE727}"/>
                </a:ext>
              </a:extLst>
            </p:cNvPr>
            <p:cNvSpPr txBox="1"/>
            <p:nvPr/>
          </p:nvSpPr>
          <p:spPr>
            <a:xfrm>
              <a:off x="301330" y="6396002"/>
              <a:ext cx="5283720" cy="307777"/>
            </a:xfrm>
            <a:prstGeom prst="rect">
              <a:avLst/>
            </a:prstGeom>
            <a:noFill/>
          </p:spPr>
          <p:txBody>
            <a:bodyPr wrap="square" lIns="36000" tIns="91440" rIns="36000" bIns="91440" rtlCol="0">
              <a:spAutoFit/>
            </a:bodyPr>
            <a:lstStyle/>
            <a:p>
              <a:pPr>
                <a:spcBef>
                  <a:spcPts val="600"/>
                </a:spcBef>
              </a:pPr>
              <a:r>
                <a:rPr lang="en-US" sz="800"/>
                <a:t>Tactics are characterized according to action required based on cross-functional workshop input:</a:t>
              </a:r>
            </a:p>
          </p:txBody>
        </p:sp>
        <p:cxnSp>
          <p:nvCxnSpPr>
            <p:cNvPr id="61" name="Straight Connector 60">
              <a:extLst>
                <a:ext uri="{FF2B5EF4-FFF2-40B4-BE49-F238E27FC236}">
                  <a16:creationId xmlns:a16="http://schemas.microsoft.com/office/drawing/2014/main" id="{D23365BA-04D6-B20E-DE4E-2A761705F212}"/>
                </a:ext>
              </a:extLst>
            </p:cNvPr>
            <p:cNvCxnSpPr>
              <a:cxnSpLocks/>
            </p:cNvCxnSpPr>
            <p:nvPr/>
          </p:nvCxnSpPr>
          <p:spPr>
            <a:xfrm flipV="1">
              <a:off x="301330" y="6454640"/>
              <a:ext cx="5005344" cy="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68" name="Group 67">
            <a:extLst>
              <a:ext uri="{FF2B5EF4-FFF2-40B4-BE49-F238E27FC236}">
                <a16:creationId xmlns:a16="http://schemas.microsoft.com/office/drawing/2014/main" id="{4BF74CB6-10F5-F358-F651-B49065C8E95F}"/>
              </a:ext>
            </a:extLst>
          </p:cNvPr>
          <p:cNvGrpSpPr/>
          <p:nvPr/>
        </p:nvGrpSpPr>
        <p:grpSpPr>
          <a:xfrm>
            <a:off x="362743" y="10216"/>
            <a:ext cx="10042505" cy="252000"/>
            <a:chOff x="362743" y="10216"/>
            <a:chExt cx="10042505" cy="252000"/>
          </a:xfrm>
        </p:grpSpPr>
        <p:sp>
          <p:nvSpPr>
            <p:cNvPr id="69" name="Pentagon 47">
              <a:extLst>
                <a:ext uri="{FF2B5EF4-FFF2-40B4-BE49-F238E27FC236}">
                  <a16:creationId xmlns:a16="http://schemas.microsoft.com/office/drawing/2014/main" id="{462E97A5-85FD-C68D-DB77-5113D876C575}"/>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70" name="Chevron 48">
              <a:extLst>
                <a:ext uri="{FF2B5EF4-FFF2-40B4-BE49-F238E27FC236}">
                  <a16:creationId xmlns:a16="http://schemas.microsoft.com/office/drawing/2014/main" id="{93043B13-2E03-1D04-368D-7D38962BBFBE}"/>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71" name="Chevron 52">
              <a:extLst>
                <a:ext uri="{FF2B5EF4-FFF2-40B4-BE49-F238E27FC236}">
                  <a16:creationId xmlns:a16="http://schemas.microsoft.com/office/drawing/2014/main" id="{F2FE6CA0-F3C7-3B6F-4B7B-B51B50C475A8}"/>
                </a:ext>
              </a:extLst>
            </p:cNvPr>
            <p:cNvSpPr/>
            <p:nvPr/>
          </p:nvSpPr>
          <p:spPr>
            <a:xfrm>
              <a:off x="3701639"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72" name="Chevron 54">
              <a:extLst>
                <a:ext uri="{FF2B5EF4-FFF2-40B4-BE49-F238E27FC236}">
                  <a16:creationId xmlns:a16="http://schemas.microsoft.com/office/drawing/2014/main" id="{F9AA7666-6FA9-66D4-B1C4-1D16E6ACF74C}"/>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73" name="Chevron 48">
              <a:extLst>
                <a:ext uri="{FF2B5EF4-FFF2-40B4-BE49-F238E27FC236}">
                  <a16:creationId xmlns:a16="http://schemas.microsoft.com/office/drawing/2014/main" id="{9E33CE6A-805F-AA58-7DF6-2CF1730A361C}"/>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75" name="Chevron 48">
              <a:extLst>
                <a:ext uri="{FF2B5EF4-FFF2-40B4-BE49-F238E27FC236}">
                  <a16:creationId xmlns:a16="http://schemas.microsoft.com/office/drawing/2014/main" id="{5096D90C-447B-DCBF-0EF1-4C2897401EF2}"/>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1103528544"/>
      </p:ext>
    </p:extLst>
  </p:cSld>
  <p:clrMapOvr>
    <a:masterClrMapping/>
  </p:clrMapOvr>
  <p:extLst>
    <p:ext uri="{6950BFC3-D8DA-4A85-94F7-54DA5524770B}">
      <p188:commentRel xmlns:p188="http://schemas.microsoft.com/office/powerpoint/2018/8/main" r:id="rId4"/>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944F2-9C2F-0938-3472-8ED52E52536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02B74F7-C3D6-6255-2F52-8E09C3D1D99A}"/>
              </a:ext>
            </a:extLst>
          </p:cNvPr>
          <p:cNvSpPr/>
          <p:nvPr/>
        </p:nvSpPr>
        <p:spPr>
          <a:xfrm>
            <a:off x="7572976" y="6128998"/>
            <a:ext cx="4459396" cy="66816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algn="ctr"/>
            <a:endParaRPr lang="en-US" sz="1200">
              <a:solidFill>
                <a:schemeClr val="tx1"/>
              </a:solidFill>
            </a:endParaRPr>
          </a:p>
        </p:txBody>
      </p:sp>
      <p:graphicFrame>
        <p:nvGraphicFramePr>
          <p:cNvPr id="59" name="think-cell data - do not delete" hidden="1">
            <a:extLst>
              <a:ext uri="{FF2B5EF4-FFF2-40B4-BE49-F238E27FC236}">
                <a16:creationId xmlns:a16="http://schemas.microsoft.com/office/drawing/2014/main" id="{B8DA6957-A8FE-23D6-9D7B-6375B118DF22}"/>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59" name="think-cell data - do not delete" hidden="1">
                        <a:extLst>
                          <a:ext uri="{FF2B5EF4-FFF2-40B4-BE49-F238E27FC236}">
                            <a16:creationId xmlns:a16="http://schemas.microsoft.com/office/drawing/2014/main" id="{B8DA6957-A8FE-23D6-9D7B-6375B118DF2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8" name="Title 57">
            <a:extLst>
              <a:ext uri="{FF2B5EF4-FFF2-40B4-BE49-F238E27FC236}">
                <a16:creationId xmlns:a16="http://schemas.microsoft.com/office/drawing/2014/main" id="{C1751CA8-7DCB-E4BB-DDE6-5757744338B8}"/>
              </a:ext>
            </a:extLst>
          </p:cNvPr>
          <p:cNvSpPr>
            <a:spLocks noGrp="1"/>
          </p:cNvSpPr>
          <p:nvPr>
            <p:ph type="title"/>
          </p:nvPr>
        </p:nvSpPr>
        <p:spPr>
          <a:xfrm>
            <a:off x="358337" y="338328"/>
            <a:ext cx="11470125" cy="738664"/>
          </a:xfrm>
        </p:spPr>
        <p:txBody>
          <a:bodyPr vert="horz" rIns="0">
            <a:spAutoFit/>
          </a:bodyPr>
          <a:lstStyle/>
          <a:p>
            <a:r>
              <a:rPr lang="en-US" sz="2400"/>
              <a:t>Prioritized evidence gaps: Drive global awareness of MTAP deletion as a predictive biomarker for PRMT5i (2/2)</a:t>
            </a:r>
          </a:p>
        </p:txBody>
      </p:sp>
      <p:graphicFrame>
        <p:nvGraphicFramePr>
          <p:cNvPr id="3" name="Table 2">
            <a:extLst>
              <a:ext uri="{FF2B5EF4-FFF2-40B4-BE49-F238E27FC236}">
                <a16:creationId xmlns:a16="http://schemas.microsoft.com/office/drawing/2014/main" id="{F249EBC6-78FB-A2D8-D0A1-3F063F1F7856}"/>
              </a:ext>
            </a:extLst>
          </p:cNvPr>
          <p:cNvGraphicFramePr>
            <a:graphicFrameLocks noGrp="1"/>
          </p:cNvGraphicFramePr>
          <p:nvPr>
            <p:extLst>
              <p:ext uri="{D42A27DB-BD31-4B8C-83A1-F6EECF244321}">
                <p14:modId xmlns:p14="http://schemas.microsoft.com/office/powerpoint/2010/main" val="3767437406"/>
              </p:ext>
            </p:extLst>
          </p:nvPr>
        </p:nvGraphicFramePr>
        <p:xfrm>
          <a:off x="362744" y="1554579"/>
          <a:ext cx="11470125" cy="4391280"/>
        </p:xfrm>
        <a:graphic>
          <a:graphicData uri="http://schemas.openxmlformats.org/drawingml/2006/table">
            <a:tbl>
              <a:tblPr bandRow="1">
                <a:tableStyleId>{5C22544A-7EE6-4342-B048-85BDC9FD1C3A}</a:tableStyleId>
              </a:tblPr>
              <a:tblGrid>
                <a:gridCol w="1618456">
                  <a:extLst>
                    <a:ext uri="{9D8B030D-6E8A-4147-A177-3AD203B41FA5}">
                      <a16:colId xmlns:a16="http://schemas.microsoft.com/office/drawing/2014/main" val="1720362591"/>
                    </a:ext>
                  </a:extLst>
                </a:gridCol>
                <a:gridCol w="2647950">
                  <a:extLst>
                    <a:ext uri="{9D8B030D-6E8A-4147-A177-3AD203B41FA5}">
                      <a16:colId xmlns:a16="http://schemas.microsoft.com/office/drawing/2014/main" val="1362236069"/>
                    </a:ext>
                  </a:extLst>
                </a:gridCol>
                <a:gridCol w="3655314">
                  <a:extLst>
                    <a:ext uri="{9D8B030D-6E8A-4147-A177-3AD203B41FA5}">
                      <a16:colId xmlns:a16="http://schemas.microsoft.com/office/drawing/2014/main" val="366937182"/>
                    </a:ext>
                  </a:extLst>
                </a:gridCol>
                <a:gridCol w="3548405">
                  <a:extLst>
                    <a:ext uri="{9D8B030D-6E8A-4147-A177-3AD203B41FA5}">
                      <a16:colId xmlns:a16="http://schemas.microsoft.com/office/drawing/2014/main" val="320023064"/>
                    </a:ext>
                  </a:extLst>
                </a:gridCol>
              </a:tblGrid>
              <a:tr h="274320">
                <a:tc>
                  <a:txBody>
                    <a:bodyPr/>
                    <a:lstStyle/>
                    <a:p>
                      <a:pPr algn="ctr"/>
                      <a:r>
                        <a:rPr lang="en-US" sz="1200" b="1" i="0">
                          <a:solidFill>
                            <a:schemeClr val="bg1"/>
                          </a:solidFill>
                          <a:latin typeface="+mn-lt"/>
                          <a:cs typeface="Poppins" pitchFamily="2" charset="77"/>
                        </a:rPr>
                        <a:t>Gap ID and Priority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1200" b="1" i="0">
                          <a:solidFill>
                            <a:schemeClr val="bg1"/>
                          </a:solidFill>
                          <a:latin typeface="+mn-lt"/>
                          <a:cs typeface="Poppins" pitchFamily="2" charset="77"/>
                        </a:rPr>
                        <a:t>Evidence Gap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1200" b="1" i="0">
                          <a:solidFill>
                            <a:schemeClr val="bg1"/>
                          </a:solidFill>
                          <a:latin typeface="+mn-lt"/>
                          <a:cs typeface="Poppins" pitchFamily="2" charset="77"/>
                        </a:rPr>
                        <a:t>Rationale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1200" b="1" i="0">
                          <a:solidFill>
                            <a:schemeClr val="bg1"/>
                          </a:solidFill>
                          <a:latin typeface="+mn-lt"/>
                          <a:cs typeface="Poppins" pitchFamily="2" charset="77"/>
                        </a:rPr>
                        <a:t>Tactics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323510155"/>
                  </a:ext>
                </a:extLst>
              </a:tr>
              <a:tr h="1920240">
                <a:tc>
                  <a:txBody>
                    <a:bodyPr/>
                    <a:lstStyle/>
                    <a:p>
                      <a:pPr algn="l"/>
                      <a:r>
                        <a:rPr lang="en-US" sz="1100" b="1" i="0">
                          <a:solidFill>
                            <a:schemeClr val="tx1"/>
                          </a:solidFill>
                          <a:latin typeface="+mn-lt"/>
                          <a:cs typeface="Poppins" pitchFamily="2" charset="77"/>
                        </a:rPr>
                        <a:t>NSCLC_HI_12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1"/>
                          </a:solidFill>
                          <a:latin typeface="+mn-lt"/>
                          <a:cs typeface="Poppins" pitchFamily="2" charset="77"/>
                        </a:rPr>
                        <a:t>Predictors of Response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spcAft>
                          <a:spcPts val="500"/>
                        </a:spcAft>
                      </a:pPr>
                      <a:r>
                        <a:rPr lang="en-US" sz="1000" b="0" i="1">
                          <a:solidFill>
                            <a:schemeClr val="tx1"/>
                          </a:solidFill>
                          <a:latin typeface="+mn-lt"/>
                          <a:cs typeface="Poppins" pitchFamily="2" charset="77"/>
                        </a:rPr>
                        <a:t>(1L and 2L+) </a:t>
                      </a:r>
                      <a:r>
                        <a:rPr lang="en-US" sz="1000" b="0" i="0">
                          <a:solidFill>
                            <a:schemeClr val="tx1"/>
                          </a:solidFill>
                          <a:latin typeface="+mn-lt"/>
                          <a:cs typeface="Poppins" pitchFamily="2" charset="77"/>
                        </a:rPr>
                        <a:t>BGB-58067 clinical outcomes in MTAP-del NSCLC patient populations with co-occurring actionable genetic alterations (EGFR, ALK, KRAS) compared to single-mutation cohorts</a:t>
                      </a:r>
                    </a:p>
                    <a:p>
                      <a:pPr algn="l">
                        <a:spcAft>
                          <a:spcPts val="500"/>
                        </a:spcAft>
                      </a:pPr>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 Regulators </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Clarifies sequencing strategy by determining whether prior BGB-58067-based therapy preserves, enhances, or compromises response to KRAS-targeted agents in 2L</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Mitigates physician hesitation in 1L adoption and supports confident integration into evolving KRAS-driven treatment algorithms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lvl="0" indent="-171450">
                        <a:spcAft>
                          <a:spcPts val="600"/>
                        </a:spcAft>
                        <a:buClr>
                          <a:srgbClr val="000000"/>
                        </a:buClr>
                        <a:buFont typeface="Arial" panose="020B0604020202020204" pitchFamily="34" charset="0"/>
                        <a:buChar char="•"/>
                      </a:pPr>
                      <a:r>
                        <a:rPr lang="en-US" sz="1000" b="1" i="0" u="sng" strike="noStrike" kern="1200" noProof="0">
                          <a:solidFill>
                            <a:schemeClr val="tx1"/>
                          </a:solidFill>
                          <a:effectLst/>
                          <a:latin typeface="+mn-lt"/>
                          <a:ea typeface="+mn-ea"/>
                          <a:cs typeface="Poppins"/>
                          <a:hlinkClick r:id="rId6" action="ppaction://hlinksldjump">
                            <a:extLst>
                              <a:ext uri="{A12FA001-AC4F-418D-AE19-62706E023703}">
                                <ahyp:hlinkClr xmlns:ahyp="http://schemas.microsoft.com/office/drawing/2018/hyperlinkcolor" val="tx"/>
                              </a:ext>
                            </a:extLst>
                          </a:hlinkClick>
                        </a:rPr>
                        <a:t>IIT</a:t>
                      </a:r>
                      <a:r>
                        <a:rPr lang="en-US" sz="1000" b="1" i="0" u="sng" strike="noStrike" kern="1200" noProof="0">
                          <a:solidFill>
                            <a:schemeClr val="tx1"/>
                          </a:solidFill>
                          <a:effectLst/>
                          <a:latin typeface="+mn-lt"/>
                          <a:ea typeface="+mn-ea"/>
                          <a:cs typeface="Poppins"/>
                        </a:rPr>
                        <a:t>: </a:t>
                      </a:r>
                      <a:r>
                        <a:rPr lang="en-US" sz="1000" b="0" i="0" u="none" strike="noStrike" kern="1200" noProof="0">
                          <a:solidFill>
                            <a:schemeClr val="tx1"/>
                          </a:solidFill>
                          <a:effectLst/>
                          <a:latin typeface="+mn-lt"/>
                          <a:ea typeface="+mn-ea"/>
                          <a:cs typeface="Poppins"/>
                        </a:rPr>
                        <a:t> Efficacy / safety in priority co-mutation-defined MTAP-del populations beyond CDP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523614853"/>
                  </a:ext>
                </a:extLst>
              </a:tr>
              <a:tr h="2194560">
                <a:tc>
                  <a:txBody>
                    <a:bodyPr/>
                    <a:lstStyle/>
                    <a:p>
                      <a:pPr algn="l"/>
                      <a:r>
                        <a:rPr lang="en-US" sz="1100" b="1" i="0">
                          <a:solidFill>
                            <a:schemeClr val="tx1"/>
                          </a:solidFill>
                          <a:latin typeface="+mn-lt"/>
                          <a:cs typeface="Poppins" pitchFamily="2" charset="77"/>
                        </a:rPr>
                        <a:t>NSCLC_HI_13</a:t>
                      </a:r>
                    </a:p>
                    <a:p>
                      <a:pPr algn="l"/>
                      <a:r>
                        <a:rPr lang="en-US" sz="1000" b="0" i="0">
                          <a:solidFill>
                            <a:schemeClr val="tx1"/>
                          </a:solidFill>
                          <a:latin typeface="+mn-lt"/>
                          <a:cs typeface="Poppins" pitchFamily="2" charset="77"/>
                        </a:rPr>
                        <a:t>Predictors of Response</a:t>
                      </a:r>
                    </a:p>
                    <a:p>
                      <a:pPr algn="l"/>
                      <a:endParaRPr lang="en-US" sz="1000" b="0"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1">
                          <a:solidFill>
                            <a:schemeClr val="tx1"/>
                          </a:solidFill>
                        </a:rPr>
                        <a:t>(1L and 2L+) </a:t>
                      </a:r>
                      <a:r>
                        <a:rPr lang="en-US" sz="1000" b="0" i="0">
                          <a:solidFill>
                            <a:schemeClr val="tx1"/>
                          </a:solidFill>
                        </a:rPr>
                        <a:t>BGB-58067’s efficacy/safety in co-mutation-defined populations (STK11, KEAP1, TP53)</a:t>
                      </a:r>
                    </a:p>
                    <a:p>
                      <a:pPr algn="l"/>
                      <a:endParaRPr lang="en-US" sz="500" b="0" i="0">
                        <a:solidFill>
                          <a:schemeClr val="tx1"/>
                        </a:solidFill>
                        <a:latin typeface="+mn-lt"/>
                        <a:cs typeface="Poppins" pitchFamily="2" charset="77"/>
                      </a:endParaRPr>
                    </a:p>
                    <a:p>
                      <a:pPr algn="l"/>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 Regulators  Patients and PAGs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Supports use in an underserved population of patients that meets inclusion criteria in CDP</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May establish further value if treatment durability is improved in 1L setting, as these mutations in tumor suppressor genes (e.g., TP53, STK11, and KEAP1) are associated with poor prognosis and resistance to current ICIs and TKIs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171450" lvl="0" indent="-171450">
                        <a:spcAft>
                          <a:spcPts val="600"/>
                        </a:spcAft>
                        <a:buClr>
                          <a:srgbClr val="000000"/>
                        </a:buClr>
                        <a:buFont typeface="Arial" panose="020B0604020202020204" pitchFamily="34" charset="0"/>
                        <a:buChar char="•"/>
                      </a:pPr>
                      <a:r>
                        <a:rPr lang="en-US" sz="1000" b="1" i="0" u="sng" strike="noStrike" kern="1200" noProof="0">
                          <a:solidFill>
                            <a:schemeClr val="tx1"/>
                          </a:solidFill>
                          <a:effectLst/>
                          <a:latin typeface="+mn-lt"/>
                          <a:ea typeface="+mn-ea"/>
                          <a:cs typeface="Poppins"/>
                          <a:hlinkClick r:id="rId6" action="ppaction://hlinksldjump">
                            <a:extLst>
                              <a:ext uri="{A12FA001-AC4F-418D-AE19-62706E023703}">
                                <ahyp:hlinkClr xmlns:ahyp="http://schemas.microsoft.com/office/drawing/2018/hyperlinkcolor" val="tx"/>
                              </a:ext>
                            </a:extLst>
                          </a:hlinkClick>
                        </a:rPr>
                        <a:t>IIT</a:t>
                      </a:r>
                      <a:r>
                        <a:rPr lang="en-US" sz="1000" b="1" i="0" u="sng" strike="noStrike" kern="1200" noProof="0">
                          <a:solidFill>
                            <a:schemeClr val="tx1"/>
                          </a:solidFill>
                          <a:effectLst/>
                          <a:latin typeface="+mn-lt"/>
                          <a:ea typeface="+mn-ea"/>
                          <a:cs typeface="Poppins"/>
                        </a:rPr>
                        <a:t>: </a:t>
                      </a:r>
                      <a:r>
                        <a:rPr lang="en-US" sz="1000" b="0" i="0" u="none" strike="noStrike" kern="1200" noProof="0">
                          <a:solidFill>
                            <a:schemeClr val="tx1"/>
                          </a:solidFill>
                          <a:effectLst/>
                          <a:latin typeface="+mn-lt"/>
                          <a:ea typeface="+mn-ea"/>
                          <a:cs typeface="Poppins"/>
                        </a:rPr>
                        <a:t> Efficacy / safety in priority co-mutation-defined MTAP-del populations </a:t>
                      </a:r>
                    </a:p>
                    <a:p>
                      <a:pPr marL="171450" lvl="0" indent="-171450">
                        <a:spcAft>
                          <a:spcPts val="600"/>
                        </a:spcAft>
                        <a:buClr>
                          <a:srgbClr val="000000"/>
                        </a:buClr>
                        <a:buFont typeface="Arial" panose="020B0604020202020204" pitchFamily="34" charset="0"/>
                        <a:buChar char="•"/>
                      </a:pPr>
                      <a:r>
                        <a:rPr lang="en-US" sz="1000" b="1" u="sng">
                          <a:solidFill>
                            <a:schemeClr val="tx1"/>
                          </a:solidFill>
                          <a:latin typeface="+mn-lt"/>
                          <a:hlinkClick r:id="rId7" action="ppaction://hlinksldjump">
                            <a:extLst>
                              <a:ext uri="{A12FA001-AC4F-418D-AE19-62706E023703}">
                                <ahyp:hlinkClr xmlns:ahyp="http://schemas.microsoft.com/office/drawing/2018/hyperlinkcolor" val="tx"/>
                              </a:ext>
                            </a:extLst>
                          </a:hlinkClick>
                        </a:rPr>
                        <a:t>Post-hoc</a:t>
                      </a:r>
                      <a:r>
                        <a:rPr lang="en-US" sz="1000" b="1" u="sng">
                          <a:solidFill>
                            <a:schemeClr val="tx1"/>
                          </a:solidFill>
                          <a:latin typeface="+mn-lt"/>
                        </a:rPr>
                        <a:t>:</a:t>
                      </a:r>
                      <a:r>
                        <a:rPr lang="en-US" sz="1000">
                          <a:solidFill>
                            <a:schemeClr val="tx1"/>
                          </a:solidFill>
                          <a:latin typeface="+mn-lt"/>
                        </a:rPr>
                        <a:t> Analyses of efficacy/safety in co-mutated vs. single-mutation cohorts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2742881760"/>
                  </a:ext>
                </a:extLst>
              </a:tr>
            </a:tbl>
          </a:graphicData>
        </a:graphic>
      </p:graphicFrame>
      <p:sp>
        <p:nvSpPr>
          <p:cNvPr id="2" name="Rounded Rectangle 26">
            <a:extLst>
              <a:ext uri="{FF2B5EF4-FFF2-40B4-BE49-F238E27FC236}">
                <a16:creationId xmlns:a16="http://schemas.microsoft.com/office/drawing/2014/main" id="{EE52BF20-98B3-CABC-837D-0A44C09B53EA}"/>
              </a:ext>
            </a:extLst>
          </p:cNvPr>
          <p:cNvSpPr/>
          <p:nvPr/>
        </p:nvSpPr>
        <p:spPr>
          <a:xfrm>
            <a:off x="434537" y="3068351"/>
            <a:ext cx="860863" cy="210024"/>
          </a:xfrm>
          <a:prstGeom prst="roundRect">
            <a:avLst>
              <a:gd name="adj" fmla="val 6677"/>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1"/>
                </a:solidFill>
                <a:effectLst/>
                <a:uLnTx/>
                <a:uFillTx/>
                <a:latin typeface="Poppins" pitchFamily="2" charset="77"/>
                <a:cs typeface="Poppins" pitchFamily="2" charset="77"/>
              </a:rPr>
              <a:t>High</a:t>
            </a:r>
          </a:p>
        </p:txBody>
      </p:sp>
      <p:sp>
        <p:nvSpPr>
          <p:cNvPr id="11" name="Oval 10">
            <a:extLst>
              <a:ext uri="{FF2B5EF4-FFF2-40B4-BE49-F238E27FC236}">
                <a16:creationId xmlns:a16="http://schemas.microsoft.com/office/drawing/2014/main" id="{D4F4FAD9-750B-41BC-219C-2332CB40BB0C}"/>
              </a:ext>
            </a:extLst>
          </p:cNvPr>
          <p:cNvSpPr/>
          <p:nvPr/>
        </p:nvSpPr>
        <p:spPr>
          <a:xfrm>
            <a:off x="8344220" y="2647090"/>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17" name="Oval 16">
            <a:extLst>
              <a:ext uri="{FF2B5EF4-FFF2-40B4-BE49-F238E27FC236}">
                <a16:creationId xmlns:a16="http://schemas.microsoft.com/office/drawing/2014/main" id="{61DDFEC3-4C8F-AB0C-F0FB-2546518359F1}"/>
              </a:ext>
            </a:extLst>
          </p:cNvPr>
          <p:cNvSpPr/>
          <p:nvPr/>
        </p:nvSpPr>
        <p:spPr>
          <a:xfrm>
            <a:off x="8344566" y="4526972"/>
            <a:ext cx="128016" cy="1280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19" name="Rounded Rectangle 26">
            <a:extLst>
              <a:ext uri="{FF2B5EF4-FFF2-40B4-BE49-F238E27FC236}">
                <a16:creationId xmlns:a16="http://schemas.microsoft.com/office/drawing/2014/main" id="{F1F3C382-8A99-F6FB-6782-EB65F1A346FE}"/>
              </a:ext>
            </a:extLst>
          </p:cNvPr>
          <p:cNvSpPr/>
          <p:nvPr/>
        </p:nvSpPr>
        <p:spPr>
          <a:xfrm>
            <a:off x="434537" y="5061008"/>
            <a:ext cx="860863" cy="210024"/>
          </a:xfrm>
          <a:prstGeom prst="roundRect">
            <a:avLst>
              <a:gd name="adj" fmla="val 6677"/>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1"/>
                </a:solidFill>
                <a:effectLst/>
                <a:uLnTx/>
                <a:uFillTx/>
                <a:latin typeface="Poppins" pitchFamily="2" charset="77"/>
                <a:cs typeface="Poppins" pitchFamily="2" charset="77"/>
              </a:rPr>
              <a:t>High</a:t>
            </a:r>
          </a:p>
        </p:txBody>
      </p:sp>
      <p:sp>
        <p:nvSpPr>
          <p:cNvPr id="43" name="Rectangle 42">
            <a:extLst>
              <a:ext uri="{FF2B5EF4-FFF2-40B4-BE49-F238E27FC236}">
                <a16:creationId xmlns:a16="http://schemas.microsoft.com/office/drawing/2014/main" id="{AC80D902-B04E-95B5-BFEF-05D6C764A836}"/>
              </a:ext>
            </a:extLst>
          </p:cNvPr>
          <p:cNvSpPr/>
          <p:nvPr/>
        </p:nvSpPr>
        <p:spPr>
          <a:xfrm>
            <a:off x="371289"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1</a:t>
            </a:r>
          </a:p>
        </p:txBody>
      </p:sp>
      <p:sp>
        <p:nvSpPr>
          <p:cNvPr id="45" name="Rectangle 44">
            <a:extLst>
              <a:ext uri="{FF2B5EF4-FFF2-40B4-BE49-F238E27FC236}">
                <a16:creationId xmlns:a16="http://schemas.microsoft.com/office/drawing/2014/main" id="{593CAB3D-02AD-4BA3-9FF7-28FF731DDEAB}"/>
              </a:ext>
            </a:extLst>
          </p:cNvPr>
          <p:cNvSpPr/>
          <p:nvPr/>
        </p:nvSpPr>
        <p:spPr>
          <a:xfrm>
            <a:off x="3745545"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3</a:t>
            </a:r>
          </a:p>
        </p:txBody>
      </p:sp>
      <p:sp>
        <p:nvSpPr>
          <p:cNvPr id="44" name="Rectangle 43">
            <a:extLst>
              <a:ext uri="{FF2B5EF4-FFF2-40B4-BE49-F238E27FC236}">
                <a16:creationId xmlns:a16="http://schemas.microsoft.com/office/drawing/2014/main" id="{26CE097D-BA5B-7852-E539-943CD5D4B14A}"/>
              </a:ext>
            </a:extLst>
          </p:cNvPr>
          <p:cNvSpPr/>
          <p:nvPr/>
        </p:nvSpPr>
        <p:spPr>
          <a:xfrm>
            <a:off x="1176417" y="1259201"/>
            <a:ext cx="2520000" cy="167267"/>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2: Biomarkers</a:t>
            </a:r>
          </a:p>
        </p:txBody>
      </p:sp>
      <p:sp>
        <p:nvSpPr>
          <p:cNvPr id="47" name="Rectangle 46">
            <a:extLst>
              <a:ext uri="{FF2B5EF4-FFF2-40B4-BE49-F238E27FC236}">
                <a16:creationId xmlns:a16="http://schemas.microsoft.com/office/drawing/2014/main" id="{7FED25CF-8910-9AE5-24E6-B59828EFCB1C}"/>
              </a:ext>
            </a:extLst>
          </p:cNvPr>
          <p:cNvSpPr/>
          <p:nvPr/>
        </p:nvSpPr>
        <p:spPr>
          <a:xfrm>
            <a:off x="4550674"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4</a:t>
            </a:r>
          </a:p>
        </p:txBody>
      </p:sp>
      <p:grpSp>
        <p:nvGrpSpPr>
          <p:cNvPr id="56" name="Group 55">
            <a:extLst>
              <a:ext uri="{FF2B5EF4-FFF2-40B4-BE49-F238E27FC236}">
                <a16:creationId xmlns:a16="http://schemas.microsoft.com/office/drawing/2014/main" id="{98B2628A-D49C-CE58-4291-CE4F956E2B13}"/>
              </a:ext>
            </a:extLst>
          </p:cNvPr>
          <p:cNvGrpSpPr/>
          <p:nvPr/>
        </p:nvGrpSpPr>
        <p:grpSpPr>
          <a:xfrm>
            <a:off x="9588863" y="1238928"/>
            <a:ext cx="2240393" cy="363842"/>
            <a:chOff x="9746021" y="1221639"/>
            <a:chExt cx="2240393" cy="363842"/>
          </a:xfrm>
        </p:grpSpPr>
        <p:sp>
          <p:nvSpPr>
            <p:cNvPr id="57" name="Rectangle 56">
              <a:extLst>
                <a:ext uri="{FF2B5EF4-FFF2-40B4-BE49-F238E27FC236}">
                  <a16:creationId xmlns:a16="http://schemas.microsoft.com/office/drawing/2014/main" id="{9CD052EF-9E0E-0D05-F2B5-119029800B67}"/>
                </a:ext>
              </a:extLst>
            </p:cNvPr>
            <p:cNvSpPr/>
            <p:nvPr/>
          </p:nvSpPr>
          <p:spPr>
            <a:xfrm>
              <a:off x="9852837" y="1221639"/>
              <a:ext cx="2133577" cy="3638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800">
                  <a:solidFill>
                    <a:schemeClr val="tx1"/>
                  </a:solidFill>
                </a:rPr>
                <a:t>Click the </a:t>
              </a:r>
              <a:r>
                <a:rPr lang="en-US" sz="800" b="1">
                  <a:solidFill>
                    <a:schemeClr val="tx1"/>
                  </a:solidFill>
                </a:rPr>
                <a:t>bolded tactic </a:t>
              </a:r>
              <a:r>
                <a:rPr lang="en-US" sz="800">
                  <a:solidFill>
                    <a:schemeClr val="tx1"/>
                  </a:solidFill>
                </a:rPr>
                <a:t>to navigate to the study approach details</a:t>
              </a:r>
            </a:p>
          </p:txBody>
        </p:sp>
        <p:pic>
          <p:nvPicPr>
            <p:cNvPr id="60" name="Graphic 59" descr="Cursor with solid fill">
              <a:extLst>
                <a:ext uri="{FF2B5EF4-FFF2-40B4-BE49-F238E27FC236}">
                  <a16:creationId xmlns:a16="http://schemas.microsoft.com/office/drawing/2014/main" id="{F3CE3FA4-D96E-7705-9A0C-325582DB7AF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746021" y="1302723"/>
              <a:ext cx="216000" cy="216000"/>
            </a:xfrm>
            <a:prstGeom prst="rect">
              <a:avLst/>
            </a:prstGeom>
          </p:spPr>
        </p:pic>
      </p:grpSp>
      <p:sp>
        <p:nvSpPr>
          <p:cNvPr id="9" name="Oval 8">
            <a:extLst>
              <a:ext uri="{FF2B5EF4-FFF2-40B4-BE49-F238E27FC236}">
                <a16:creationId xmlns:a16="http://schemas.microsoft.com/office/drawing/2014/main" id="{25979C0D-6035-15FF-2175-7AD34F24DB79}"/>
              </a:ext>
            </a:extLst>
          </p:cNvPr>
          <p:cNvSpPr/>
          <p:nvPr/>
        </p:nvSpPr>
        <p:spPr>
          <a:xfrm>
            <a:off x="8344220" y="4901945"/>
            <a:ext cx="128016" cy="128016"/>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40" name="Footer Placeholder 2">
            <a:extLst>
              <a:ext uri="{FF2B5EF4-FFF2-40B4-BE49-F238E27FC236}">
                <a16:creationId xmlns:a16="http://schemas.microsoft.com/office/drawing/2014/main" id="{7D04BD78-001A-CE60-EF4E-C854BE750DB9}"/>
              </a:ext>
            </a:extLst>
          </p:cNvPr>
          <p:cNvSpPr>
            <a:spLocks noGrp="1"/>
          </p:cNvSpPr>
          <p:nvPr>
            <p:ph type="ftr" sz="quarter" idx="10"/>
          </p:nvPr>
        </p:nvSpPr>
        <p:spPr>
          <a:xfrm>
            <a:off x="371289" y="6137113"/>
            <a:ext cx="6261637" cy="535649"/>
          </a:xfrm>
        </p:spPr>
        <p:txBody>
          <a:bodyPr/>
          <a:lstStyle/>
          <a:p>
            <a:pPr>
              <a:defRPr/>
            </a:pPr>
            <a:r>
              <a:rPr lang="en-US">
                <a:solidFill>
                  <a:srgbClr val="000000">
                    <a:lumMod val="65000"/>
                    <a:lumOff val="35000"/>
                  </a:srgbClr>
                </a:solidFill>
              </a:rPr>
              <a:t>Abbreviations: ALK: Anaplastic Lymphoma Kinase; CDP: Clinical Development Plan; EGFR: Epidermal Growth Factor Receptor; HCPs: Healthcare Professionals; HI: High Priority; ICIs: Immune Checkpoint Inhibitors; IIT: Investigator-Initiated Trial; KEAP1: Kelch-Like ECH-Associated Protein 1; KRAS: Kirsten Rat Sarcoma Viral Oncogene Homolog; MTAP: Methylthioadenosine Phosphorylase; MTAP-del: Methylthioadenosine Phosphorylase-deleted; NSCLC: Non-Small Cell Lung Cancer; PAGs: Patient Advocacy Groups; PRMT5i: Protein Arginine Methyltransferase 5 Inhibitor; SI: Strategic Imperative; STK11: Serine/Threonine Kinase 11; TKIs: Tyrosine Kinase Inhibitors; TP53: Tumor Protein P53</a:t>
            </a:r>
            <a:endParaRPr lang="en-US"/>
          </a:p>
        </p:txBody>
      </p:sp>
      <p:grpSp>
        <p:nvGrpSpPr>
          <p:cNvPr id="46" name="Group 45">
            <a:extLst>
              <a:ext uri="{FF2B5EF4-FFF2-40B4-BE49-F238E27FC236}">
                <a16:creationId xmlns:a16="http://schemas.microsoft.com/office/drawing/2014/main" id="{EF937D52-29E2-70E4-D7DE-F6186A35E7DE}"/>
              </a:ext>
            </a:extLst>
          </p:cNvPr>
          <p:cNvGrpSpPr/>
          <p:nvPr/>
        </p:nvGrpSpPr>
        <p:grpSpPr>
          <a:xfrm>
            <a:off x="6707941" y="6082797"/>
            <a:ext cx="5283720" cy="661604"/>
            <a:chOff x="301330" y="6226576"/>
            <a:chExt cx="5283720" cy="661604"/>
          </a:xfrm>
        </p:grpSpPr>
        <p:grpSp>
          <p:nvGrpSpPr>
            <p:cNvPr id="48" name="Group 47">
              <a:extLst>
                <a:ext uri="{FF2B5EF4-FFF2-40B4-BE49-F238E27FC236}">
                  <a16:creationId xmlns:a16="http://schemas.microsoft.com/office/drawing/2014/main" id="{166AB07C-045E-027E-F6C7-82B92309BE04}"/>
                </a:ext>
              </a:extLst>
            </p:cNvPr>
            <p:cNvGrpSpPr/>
            <p:nvPr/>
          </p:nvGrpSpPr>
          <p:grpSpPr>
            <a:xfrm>
              <a:off x="328227" y="6580403"/>
              <a:ext cx="1894026" cy="307777"/>
              <a:chOff x="-2487500" y="6443238"/>
              <a:chExt cx="1894026" cy="307777"/>
            </a:xfrm>
          </p:grpSpPr>
          <p:sp>
            <p:nvSpPr>
              <p:cNvPr id="63" name="Oval 62">
                <a:extLst>
                  <a:ext uri="{FF2B5EF4-FFF2-40B4-BE49-F238E27FC236}">
                    <a16:creationId xmlns:a16="http://schemas.microsoft.com/office/drawing/2014/main" id="{10E9407F-12A7-54F6-96E1-FF411C9AE0DA}"/>
                  </a:ext>
                </a:extLst>
              </p:cNvPr>
              <p:cNvSpPr/>
              <p:nvPr/>
            </p:nvSpPr>
            <p:spPr>
              <a:xfrm>
                <a:off x="-2487500" y="6533526"/>
                <a:ext cx="129556" cy="12801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64" name="TextBox 63">
                <a:extLst>
                  <a:ext uri="{FF2B5EF4-FFF2-40B4-BE49-F238E27FC236}">
                    <a16:creationId xmlns:a16="http://schemas.microsoft.com/office/drawing/2014/main" id="{BD97554F-BAA4-3FA7-180F-322367259C81}"/>
                  </a:ext>
                </a:extLst>
              </p:cNvPr>
              <p:cNvSpPr txBox="1"/>
              <p:nvPr/>
            </p:nvSpPr>
            <p:spPr>
              <a:xfrm>
                <a:off x="-2426470" y="6443238"/>
                <a:ext cx="1832996" cy="307777"/>
              </a:xfrm>
              <a:prstGeom prst="rect">
                <a:avLst/>
              </a:prstGeom>
              <a:noFill/>
            </p:spPr>
            <p:txBody>
              <a:bodyPr wrap="square" lIns="91440" tIns="91440" rIns="91440" bIns="91440" rtlCol="0">
                <a:spAutoFit/>
              </a:bodyPr>
              <a:lstStyle/>
              <a:p>
                <a:pPr algn="l"/>
                <a:r>
                  <a:rPr lang="en-US" sz="800"/>
                  <a:t>Near-term (immediate action)</a:t>
                </a:r>
              </a:p>
            </p:txBody>
          </p:sp>
        </p:grpSp>
        <p:grpSp>
          <p:nvGrpSpPr>
            <p:cNvPr id="49" name="Group 48">
              <a:extLst>
                <a:ext uri="{FF2B5EF4-FFF2-40B4-BE49-F238E27FC236}">
                  <a16:creationId xmlns:a16="http://schemas.microsoft.com/office/drawing/2014/main" id="{EBCD99FF-C817-BCC1-F10F-59A1CEDAA771}"/>
                </a:ext>
              </a:extLst>
            </p:cNvPr>
            <p:cNvGrpSpPr/>
            <p:nvPr/>
          </p:nvGrpSpPr>
          <p:grpSpPr>
            <a:xfrm>
              <a:off x="2087638" y="6580403"/>
              <a:ext cx="2154029" cy="307777"/>
              <a:chOff x="-785805" y="6439612"/>
              <a:chExt cx="2154029" cy="307777"/>
            </a:xfrm>
          </p:grpSpPr>
          <p:sp>
            <p:nvSpPr>
              <p:cNvPr id="61" name="Oval 60">
                <a:extLst>
                  <a:ext uri="{FF2B5EF4-FFF2-40B4-BE49-F238E27FC236}">
                    <a16:creationId xmlns:a16="http://schemas.microsoft.com/office/drawing/2014/main" id="{A0F24F95-594F-2E09-630A-2803B6F4B04D}"/>
                  </a:ext>
                </a:extLst>
              </p:cNvPr>
              <p:cNvSpPr/>
              <p:nvPr/>
            </p:nvSpPr>
            <p:spPr>
              <a:xfrm>
                <a:off x="-785805" y="6529900"/>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62" name="TextBox 61">
                <a:extLst>
                  <a:ext uri="{FF2B5EF4-FFF2-40B4-BE49-F238E27FC236}">
                    <a16:creationId xmlns:a16="http://schemas.microsoft.com/office/drawing/2014/main" id="{359EB8C6-FB40-5375-72F5-EE7126E5E970}"/>
                  </a:ext>
                </a:extLst>
              </p:cNvPr>
              <p:cNvSpPr txBox="1"/>
              <p:nvPr/>
            </p:nvSpPr>
            <p:spPr>
              <a:xfrm>
                <a:off x="-730319" y="6439612"/>
                <a:ext cx="2098543" cy="307777"/>
              </a:xfrm>
              <a:prstGeom prst="rect">
                <a:avLst/>
              </a:prstGeom>
              <a:noFill/>
            </p:spPr>
            <p:txBody>
              <a:bodyPr wrap="square" lIns="91440" tIns="91440" rIns="91440" bIns="91440" rtlCol="0">
                <a:spAutoFit/>
              </a:bodyPr>
              <a:lstStyle/>
              <a:p>
                <a:pPr algn="l"/>
                <a:r>
                  <a:rPr lang="en-US" sz="800"/>
                  <a:t>Longer-term (no immediate action)</a:t>
                </a:r>
              </a:p>
            </p:txBody>
          </p:sp>
        </p:grpSp>
        <p:grpSp>
          <p:nvGrpSpPr>
            <p:cNvPr id="50" name="Group 49">
              <a:extLst>
                <a:ext uri="{FF2B5EF4-FFF2-40B4-BE49-F238E27FC236}">
                  <a16:creationId xmlns:a16="http://schemas.microsoft.com/office/drawing/2014/main" id="{D880DA16-5F63-02C5-BFD6-A21409C43360}"/>
                </a:ext>
              </a:extLst>
            </p:cNvPr>
            <p:cNvGrpSpPr/>
            <p:nvPr/>
          </p:nvGrpSpPr>
          <p:grpSpPr>
            <a:xfrm>
              <a:off x="4094230" y="6580403"/>
              <a:ext cx="1335262" cy="307777"/>
              <a:chOff x="1858782" y="6448136"/>
              <a:chExt cx="1335262" cy="307777"/>
            </a:xfrm>
          </p:grpSpPr>
          <p:sp>
            <p:nvSpPr>
              <p:cNvPr id="54" name="Oval 53">
                <a:extLst>
                  <a:ext uri="{FF2B5EF4-FFF2-40B4-BE49-F238E27FC236}">
                    <a16:creationId xmlns:a16="http://schemas.microsoft.com/office/drawing/2014/main" id="{2323765E-8886-47AD-AF14-D0F10A7A728F}"/>
                  </a:ext>
                </a:extLst>
              </p:cNvPr>
              <p:cNvSpPr/>
              <p:nvPr/>
            </p:nvSpPr>
            <p:spPr>
              <a:xfrm>
                <a:off x="1858782" y="6538424"/>
                <a:ext cx="128016" cy="128016"/>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55" name="TextBox 54">
                <a:extLst>
                  <a:ext uri="{FF2B5EF4-FFF2-40B4-BE49-F238E27FC236}">
                    <a16:creationId xmlns:a16="http://schemas.microsoft.com/office/drawing/2014/main" id="{34E82C75-45E3-D781-3302-CC6A2B903F6B}"/>
                  </a:ext>
                </a:extLst>
              </p:cNvPr>
              <p:cNvSpPr txBox="1"/>
              <p:nvPr/>
            </p:nvSpPr>
            <p:spPr>
              <a:xfrm>
                <a:off x="1909630" y="6448136"/>
                <a:ext cx="1284414" cy="307777"/>
              </a:xfrm>
              <a:prstGeom prst="rect">
                <a:avLst/>
              </a:prstGeom>
              <a:noFill/>
            </p:spPr>
            <p:txBody>
              <a:bodyPr wrap="square" lIns="91440" tIns="91440" rIns="91440" bIns="91440" rtlCol="0">
                <a:spAutoFit/>
              </a:bodyPr>
              <a:lstStyle/>
              <a:p>
                <a:pPr algn="l"/>
                <a:r>
                  <a:rPr lang="en-US" sz="800"/>
                  <a:t>Planned / addressed</a:t>
                </a:r>
              </a:p>
            </p:txBody>
          </p:sp>
        </p:grpSp>
        <p:sp>
          <p:nvSpPr>
            <p:cNvPr id="51" name="TextBox 50">
              <a:extLst>
                <a:ext uri="{FF2B5EF4-FFF2-40B4-BE49-F238E27FC236}">
                  <a16:creationId xmlns:a16="http://schemas.microsoft.com/office/drawing/2014/main" id="{A6560601-77FD-6B18-B9D6-3609BC058E00}"/>
                </a:ext>
              </a:extLst>
            </p:cNvPr>
            <p:cNvSpPr txBox="1"/>
            <p:nvPr/>
          </p:nvSpPr>
          <p:spPr>
            <a:xfrm>
              <a:off x="301330" y="6226576"/>
              <a:ext cx="5283720" cy="307777"/>
            </a:xfrm>
            <a:prstGeom prst="rect">
              <a:avLst/>
            </a:prstGeom>
            <a:noFill/>
          </p:spPr>
          <p:txBody>
            <a:bodyPr wrap="square" lIns="36000" tIns="91440" rIns="36000" bIns="91440" rtlCol="0">
              <a:spAutoFit/>
            </a:bodyPr>
            <a:lstStyle/>
            <a:p>
              <a:pPr>
                <a:spcBef>
                  <a:spcPts val="600"/>
                </a:spcBef>
              </a:pPr>
              <a:r>
                <a:rPr lang="en-US" sz="800" b="1"/>
                <a:t>Key:  Listed stakeholders represent the primary target audience for the evidence generated</a:t>
              </a:r>
            </a:p>
          </p:txBody>
        </p:sp>
        <p:sp>
          <p:nvSpPr>
            <p:cNvPr id="52" name="TextBox 51">
              <a:extLst>
                <a:ext uri="{FF2B5EF4-FFF2-40B4-BE49-F238E27FC236}">
                  <a16:creationId xmlns:a16="http://schemas.microsoft.com/office/drawing/2014/main" id="{898C2AE0-6118-8764-24EB-C64ED170F784}"/>
                </a:ext>
              </a:extLst>
            </p:cNvPr>
            <p:cNvSpPr txBox="1"/>
            <p:nvPr/>
          </p:nvSpPr>
          <p:spPr>
            <a:xfrm>
              <a:off x="301330" y="6396002"/>
              <a:ext cx="5283720" cy="307777"/>
            </a:xfrm>
            <a:prstGeom prst="rect">
              <a:avLst/>
            </a:prstGeom>
            <a:noFill/>
          </p:spPr>
          <p:txBody>
            <a:bodyPr wrap="square" lIns="36000" tIns="91440" rIns="36000" bIns="91440" rtlCol="0">
              <a:spAutoFit/>
            </a:bodyPr>
            <a:lstStyle/>
            <a:p>
              <a:pPr>
                <a:spcBef>
                  <a:spcPts val="600"/>
                </a:spcBef>
              </a:pPr>
              <a:r>
                <a:rPr lang="en-US" sz="800"/>
                <a:t>Tactics are characterized according to action required based on cross-functional workshop input:</a:t>
              </a:r>
            </a:p>
          </p:txBody>
        </p:sp>
        <p:cxnSp>
          <p:nvCxnSpPr>
            <p:cNvPr id="53" name="Straight Connector 52">
              <a:extLst>
                <a:ext uri="{FF2B5EF4-FFF2-40B4-BE49-F238E27FC236}">
                  <a16:creationId xmlns:a16="http://schemas.microsoft.com/office/drawing/2014/main" id="{D4677CBC-60C7-376F-A875-A23367A82B5D}"/>
                </a:ext>
              </a:extLst>
            </p:cNvPr>
            <p:cNvCxnSpPr>
              <a:cxnSpLocks/>
            </p:cNvCxnSpPr>
            <p:nvPr/>
          </p:nvCxnSpPr>
          <p:spPr>
            <a:xfrm flipV="1">
              <a:off x="301330" y="6454640"/>
              <a:ext cx="5005344" cy="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65" name="Group 64">
            <a:extLst>
              <a:ext uri="{FF2B5EF4-FFF2-40B4-BE49-F238E27FC236}">
                <a16:creationId xmlns:a16="http://schemas.microsoft.com/office/drawing/2014/main" id="{6921872F-823D-5757-63B5-DFE7A0BE62C4}"/>
              </a:ext>
            </a:extLst>
          </p:cNvPr>
          <p:cNvGrpSpPr/>
          <p:nvPr/>
        </p:nvGrpSpPr>
        <p:grpSpPr>
          <a:xfrm>
            <a:off x="362743" y="10216"/>
            <a:ext cx="10042505" cy="252000"/>
            <a:chOff x="362743" y="10216"/>
            <a:chExt cx="10042505" cy="252000"/>
          </a:xfrm>
        </p:grpSpPr>
        <p:sp>
          <p:nvSpPr>
            <p:cNvPr id="66" name="Pentagon 47">
              <a:extLst>
                <a:ext uri="{FF2B5EF4-FFF2-40B4-BE49-F238E27FC236}">
                  <a16:creationId xmlns:a16="http://schemas.microsoft.com/office/drawing/2014/main" id="{40AE2592-691A-7638-DDE0-566EC7BBE75F}"/>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67" name="Chevron 48">
              <a:extLst>
                <a:ext uri="{FF2B5EF4-FFF2-40B4-BE49-F238E27FC236}">
                  <a16:creationId xmlns:a16="http://schemas.microsoft.com/office/drawing/2014/main" id="{EFD0174E-CEB1-282F-D5C9-42593300DB87}"/>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68" name="Chevron 52">
              <a:extLst>
                <a:ext uri="{FF2B5EF4-FFF2-40B4-BE49-F238E27FC236}">
                  <a16:creationId xmlns:a16="http://schemas.microsoft.com/office/drawing/2014/main" id="{45E1073D-A9A4-BF94-CE2A-44741815F11F}"/>
                </a:ext>
              </a:extLst>
            </p:cNvPr>
            <p:cNvSpPr/>
            <p:nvPr/>
          </p:nvSpPr>
          <p:spPr>
            <a:xfrm>
              <a:off x="3701639"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69" name="Chevron 54">
              <a:extLst>
                <a:ext uri="{FF2B5EF4-FFF2-40B4-BE49-F238E27FC236}">
                  <a16:creationId xmlns:a16="http://schemas.microsoft.com/office/drawing/2014/main" id="{D27AB4C9-A8B9-0A03-3935-5126D414DE36}"/>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70" name="Chevron 48">
              <a:extLst>
                <a:ext uri="{FF2B5EF4-FFF2-40B4-BE49-F238E27FC236}">
                  <a16:creationId xmlns:a16="http://schemas.microsoft.com/office/drawing/2014/main" id="{589F7846-9DFA-E220-5CD0-EBAC9C3F34FE}"/>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72" name="Chevron 48">
              <a:extLst>
                <a:ext uri="{FF2B5EF4-FFF2-40B4-BE49-F238E27FC236}">
                  <a16:creationId xmlns:a16="http://schemas.microsoft.com/office/drawing/2014/main" id="{40D63F32-ECBB-C9EE-8A03-4F40BE98CCE2}"/>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11867139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221F2-E388-1F3B-DCDF-F874FD1D6A7F}"/>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0E9C4735-9B7D-D2FF-560E-A914D4D350A0}"/>
              </a:ext>
            </a:extLst>
          </p:cNvPr>
          <p:cNvSpPr/>
          <p:nvPr/>
        </p:nvSpPr>
        <p:spPr>
          <a:xfrm>
            <a:off x="7572976" y="6128998"/>
            <a:ext cx="4459396" cy="66816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algn="ctr"/>
            <a:endParaRPr lang="en-US" sz="1200">
              <a:solidFill>
                <a:schemeClr val="tx1"/>
              </a:solidFill>
            </a:endParaRPr>
          </a:p>
        </p:txBody>
      </p:sp>
      <p:graphicFrame>
        <p:nvGraphicFramePr>
          <p:cNvPr id="59" name="think-cell data - do not delete" hidden="1">
            <a:extLst>
              <a:ext uri="{FF2B5EF4-FFF2-40B4-BE49-F238E27FC236}">
                <a16:creationId xmlns:a16="http://schemas.microsoft.com/office/drawing/2014/main" id="{B01AAFE9-F317-6259-B719-1F8A7A9CF0F2}"/>
              </a:ext>
            </a:extLst>
          </p:cNvPr>
          <p:cNvGraphicFramePr>
            <a:graphicFrameLocks/>
          </p:cNvGraphicFramePr>
          <p:nvPr>
            <p:custDataLst>
              <p:tags r:id="rId1"/>
            </p:custDataLst>
            <p:extLst>
              <p:ext uri="{D42A27DB-BD31-4B8C-83A1-F6EECF244321}">
                <p14:modId xmlns:p14="http://schemas.microsoft.com/office/powerpoint/2010/main" val="10564576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59" name="think-cell data - do not delete" hidden="1">
                        <a:extLst>
                          <a:ext uri="{FF2B5EF4-FFF2-40B4-BE49-F238E27FC236}">
                            <a16:creationId xmlns:a16="http://schemas.microsoft.com/office/drawing/2014/main" id="{B01AAFE9-F317-6259-B719-1F8A7A9CF0F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8" name="Title 57">
            <a:extLst>
              <a:ext uri="{FF2B5EF4-FFF2-40B4-BE49-F238E27FC236}">
                <a16:creationId xmlns:a16="http://schemas.microsoft.com/office/drawing/2014/main" id="{B2B03B5D-4541-6EA2-AFBE-74EBD504AD06}"/>
              </a:ext>
            </a:extLst>
          </p:cNvPr>
          <p:cNvSpPr>
            <a:spLocks noGrp="1"/>
          </p:cNvSpPr>
          <p:nvPr>
            <p:ph type="title"/>
          </p:nvPr>
        </p:nvSpPr>
        <p:spPr>
          <a:xfrm>
            <a:off x="358337" y="340616"/>
            <a:ext cx="11470125" cy="738664"/>
          </a:xfrm>
        </p:spPr>
        <p:txBody>
          <a:bodyPr vert="horz" rIns="0">
            <a:spAutoFit/>
          </a:bodyPr>
          <a:lstStyle/>
          <a:p>
            <a:r>
              <a:rPr lang="en-US" sz="2400"/>
              <a:t>Prioritized evidence gaps: Support scientific rationale for combination treatment and sequencing for BGB-58067</a:t>
            </a:r>
          </a:p>
        </p:txBody>
      </p:sp>
      <p:graphicFrame>
        <p:nvGraphicFramePr>
          <p:cNvPr id="3" name="Table 2">
            <a:extLst>
              <a:ext uri="{FF2B5EF4-FFF2-40B4-BE49-F238E27FC236}">
                <a16:creationId xmlns:a16="http://schemas.microsoft.com/office/drawing/2014/main" id="{4DED03EE-7937-6543-3149-70C01D5C380C}"/>
              </a:ext>
            </a:extLst>
          </p:cNvPr>
          <p:cNvGraphicFramePr>
            <a:graphicFrameLocks noGrp="1"/>
          </p:cNvGraphicFramePr>
          <p:nvPr>
            <p:extLst>
              <p:ext uri="{D42A27DB-BD31-4B8C-83A1-F6EECF244321}">
                <p14:modId xmlns:p14="http://schemas.microsoft.com/office/powerpoint/2010/main" val="3973062117"/>
              </p:ext>
            </p:extLst>
          </p:nvPr>
        </p:nvGraphicFramePr>
        <p:xfrm>
          <a:off x="362744" y="1554579"/>
          <a:ext cx="11470125" cy="4394388"/>
        </p:xfrm>
        <a:graphic>
          <a:graphicData uri="http://schemas.openxmlformats.org/drawingml/2006/table">
            <a:tbl>
              <a:tblPr bandRow="1">
                <a:tableStyleId>{5C22544A-7EE6-4342-B048-85BDC9FD1C3A}</a:tableStyleId>
              </a:tblPr>
              <a:tblGrid>
                <a:gridCol w="1618456">
                  <a:extLst>
                    <a:ext uri="{9D8B030D-6E8A-4147-A177-3AD203B41FA5}">
                      <a16:colId xmlns:a16="http://schemas.microsoft.com/office/drawing/2014/main" val="1720362591"/>
                    </a:ext>
                  </a:extLst>
                </a:gridCol>
                <a:gridCol w="2647950">
                  <a:extLst>
                    <a:ext uri="{9D8B030D-6E8A-4147-A177-3AD203B41FA5}">
                      <a16:colId xmlns:a16="http://schemas.microsoft.com/office/drawing/2014/main" val="1362236069"/>
                    </a:ext>
                  </a:extLst>
                </a:gridCol>
                <a:gridCol w="3655314">
                  <a:extLst>
                    <a:ext uri="{9D8B030D-6E8A-4147-A177-3AD203B41FA5}">
                      <a16:colId xmlns:a16="http://schemas.microsoft.com/office/drawing/2014/main" val="366937182"/>
                    </a:ext>
                  </a:extLst>
                </a:gridCol>
                <a:gridCol w="3548405">
                  <a:extLst>
                    <a:ext uri="{9D8B030D-6E8A-4147-A177-3AD203B41FA5}">
                      <a16:colId xmlns:a16="http://schemas.microsoft.com/office/drawing/2014/main" val="320023064"/>
                    </a:ext>
                  </a:extLst>
                </a:gridCol>
              </a:tblGrid>
              <a:tr h="274320">
                <a:tc>
                  <a:txBody>
                    <a:bodyPr/>
                    <a:lstStyle/>
                    <a:p>
                      <a:pPr algn="ctr"/>
                      <a:r>
                        <a:rPr lang="en-US" sz="1200" b="1" i="0">
                          <a:solidFill>
                            <a:schemeClr val="bg1"/>
                          </a:solidFill>
                          <a:latin typeface="+mn-lt"/>
                          <a:cs typeface="Poppins" pitchFamily="2" charset="77"/>
                        </a:rPr>
                        <a:t>Gap ID and Priority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085D9"/>
                    </a:solidFill>
                  </a:tcPr>
                </a:tc>
                <a:tc>
                  <a:txBody>
                    <a:bodyPr/>
                    <a:lstStyle/>
                    <a:p>
                      <a:pPr algn="ctr"/>
                      <a:r>
                        <a:rPr lang="en-US" sz="1200" b="1" i="0">
                          <a:solidFill>
                            <a:schemeClr val="bg1"/>
                          </a:solidFill>
                          <a:latin typeface="+mn-lt"/>
                          <a:cs typeface="Poppins" pitchFamily="2" charset="77"/>
                        </a:rPr>
                        <a:t>Evidence Gap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085D9"/>
                    </a:solidFill>
                  </a:tcPr>
                </a:tc>
                <a:tc>
                  <a:txBody>
                    <a:bodyPr/>
                    <a:lstStyle/>
                    <a:p>
                      <a:pPr algn="ctr"/>
                      <a:r>
                        <a:rPr lang="en-US" sz="1200" b="1" i="0">
                          <a:solidFill>
                            <a:schemeClr val="bg1"/>
                          </a:solidFill>
                          <a:latin typeface="+mn-lt"/>
                          <a:cs typeface="Poppins" pitchFamily="2" charset="77"/>
                        </a:rPr>
                        <a:t>Rationale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085D9"/>
                    </a:solidFill>
                  </a:tcPr>
                </a:tc>
                <a:tc>
                  <a:txBody>
                    <a:bodyPr/>
                    <a:lstStyle/>
                    <a:p>
                      <a:pPr algn="ctr"/>
                      <a:r>
                        <a:rPr lang="en-US" sz="1200" b="1" i="0">
                          <a:solidFill>
                            <a:schemeClr val="bg1"/>
                          </a:solidFill>
                          <a:latin typeface="+mn-lt"/>
                          <a:cs typeface="Poppins" pitchFamily="2" charset="77"/>
                        </a:rPr>
                        <a:t>Tactics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085D9"/>
                    </a:solidFill>
                  </a:tcPr>
                </a:tc>
                <a:extLst>
                  <a:ext uri="{0D108BD9-81ED-4DB2-BD59-A6C34878D82A}">
                    <a16:rowId xmlns:a16="http://schemas.microsoft.com/office/drawing/2014/main" val="2323510155"/>
                  </a:ext>
                </a:extLst>
              </a:tr>
              <a:tr h="1111308">
                <a:tc>
                  <a:txBody>
                    <a:bodyPr/>
                    <a:lstStyle/>
                    <a:p>
                      <a:pPr algn="l"/>
                      <a:r>
                        <a:rPr lang="en-US" sz="1100" b="1" i="0">
                          <a:solidFill>
                            <a:schemeClr val="tx1"/>
                          </a:solidFill>
                          <a:latin typeface="+mn-lt"/>
                          <a:cs typeface="Poppins" pitchFamily="2" charset="77"/>
                        </a:rPr>
                        <a:t>NSCLC_CE_05</a:t>
                      </a:r>
                    </a:p>
                    <a:p>
                      <a:pPr algn="l"/>
                      <a:r>
                        <a:rPr lang="en-US" sz="1000" b="0" i="0">
                          <a:solidFill>
                            <a:schemeClr val="tx1"/>
                          </a:solidFill>
                          <a:latin typeface="+mn-lt"/>
                          <a:cs typeface="Poppins" pitchFamily="2" charset="77"/>
                        </a:rPr>
                        <a:t>Sequencing</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000" b="0" i="1">
                          <a:solidFill>
                            <a:schemeClr val="tx1"/>
                          </a:solidFill>
                          <a:latin typeface="+mn-lt"/>
                          <a:cs typeface="Poppins" pitchFamily="2" charset="77"/>
                        </a:rPr>
                        <a:t>(1L) </a:t>
                      </a:r>
                      <a:r>
                        <a:rPr lang="en-US" sz="1000" b="0" i="0">
                          <a:solidFill>
                            <a:schemeClr val="tx1"/>
                          </a:solidFill>
                          <a:latin typeface="+mn-lt"/>
                          <a:cs typeface="Poppins" pitchFamily="2" charset="77"/>
                        </a:rPr>
                        <a:t>BGB-58067's efficacy, safety, and tolerability with concurrent versus sequential administration in standard-of-care combinations </a:t>
                      </a:r>
                    </a:p>
                    <a:p>
                      <a:pPr algn="l"/>
                      <a:endParaRPr lang="en-US" sz="500" b="0" i="0">
                        <a:solidFill>
                          <a:schemeClr val="tx1"/>
                        </a:solidFill>
                        <a:latin typeface="+mn-lt"/>
                        <a:cs typeface="Poppins" pitchFamily="2" charset="77"/>
                      </a:endParaRPr>
                    </a:p>
                    <a:p>
                      <a:pPr algn="l"/>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Regulators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Enables optimal administration sequencing for integrating BGB-85067 into 1L SoC regimens</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Balances efficacy and tolerability to enhance physician confidence, support adoption, and potentially differentiate from more toxicity-intensive combination approaches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lvl="0" indent="-171450">
                        <a:spcAft>
                          <a:spcPts val="600"/>
                        </a:spcAft>
                        <a:buClr>
                          <a:srgbClr val="000000"/>
                        </a:buClr>
                        <a:buFont typeface="Arial" panose="020B0604020202020204" pitchFamily="34" charset="0"/>
                        <a:buChar char="•"/>
                      </a:pPr>
                      <a:r>
                        <a:rPr lang="en-US" sz="1000" b="1" i="0" u="none" strike="noStrike" kern="1200" noProof="0">
                          <a:solidFill>
                            <a:schemeClr val="tx1"/>
                          </a:solidFill>
                          <a:effectLst/>
                          <a:latin typeface="+mn-lt"/>
                          <a:ea typeface="+mn-ea"/>
                          <a:cs typeface="Poppins"/>
                          <a:hlinkClick r:id="rId7" action="ppaction://hlinksldjump">
                            <a:extLst>
                              <a:ext uri="{A12FA001-AC4F-418D-AE19-62706E023703}">
                                <ahyp:hlinkClr xmlns:ahyp="http://schemas.microsoft.com/office/drawing/2018/hyperlinkcolor" val="tx"/>
                              </a:ext>
                            </a:extLst>
                          </a:hlinkClick>
                        </a:rPr>
                        <a:t>IIT</a:t>
                      </a:r>
                      <a:r>
                        <a:rPr lang="en-US" sz="1000" b="1" i="0" u="none" strike="noStrike" kern="1200" noProof="0">
                          <a:solidFill>
                            <a:schemeClr val="tx1"/>
                          </a:solidFill>
                          <a:effectLst/>
                          <a:latin typeface="+mn-lt"/>
                          <a:ea typeface="+mn-ea"/>
                          <a:cs typeface="Poppins"/>
                          <a:hlinkClick r:id="rId8" action="ppaction://hlinksldjump">
                            <a:extLst>
                              <a:ext uri="{A12FA001-AC4F-418D-AE19-62706E023703}">
                                <ahyp:hlinkClr xmlns:ahyp="http://schemas.microsoft.com/office/drawing/2018/hyperlinkcolor" val="tx"/>
                              </a:ext>
                            </a:extLst>
                          </a:hlinkClick>
                        </a:rPr>
                        <a:t>:</a:t>
                      </a:r>
                      <a:r>
                        <a:rPr lang="en-US" sz="1000" b="0" i="0" u="none" strike="noStrike" kern="1200" noProof="0">
                          <a:solidFill>
                            <a:schemeClr val="tx1"/>
                          </a:solidFill>
                          <a:effectLst/>
                          <a:latin typeface="+mn-lt"/>
                          <a:ea typeface="+mn-ea"/>
                          <a:cs typeface="Poppins"/>
                          <a:hlinkClick r:id="rId8" action="ppaction://hlinksldjump">
                            <a:extLst>
                              <a:ext uri="{A12FA001-AC4F-418D-AE19-62706E023703}">
                                <ahyp:hlinkClr xmlns:ahyp="http://schemas.microsoft.com/office/drawing/2018/hyperlinkcolor" val="tx"/>
                              </a:ext>
                            </a:extLst>
                          </a:hlinkClick>
                        </a:rPr>
                        <a:t> </a:t>
                      </a:r>
                      <a:r>
                        <a:rPr lang="en-US" sz="1000" b="0" i="0" u="none" strike="noStrike" kern="1200" noProof="0">
                          <a:solidFill>
                            <a:schemeClr val="tx1"/>
                          </a:solidFill>
                          <a:effectLst/>
                          <a:latin typeface="+mn-lt"/>
                          <a:ea typeface="+mn-ea"/>
                          <a:cs typeface="Poppins"/>
                        </a:rPr>
                        <a:t>Comparative IIT exploring concurrent vs. sequential administration in SoC combinations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74479344"/>
                  </a:ext>
                </a:extLst>
              </a:tr>
              <a:tr h="1053953">
                <a:tc>
                  <a:txBody>
                    <a:bodyPr/>
                    <a:lstStyle/>
                    <a:p>
                      <a:pPr algn="l"/>
                      <a:r>
                        <a:rPr lang="en-US" sz="1100" b="1" i="0">
                          <a:solidFill>
                            <a:schemeClr val="tx1"/>
                          </a:solidFill>
                          <a:latin typeface="+mn-lt"/>
                          <a:cs typeface="Poppins" pitchFamily="2" charset="77"/>
                        </a:rPr>
                        <a:t>NSCLC_HI_14</a:t>
                      </a:r>
                    </a:p>
                    <a:p>
                      <a:pPr algn="l"/>
                      <a:r>
                        <a:rPr lang="en-US" sz="1000" b="0" i="0">
                          <a:solidFill>
                            <a:schemeClr val="tx1"/>
                          </a:solidFill>
                          <a:latin typeface="+mn-lt"/>
                          <a:cs typeface="Poppins" pitchFamily="2" charset="77"/>
                        </a:rPr>
                        <a:t>Combinations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a:spcAft>
                          <a:spcPts val="500"/>
                        </a:spcAft>
                      </a:pPr>
                      <a:r>
                        <a:rPr lang="en-US" sz="1000" b="0" i="1">
                          <a:solidFill>
                            <a:schemeClr val="tx1"/>
                          </a:solidFill>
                          <a:latin typeface="+mn-lt"/>
                          <a:cs typeface="Poppins" pitchFamily="2" charset="77"/>
                        </a:rPr>
                        <a:t>(1L) </a:t>
                      </a:r>
                      <a:r>
                        <a:rPr lang="en-US" sz="1000" b="0" i="0">
                          <a:solidFill>
                            <a:schemeClr val="tx1"/>
                          </a:solidFill>
                          <a:latin typeface="+mn-lt"/>
                          <a:cs typeface="Poppins" pitchFamily="2" charset="77"/>
                        </a:rPr>
                        <a:t>BGB-58067’s efficacy and safety of triplet therapy across PD-L1 strata compared to standard doublet therapy and anti-PD-1 monotherapy*</a:t>
                      </a:r>
                    </a:p>
                    <a:p>
                      <a:pPr algn="l"/>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Regulators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Defines the competitive viability of BGB-58067-based triplet therapy in 1L NSCLC by clarifying incremental benefit over IO-based doublets and PD-1 monotherapy across PD-L1 strata</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Supports positioning as PD-L1-independent regimen and justifies triplet adoption in high-expression populations if superior outcomes are demonstrated</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Informs reimbursement and market access strategy, particularly in priority new markets, by demonstrating added clinical benefit</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lvl="0" indent="-171450">
                        <a:spcAft>
                          <a:spcPts val="600"/>
                        </a:spcAft>
                        <a:buClr>
                          <a:srgbClr val="000000"/>
                        </a:buClr>
                        <a:buFont typeface="Arial" panose="020B0604020202020204" pitchFamily="34" charset="0"/>
                        <a:buChar char="•"/>
                      </a:pPr>
                      <a:r>
                        <a:rPr lang="en-US" sz="1000" b="1" i="0" u="none" strike="noStrike" kern="1200" noProof="0">
                          <a:solidFill>
                            <a:schemeClr val="tx1"/>
                          </a:solidFill>
                          <a:effectLst/>
                          <a:latin typeface="+mn-lt"/>
                          <a:ea typeface="+mn-ea"/>
                          <a:cs typeface="Poppins"/>
                          <a:hlinkClick r:id="rId9" action="ppaction://hlinksldjump">
                            <a:extLst>
                              <a:ext uri="{A12FA001-AC4F-418D-AE19-62706E023703}">
                                <ahyp:hlinkClr xmlns:ahyp="http://schemas.microsoft.com/office/drawing/2018/hyperlinkcolor" val="tx"/>
                              </a:ext>
                            </a:extLst>
                          </a:hlinkClick>
                        </a:rPr>
                        <a:t>Post-hoc analysis</a:t>
                      </a:r>
                      <a:r>
                        <a:rPr lang="en-US" sz="1000" b="1" i="0" u="none" strike="noStrike" kern="1200" noProof="0">
                          <a:solidFill>
                            <a:schemeClr val="tx1"/>
                          </a:solidFill>
                          <a:effectLst/>
                          <a:latin typeface="+mn-lt"/>
                          <a:ea typeface="+mn-ea"/>
                          <a:cs typeface="Poppins"/>
                          <a:hlinkClick r:id="rId10" action="ppaction://hlinksldjump">
                            <a:extLst>
                              <a:ext uri="{A12FA001-AC4F-418D-AE19-62706E023703}">
                                <ahyp:hlinkClr xmlns:ahyp="http://schemas.microsoft.com/office/drawing/2018/hyperlinkcolor" val="tx"/>
                              </a:ext>
                            </a:extLst>
                          </a:hlinkClick>
                        </a:rPr>
                        <a:t>: </a:t>
                      </a:r>
                      <a:r>
                        <a:rPr lang="en-US" sz="1000" b="0" i="0" u="none" strike="noStrike" kern="1200" noProof="0">
                          <a:solidFill>
                            <a:schemeClr val="tx1"/>
                          </a:solidFill>
                          <a:effectLst/>
                          <a:latin typeface="+mn-lt"/>
                          <a:ea typeface="+mn-ea"/>
                          <a:cs typeface="Poppins"/>
                        </a:rPr>
                        <a:t>Efficacy/safety across baseline PD-L1 strata vs. doublet control</a:t>
                      </a:r>
                    </a:p>
                    <a:p>
                      <a:pPr marL="171450" marR="0" lvl="0" indent="-171450" algn="l" defTabSz="914400"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defRPr/>
                      </a:pPr>
                      <a:r>
                        <a:rPr lang="en-US" sz="1000" b="1" i="0" u="none" strike="noStrike" kern="1200" noProof="0">
                          <a:solidFill>
                            <a:schemeClr val="tx1"/>
                          </a:solidFill>
                          <a:effectLst/>
                          <a:latin typeface="+mn-lt"/>
                          <a:ea typeface="+mn-ea"/>
                          <a:cs typeface="Poppins"/>
                          <a:hlinkClick r:id="rId11" action="ppaction://hlinksldjump">
                            <a:extLst>
                              <a:ext uri="{A12FA001-AC4F-418D-AE19-62706E023703}">
                                <ahyp:hlinkClr xmlns:ahyp="http://schemas.microsoft.com/office/drawing/2018/hyperlinkcolor" val="tx"/>
                              </a:ext>
                            </a:extLst>
                          </a:hlinkClick>
                        </a:rPr>
                        <a:t>ITC</a:t>
                      </a:r>
                      <a:r>
                        <a:rPr lang="en-US" sz="1000" b="1" i="0" u="none" strike="noStrike" kern="1200" noProof="0">
                          <a:solidFill>
                            <a:schemeClr val="tx1"/>
                          </a:solidFill>
                          <a:effectLst/>
                          <a:latin typeface="+mn-lt"/>
                          <a:ea typeface="+mn-ea"/>
                          <a:cs typeface="Poppins"/>
                          <a:hlinkClick r:id="rId12" action="ppaction://hlinksldjump">
                            <a:extLst>
                              <a:ext uri="{A12FA001-AC4F-418D-AE19-62706E023703}">
                                <ahyp:hlinkClr xmlns:ahyp="http://schemas.microsoft.com/office/drawing/2018/hyperlinkcolor" val="tx"/>
                              </a:ext>
                            </a:extLst>
                          </a:hlinkClick>
                        </a:rPr>
                        <a:t>:</a:t>
                      </a:r>
                      <a:r>
                        <a:rPr lang="en-US" sz="1000" b="0" i="0" u="none" strike="noStrike" kern="1200" noProof="0">
                          <a:solidFill>
                            <a:schemeClr val="tx1"/>
                          </a:solidFill>
                          <a:effectLst/>
                          <a:latin typeface="+mn-lt"/>
                          <a:ea typeface="+mn-ea"/>
                          <a:cs typeface="Poppins"/>
                          <a:hlinkClick r:id="rId12" action="ppaction://hlinksldjump">
                            <a:extLst>
                              <a:ext uri="{A12FA001-AC4F-418D-AE19-62706E023703}">
                                <ahyp:hlinkClr xmlns:ahyp="http://schemas.microsoft.com/office/drawing/2018/hyperlinkcolor" val="tx"/>
                              </a:ext>
                            </a:extLst>
                          </a:hlinkClick>
                        </a:rPr>
                        <a:t> </a:t>
                      </a:r>
                      <a:r>
                        <a:rPr lang="en-US" sz="1000" b="0" i="0" u="none" strike="noStrike" kern="1200" noProof="0">
                          <a:solidFill>
                            <a:schemeClr val="tx1"/>
                          </a:solidFill>
                          <a:effectLst/>
                          <a:latin typeface="+mn-lt"/>
                          <a:ea typeface="+mn-ea"/>
                          <a:cs typeface="Poppins"/>
                        </a:rPr>
                        <a:t>Comparing against anti-PD-1 monotherapy in PD-L1-high populations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569997677"/>
                  </a:ext>
                </a:extLst>
              </a:tr>
              <a:tr h="1053953">
                <a:tc>
                  <a:txBody>
                    <a:bodyPr/>
                    <a:lstStyle/>
                    <a:p>
                      <a:pPr algn="l"/>
                      <a:r>
                        <a:rPr lang="en-US" sz="1100" b="1" i="0">
                          <a:solidFill>
                            <a:schemeClr val="tx1"/>
                          </a:solidFill>
                          <a:latin typeface="+mn-lt"/>
                          <a:cs typeface="Poppins" pitchFamily="2" charset="77"/>
                        </a:rPr>
                        <a:t>NSCLC_HI_15</a:t>
                      </a:r>
                    </a:p>
                    <a:p>
                      <a:pPr algn="l"/>
                      <a:r>
                        <a:rPr lang="en-US" sz="1000" b="0" i="0">
                          <a:solidFill>
                            <a:schemeClr val="tx1"/>
                          </a:solidFill>
                          <a:latin typeface="+mn-lt"/>
                          <a:cs typeface="Poppins" pitchFamily="2" charset="77"/>
                        </a:rPr>
                        <a:t>Combinations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spcAft>
                          <a:spcPts val="500"/>
                        </a:spcAft>
                      </a:pPr>
                      <a:r>
                        <a:rPr lang="en-US" sz="1000" b="0" i="1">
                          <a:solidFill>
                            <a:schemeClr val="tx1"/>
                          </a:solidFill>
                          <a:latin typeface="+mn-lt"/>
                          <a:cs typeface="Poppins" pitchFamily="2" charset="77"/>
                        </a:rPr>
                        <a:t>(1L and 2L+) </a:t>
                      </a:r>
                      <a:r>
                        <a:rPr lang="en-US" sz="1000" b="0" i="0">
                          <a:solidFill>
                            <a:schemeClr val="tx1"/>
                          </a:solidFill>
                          <a:latin typeface="+mn-lt"/>
                          <a:cs typeface="Poppins" pitchFamily="2" charset="77"/>
                        </a:rPr>
                        <a:t>BGB-58067's efficacy and safety profile in combination with targeted therapies (e.g., TKIs) </a:t>
                      </a:r>
                    </a:p>
                    <a:p>
                      <a:pPr algn="l">
                        <a:spcAft>
                          <a:spcPts val="500"/>
                        </a:spcAft>
                      </a:pPr>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  Regulators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Protects against future changes to SoC as treatment landscape changes and more targeted therapies enter the market</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Can support a competitive advantage in targeting patients with co-mutations and support differentiated combination approaches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lvl="0" indent="-171450">
                        <a:spcAft>
                          <a:spcPts val="600"/>
                        </a:spcAft>
                        <a:buClr>
                          <a:srgbClr val="000000"/>
                        </a:buClr>
                        <a:buFont typeface="Arial" panose="020B0604020202020204" pitchFamily="34" charset="0"/>
                        <a:buChar char="•"/>
                      </a:pPr>
                      <a:r>
                        <a:rPr lang="en-US" sz="1000" b="1" i="0" u="none" strike="noStrike" kern="1200" noProof="0">
                          <a:solidFill>
                            <a:schemeClr val="tx1"/>
                          </a:solidFill>
                          <a:effectLst/>
                          <a:latin typeface="+mn-lt"/>
                          <a:ea typeface="+mn-ea"/>
                          <a:cs typeface="Poppins"/>
                          <a:hlinkClick r:id="rId8" action="ppaction://hlinksldjump">
                            <a:extLst>
                              <a:ext uri="{A12FA001-AC4F-418D-AE19-62706E023703}">
                                <ahyp:hlinkClr xmlns:ahyp="http://schemas.microsoft.com/office/drawing/2018/hyperlinkcolor" val="tx"/>
                              </a:ext>
                            </a:extLst>
                          </a:hlinkClick>
                        </a:rPr>
                        <a:t>IIT: </a:t>
                      </a:r>
                      <a:r>
                        <a:rPr lang="en-US" sz="1000" b="0" i="0" u="none" strike="noStrike" kern="1200" noProof="0">
                          <a:solidFill>
                            <a:schemeClr val="tx1"/>
                          </a:solidFill>
                          <a:effectLst/>
                          <a:latin typeface="+mn-lt"/>
                          <a:ea typeface="+mn-ea"/>
                          <a:cs typeface="Poppins"/>
                        </a:rPr>
                        <a:t>Assessing combinations with targeted therapies where not explored in CDP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643963820"/>
                  </a:ext>
                </a:extLst>
              </a:tr>
            </a:tbl>
          </a:graphicData>
        </a:graphic>
      </p:graphicFrame>
      <p:sp>
        <p:nvSpPr>
          <p:cNvPr id="46" name="Oval 45">
            <a:extLst>
              <a:ext uri="{FF2B5EF4-FFF2-40B4-BE49-F238E27FC236}">
                <a16:creationId xmlns:a16="http://schemas.microsoft.com/office/drawing/2014/main" id="{6F206A40-F7FB-48C5-0FE2-94BCDDBA59C9}"/>
              </a:ext>
            </a:extLst>
          </p:cNvPr>
          <p:cNvSpPr/>
          <p:nvPr/>
        </p:nvSpPr>
        <p:spPr>
          <a:xfrm>
            <a:off x="8344220" y="2270754"/>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50" name="Rounded Rectangle 23">
            <a:extLst>
              <a:ext uri="{FF2B5EF4-FFF2-40B4-BE49-F238E27FC236}">
                <a16:creationId xmlns:a16="http://schemas.microsoft.com/office/drawing/2014/main" id="{EF24639B-D87B-ED6E-ABBC-C86FF53B93B4}"/>
              </a:ext>
            </a:extLst>
          </p:cNvPr>
          <p:cNvSpPr/>
          <p:nvPr/>
        </p:nvSpPr>
        <p:spPr>
          <a:xfrm>
            <a:off x="434537" y="2619570"/>
            <a:ext cx="860863" cy="210024"/>
          </a:xfrm>
          <a:prstGeom prst="roundRect">
            <a:avLst>
              <a:gd name="adj" fmla="val 6118"/>
            </a:avLst>
          </a:prstGeom>
          <a:solidFill>
            <a:srgbClr val="00808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4">
                    <a:lumMod val="75000"/>
                  </a:schemeClr>
                </a:solidFill>
                <a:effectLst/>
                <a:uLnTx/>
                <a:uFillTx/>
                <a:latin typeface="Poppins" pitchFamily="2" charset="77"/>
                <a:cs typeface="Poppins" pitchFamily="2" charset="77"/>
              </a:rPr>
              <a:t>Critical</a:t>
            </a:r>
          </a:p>
        </p:txBody>
      </p:sp>
      <p:sp>
        <p:nvSpPr>
          <p:cNvPr id="57" name="Oval 56">
            <a:extLst>
              <a:ext uri="{FF2B5EF4-FFF2-40B4-BE49-F238E27FC236}">
                <a16:creationId xmlns:a16="http://schemas.microsoft.com/office/drawing/2014/main" id="{042D69E1-BFE4-7C32-1815-9F85405CB74C}"/>
              </a:ext>
            </a:extLst>
          </p:cNvPr>
          <p:cNvSpPr/>
          <p:nvPr/>
        </p:nvSpPr>
        <p:spPr>
          <a:xfrm>
            <a:off x="8344220" y="5296780"/>
            <a:ext cx="128016" cy="1280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61" name="Oval 60">
            <a:extLst>
              <a:ext uri="{FF2B5EF4-FFF2-40B4-BE49-F238E27FC236}">
                <a16:creationId xmlns:a16="http://schemas.microsoft.com/office/drawing/2014/main" id="{6921B1E3-C4F3-7A95-B589-EC390EAA801E}"/>
              </a:ext>
            </a:extLst>
          </p:cNvPr>
          <p:cNvSpPr/>
          <p:nvPr/>
        </p:nvSpPr>
        <p:spPr>
          <a:xfrm>
            <a:off x="8344220" y="3569846"/>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62" name="Oval 61">
            <a:extLst>
              <a:ext uri="{FF2B5EF4-FFF2-40B4-BE49-F238E27FC236}">
                <a16:creationId xmlns:a16="http://schemas.microsoft.com/office/drawing/2014/main" id="{913DF740-B79E-B92B-8116-A84CBDD8F42C}"/>
              </a:ext>
            </a:extLst>
          </p:cNvPr>
          <p:cNvSpPr/>
          <p:nvPr/>
        </p:nvSpPr>
        <p:spPr>
          <a:xfrm>
            <a:off x="8344220" y="3941635"/>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2" name="Rounded Rectangle 26">
            <a:extLst>
              <a:ext uri="{FF2B5EF4-FFF2-40B4-BE49-F238E27FC236}">
                <a16:creationId xmlns:a16="http://schemas.microsoft.com/office/drawing/2014/main" id="{FA99B748-7D02-9F7D-D7FF-D4162A2645AB}"/>
              </a:ext>
            </a:extLst>
          </p:cNvPr>
          <p:cNvSpPr/>
          <p:nvPr/>
        </p:nvSpPr>
        <p:spPr>
          <a:xfrm>
            <a:off x="434535" y="4116011"/>
            <a:ext cx="860863" cy="210024"/>
          </a:xfrm>
          <a:prstGeom prst="roundRect">
            <a:avLst>
              <a:gd name="adj" fmla="val 6677"/>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1"/>
                </a:solidFill>
                <a:effectLst/>
                <a:uLnTx/>
                <a:uFillTx/>
                <a:latin typeface="Poppins" pitchFamily="2" charset="77"/>
                <a:cs typeface="Poppins" pitchFamily="2" charset="77"/>
              </a:rPr>
              <a:t>High</a:t>
            </a:r>
          </a:p>
        </p:txBody>
      </p:sp>
      <p:sp>
        <p:nvSpPr>
          <p:cNvPr id="5" name="Rounded Rectangle 26">
            <a:extLst>
              <a:ext uri="{FF2B5EF4-FFF2-40B4-BE49-F238E27FC236}">
                <a16:creationId xmlns:a16="http://schemas.microsoft.com/office/drawing/2014/main" id="{9495DEAF-2416-3337-C5E8-2507B91F0B79}"/>
              </a:ext>
            </a:extLst>
          </p:cNvPr>
          <p:cNvSpPr/>
          <p:nvPr/>
        </p:nvSpPr>
        <p:spPr>
          <a:xfrm>
            <a:off x="434536" y="5626100"/>
            <a:ext cx="860863" cy="210024"/>
          </a:xfrm>
          <a:prstGeom prst="roundRect">
            <a:avLst>
              <a:gd name="adj" fmla="val 6677"/>
            </a:avLst>
          </a:prstGeom>
          <a:solidFill>
            <a:srgbClr val="FCE0DA"/>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buClrTx/>
              <a:buSzTx/>
              <a:buFontTx/>
              <a:buNone/>
              <a:tabLst/>
              <a:defRPr/>
            </a:pPr>
            <a:r>
              <a:rPr kumimoji="0" lang="en-US" sz="800" b="1" i="0" u="none" strike="noStrike" kern="1200" cap="none" spc="0" normalizeH="0" baseline="0" noProof="0">
                <a:ln>
                  <a:noFill/>
                </a:ln>
                <a:solidFill>
                  <a:schemeClr val="accent1"/>
                </a:solidFill>
                <a:effectLst/>
                <a:uLnTx/>
                <a:uFillTx/>
                <a:latin typeface="Poppins" pitchFamily="2" charset="77"/>
                <a:cs typeface="Poppins" pitchFamily="2" charset="77"/>
              </a:rPr>
              <a:t>High</a:t>
            </a:r>
          </a:p>
        </p:txBody>
      </p:sp>
      <p:sp>
        <p:nvSpPr>
          <p:cNvPr id="21" name="Rectangle 20">
            <a:extLst>
              <a:ext uri="{FF2B5EF4-FFF2-40B4-BE49-F238E27FC236}">
                <a16:creationId xmlns:a16="http://schemas.microsoft.com/office/drawing/2014/main" id="{73DD4396-14D0-7911-3291-F65D94D03E61}"/>
              </a:ext>
            </a:extLst>
          </p:cNvPr>
          <p:cNvSpPr/>
          <p:nvPr/>
        </p:nvSpPr>
        <p:spPr>
          <a:xfrm>
            <a:off x="371289"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1</a:t>
            </a:r>
          </a:p>
        </p:txBody>
      </p:sp>
      <p:sp>
        <p:nvSpPr>
          <p:cNvPr id="22" name="Rectangle 21">
            <a:extLst>
              <a:ext uri="{FF2B5EF4-FFF2-40B4-BE49-F238E27FC236}">
                <a16:creationId xmlns:a16="http://schemas.microsoft.com/office/drawing/2014/main" id="{FB5A3D52-D411-09F3-6A4C-686F064EB480}"/>
              </a:ext>
            </a:extLst>
          </p:cNvPr>
          <p:cNvSpPr/>
          <p:nvPr/>
        </p:nvSpPr>
        <p:spPr>
          <a:xfrm>
            <a:off x="1176417"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2</a:t>
            </a:r>
          </a:p>
        </p:txBody>
      </p:sp>
      <p:sp>
        <p:nvSpPr>
          <p:cNvPr id="23" name="Rectangle 22">
            <a:extLst>
              <a:ext uri="{FF2B5EF4-FFF2-40B4-BE49-F238E27FC236}">
                <a16:creationId xmlns:a16="http://schemas.microsoft.com/office/drawing/2014/main" id="{6C7571B6-C69C-E965-0FC4-8A42E6B2F85C}"/>
              </a:ext>
            </a:extLst>
          </p:cNvPr>
          <p:cNvSpPr/>
          <p:nvPr/>
        </p:nvSpPr>
        <p:spPr>
          <a:xfrm>
            <a:off x="1981545" y="1259201"/>
            <a:ext cx="2520000" cy="167267"/>
          </a:xfrm>
          <a:prstGeom prst="rect">
            <a:avLst/>
          </a:prstGeom>
          <a:solidFill>
            <a:schemeClr val="accent2">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3: Combinations and Sequencing</a:t>
            </a:r>
          </a:p>
        </p:txBody>
      </p:sp>
      <p:sp>
        <p:nvSpPr>
          <p:cNvPr id="24" name="Rectangle 23">
            <a:extLst>
              <a:ext uri="{FF2B5EF4-FFF2-40B4-BE49-F238E27FC236}">
                <a16:creationId xmlns:a16="http://schemas.microsoft.com/office/drawing/2014/main" id="{11C283DB-FD48-249A-AF87-1B67619BBCEA}"/>
              </a:ext>
            </a:extLst>
          </p:cNvPr>
          <p:cNvSpPr/>
          <p:nvPr/>
        </p:nvSpPr>
        <p:spPr>
          <a:xfrm>
            <a:off x="4550674"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4</a:t>
            </a:r>
          </a:p>
        </p:txBody>
      </p:sp>
      <p:grpSp>
        <p:nvGrpSpPr>
          <p:cNvPr id="51" name="Group 50">
            <a:extLst>
              <a:ext uri="{FF2B5EF4-FFF2-40B4-BE49-F238E27FC236}">
                <a16:creationId xmlns:a16="http://schemas.microsoft.com/office/drawing/2014/main" id="{023271DF-603E-08FD-D66E-26098AA4CA1E}"/>
              </a:ext>
            </a:extLst>
          </p:cNvPr>
          <p:cNvGrpSpPr/>
          <p:nvPr/>
        </p:nvGrpSpPr>
        <p:grpSpPr>
          <a:xfrm>
            <a:off x="9588863" y="1238928"/>
            <a:ext cx="2240393" cy="363842"/>
            <a:chOff x="9746021" y="1221639"/>
            <a:chExt cx="2240393" cy="363842"/>
          </a:xfrm>
        </p:grpSpPr>
        <p:sp>
          <p:nvSpPr>
            <p:cNvPr id="52" name="Rectangle 51">
              <a:extLst>
                <a:ext uri="{FF2B5EF4-FFF2-40B4-BE49-F238E27FC236}">
                  <a16:creationId xmlns:a16="http://schemas.microsoft.com/office/drawing/2014/main" id="{A826A324-9E6F-878A-A7A0-D8E4B289DA1B}"/>
                </a:ext>
              </a:extLst>
            </p:cNvPr>
            <p:cNvSpPr/>
            <p:nvPr/>
          </p:nvSpPr>
          <p:spPr>
            <a:xfrm>
              <a:off x="9852837" y="1221639"/>
              <a:ext cx="2133577" cy="3638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800">
                  <a:solidFill>
                    <a:schemeClr val="tx1"/>
                  </a:solidFill>
                </a:rPr>
                <a:t>Click the </a:t>
              </a:r>
              <a:r>
                <a:rPr lang="en-US" sz="800" b="1">
                  <a:solidFill>
                    <a:schemeClr val="tx1"/>
                  </a:solidFill>
                </a:rPr>
                <a:t>bolded tactic </a:t>
              </a:r>
              <a:r>
                <a:rPr lang="en-US" sz="800">
                  <a:solidFill>
                    <a:schemeClr val="tx1"/>
                  </a:solidFill>
                </a:rPr>
                <a:t>to navigate to the study approach details</a:t>
              </a:r>
            </a:p>
          </p:txBody>
        </p:sp>
        <p:pic>
          <p:nvPicPr>
            <p:cNvPr id="53" name="Graphic 52" descr="Cursor with solid fill">
              <a:extLst>
                <a:ext uri="{FF2B5EF4-FFF2-40B4-BE49-F238E27FC236}">
                  <a16:creationId xmlns:a16="http://schemas.microsoft.com/office/drawing/2014/main" id="{741A689D-E94F-7E83-B96B-550FEF79666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746021" y="1302723"/>
              <a:ext cx="216000" cy="216000"/>
            </a:xfrm>
            <a:prstGeom prst="rect">
              <a:avLst/>
            </a:prstGeom>
          </p:spPr>
        </p:pic>
      </p:grpSp>
      <p:sp>
        <p:nvSpPr>
          <p:cNvPr id="19" name="Footer Placeholder 2">
            <a:extLst>
              <a:ext uri="{FF2B5EF4-FFF2-40B4-BE49-F238E27FC236}">
                <a16:creationId xmlns:a16="http://schemas.microsoft.com/office/drawing/2014/main" id="{B66A481D-A2AA-7DA9-F493-0252ED9E9015}"/>
              </a:ext>
            </a:extLst>
          </p:cNvPr>
          <p:cNvSpPr txBox="1">
            <a:spLocks/>
          </p:cNvSpPr>
          <p:nvPr/>
        </p:nvSpPr>
        <p:spPr>
          <a:xfrm>
            <a:off x="371289" y="6150265"/>
            <a:ext cx="6261637" cy="507238"/>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solidFill>
                  <a:srgbClr val="595959"/>
                </a:solidFill>
              </a:rPr>
              <a:t>Notes: *Gap is critical/high priority depending on the market/country (e.g., considering whether PD-L1 therapy is reimbursed/not reimbursed); Abbreviations: </a:t>
            </a:r>
            <a:r>
              <a:rPr lang="en-US"/>
              <a:t>CDP: Clinical Development Plan; CE: Critical Priority; HCPs: Healthcare Professionals; HI: High Priority; IIT: Investigator-Initiated Trial; IO: Immuno-Oncology; ITC: Indirect Treatment Comparison; NSCLC: Non-Small Cell Lung Cancer; PD-1: Programmed Cell Death Protein 1; PD-L1: Programmed Death-Ligand 1; SI: Strategic Imperative; SoC: Standard of Care; TKIs: Tyrosine Kinase Inhibitors</a:t>
            </a:r>
          </a:p>
        </p:txBody>
      </p:sp>
      <p:grpSp>
        <p:nvGrpSpPr>
          <p:cNvPr id="36" name="Group 35">
            <a:extLst>
              <a:ext uri="{FF2B5EF4-FFF2-40B4-BE49-F238E27FC236}">
                <a16:creationId xmlns:a16="http://schemas.microsoft.com/office/drawing/2014/main" id="{5499CAEB-D787-9E7C-84B1-3E119C378316}"/>
              </a:ext>
            </a:extLst>
          </p:cNvPr>
          <p:cNvGrpSpPr/>
          <p:nvPr/>
        </p:nvGrpSpPr>
        <p:grpSpPr>
          <a:xfrm>
            <a:off x="6707941" y="6082797"/>
            <a:ext cx="5283720" cy="661604"/>
            <a:chOff x="301330" y="6226576"/>
            <a:chExt cx="5283720" cy="661604"/>
          </a:xfrm>
        </p:grpSpPr>
        <p:grpSp>
          <p:nvGrpSpPr>
            <p:cNvPr id="37" name="Group 36">
              <a:extLst>
                <a:ext uri="{FF2B5EF4-FFF2-40B4-BE49-F238E27FC236}">
                  <a16:creationId xmlns:a16="http://schemas.microsoft.com/office/drawing/2014/main" id="{EE7FE1F1-F45C-B1AF-C67B-E71D11472BB4}"/>
                </a:ext>
              </a:extLst>
            </p:cNvPr>
            <p:cNvGrpSpPr/>
            <p:nvPr/>
          </p:nvGrpSpPr>
          <p:grpSpPr>
            <a:xfrm>
              <a:off x="328227" y="6580403"/>
              <a:ext cx="1894026" cy="307777"/>
              <a:chOff x="-2487500" y="6443238"/>
              <a:chExt cx="1894026" cy="307777"/>
            </a:xfrm>
          </p:grpSpPr>
          <p:sp>
            <p:nvSpPr>
              <p:cNvPr id="48" name="Oval 47">
                <a:extLst>
                  <a:ext uri="{FF2B5EF4-FFF2-40B4-BE49-F238E27FC236}">
                    <a16:creationId xmlns:a16="http://schemas.microsoft.com/office/drawing/2014/main" id="{6564FE11-276C-DE7F-38FD-2239A52A74FF}"/>
                  </a:ext>
                </a:extLst>
              </p:cNvPr>
              <p:cNvSpPr/>
              <p:nvPr/>
            </p:nvSpPr>
            <p:spPr>
              <a:xfrm>
                <a:off x="-2487500" y="6533526"/>
                <a:ext cx="129556" cy="12801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49" name="TextBox 48">
                <a:extLst>
                  <a:ext uri="{FF2B5EF4-FFF2-40B4-BE49-F238E27FC236}">
                    <a16:creationId xmlns:a16="http://schemas.microsoft.com/office/drawing/2014/main" id="{65EB8501-58D3-A23D-D6D3-E48361997E6B}"/>
                  </a:ext>
                </a:extLst>
              </p:cNvPr>
              <p:cNvSpPr txBox="1"/>
              <p:nvPr/>
            </p:nvSpPr>
            <p:spPr>
              <a:xfrm>
                <a:off x="-2426470" y="6443238"/>
                <a:ext cx="1832996" cy="307777"/>
              </a:xfrm>
              <a:prstGeom prst="rect">
                <a:avLst/>
              </a:prstGeom>
              <a:noFill/>
            </p:spPr>
            <p:txBody>
              <a:bodyPr wrap="square" lIns="91440" tIns="91440" rIns="91440" bIns="91440" rtlCol="0">
                <a:spAutoFit/>
              </a:bodyPr>
              <a:lstStyle/>
              <a:p>
                <a:pPr algn="l"/>
                <a:r>
                  <a:rPr lang="en-US" sz="800"/>
                  <a:t>Near-term (immediate action)</a:t>
                </a:r>
              </a:p>
            </p:txBody>
          </p:sp>
        </p:grpSp>
        <p:grpSp>
          <p:nvGrpSpPr>
            <p:cNvPr id="38" name="Group 37">
              <a:extLst>
                <a:ext uri="{FF2B5EF4-FFF2-40B4-BE49-F238E27FC236}">
                  <a16:creationId xmlns:a16="http://schemas.microsoft.com/office/drawing/2014/main" id="{D872108D-A99E-A106-57AB-B75D01C7D8AE}"/>
                </a:ext>
              </a:extLst>
            </p:cNvPr>
            <p:cNvGrpSpPr/>
            <p:nvPr/>
          </p:nvGrpSpPr>
          <p:grpSpPr>
            <a:xfrm>
              <a:off x="2087638" y="6580403"/>
              <a:ext cx="2154029" cy="307777"/>
              <a:chOff x="-785805" y="6439612"/>
              <a:chExt cx="2154029" cy="307777"/>
            </a:xfrm>
          </p:grpSpPr>
          <p:sp>
            <p:nvSpPr>
              <p:cNvPr id="45" name="Oval 44">
                <a:extLst>
                  <a:ext uri="{FF2B5EF4-FFF2-40B4-BE49-F238E27FC236}">
                    <a16:creationId xmlns:a16="http://schemas.microsoft.com/office/drawing/2014/main" id="{D1CE7506-001C-3A88-055F-65C7E996C67A}"/>
                  </a:ext>
                </a:extLst>
              </p:cNvPr>
              <p:cNvSpPr/>
              <p:nvPr/>
            </p:nvSpPr>
            <p:spPr>
              <a:xfrm>
                <a:off x="-785805" y="6529900"/>
                <a:ext cx="128016" cy="12801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47" name="TextBox 46">
                <a:extLst>
                  <a:ext uri="{FF2B5EF4-FFF2-40B4-BE49-F238E27FC236}">
                    <a16:creationId xmlns:a16="http://schemas.microsoft.com/office/drawing/2014/main" id="{C3689D47-20F3-14C7-BFAC-4CE05F0E9678}"/>
                  </a:ext>
                </a:extLst>
              </p:cNvPr>
              <p:cNvSpPr txBox="1"/>
              <p:nvPr/>
            </p:nvSpPr>
            <p:spPr>
              <a:xfrm>
                <a:off x="-730319" y="6439612"/>
                <a:ext cx="2098543" cy="307777"/>
              </a:xfrm>
              <a:prstGeom prst="rect">
                <a:avLst/>
              </a:prstGeom>
              <a:noFill/>
            </p:spPr>
            <p:txBody>
              <a:bodyPr wrap="square" lIns="91440" tIns="91440" rIns="91440" bIns="91440" rtlCol="0">
                <a:spAutoFit/>
              </a:bodyPr>
              <a:lstStyle/>
              <a:p>
                <a:pPr algn="l"/>
                <a:r>
                  <a:rPr lang="en-US" sz="800"/>
                  <a:t>Longer-term (no immediate action)</a:t>
                </a:r>
              </a:p>
            </p:txBody>
          </p:sp>
        </p:grpSp>
        <p:grpSp>
          <p:nvGrpSpPr>
            <p:cNvPr id="39" name="Group 38">
              <a:extLst>
                <a:ext uri="{FF2B5EF4-FFF2-40B4-BE49-F238E27FC236}">
                  <a16:creationId xmlns:a16="http://schemas.microsoft.com/office/drawing/2014/main" id="{F413255F-C6AD-7809-F5C3-391DF71A2F87}"/>
                </a:ext>
              </a:extLst>
            </p:cNvPr>
            <p:cNvGrpSpPr/>
            <p:nvPr/>
          </p:nvGrpSpPr>
          <p:grpSpPr>
            <a:xfrm>
              <a:off x="4094230" y="6580403"/>
              <a:ext cx="1335262" cy="307777"/>
              <a:chOff x="1858782" y="6448136"/>
              <a:chExt cx="1335262" cy="307777"/>
            </a:xfrm>
          </p:grpSpPr>
          <p:sp>
            <p:nvSpPr>
              <p:cNvPr id="43" name="Oval 42">
                <a:extLst>
                  <a:ext uri="{FF2B5EF4-FFF2-40B4-BE49-F238E27FC236}">
                    <a16:creationId xmlns:a16="http://schemas.microsoft.com/office/drawing/2014/main" id="{D2C756F8-60E8-C8B2-1A75-F14E2DA4BF90}"/>
                  </a:ext>
                </a:extLst>
              </p:cNvPr>
              <p:cNvSpPr/>
              <p:nvPr/>
            </p:nvSpPr>
            <p:spPr>
              <a:xfrm>
                <a:off x="1858782" y="6538424"/>
                <a:ext cx="128016" cy="128016"/>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44" name="TextBox 43">
                <a:extLst>
                  <a:ext uri="{FF2B5EF4-FFF2-40B4-BE49-F238E27FC236}">
                    <a16:creationId xmlns:a16="http://schemas.microsoft.com/office/drawing/2014/main" id="{40A3529A-25D4-8E4A-B673-38917235BD13}"/>
                  </a:ext>
                </a:extLst>
              </p:cNvPr>
              <p:cNvSpPr txBox="1"/>
              <p:nvPr/>
            </p:nvSpPr>
            <p:spPr>
              <a:xfrm>
                <a:off x="1909630" y="6448136"/>
                <a:ext cx="1284414" cy="307777"/>
              </a:xfrm>
              <a:prstGeom prst="rect">
                <a:avLst/>
              </a:prstGeom>
              <a:noFill/>
            </p:spPr>
            <p:txBody>
              <a:bodyPr wrap="square" lIns="91440" tIns="91440" rIns="91440" bIns="91440" rtlCol="0">
                <a:spAutoFit/>
              </a:bodyPr>
              <a:lstStyle/>
              <a:p>
                <a:pPr algn="l"/>
                <a:r>
                  <a:rPr lang="en-US" sz="800"/>
                  <a:t>Planned / addressed</a:t>
                </a:r>
              </a:p>
            </p:txBody>
          </p:sp>
        </p:grpSp>
        <p:sp>
          <p:nvSpPr>
            <p:cNvPr id="40" name="TextBox 39">
              <a:extLst>
                <a:ext uri="{FF2B5EF4-FFF2-40B4-BE49-F238E27FC236}">
                  <a16:creationId xmlns:a16="http://schemas.microsoft.com/office/drawing/2014/main" id="{803CE42D-57D9-CEE9-0027-6F780C085F04}"/>
                </a:ext>
              </a:extLst>
            </p:cNvPr>
            <p:cNvSpPr txBox="1"/>
            <p:nvPr/>
          </p:nvSpPr>
          <p:spPr>
            <a:xfrm>
              <a:off x="301330" y="6226576"/>
              <a:ext cx="5283720" cy="307777"/>
            </a:xfrm>
            <a:prstGeom prst="rect">
              <a:avLst/>
            </a:prstGeom>
            <a:noFill/>
          </p:spPr>
          <p:txBody>
            <a:bodyPr wrap="square" lIns="36000" tIns="91440" rIns="36000" bIns="91440" rtlCol="0">
              <a:spAutoFit/>
            </a:bodyPr>
            <a:lstStyle/>
            <a:p>
              <a:pPr>
                <a:spcBef>
                  <a:spcPts val="600"/>
                </a:spcBef>
              </a:pPr>
              <a:r>
                <a:rPr lang="en-US" sz="800" b="1"/>
                <a:t>Key:  Listed stakeholders represent the primary target audience for the evidence generated</a:t>
              </a:r>
            </a:p>
          </p:txBody>
        </p:sp>
        <p:sp>
          <p:nvSpPr>
            <p:cNvPr id="41" name="TextBox 40">
              <a:extLst>
                <a:ext uri="{FF2B5EF4-FFF2-40B4-BE49-F238E27FC236}">
                  <a16:creationId xmlns:a16="http://schemas.microsoft.com/office/drawing/2014/main" id="{382F4782-823A-E032-BE21-A4DD67E680BF}"/>
                </a:ext>
              </a:extLst>
            </p:cNvPr>
            <p:cNvSpPr txBox="1"/>
            <p:nvPr/>
          </p:nvSpPr>
          <p:spPr>
            <a:xfrm>
              <a:off x="301330" y="6396002"/>
              <a:ext cx="5283720" cy="307777"/>
            </a:xfrm>
            <a:prstGeom prst="rect">
              <a:avLst/>
            </a:prstGeom>
            <a:noFill/>
          </p:spPr>
          <p:txBody>
            <a:bodyPr wrap="square" lIns="36000" tIns="91440" rIns="36000" bIns="91440" rtlCol="0">
              <a:spAutoFit/>
            </a:bodyPr>
            <a:lstStyle/>
            <a:p>
              <a:pPr>
                <a:spcBef>
                  <a:spcPts val="600"/>
                </a:spcBef>
              </a:pPr>
              <a:r>
                <a:rPr lang="en-US" sz="800"/>
                <a:t>Tactics are characterized according to action required based on cross-functional workshop input:</a:t>
              </a:r>
            </a:p>
          </p:txBody>
        </p:sp>
        <p:cxnSp>
          <p:nvCxnSpPr>
            <p:cNvPr id="42" name="Straight Connector 41">
              <a:extLst>
                <a:ext uri="{FF2B5EF4-FFF2-40B4-BE49-F238E27FC236}">
                  <a16:creationId xmlns:a16="http://schemas.microsoft.com/office/drawing/2014/main" id="{CDFF6275-F6B3-A3A1-1DE5-02B47EC38E06}"/>
                </a:ext>
              </a:extLst>
            </p:cNvPr>
            <p:cNvCxnSpPr>
              <a:cxnSpLocks/>
            </p:cNvCxnSpPr>
            <p:nvPr/>
          </p:nvCxnSpPr>
          <p:spPr>
            <a:xfrm flipV="1">
              <a:off x="301330" y="6454640"/>
              <a:ext cx="5005344" cy="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55" name="Group 54">
            <a:extLst>
              <a:ext uri="{FF2B5EF4-FFF2-40B4-BE49-F238E27FC236}">
                <a16:creationId xmlns:a16="http://schemas.microsoft.com/office/drawing/2014/main" id="{AEE0DCB1-0EAF-3933-F588-CA8F607E41A1}"/>
              </a:ext>
            </a:extLst>
          </p:cNvPr>
          <p:cNvGrpSpPr/>
          <p:nvPr/>
        </p:nvGrpSpPr>
        <p:grpSpPr>
          <a:xfrm>
            <a:off x="362743" y="10216"/>
            <a:ext cx="10042505" cy="252000"/>
            <a:chOff x="362743" y="10216"/>
            <a:chExt cx="10042505" cy="252000"/>
          </a:xfrm>
        </p:grpSpPr>
        <p:sp>
          <p:nvSpPr>
            <p:cNvPr id="56" name="Pentagon 47">
              <a:extLst>
                <a:ext uri="{FF2B5EF4-FFF2-40B4-BE49-F238E27FC236}">
                  <a16:creationId xmlns:a16="http://schemas.microsoft.com/office/drawing/2014/main" id="{3C18E5A3-0C19-42B2-F6F4-8E1F03180FE7}"/>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60" name="Chevron 48">
              <a:extLst>
                <a:ext uri="{FF2B5EF4-FFF2-40B4-BE49-F238E27FC236}">
                  <a16:creationId xmlns:a16="http://schemas.microsoft.com/office/drawing/2014/main" id="{B2DBAE1A-59FD-4F04-E385-AAA4067074A1}"/>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63" name="Chevron 52">
              <a:extLst>
                <a:ext uri="{FF2B5EF4-FFF2-40B4-BE49-F238E27FC236}">
                  <a16:creationId xmlns:a16="http://schemas.microsoft.com/office/drawing/2014/main" id="{891BB048-4184-9B2B-D26C-533615061C01}"/>
                </a:ext>
              </a:extLst>
            </p:cNvPr>
            <p:cNvSpPr/>
            <p:nvPr/>
          </p:nvSpPr>
          <p:spPr>
            <a:xfrm>
              <a:off x="3701639"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64" name="Chevron 54">
              <a:extLst>
                <a:ext uri="{FF2B5EF4-FFF2-40B4-BE49-F238E27FC236}">
                  <a16:creationId xmlns:a16="http://schemas.microsoft.com/office/drawing/2014/main" id="{58FAB541-4276-941D-2E6A-650A1A96540D}"/>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65" name="Chevron 48">
              <a:extLst>
                <a:ext uri="{FF2B5EF4-FFF2-40B4-BE49-F238E27FC236}">
                  <a16:creationId xmlns:a16="http://schemas.microsoft.com/office/drawing/2014/main" id="{F64C7F72-FE6A-8147-A7F2-074853D94A7B}"/>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67" name="Chevron 48">
              <a:extLst>
                <a:ext uri="{FF2B5EF4-FFF2-40B4-BE49-F238E27FC236}">
                  <a16:creationId xmlns:a16="http://schemas.microsoft.com/office/drawing/2014/main" id="{32B844F3-95FF-1658-F4CE-8D75FC674CB7}"/>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1144629972"/>
      </p:ext>
    </p:extLst>
  </p:cSld>
  <p:clrMapOvr>
    <a:masterClrMapping/>
  </p:clrMapOvr>
  <p:extLst>
    <p:ext uri="{6950BFC3-D8DA-4A85-94F7-54DA5524770B}">
      <p188:commentRel xmlns:p188="http://schemas.microsoft.com/office/powerpoint/2018/8/main" r:id="rId4"/>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B43A6-47D6-F49B-94BC-F114C329C6EF}"/>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B46F957-0C2C-4E05-C58C-E86C1AEB0964}"/>
              </a:ext>
            </a:extLst>
          </p:cNvPr>
          <p:cNvGraphicFramePr>
            <a:graphicFrameLocks/>
          </p:cNvGraphicFramePr>
          <p:nvPr>
            <p:custDataLst>
              <p:tags r:id="rId1"/>
            </p:custDataLst>
            <p:extLst>
              <p:ext uri="{D42A27DB-BD31-4B8C-83A1-F6EECF244321}">
                <p14:modId xmlns:p14="http://schemas.microsoft.com/office/powerpoint/2010/main" val="20098342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think-cell data - do not delete" hidden="1">
                        <a:extLst>
                          <a:ext uri="{FF2B5EF4-FFF2-40B4-BE49-F238E27FC236}">
                            <a16:creationId xmlns:a16="http://schemas.microsoft.com/office/drawing/2014/main" id="{BB46F957-0C2C-4E05-C58C-E86C1AEB096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8A2EF6A-829D-E85E-837A-37DEE25881CE}"/>
              </a:ext>
            </a:extLst>
          </p:cNvPr>
          <p:cNvSpPr>
            <a:spLocks noGrp="1"/>
          </p:cNvSpPr>
          <p:nvPr>
            <p:ph type="ctrTitle"/>
          </p:nvPr>
        </p:nvSpPr>
        <p:spPr>
          <a:xfrm>
            <a:off x="336165" y="3000232"/>
            <a:ext cx="7031736" cy="738664"/>
          </a:xfrm>
        </p:spPr>
        <p:txBody>
          <a:bodyPr vert="horz" rIns="0">
            <a:spAutoFit/>
          </a:bodyPr>
          <a:lstStyle/>
          <a:p>
            <a:r>
              <a:rPr lang="en-US"/>
              <a:t>Tactical Synergies</a:t>
            </a:r>
          </a:p>
        </p:txBody>
      </p:sp>
      <p:grpSp>
        <p:nvGrpSpPr>
          <p:cNvPr id="11" name="Group 10">
            <a:extLst>
              <a:ext uri="{FF2B5EF4-FFF2-40B4-BE49-F238E27FC236}">
                <a16:creationId xmlns:a16="http://schemas.microsoft.com/office/drawing/2014/main" id="{FA1D8B20-B931-4017-644A-44D4E519E567}"/>
              </a:ext>
            </a:extLst>
          </p:cNvPr>
          <p:cNvGrpSpPr/>
          <p:nvPr/>
        </p:nvGrpSpPr>
        <p:grpSpPr>
          <a:xfrm>
            <a:off x="362743" y="10216"/>
            <a:ext cx="10042505" cy="252000"/>
            <a:chOff x="362743" y="10216"/>
            <a:chExt cx="10042505" cy="252000"/>
          </a:xfrm>
        </p:grpSpPr>
        <p:sp>
          <p:nvSpPr>
            <p:cNvPr id="12" name="Pentagon 47">
              <a:extLst>
                <a:ext uri="{FF2B5EF4-FFF2-40B4-BE49-F238E27FC236}">
                  <a16:creationId xmlns:a16="http://schemas.microsoft.com/office/drawing/2014/main" id="{3DBCAE4C-5619-6531-77D4-02DAF9B5BB9A}"/>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13" name="Chevron 48">
              <a:extLst>
                <a:ext uri="{FF2B5EF4-FFF2-40B4-BE49-F238E27FC236}">
                  <a16:creationId xmlns:a16="http://schemas.microsoft.com/office/drawing/2014/main" id="{2D900FA7-3392-ABF8-0F3A-90661EC17B48}"/>
                </a:ext>
              </a:extLst>
            </p:cNvPr>
            <p:cNvSpPr/>
            <p:nvPr/>
          </p:nvSpPr>
          <p:spPr>
            <a:xfrm>
              <a:off x="5371087"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14" name="Chevron 52">
              <a:extLst>
                <a:ext uri="{FF2B5EF4-FFF2-40B4-BE49-F238E27FC236}">
                  <a16:creationId xmlns:a16="http://schemas.microsoft.com/office/drawing/2014/main" id="{E7F69DAA-2B54-5721-001F-F2C945A74303}"/>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15" name="Chevron 54">
              <a:extLst>
                <a:ext uri="{FF2B5EF4-FFF2-40B4-BE49-F238E27FC236}">
                  <a16:creationId xmlns:a16="http://schemas.microsoft.com/office/drawing/2014/main" id="{E54E1D21-5AB3-9054-D066-18CED23C4E5A}"/>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6" name="Chevron 48">
              <a:extLst>
                <a:ext uri="{FF2B5EF4-FFF2-40B4-BE49-F238E27FC236}">
                  <a16:creationId xmlns:a16="http://schemas.microsoft.com/office/drawing/2014/main" id="{92015338-F86E-10A1-A250-4A7EC23BD3A9}"/>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8" name="Chevron 48">
              <a:extLst>
                <a:ext uri="{FF2B5EF4-FFF2-40B4-BE49-F238E27FC236}">
                  <a16:creationId xmlns:a16="http://schemas.microsoft.com/office/drawing/2014/main" id="{B334BA40-D57F-F9AA-CC24-E0B552DBC319}"/>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8672555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899BE-32F5-17D2-87DA-2848E161FDAC}"/>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71EC18AB-8C21-3376-42FA-E25EBCBB3577}"/>
              </a:ext>
            </a:extLst>
          </p:cNvPr>
          <p:cNvGraphicFramePr>
            <a:graphicFrameLocks/>
          </p:cNvGraphicFramePr>
          <p:nvPr>
            <p:custDataLst>
              <p:tags r:id="rId1"/>
            </p:custDataLst>
            <p:extLst>
              <p:ext uri="{D42A27DB-BD31-4B8C-83A1-F6EECF244321}">
                <p14:modId xmlns:p14="http://schemas.microsoft.com/office/powerpoint/2010/main" val="9995405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think-cell data - do not delete" hidden="1">
                        <a:extLst>
                          <a:ext uri="{FF2B5EF4-FFF2-40B4-BE49-F238E27FC236}">
                            <a16:creationId xmlns:a16="http://schemas.microsoft.com/office/drawing/2014/main" id="{71EC18AB-8C21-3376-42FA-E25EBCBB357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 name="Table 2">
            <a:extLst>
              <a:ext uri="{FF2B5EF4-FFF2-40B4-BE49-F238E27FC236}">
                <a16:creationId xmlns:a16="http://schemas.microsoft.com/office/drawing/2014/main" id="{1794AA5D-EE3F-EEEF-AA2B-AD0BD132D67A}"/>
              </a:ext>
            </a:extLst>
          </p:cNvPr>
          <p:cNvGraphicFramePr>
            <a:graphicFrameLocks noGrp="1"/>
          </p:cNvGraphicFramePr>
          <p:nvPr>
            <p:extLst>
              <p:ext uri="{D42A27DB-BD31-4B8C-83A1-F6EECF244321}">
                <p14:modId xmlns:p14="http://schemas.microsoft.com/office/powerpoint/2010/main" val="3656371554"/>
              </p:ext>
            </p:extLst>
          </p:nvPr>
        </p:nvGraphicFramePr>
        <p:xfrm>
          <a:off x="360936" y="1361962"/>
          <a:ext cx="11467527" cy="4885142"/>
        </p:xfrm>
        <a:graphic>
          <a:graphicData uri="http://schemas.openxmlformats.org/drawingml/2006/table">
            <a:tbl>
              <a:tblPr bandRow="1">
                <a:tableStyleId>{5C22544A-7EE6-4342-B048-85BDC9FD1C3A}</a:tableStyleId>
              </a:tblPr>
              <a:tblGrid>
                <a:gridCol w="1843653">
                  <a:extLst>
                    <a:ext uri="{9D8B030D-6E8A-4147-A177-3AD203B41FA5}">
                      <a16:colId xmlns:a16="http://schemas.microsoft.com/office/drawing/2014/main" val="1362236069"/>
                    </a:ext>
                  </a:extLst>
                </a:gridCol>
                <a:gridCol w="3028729">
                  <a:extLst>
                    <a:ext uri="{9D8B030D-6E8A-4147-A177-3AD203B41FA5}">
                      <a16:colId xmlns:a16="http://schemas.microsoft.com/office/drawing/2014/main" val="366937182"/>
                    </a:ext>
                  </a:extLst>
                </a:gridCol>
                <a:gridCol w="3350313">
                  <a:extLst>
                    <a:ext uri="{9D8B030D-6E8A-4147-A177-3AD203B41FA5}">
                      <a16:colId xmlns:a16="http://schemas.microsoft.com/office/drawing/2014/main" val="3093558049"/>
                    </a:ext>
                  </a:extLst>
                </a:gridCol>
                <a:gridCol w="405604">
                  <a:extLst>
                    <a:ext uri="{9D8B030D-6E8A-4147-A177-3AD203B41FA5}">
                      <a16:colId xmlns:a16="http://schemas.microsoft.com/office/drawing/2014/main" val="320023064"/>
                    </a:ext>
                  </a:extLst>
                </a:gridCol>
                <a:gridCol w="405604">
                  <a:extLst>
                    <a:ext uri="{9D8B030D-6E8A-4147-A177-3AD203B41FA5}">
                      <a16:colId xmlns:a16="http://schemas.microsoft.com/office/drawing/2014/main" val="1426101900"/>
                    </a:ext>
                  </a:extLst>
                </a:gridCol>
                <a:gridCol w="405604">
                  <a:extLst>
                    <a:ext uri="{9D8B030D-6E8A-4147-A177-3AD203B41FA5}">
                      <a16:colId xmlns:a16="http://schemas.microsoft.com/office/drawing/2014/main" val="3689681127"/>
                    </a:ext>
                  </a:extLst>
                </a:gridCol>
                <a:gridCol w="405604">
                  <a:extLst>
                    <a:ext uri="{9D8B030D-6E8A-4147-A177-3AD203B41FA5}">
                      <a16:colId xmlns:a16="http://schemas.microsoft.com/office/drawing/2014/main" val="2083152798"/>
                    </a:ext>
                  </a:extLst>
                </a:gridCol>
                <a:gridCol w="405604">
                  <a:extLst>
                    <a:ext uri="{9D8B030D-6E8A-4147-A177-3AD203B41FA5}">
                      <a16:colId xmlns:a16="http://schemas.microsoft.com/office/drawing/2014/main" val="3966416640"/>
                    </a:ext>
                  </a:extLst>
                </a:gridCol>
                <a:gridCol w="405604">
                  <a:extLst>
                    <a:ext uri="{9D8B030D-6E8A-4147-A177-3AD203B41FA5}">
                      <a16:colId xmlns:a16="http://schemas.microsoft.com/office/drawing/2014/main" val="3189174259"/>
                    </a:ext>
                  </a:extLst>
                </a:gridCol>
                <a:gridCol w="405604">
                  <a:extLst>
                    <a:ext uri="{9D8B030D-6E8A-4147-A177-3AD203B41FA5}">
                      <a16:colId xmlns:a16="http://schemas.microsoft.com/office/drawing/2014/main" val="2611606897"/>
                    </a:ext>
                  </a:extLst>
                </a:gridCol>
                <a:gridCol w="405604">
                  <a:extLst>
                    <a:ext uri="{9D8B030D-6E8A-4147-A177-3AD203B41FA5}">
                      <a16:colId xmlns:a16="http://schemas.microsoft.com/office/drawing/2014/main" val="164351843"/>
                    </a:ext>
                  </a:extLst>
                </a:gridCol>
              </a:tblGrid>
              <a:tr h="274320">
                <a:tc rowSpan="2">
                  <a:txBody>
                    <a:bodyPr/>
                    <a:lstStyle/>
                    <a:p>
                      <a:pPr algn="ctr">
                        <a:spcBef>
                          <a:spcPts val="300"/>
                        </a:spcBef>
                      </a:pPr>
                      <a:r>
                        <a:rPr lang="en-US" sz="1200" b="1" i="0">
                          <a:solidFill>
                            <a:schemeClr val="bg1"/>
                          </a:solidFill>
                          <a:latin typeface="+mn-lt"/>
                          <a:cs typeface="Poppins" pitchFamily="2" charset="77"/>
                        </a:rPr>
                        <a:t>Tactic</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algn="ctr">
                        <a:spcBef>
                          <a:spcPts val="300"/>
                        </a:spcBef>
                      </a:pPr>
                      <a:r>
                        <a:rPr lang="en-US" sz="1200" b="1" i="0">
                          <a:solidFill>
                            <a:schemeClr val="bg1"/>
                          </a:solidFill>
                          <a:latin typeface="+mn-lt"/>
                          <a:cs typeface="Poppins" pitchFamily="2" charset="77"/>
                        </a:rPr>
                        <a:t>Gaps addressed</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lang="en-US" sz="1200" b="1" i="0">
                          <a:solidFill>
                            <a:schemeClr val="bg1"/>
                          </a:solidFill>
                          <a:latin typeface="+mn-lt"/>
                          <a:cs typeface="Poppins" pitchFamily="2" charset="77"/>
                        </a:rPr>
                        <a:t>Rationale and design considerations</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gridSpan="8">
                  <a:txBody>
                    <a:bodyPr/>
                    <a:lstStyle/>
                    <a:p>
                      <a:pPr algn="ctr">
                        <a:spcBef>
                          <a:spcPts val="300"/>
                        </a:spcBef>
                      </a:pPr>
                      <a:r>
                        <a:rPr lang="en-US" sz="1200" b="1" i="0">
                          <a:solidFill>
                            <a:schemeClr val="bg1"/>
                          </a:solidFill>
                          <a:latin typeface="+mn-lt"/>
                          <a:cs typeface="Poppins" pitchFamily="2" charset="77"/>
                        </a:rPr>
                        <a:t>Timing</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pPr algn="ctr">
                        <a:spcBef>
                          <a:spcPts val="300"/>
                        </a:spcBef>
                      </a:pP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2323510155"/>
                  </a:ext>
                </a:extLst>
              </a:tr>
              <a:tr h="143952">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spcBef>
                          <a:spcPts val="300"/>
                        </a:spcBef>
                      </a:pPr>
                      <a:r>
                        <a:rPr lang="en-US" sz="1000" b="1" i="0">
                          <a:solidFill>
                            <a:schemeClr val="bg1"/>
                          </a:solidFill>
                          <a:latin typeface="+mn-lt"/>
                          <a:cs typeface="Poppins" pitchFamily="2" charset="77"/>
                        </a:rPr>
                        <a:t>2026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2027</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2028</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2029</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2030</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2031</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2032</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2033+</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1184289703"/>
                  </a:ext>
                </a:extLst>
              </a:tr>
              <a:tr h="1554480">
                <a:tc>
                  <a:txBody>
                    <a:bodyPr/>
                    <a:lstStyle/>
                    <a:p>
                      <a:pPr algn="l">
                        <a:spcBef>
                          <a:spcPts val="300"/>
                        </a:spcBef>
                      </a:pPr>
                      <a:r>
                        <a:rPr lang="en-US" sz="1000" b="0" i="0" strike="noStrike">
                          <a:solidFill>
                            <a:schemeClr val="tx1"/>
                          </a:solidFill>
                          <a:latin typeface="+mn-lt"/>
                          <a:cs typeface="Poppins"/>
                        </a:rPr>
                        <a:t>1. Extended follow-up and planned long-term, post-hoc analyses within pivotal trials on key subgroups and long-term responder profiles</a:t>
                      </a:r>
                    </a:p>
                    <a:p>
                      <a:pPr algn="l">
                        <a:spcBef>
                          <a:spcPts val="300"/>
                        </a:spcBef>
                      </a:pPr>
                      <a:endParaRPr lang="en-US" sz="1000" b="1" i="0" strike="noStrike">
                        <a:solidFill>
                          <a:schemeClr val="tx1"/>
                        </a:solidFill>
                        <a:latin typeface="+mn-lt"/>
                        <a:cs typeface="Poppins"/>
                      </a:endParaRPr>
                    </a:p>
                    <a:p>
                      <a:pPr marL="0" marR="0" lvl="0" indent="0" algn="l" defTabSz="914400" rtl="0" eaLnBrk="1" fontAlgn="auto" latinLnBrk="0" hangingPunct="1">
                        <a:lnSpc>
                          <a:spcPct val="100000"/>
                        </a:lnSpc>
                        <a:spcBef>
                          <a:spcPts val="300"/>
                        </a:spcBef>
                        <a:spcAft>
                          <a:spcPts val="0"/>
                        </a:spcAft>
                        <a:buClrTx/>
                        <a:buSzTx/>
                        <a:buFontTx/>
                        <a:buNone/>
                        <a:tabLst/>
                        <a:defRPr/>
                      </a:pPr>
                      <a:r>
                        <a:rPr lang="en-US" sz="1000" b="1" i="0" strike="noStrike">
                          <a:solidFill>
                            <a:schemeClr val="tx1"/>
                          </a:solidFill>
                          <a:latin typeface="+mn-lt"/>
                          <a:cs typeface="Poppins"/>
                        </a:rPr>
                        <a:t>Lead: </a:t>
                      </a:r>
                      <a:r>
                        <a:rPr lang="en-US" sz="1000" b="0" i="0" strike="noStrike">
                          <a:solidFill>
                            <a:schemeClr val="tx1"/>
                          </a:solidFill>
                          <a:latin typeface="+mn-lt"/>
                          <a:cs typeface="Poppins"/>
                        </a:rPr>
                        <a:t>Medical </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171450" indent="-171450" algn="l" defTabSz="914400" rtl="0" eaLnBrk="1" latinLnBrk="0" hangingPunct="1">
                        <a:spcBef>
                          <a:spcPts val="300"/>
                        </a:spcBef>
                        <a:buFont typeface="Arial" panose="020B0604020202020204" pitchFamily="34" charset="0"/>
                        <a:buChar char="•"/>
                      </a:pPr>
                      <a:r>
                        <a:rPr lang="en-US" sz="1000" b="1" i="0" strike="noStrike" kern="1200">
                          <a:solidFill>
                            <a:schemeClr val="tx1"/>
                          </a:solidFill>
                          <a:latin typeface="+mn-lt"/>
                          <a:ea typeface="+mn-ea"/>
                          <a:cs typeface="Poppins"/>
                          <a:hlinkClick r:id="rId6" action="ppaction://hlinksldjump">
                            <a:extLst>
                              <a:ext uri="{A12FA001-AC4F-418D-AE19-62706E023703}">
                                <ahyp:hlinkClr xmlns:ahyp="http://schemas.microsoft.com/office/drawing/2018/hyperlinkcolor" val="tx"/>
                              </a:ext>
                            </a:extLst>
                          </a:hlinkClick>
                        </a:rPr>
                        <a:t>NSCLC_CE_01</a:t>
                      </a:r>
                      <a:r>
                        <a:rPr lang="en-US" sz="1000" b="0" i="0" strike="noStrike" kern="1200">
                          <a:solidFill>
                            <a:schemeClr val="tx1"/>
                          </a:solidFill>
                          <a:latin typeface="+mn-lt"/>
                          <a:ea typeface="+mn-ea"/>
                          <a:cs typeface="Poppins"/>
                        </a:rPr>
                        <a:t>: BGB-58067’s long-term efficacy and safety, quality-adjusted survival outcomes, and tolerability profile patterns </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r>
                        <a:rPr lang="en-US" sz="1000" b="1" i="0" u="none" strike="noStrike" kern="1200" noProof="0">
                          <a:solidFill>
                            <a:schemeClr val="tx1"/>
                          </a:solidFill>
                          <a:effectLst/>
                          <a:latin typeface="+mn-lt"/>
                          <a:ea typeface="+mn-ea"/>
                          <a:cs typeface="Poppins"/>
                        </a:rPr>
                        <a:t>Design considerations:</a:t>
                      </a:r>
                    </a:p>
                    <a:p>
                      <a:pPr marL="171450" lvl="0" indent="-171450">
                        <a:spcBef>
                          <a:spcPts val="300"/>
                        </a:spcBef>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Analyses should be stratified by brain mets, co-mutation status; incl. histology, older age/</a:t>
                      </a:r>
                      <a:r>
                        <a:rPr lang="en-US" sz="1000" b="0" i="0" u="none" strike="noStrike" kern="1200" noProof="0" err="1">
                          <a:solidFill>
                            <a:schemeClr val="tx1"/>
                          </a:solidFill>
                          <a:effectLst/>
                          <a:latin typeface="+mn-lt"/>
                          <a:ea typeface="+mn-ea"/>
                          <a:cs typeface="Poppins"/>
                        </a:rPr>
                        <a:t>geratric</a:t>
                      </a:r>
                      <a:r>
                        <a:rPr lang="en-US" sz="1000" b="0" i="0" u="none" strike="noStrike" kern="1200" noProof="0">
                          <a:solidFill>
                            <a:schemeClr val="tx1"/>
                          </a:solidFill>
                          <a:effectLst/>
                          <a:latin typeface="+mn-lt"/>
                          <a:ea typeface="+mn-ea"/>
                          <a:cs typeface="Poppins"/>
                        </a:rPr>
                        <a:t>, and race subgroups</a:t>
                      </a:r>
                    </a:p>
                    <a:p>
                      <a:pPr marL="171450" lvl="0" indent="-171450">
                        <a:spcBef>
                          <a:spcPts val="300"/>
                        </a:spcBef>
                        <a:buClr>
                          <a:srgbClr val="000000"/>
                        </a:buClr>
                        <a:buFont typeface="Arial" panose="020B0604020202020204" pitchFamily="34" charset="0"/>
                        <a:buChar char="•"/>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sng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sng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sng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sng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sng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sng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sng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sng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74479344"/>
                  </a:ext>
                </a:extLst>
              </a:tr>
              <a:tr h="1450891">
                <a:tc>
                  <a:txBody>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Poppins"/>
                        </a:rPr>
                        <a:t>2. CNS-specific outcomes within pivotal trial (e.g., time to new CNS metastases vs. control arm)</a:t>
                      </a:r>
                    </a:p>
                    <a:p>
                      <a:pPr marL="0" marR="0" lvl="0" indent="0" algn="l" defTabSz="914400" rtl="0" eaLnBrk="1" fontAlgn="auto" latinLnBrk="0" hangingPunct="1">
                        <a:lnSpc>
                          <a:spcPct val="100000"/>
                        </a:lnSpc>
                        <a:spcBef>
                          <a:spcPts val="300"/>
                        </a:spcBef>
                        <a:spcAft>
                          <a:spcPts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mn-lt"/>
                        <a:ea typeface="+mn-ea"/>
                        <a:cs typeface="Poppins"/>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mn-lt"/>
                          <a:ea typeface="+mn-ea"/>
                          <a:cs typeface="Poppins"/>
                        </a:rPr>
                        <a:t>Lead: </a:t>
                      </a:r>
                      <a:r>
                        <a:rPr kumimoji="0" lang="en-US" sz="1000" b="0" i="0" u="none" strike="noStrike" kern="1200" cap="none" spc="0" normalizeH="0" baseline="0" noProof="0">
                          <a:ln>
                            <a:noFill/>
                          </a:ln>
                          <a:solidFill>
                            <a:srgbClr val="000000"/>
                          </a:solidFill>
                          <a:effectLst/>
                          <a:uLnTx/>
                          <a:uFillTx/>
                          <a:latin typeface="+mn-lt"/>
                          <a:ea typeface="+mn-ea"/>
                          <a:cs typeface="Poppins"/>
                        </a:rPr>
                        <a:t>Medical </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000" b="1" i="0" strike="noStrike" kern="1200">
                          <a:solidFill>
                            <a:schemeClr val="tx1"/>
                          </a:solidFill>
                          <a:latin typeface="+mn-lt"/>
                          <a:ea typeface="+mn-ea"/>
                          <a:cs typeface="Poppins"/>
                          <a:hlinkClick r:id="rId7" action="ppaction://hlinksldjump">
                            <a:extLst>
                              <a:ext uri="{A12FA001-AC4F-418D-AE19-62706E023703}">
                                <ahyp:hlinkClr xmlns:ahyp="http://schemas.microsoft.com/office/drawing/2018/hyperlinkcolor" val="tx"/>
                              </a:ext>
                            </a:extLst>
                          </a:hlinkClick>
                        </a:rPr>
                        <a:t>NSCLC_CE_04</a:t>
                      </a:r>
                      <a:r>
                        <a:rPr lang="en-US" sz="1000" b="0" i="0" strike="noStrike" kern="1200">
                          <a:solidFill>
                            <a:schemeClr val="tx1"/>
                          </a:solidFill>
                          <a:latin typeface="+mn-lt"/>
                          <a:ea typeface="+mn-ea"/>
                          <a:cs typeface="Poppins"/>
                          <a:hlinkClick r:id="rId7" action="ppaction://hlinksldjump">
                            <a:extLst>
                              <a:ext uri="{A12FA001-AC4F-418D-AE19-62706E023703}">
                                <ahyp:hlinkClr xmlns:ahyp="http://schemas.microsoft.com/office/drawing/2018/hyperlinkcolor" val="tx"/>
                              </a:ext>
                            </a:extLst>
                          </a:hlinkClick>
                        </a:rPr>
                        <a:t>: </a:t>
                      </a:r>
                      <a:r>
                        <a:rPr lang="en-US" sz="1000" b="0" i="0" strike="noStrike" kern="1200">
                          <a:solidFill>
                            <a:schemeClr val="tx1"/>
                          </a:solidFill>
                          <a:latin typeface="+mn-lt"/>
                          <a:ea typeface="+mn-ea"/>
                          <a:cs typeface="Poppins"/>
                        </a:rPr>
                        <a:t>BGB-58067’s impact on CNS metastases </a:t>
                      </a:r>
                      <a:r>
                        <a:rPr lang="en-US" sz="1000" b="0" strike="noStrike" kern="1200">
                          <a:solidFill>
                            <a:schemeClr val="tx1"/>
                          </a:solidFill>
                          <a:latin typeface="+mn-lt"/>
                          <a:ea typeface="+mn-ea"/>
                          <a:cs typeface="Poppins"/>
                        </a:rPr>
                        <a:t>relative to control arm</a:t>
                      </a:r>
                      <a:endParaRPr lang="en-US" sz="1000" b="0" i="0" strike="noStrike" kern="1200">
                        <a:solidFill>
                          <a:schemeClr val="tx1"/>
                        </a:solidFill>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r>
                        <a:rPr lang="en-US" sz="1000" b="1" i="0" u="none" strike="noStrike" kern="1200" noProof="0">
                          <a:solidFill>
                            <a:schemeClr val="tx1"/>
                          </a:solidFill>
                          <a:effectLst/>
                          <a:latin typeface="+mn-lt"/>
                          <a:ea typeface="+mn-ea"/>
                          <a:cs typeface="Poppins"/>
                        </a:rPr>
                        <a:t>Design considerations:</a:t>
                      </a:r>
                    </a:p>
                    <a:p>
                      <a:pPr marL="171450" lvl="0" indent="-171450">
                        <a:spcBef>
                          <a:spcPts val="300"/>
                        </a:spcBef>
                        <a:buClr>
                          <a:srgbClr val="000000"/>
                        </a:buClr>
                        <a:buFont typeface="Arial" panose="020B0604020202020204" pitchFamily="34" charset="0"/>
                        <a:buChar char="•"/>
                      </a:pPr>
                      <a:r>
                        <a:rPr lang="en-US" sz="1000" b="0" strike="noStrike">
                          <a:solidFill>
                            <a:schemeClr val="tx1"/>
                          </a:solidFill>
                          <a:latin typeface="+mn-lt"/>
                        </a:rPr>
                        <a:t>Analysis should include intracranial endpoints to address gap CE_04</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178511159"/>
                  </a:ext>
                </a:extLst>
              </a:tr>
              <a:tr h="1450891">
                <a:tc>
                  <a:txBody>
                    <a:bodyPr/>
                    <a:lstStyle/>
                    <a:p>
                      <a:pPr algn="l">
                        <a:spcBef>
                          <a:spcPts val="300"/>
                        </a:spcBef>
                      </a:pPr>
                      <a:r>
                        <a:rPr lang="en-US" sz="1000" b="0" i="0" strike="noStrike">
                          <a:solidFill>
                            <a:schemeClr val="tx1"/>
                          </a:solidFill>
                          <a:latin typeface="+mn-lt"/>
                          <a:cs typeface="Poppins"/>
                        </a:rPr>
                        <a:t>3. Subgroup analyses of prognosis and outcomes using pivotal trial or RWD dataset</a:t>
                      </a:r>
                    </a:p>
                    <a:p>
                      <a:pPr algn="l">
                        <a:spcBef>
                          <a:spcPts val="300"/>
                        </a:spcBef>
                      </a:pPr>
                      <a:endParaRPr lang="en-US" sz="1000" b="1" i="0" strike="noStrike">
                        <a:solidFill>
                          <a:schemeClr val="tx1"/>
                        </a:solidFill>
                        <a:latin typeface="+mn-lt"/>
                        <a:cs typeface="Poppins"/>
                      </a:endParaRPr>
                    </a:p>
                    <a:p>
                      <a:pPr marL="0" marR="0" lvl="0" indent="0" algn="l" defTabSz="914400" rtl="0" eaLnBrk="1" fontAlgn="auto" latinLnBrk="0" hangingPunct="1">
                        <a:lnSpc>
                          <a:spcPct val="100000"/>
                        </a:lnSpc>
                        <a:spcBef>
                          <a:spcPts val="300"/>
                        </a:spcBef>
                        <a:spcAft>
                          <a:spcPts val="0"/>
                        </a:spcAft>
                        <a:buClrTx/>
                        <a:buSzTx/>
                        <a:buFontTx/>
                        <a:buNone/>
                        <a:tabLst/>
                        <a:defRPr/>
                      </a:pPr>
                      <a:r>
                        <a:rPr lang="en-US" sz="1000" b="1" i="0" strike="noStrike">
                          <a:solidFill>
                            <a:schemeClr val="tx1"/>
                          </a:solidFill>
                          <a:latin typeface="+mn-lt"/>
                          <a:cs typeface="Poppins"/>
                        </a:rPr>
                        <a:t>Lead: </a:t>
                      </a:r>
                      <a:r>
                        <a:rPr lang="en-US" sz="1000" b="0" i="0" strike="noStrike">
                          <a:solidFill>
                            <a:schemeClr val="tx1"/>
                          </a:solidFill>
                          <a:latin typeface="+mn-lt"/>
                          <a:cs typeface="Poppins"/>
                        </a:rPr>
                        <a:t>HEOR (incl. Regional teams)</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000" b="1" i="0" strike="noStrike" kern="1200">
                          <a:solidFill>
                            <a:schemeClr val="tx1"/>
                          </a:solidFill>
                          <a:latin typeface="+mn-lt"/>
                          <a:ea typeface="+mn-ea"/>
                          <a:cs typeface="Poppins"/>
                          <a:hlinkClick r:id="rId7" action="ppaction://hlinksldjump">
                            <a:extLst>
                              <a:ext uri="{A12FA001-AC4F-418D-AE19-62706E023703}">
                                <ahyp:hlinkClr xmlns:ahyp="http://schemas.microsoft.com/office/drawing/2018/hyperlinkcolor" val="tx"/>
                              </a:ext>
                            </a:extLst>
                          </a:hlinkClick>
                        </a:rPr>
                        <a:t>NSCLC_HI_01</a:t>
                      </a:r>
                      <a:r>
                        <a:rPr lang="en-US" sz="1000" b="0" i="0" strike="noStrike" kern="1200">
                          <a:solidFill>
                            <a:schemeClr val="tx1"/>
                          </a:solidFill>
                          <a:latin typeface="+mn-lt"/>
                          <a:ea typeface="+mn-ea"/>
                          <a:cs typeface="Poppins"/>
                        </a:rPr>
                        <a:t>:</a:t>
                      </a:r>
                      <a:r>
                        <a:rPr lang="en-US" sz="1000" b="1" i="0" strike="noStrike" kern="1200">
                          <a:solidFill>
                            <a:schemeClr val="tx1"/>
                          </a:solidFill>
                          <a:latin typeface="+mn-lt"/>
                          <a:ea typeface="+mn-ea"/>
                          <a:cs typeface="Poppins"/>
                        </a:rPr>
                        <a:t> </a:t>
                      </a:r>
                      <a:r>
                        <a:rPr lang="en-US" sz="1000" b="0" i="0" strike="noStrike" kern="1200">
                          <a:solidFill>
                            <a:schemeClr val="tx1"/>
                          </a:solidFill>
                          <a:latin typeface="+mn-lt"/>
                          <a:ea typeface="+mn-ea"/>
                          <a:cs typeface="Poppins"/>
                        </a:rPr>
                        <a:t>Characterization of natural history, prognosis and Tx outcomes across NSCLC</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r>
                        <a:rPr lang="en-US" sz="1000" b="1" i="0" u="none" strike="noStrike" kern="1200" noProof="0">
                          <a:solidFill>
                            <a:schemeClr val="tx1"/>
                          </a:solidFill>
                          <a:effectLst/>
                          <a:latin typeface="+mn-lt"/>
                          <a:ea typeface="+mn-ea"/>
                          <a:cs typeface="Poppins"/>
                        </a:rPr>
                        <a:t>Design considerations:</a:t>
                      </a:r>
                    </a:p>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0" strike="noStrike">
                          <a:solidFill>
                            <a:schemeClr val="tx1"/>
                          </a:solidFill>
                          <a:latin typeface="+mn-lt"/>
                        </a:rPr>
                        <a:t>Insights from this analysis can further enrich the SLR planned for HI_01</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142770237"/>
                  </a:ext>
                </a:extLst>
              </a:tr>
            </a:tbl>
          </a:graphicData>
        </a:graphic>
      </p:graphicFrame>
      <p:sp>
        <p:nvSpPr>
          <p:cNvPr id="42" name="Arrow: Pentagon 41">
            <a:extLst>
              <a:ext uri="{FF2B5EF4-FFF2-40B4-BE49-F238E27FC236}">
                <a16:creationId xmlns:a16="http://schemas.microsoft.com/office/drawing/2014/main" id="{92BE11F7-1661-401B-9C7D-C21C5A870AE2}"/>
              </a:ext>
            </a:extLst>
          </p:cNvPr>
          <p:cNvSpPr/>
          <p:nvPr/>
        </p:nvSpPr>
        <p:spPr>
          <a:xfrm>
            <a:off x="10193987" y="2317738"/>
            <a:ext cx="1634475" cy="388620"/>
          </a:xfrm>
          <a:prstGeom prst="homePlate">
            <a:avLst/>
          </a:prstGeom>
          <a:solidFill>
            <a:schemeClr val="accent3">
              <a:lumMod val="20000"/>
              <a:lumOff val="80000"/>
              <a:alpha val="30196"/>
            </a:scheme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20" name="Title 19">
            <a:extLst>
              <a:ext uri="{FF2B5EF4-FFF2-40B4-BE49-F238E27FC236}">
                <a16:creationId xmlns:a16="http://schemas.microsoft.com/office/drawing/2014/main" id="{D4605E2E-AC80-9891-87DD-9F30ADBE78BE}"/>
              </a:ext>
            </a:extLst>
          </p:cNvPr>
          <p:cNvSpPr>
            <a:spLocks noGrp="1"/>
          </p:cNvSpPr>
          <p:nvPr>
            <p:ph type="title"/>
          </p:nvPr>
        </p:nvSpPr>
        <p:spPr>
          <a:xfrm>
            <a:off x="358337" y="338328"/>
            <a:ext cx="11470125" cy="738664"/>
          </a:xfrm>
        </p:spPr>
        <p:txBody>
          <a:bodyPr vert="horz" rIns="0">
            <a:spAutoFit/>
          </a:bodyPr>
          <a:lstStyle/>
          <a:p>
            <a:r>
              <a:rPr lang="en-US" sz="2400"/>
              <a:t>Seven </a:t>
            </a:r>
            <a:r>
              <a:rPr lang="en-US" sz="2400" b="1">
                <a:solidFill>
                  <a:schemeClr val="accent3">
                    <a:lumMod val="40000"/>
                    <a:lumOff val="60000"/>
                  </a:schemeClr>
                </a:solidFill>
              </a:rPr>
              <a:t>post-hoc analyses </a:t>
            </a:r>
            <a:r>
              <a:rPr lang="en-US" sz="2400"/>
              <a:t>will generate differentiated clinical evidence from pivotal trial data (1/3)</a:t>
            </a:r>
          </a:p>
        </p:txBody>
      </p:sp>
      <p:sp>
        <p:nvSpPr>
          <p:cNvPr id="18" name="Arrow: Pentagon 17">
            <a:extLst>
              <a:ext uri="{FF2B5EF4-FFF2-40B4-BE49-F238E27FC236}">
                <a16:creationId xmlns:a16="http://schemas.microsoft.com/office/drawing/2014/main" id="{F21D234D-94C1-C173-8B42-98252B46880E}"/>
              </a:ext>
            </a:extLst>
          </p:cNvPr>
          <p:cNvSpPr/>
          <p:nvPr/>
        </p:nvSpPr>
        <p:spPr>
          <a:xfrm>
            <a:off x="10193987" y="2317738"/>
            <a:ext cx="581101" cy="388620"/>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21" name="Rectangle 20">
            <a:extLst>
              <a:ext uri="{FF2B5EF4-FFF2-40B4-BE49-F238E27FC236}">
                <a16:creationId xmlns:a16="http://schemas.microsoft.com/office/drawing/2014/main" id="{B4E81D34-AD0C-FF46-D382-2804F63F6DB5}"/>
              </a:ext>
            </a:extLst>
          </p:cNvPr>
          <p:cNvSpPr/>
          <p:nvPr/>
        </p:nvSpPr>
        <p:spPr>
          <a:xfrm>
            <a:off x="9919371" y="1955089"/>
            <a:ext cx="1046743" cy="388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r>
              <a:rPr lang="en-US" sz="900" b="1">
                <a:solidFill>
                  <a:schemeClr val="tx1"/>
                </a:solidFill>
              </a:rPr>
              <a:t>1L / 2L+ DRO</a:t>
            </a:r>
            <a:r>
              <a:rPr lang="en-US" sz="900">
                <a:solidFill>
                  <a:schemeClr val="tx1"/>
                </a:solidFill>
              </a:rPr>
              <a:t>: 2030+</a:t>
            </a:r>
          </a:p>
        </p:txBody>
      </p:sp>
      <p:sp>
        <p:nvSpPr>
          <p:cNvPr id="29" name="Diamond 28">
            <a:extLst>
              <a:ext uri="{FF2B5EF4-FFF2-40B4-BE49-F238E27FC236}">
                <a16:creationId xmlns:a16="http://schemas.microsoft.com/office/drawing/2014/main" id="{E966D7AA-B701-E4D7-9DA7-156E5804CE5B}"/>
              </a:ext>
            </a:extLst>
          </p:cNvPr>
          <p:cNvSpPr/>
          <p:nvPr/>
        </p:nvSpPr>
        <p:spPr>
          <a:xfrm>
            <a:off x="10318919" y="2397748"/>
            <a:ext cx="228600" cy="22860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26" name="Footer Placeholder 2">
            <a:extLst>
              <a:ext uri="{FF2B5EF4-FFF2-40B4-BE49-F238E27FC236}">
                <a16:creationId xmlns:a16="http://schemas.microsoft.com/office/drawing/2014/main" id="{EE6A80B7-B070-FED6-9B5C-536FD8589925}"/>
              </a:ext>
            </a:extLst>
          </p:cNvPr>
          <p:cNvSpPr>
            <a:spLocks noGrp="1"/>
          </p:cNvSpPr>
          <p:nvPr>
            <p:ph type="ftr" sz="quarter" idx="10"/>
          </p:nvPr>
        </p:nvSpPr>
        <p:spPr>
          <a:xfrm>
            <a:off x="328864" y="6275655"/>
            <a:ext cx="5681293" cy="526584"/>
          </a:xfrm>
        </p:spPr>
        <p:txBody>
          <a:bodyPr/>
          <a:lstStyle/>
          <a:p>
            <a:pPr>
              <a:defRPr/>
            </a:pPr>
            <a:r>
              <a:rPr lang="en-US">
                <a:solidFill>
                  <a:srgbClr val="000000">
                    <a:lumMod val="65000"/>
                    <a:lumOff val="35000"/>
                  </a:srgbClr>
                </a:solidFill>
              </a:rPr>
              <a:t>Abbreviations: </a:t>
            </a:r>
            <a:r>
              <a:rPr lang="en-US"/>
              <a:t>CE: Critical Priority; CNS: Central Nervous System; DRO: Data Readout; HEOR: Health Economics and Outcomes Research; HI: High Priority; NSCLC: Non-Small Cell Lung Cancer; RWD: Real-World Data; SLR: Systematic Literature Review; Tx: Treatment</a:t>
            </a:r>
            <a:endParaRPr lang="en-US">
              <a:solidFill>
                <a:srgbClr val="000000">
                  <a:lumMod val="65000"/>
                  <a:lumOff val="35000"/>
                </a:srgbClr>
              </a:solidFill>
            </a:endParaRPr>
          </a:p>
        </p:txBody>
      </p:sp>
      <p:sp>
        <p:nvSpPr>
          <p:cNvPr id="12" name="Arrow: Pentagon 11">
            <a:extLst>
              <a:ext uri="{FF2B5EF4-FFF2-40B4-BE49-F238E27FC236}">
                <a16:creationId xmlns:a16="http://schemas.microsoft.com/office/drawing/2014/main" id="{A0BF1811-BFB6-E230-C595-D84E902436A4}"/>
              </a:ext>
            </a:extLst>
          </p:cNvPr>
          <p:cNvSpPr/>
          <p:nvPr/>
        </p:nvSpPr>
        <p:spPr>
          <a:xfrm>
            <a:off x="10193987" y="3769597"/>
            <a:ext cx="581101" cy="388620"/>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14" name="Rectangle 13">
            <a:extLst>
              <a:ext uri="{FF2B5EF4-FFF2-40B4-BE49-F238E27FC236}">
                <a16:creationId xmlns:a16="http://schemas.microsoft.com/office/drawing/2014/main" id="{F3F9AB0A-02BF-8B37-A476-EBF2D988E3F0}"/>
              </a:ext>
            </a:extLst>
          </p:cNvPr>
          <p:cNvSpPr/>
          <p:nvPr/>
        </p:nvSpPr>
        <p:spPr>
          <a:xfrm>
            <a:off x="9961166" y="4160372"/>
            <a:ext cx="1046743" cy="388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r>
              <a:rPr lang="en-US" sz="900" b="1">
                <a:solidFill>
                  <a:schemeClr val="tx1"/>
                </a:solidFill>
              </a:rPr>
              <a:t>1L / 2L+ DRO</a:t>
            </a:r>
            <a:r>
              <a:rPr lang="en-US" sz="900">
                <a:solidFill>
                  <a:schemeClr val="tx1"/>
                </a:solidFill>
              </a:rPr>
              <a:t>: 2030+</a:t>
            </a:r>
          </a:p>
        </p:txBody>
      </p:sp>
      <p:sp>
        <p:nvSpPr>
          <p:cNvPr id="40" name="Diamond 39">
            <a:extLst>
              <a:ext uri="{FF2B5EF4-FFF2-40B4-BE49-F238E27FC236}">
                <a16:creationId xmlns:a16="http://schemas.microsoft.com/office/drawing/2014/main" id="{BE62B6B3-E976-0E60-4AAD-C84F5D420047}"/>
              </a:ext>
            </a:extLst>
          </p:cNvPr>
          <p:cNvSpPr/>
          <p:nvPr/>
        </p:nvSpPr>
        <p:spPr>
          <a:xfrm>
            <a:off x="10318919" y="3849607"/>
            <a:ext cx="228600" cy="22860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44" name="Rectangle 43">
            <a:extLst>
              <a:ext uri="{FF2B5EF4-FFF2-40B4-BE49-F238E27FC236}">
                <a16:creationId xmlns:a16="http://schemas.microsoft.com/office/drawing/2014/main" id="{ACBC85A3-D705-5F26-93A3-939EBD1C5273}"/>
              </a:ext>
            </a:extLst>
          </p:cNvPr>
          <p:cNvSpPr/>
          <p:nvPr/>
        </p:nvSpPr>
        <p:spPr>
          <a:xfrm>
            <a:off x="10193987" y="2715963"/>
            <a:ext cx="1529515" cy="420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r>
              <a:rPr lang="en-US" sz="900">
                <a:solidFill>
                  <a:schemeClr val="tx1"/>
                </a:solidFill>
              </a:rPr>
              <a:t>Long-term analysis</a:t>
            </a:r>
            <a:br>
              <a:rPr lang="en-US" sz="900">
                <a:solidFill>
                  <a:schemeClr val="tx1"/>
                </a:solidFill>
              </a:rPr>
            </a:br>
            <a:r>
              <a:rPr lang="en-US" sz="900">
                <a:solidFill>
                  <a:schemeClr val="tx1"/>
                </a:solidFill>
              </a:rPr>
              <a:t>post 2031+</a:t>
            </a:r>
          </a:p>
        </p:txBody>
      </p:sp>
      <p:sp>
        <p:nvSpPr>
          <p:cNvPr id="46" name="Arrow: Pentagon 45">
            <a:extLst>
              <a:ext uri="{FF2B5EF4-FFF2-40B4-BE49-F238E27FC236}">
                <a16:creationId xmlns:a16="http://schemas.microsoft.com/office/drawing/2014/main" id="{AB12F7B7-7A08-128E-D77F-9AFD86BC1BC1}"/>
              </a:ext>
            </a:extLst>
          </p:cNvPr>
          <p:cNvSpPr/>
          <p:nvPr/>
        </p:nvSpPr>
        <p:spPr>
          <a:xfrm>
            <a:off x="10193987" y="5220319"/>
            <a:ext cx="581101" cy="388620"/>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48" name="Rectangle 47">
            <a:extLst>
              <a:ext uri="{FF2B5EF4-FFF2-40B4-BE49-F238E27FC236}">
                <a16:creationId xmlns:a16="http://schemas.microsoft.com/office/drawing/2014/main" id="{25A284FE-615D-A348-915A-2DEF61BE4649}"/>
              </a:ext>
            </a:extLst>
          </p:cNvPr>
          <p:cNvSpPr/>
          <p:nvPr/>
        </p:nvSpPr>
        <p:spPr>
          <a:xfrm>
            <a:off x="9961166" y="5611094"/>
            <a:ext cx="1046743" cy="388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r>
              <a:rPr lang="en-US" sz="900" b="1">
                <a:solidFill>
                  <a:schemeClr val="tx1"/>
                </a:solidFill>
              </a:rPr>
              <a:t>1L / 2L+ DRO</a:t>
            </a:r>
            <a:r>
              <a:rPr lang="en-US" sz="900">
                <a:solidFill>
                  <a:schemeClr val="tx1"/>
                </a:solidFill>
              </a:rPr>
              <a:t>: 2030+</a:t>
            </a:r>
          </a:p>
        </p:txBody>
      </p:sp>
      <p:sp>
        <p:nvSpPr>
          <p:cNvPr id="50" name="Diamond 49">
            <a:extLst>
              <a:ext uri="{FF2B5EF4-FFF2-40B4-BE49-F238E27FC236}">
                <a16:creationId xmlns:a16="http://schemas.microsoft.com/office/drawing/2014/main" id="{6796FDB7-068C-CC42-D66F-9C71C7CF0459}"/>
              </a:ext>
            </a:extLst>
          </p:cNvPr>
          <p:cNvSpPr/>
          <p:nvPr/>
        </p:nvSpPr>
        <p:spPr>
          <a:xfrm>
            <a:off x="10318919" y="5300329"/>
            <a:ext cx="228600" cy="22860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25" name="Rectangle 24">
            <a:extLst>
              <a:ext uri="{FF2B5EF4-FFF2-40B4-BE49-F238E27FC236}">
                <a16:creationId xmlns:a16="http://schemas.microsoft.com/office/drawing/2014/main" id="{3BBB2614-5419-4414-3CEB-E462C427C460}"/>
              </a:ext>
            </a:extLst>
          </p:cNvPr>
          <p:cNvSpPr/>
          <p:nvPr/>
        </p:nvSpPr>
        <p:spPr>
          <a:xfrm>
            <a:off x="8765796" y="6280266"/>
            <a:ext cx="2242113" cy="3342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92500" lnSpcReduction="10000"/>
          </a:bodyPr>
          <a:lstStyle/>
          <a:p>
            <a:pPr algn="ctr"/>
            <a:endParaRPr lang="en-US" err="1">
              <a:solidFill>
                <a:schemeClr val="bg1"/>
              </a:solidFill>
            </a:endParaRPr>
          </a:p>
        </p:txBody>
      </p:sp>
      <p:grpSp>
        <p:nvGrpSpPr>
          <p:cNvPr id="36" name="Group 35">
            <a:extLst>
              <a:ext uri="{FF2B5EF4-FFF2-40B4-BE49-F238E27FC236}">
                <a16:creationId xmlns:a16="http://schemas.microsoft.com/office/drawing/2014/main" id="{C561F297-2F92-0982-8485-80F53EDCEDB3}"/>
              </a:ext>
            </a:extLst>
          </p:cNvPr>
          <p:cNvGrpSpPr/>
          <p:nvPr/>
        </p:nvGrpSpPr>
        <p:grpSpPr>
          <a:xfrm>
            <a:off x="8025100" y="6327114"/>
            <a:ext cx="3279572" cy="319473"/>
            <a:chOff x="8676947" y="6306366"/>
            <a:chExt cx="3279572" cy="319473"/>
          </a:xfrm>
        </p:grpSpPr>
        <p:sp>
          <p:nvSpPr>
            <p:cNvPr id="7" name="TextBox 6">
              <a:extLst>
                <a:ext uri="{FF2B5EF4-FFF2-40B4-BE49-F238E27FC236}">
                  <a16:creationId xmlns:a16="http://schemas.microsoft.com/office/drawing/2014/main" id="{CC6DF237-68FB-FD18-4685-DCA4748EEEDB}"/>
                </a:ext>
              </a:extLst>
            </p:cNvPr>
            <p:cNvSpPr txBox="1"/>
            <p:nvPr/>
          </p:nvSpPr>
          <p:spPr>
            <a:xfrm>
              <a:off x="8676947" y="6318062"/>
              <a:ext cx="470764" cy="307777"/>
            </a:xfrm>
            <a:prstGeom prst="rect">
              <a:avLst/>
            </a:prstGeom>
            <a:noFill/>
          </p:spPr>
          <p:txBody>
            <a:bodyPr wrap="square" lIns="91440" tIns="91440" rIns="91440" bIns="91440"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Poppins"/>
                  <a:ea typeface="+mn-ea"/>
                  <a:cs typeface="+mn-cs"/>
                </a:rPr>
                <a:t>Key:</a:t>
              </a:r>
            </a:p>
          </p:txBody>
        </p:sp>
        <p:grpSp>
          <p:nvGrpSpPr>
            <p:cNvPr id="27" name="Group 26">
              <a:extLst>
                <a:ext uri="{FF2B5EF4-FFF2-40B4-BE49-F238E27FC236}">
                  <a16:creationId xmlns:a16="http://schemas.microsoft.com/office/drawing/2014/main" id="{21212FE0-C17A-9A8A-586B-8429BFE725BE}"/>
                </a:ext>
              </a:extLst>
            </p:cNvPr>
            <p:cNvGrpSpPr/>
            <p:nvPr/>
          </p:nvGrpSpPr>
          <p:grpSpPr>
            <a:xfrm>
              <a:off x="8743681" y="6306366"/>
              <a:ext cx="3212838" cy="307777"/>
              <a:chOff x="6686281" y="6344466"/>
              <a:chExt cx="3212838" cy="307777"/>
            </a:xfrm>
          </p:grpSpPr>
          <p:sp>
            <p:nvSpPr>
              <p:cNvPr id="4" name="Diamond 3">
                <a:extLst>
                  <a:ext uri="{FF2B5EF4-FFF2-40B4-BE49-F238E27FC236}">
                    <a16:creationId xmlns:a16="http://schemas.microsoft.com/office/drawing/2014/main" id="{329DC431-CFF4-A93D-397B-EF7FE6162018}"/>
                  </a:ext>
                </a:extLst>
              </p:cNvPr>
              <p:cNvSpPr/>
              <p:nvPr/>
            </p:nvSpPr>
            <p:spPr>
              <a:xfrm>
                <a:off x="8778716" y="6409851"/>
                <a:ext cx="175330" cy="177007"/>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6" name="TextBox 5">
                <a:extLst>
                  <a:ext uri="{FF2B5EF4-FFF2-40B4-BE49-F238E27FC236}">
                    <a16:creationId xmlns:a16="http://schemas.microsoft.com/office/drawing/2014/main" id="{002EC477-A45A-D0EC-8F65-4921E417C0E0}"/>
                  </a:ext>
                </a:extLst>
              </p:cNvPr>
              <p:cNvSpPr txBox="1"/>
              <p:nvPr/>
            </p:nvSpPr>
            <p:spPr>
              <a:xfrm>
                <a:off x="8910524" y="6344466"/>
                <a:ext cx="988595"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Milestone</a:t>
                </a:r>
              </a:p>
            </p:txBody>
          </p:sp>
          <p:sp>
            <p:nvSpPr>
              <p:cNvPr id="8" name="TextBox 7">
                <a:extLst>
                  <a:ext uri="{FF2B5EF4-FFF2-40B4-BE49-F238E27FC236}">
                    <a16:creationId xmlns:a16="http://schemas.microsoft.com/office/drawing/2014/main" id="{07BFD565-4A89-FC72-8701-D767ADDE8F13}"/>
                  </a:ext>
                </a:extLst>
              </p:cNvPr>
              <p:cNvSpPr txBox="1"/>
              <p:nvPr/>
            </p:nvSpPr>
            <p:spPr>
              <a:xfrm>
                <a:off x="7292815" y="6344466"/>
                <a:ext cx="1632109"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Start of study to </a:t>
                </a:r>
                <a:r>
                  <a:rPr kumimoji="0" lang="en-US" sz="800" b="0" i="0" u="none" strike="noStrike" kern="1200" cap="none" spc="0" normalizeH="0" baseline="0" noProof="0" err="1">
                    <a:ln>
                      <a:noFill/>
                    </a:ln>
                    <a:solidFill>
                      <a:srgbClr val="000000"/>
                    </a:solidFill>
                    <a:effectLst/>
                    <a:uLnTx/>
                    <a:uFillTx/>
                    <a:latin typeface="Poppins"/>
                    <a:ea typeface="+mn-ea"/>
                    <a:cs typeface="+mn-cs"/>
                  </a:rPr>
                  <a:t>en</a:t>
                </a:r>
                <a:r>
                  <a:rPr lang="en-US" sz="800">
                    <a:solidFill>
                      <a:srgbClr val="000000"/>
                    </a:solidFill>
                    <a:latin typeface="Poppins"/>
                  </a:rPr>
                  <a:t>d/DRO</a:t>
                </a:r>
                <a:endParaRPr kumimoji="0" 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9" name="Arrow: Pentagon 8">
                <a:extLst>
                  <a:ext uri="{FF2B5EF4-FFF2-40B4-BE49-F238E27FC236}">
                    <a16:creationId xmlns:a16="http://schemas.microsoft.com/office/drawing/2014/main" id="{48165C93-DB4C-16A7-6BA8-1B46CC7BF05B}"/>
                  </a:ext>
                </a:extLst>
              </p:cNvPr>
              <p:cNvSpPr/>
              <p:nvPr/>
            </p:nvSpPr>
            <p:spPr>
              <a:xfrm>
                <a:off x="7133798" y="6422147"/>
                <a:ext cx="182880" cy="182880"/>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algn="ctr"/>
                <a:endParaRPr lang="en-US">
                  <a:solidFill>
                    <a:schemeClr val="bg1"/>
                  </a:solidFill>
                </a:endParaRPr>
              </a:p>
            </p:txBody>
          </p:sp>
          <p:sp>
            <p:nvSpPr>
              <p:cNvPr id="10" name="Rectangle: Rounded Corners 9">
                <a:extLst>
                  <a:ext uri="{FF2B5EF4-FFF2-40B4-BE49-F238E27FC236}">
                    <a16:creationId xmlns:a16="http://schemas.microsoft.com/office/drawing/2014/main" id="{8428FC0B-A01B-78A2-6120-A4713D7C3B88}"/>
                  </a:ext>
                </a:extLst>
              </p:cNvPr>
              <p:cNvSpPr/>
              <p:nvPr/>
            </p:nvSpPr>
            <p:spPr>
              <a:xfrm>
                <a:off x="6686281" y="6365302"/>
                <a:ext cx="2924444" cy="28150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algn="ctr"/>
                <a:endParaRPr lang="en-US">
                  <a:solidFill>
                    <a:schemeClr val="bg1"/>
                  </a:solidFill>
                </a:endParaRPr>
              </a:p>
            </p:txBody>
          </p:sp>
        </p:grpSp>
      </p:grpSp>
      <p:grpSp>
        <p:nvGrpSpPr>
          <p:cNvPr id="19" name="Group 18">
            <a:extLst>
              <a:ext uri="{FF2B5EF4-FFF2-40B4-BE49-F238E27FC236}">
                <a16:creationId xmlns:a16="http://schemas.microsoft.com/office/drawing/2014/main" id="{8E586408-28FE-77D7-8A83-5E06573A2A29}"/>
              </a:ext>
            </a:extLst>
          </p:cNvPr>
          <p:cNvGrpSpPr/>
          <p:nvPr/>
        </p:nvGrpSpPr>
        <p:grpSpPr>
          <a:xfrm>
            <a:off x="6044154" y="6332843"/>
            <a:ext cx="2001488" cy="395710"/>
            <a:chOff x="9984926" y="1221638"/>
            <a:chExt cx="2001488" cy="395710"/>
          </a:xfrm>
        </p:grpSpPr>
        <p:sp>
          <p:nvSpPr>
            <p:cNvPr id="22" name="Rectangle 21">
              <a:extLst>
                <a:ext uri="{FF2B5EF4-FFF2-40B4-BE49-F238E27FC236}">
                  <a16:creationId xmlns:a16="http://schemas.microsoft.com/office/drawing/2014/main" id="{377F47C6-1B98-31A7-D776-458CA9C221E7}"/>
                </a:ext>
              </a:extLst>
            </p:cNvPr>
            <p:cNvSpPr/>
            <p:nvPr/>
          </p:nvSpPr>
          <p:spPr>
            <a:xfrm>
              <a:off x="10122616" y="1221638"/>
              <a:ext cx="1863798" cy="3957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800">
                  <a:solidFill>
                    <a:schemeClr val="tx1"/>
                  </a:solidFill>
                </a:rPr>
                <a:t>Click the </a:t>
              </a:r>
              <a:r>
                <a:rPr lang="en-US" sz="800" b="1">
                  <a:solidFill>
                    <a:schemeClr val="tx1"/>
                  </a:solidFill>
                </a:rPr>
                <a:t>gap  ID to return to gap overview</a:t>
              </a:r>
              <a:endParaRPr lang="en-US" sz="800">
                <a:solidFill>
                  <a:schemeClr val="tx1"/>
                </a:solidFill>
              </a:endParaRPr>
            </a:p>
          </p:txBody>
        </p:sp>
        <p:pic>
          <p:nvPicPr>
            <p:cNvPr id="24" name="Graphic 23" descr="Cursor with solid fill">
              <a:extLst>
                <a:ext uri="{FF2B5EF4-FFF2-40B4-BE49-F238E27FC236}">
                  <a16:creationId xmlns:a16="http://schemas.microsoft.com/office/drawing/2014/main" id="{5AFC109A-F4D7-359B-FC26-CFA391D2F78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984926" y="1302723"/>
              <a:ext cx="216000" cy="216000"/>
            </a:xfrm>
            <a:prstGeom prst="rect">
              <a:avLst/>
            </a:prstGeom>
          </p:spPr>
        </p:pic>
      </p:grpSp>
      <p:grpSp>
        <p:nvGrpSpPr>
          <p:cNvPr id="2" name="Group 1">
            <a:extLst>
              <a:ext uri="{FF2B5EF4-FFF2-40B4-BE49-F238E27FC236}">
                <a16:creationId xmlns:a16="http://schemas.microsoft.com/office/drawing/2014/main" id="{BB0F5C79-E5EC-1167-C547-70A96EE3C312}"/>
              </a:ext>
            </a:extLst>
          </p:cNvPr>
          <p:cNvGrpSpPr/>
          <p:nvPr/>
        </p:nvGrpSpPr>
        <p:grpSpPr>
          <a:xfrm>
            <a:off x="362743" y="10216"/>
            <a:ext cx="10042505" cy="252000"/>
            <a:chOff x="362743" y="10216"/>
            <a:chExt cx="10042505" cy="252000"/>
          </a:xfrm>
        </p:grpSpPr>
        <p:sp>
          <p:nvSpPr>
            <p:cNvPr id="11" name="Pentagon 47">
              <a:extLst>
                <a:ext uri="{FF2B5EF4-FFF2-40B4-BE49-F238E27FC236}">
                  <a16:creationId xmlns:a16="http://schemas.microsoft.com/office/drawing/2014/main" id="{1A6D7331-B339-A280-3908-7CB4B46ADFF1}"/>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13" name="Chevron 48">
              <a:extLst>
                <a:ext uri="{FF2B5EF4-FFF2-40B4-BE49-F238E27FC236}">
                  <a16:creationId xmlns:a16="http://schemas.microsoft.com/office/drawing/2014/main" id="{0E58DE86-E8E4-4CB9-F80A-5BAD8AE3F6AA}"/>
                </a:ext>
              </a:extLst>
            </p:cNvPr>
            <p:cNvSpPr/>
            <p:nvPr/>
          </p:nvSpPr>
          <p:spPr>
            <a:xfrm>
              <a:off x="5371087"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15" name="Chevron 52">
              <a:extLst>
                <a:ext uri="{FF2B5EF4-FFF2-40B4-BE49-F238E27FC236}">
                  <a16:creationId xmlns:a16="http://schemas.microsoft.com/office/drawing/2014/main" id="{1997994B-F7F2-E360-A5E8-6AFAAF77180C}"/>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16" name="Chevron 54">
              <a:extLst>
                <a:ext uri="{FF2B5EF4-FFF2-40B4-BE49-F238E27FC236}">
                  <a16:creationId xmlns:a16="http://schemas.microsoft.com/office/drawing/2014/main" id="{774BD65D-D23D-58C1-B3AF-10D0B738400F}"/>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7" name="Chevron 48">
              <a:extLst>
                <a:ext uri="{FF2B5EF4-FFF2-40B4-BE49-F238E27FC236}">
                  <a16:creationId xmlns:a16="http://schemas.microsoft.com/office/drawing/2014/main" id="{E7DB2F70-8C45-CE7F-A686-07DD5BE4D325}"/>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37" name="Chevron 48">
              <a:extLst>
                <a:ext uri="{FF2B5EF4-FFF2-40B4-BE49-F238E27FC236}">
                  <a16:creationId xmlns:a16="http://schemas.microsoft.com/office/drawing/2014/main" id="{BF38C306-EFDB-0E18-E5FB-22FFEE0AD229}"/>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11936316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339F9-E14B-933A-C9D8-FE6E5C83AC92}"/>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5FA0FBD-3107-7CB4-8CEA-EFD1BF808B01}"/>
              </a:ext>
            </a:extLst>
          </p:cNvPr>
          <p:cNvGraphicFramePr>
            <a:graphicFrameLocks/>
          </p:cNvGraphicFramePr>
          <p:nvPr>
            <p:custDataLst>
              <p:tags r:id="rId1"/>
            </p:custDataLst>
            <p:extLst>
              <p:ext uri="{D42A27DB-BD31-4B8C-83A1-F6EECF244321}">
                <p14:modId xmlns:p14="http://schemas.microsoft.com/office/powerpoint/2010/main" val="40092847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think-cell data - do not delete" hidden="1">
                        <a:extLst>
                          <a:ext uri="{FF2B5EF4-FFF2-40B4-BE49-F238E27FC236}">
                            <a16:creationId xmlns:a16="http://schemas.microsoft.com/office/drawing/2014/main" id="{F5FA0FBD-3107-7CB4-8CEA-EFD1BF808B0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 name="Table 2">
            <a:extLst>
              <a:ext uri="{FF2B5EF4-FFF2-40B4-BE49-F238E27FC236}">
                <a16:creationId xmlns:a16="http://schemas.microsoft.com/office/drawing/2014/main" id="{CACA8384-419D-A840-3BE7-C910F63402BC}"/>
              </a:ext>
            </a:extLst>
          </p:cNvPr>
          <p:cNvGraphicFramePr>
            <a:graphicFrameLocks noGrp="1"/>
          </p:cNvGraphicFramePr>
          <p:nvPr>
            <p:extLst>
              <p:ext uri="{D42A27DB-BD31-4B8C-83A1-F6EECF244321}">
                <p14:modId xmlns:p14="http://schemas.microsoft.com/office/powerpoint/2010/main" val="4090688482"/>
              </p:ext>
            </p:extLst>
          </p:nvPr>
        </p:nvGraphicFramePr>
        <p:xfrm>
          <a:off x="360936" y="1361961"/>
          <a:ext cx="11467527" cy="4820850"/>
        </p:xfrm>
        <a:graphic>
          <a:graphicData uri="http://schemas.openxmlformats.org/drawingml/2006/table">
            <a:tbl>
              <a:tblPr bandRow="1">
                <a:tableStyleId>{5C22544A-7EE6-4342-B048-85BDC9FD1C3A}</a:tableStyleId>
              </a:tblPr>
              <a:tblGrid>
                <a:gridCol w="1843653">
                  <a:extLst>
                    <a:ext uri="{9D8B030D-6E8A-4147-A177-3AD203B41FA5}">
                      <a16:colId xmlns:a16="http://schemas.microsoft.com/office/drawing/2014/main" val="1362236069"/>
                    </a:ext>
                  </a:extLst>
                </a:gridCol>
                <a:gridCol w="3028729">
                  <a:extLst>
                    <a:ext uri="{9D8B030D-6E8A-4147-A177-3AD203B41FA5}">
                      <a16:colId xmlns:a16="http://schemas.microsoft.com/office/drawing/2014/main" val="366937182"/>
                    </a:ext>
                  </a:extLst>
                </a:gridCol>
                <a:gridCol w="3350313">
                  <a:extLst>
                    <a:ext uri="{9D8B030D-6E8A-4147-A177-3AD203B41FA5}">
                      <a16:colId xmlns:a16="http://schemas.microsoft.com/office/drawing/2014/main" val="3093558049"/>
                    </a:ext>
                  </a:extLst>
                </a:gridCol>
                <a:gridCol w="405604">
                  <a:extLst>
                    <a:ext uri="{9D8B030D-6E8A-4147-A177-3AD203B41FA5}">
                      <a16:colId xmlns:a16="http://schemas.microsoft.com/office/drawing/2014/main" val="320023064"/>
                    </a:ext>
                  </a:extLst>
                </a:gridCol>
                <a:gridCol w="405604">
                  <a:extLst>
                    <a:ext uri="{9D8B030D-6E8A-4147-A177-3AD203B41FA5}">
                      <a16:colId xmlns:a16="http://schemas.microsoft.com/office/drawing/2014/main" val="1426101900"/>
                    </a:ext>
                  </a:extLst>
                </a:gridCol>
                <a:gridCol w="405604">
                  <a:extLst>
                    <a:ext uri="{9D8B030D-6E8A-4147-A177-3AD203B41FA5}">
                      <a16:colId xmlns:a16="http://schemas.microsoft.com/office/drawing/2014/main" val="3689681127"/>
                    </a:ext>
                  </a:extLst>
                </a:gridCol>
                <a:gridCol w="405604">
                  <a:extLst>
                    <a:ext uri="{9D8B030D-6E8A-4147-A177-3AD203B41FA5}">
                      <a16:colId xmlns:a16="http://schemas.microsoft.com/office/drawing/2014/main" val="2083152798"/>
                    </a:ext>
                  </a:extLst>
                </a:gridCol>
                <a:gridCol w="405604">
                  <a:extLst>
                    <a:ext uri="{9D8B030D-6E8A-4147-A177-3AD203B41FA5}">
                      <a16:colId xmlns:a16="http://schemas.microsoft.com/office/drawing/2014/main" val="3966416640"/>
                    </a:ext>
                  </a:extLst>
                </a:gridCol>
                <a:gridCol w="405604">
                  <a:extLst>
                    <a:ext uri="{9D8B030D-6E8A-4147-A177-3AD203B41FA5}">
                      <a16:colId xmlns:a16="http://schemas.microsoft.com/office/drawing/2014/main" val="3189174259"/>
                    </a:ext>
                  </a:extLst>
                </a:gridCol>
                <a:gridCol w="405604">
                  <a:extLst>
                    <a:ext uri="{9D8B030D-6E8A-4147-A177-3AD203B41FA5}">
                      <a16:colId xmlns:a16="http://schemas.microsoft.com/office/drawing/2014/main" val="2611606897"/>
                    </a:ext>
                  </a:extLst>
                </a:gridCol>
                <a:gridCol w="405604">
                  <a:extLst>
                    <a:ext uri="{9D8B030D-6E8A-4147-A177-3AD203B41FA5}">
                      <a16:colId xmlns:a16="http://schemas.microsoft.com/office/drawing/2014/main" val="3480329192"/>
                    </a:ext>
                  </a:extLst>
                </a:gridCol>
              </a:tblGrid>
              <a:tr h="274320">
                <a:tc rowSpan="2">
                  <a:txBody>
                    <a:bodyPr/>
                    <a:lstStyle/>
                    <a:p>
                      <a:pPr algn="ctr">
                        <a:spcBef>
                          <a:spcPts val="300"/>
                        </a:spcBef>
                      </a:pPr>
                      <a:r>
                        <a:rPr lang="en-US" sz="1200" b="1" i="0">
                          <a:solidFill>
                            <a:schemeClr val="bg1"/>
                          </a:solidFill>
                          <a:latin typeface="+mn-lt"/>
                          <a:cs typeface="Poppins" pitchFamily="2" charset="77"/>
                        </a:rPr>
                        <a:t>Tactic</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algn="ctr">
                        <a:spcBef>
                          <a:spcPts val="300"/>
                        </a:spcBef>
                      </a:pPr>
                      <a:r>
                        <a:rPr lang="en-US" sz="1200" b="1" i="0">
                          <a:solidFill>
                            <a:schemeClr val="bg1"/>
                          </a:solidFill>
                          <a:latin typeface="+mn-lt"/>
                          <a:cs typeface="Poppins" pitchFamily="2" charset="77"/>
                        </a:rPr>
                        <a:t>Gaps addressed</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lang="en-US" sz="1200" b="1" i="0">
                          <a:solidFill>
                            <a:schemeClr val="bg1"/>
                          </a:solidFill>
                          <a:latin typeface="+mn-lt"/>
                          <a:cs typeface="Poppins" pitchFamily="2" charset="77"/>
                        </a:rPr>
                        <a:t>Rationale and design considerations</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gridSpan="8">
                  <a:txBody>
                    <a:bodyPr/>
                    <a:lstStyle/>
                    <a:p>
                      <a:pPr algn="ctr">
                        <a:spcBef>
                          <a:spcPts val="300"/>
                        </a:spcBef>
                      </a:pPr>
                      <a:r>
                        <a:rPr lang="en-US" sz="1200" b="1" i="0">
                          <a:solidFill>
                            <a:schemeClr val="bg1"/>
                          </a:solidFill>
                          <a:latin typeface="+mn-lt"/>
                          <a:cs typeface="Poppins" pitchFamily="2" charset="77"/>
                        </a:rPr>
                        <a:t>Timing</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pPr algn="ctr">
                        <a:spcBef>
                          <a:spcPts val="300"/>
                        </a:spcBef>
                      </a:pP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2323510155"/>
                  </a:ext>
                </a:extLst>
              </a:tr>
              <a:tr h="15525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spcBef>
                          <a:spcPts val="300"/>
                        </a:spcBef>
                      </a:pPr>
                      <a:r>
                        <a:rPr lang="en-US" sz="1000" b="1" i="0">
                          <a:solidFill>
                            <a:schemeClr val="bg1"/>
                          </a:solidFill>
                          <a:latin typeface="+mn-lt"/>
                          <a:cs typeface="Poppins" pitchFamily="2" charset="77"/>
                        </a:rPr>
                        <a:t>2026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2027</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2028</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2029</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2030</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2031</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2032</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2033+</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1184289703"/>
                  </a:ext>
                </a:extLst>
              </a:tr>
              <a:tr h="1463040">
                <a:tc>
                  <a:txBody>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Poppins"/>
                        </a:rPr>
                        <a:t>4. Treatment effect across subgroups</a:t>
                      </a:r>
                    </a:p>
                    <a:p>
                      <a:pPr marL="0" marR="0" lvl="0" indent="0" algn="l" defTabSz="914400" rtl="0" eaLnBrk="1" fontAlgn="auto" latinLnBrk="0" hangingPunct="1">
                        <a:lnSpc>
                          <a:spcPct val="100000"/>
                        </a:lnSpc>
                        <a:spcBef>
                          <a:spcPts val="300"/>
                        </a:spcBef>
                        <a:spcAft>
                          <a:spcPts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mn-lt"/>
                        <a:ea typeface="+mn-ea"/>
                        <a:cs typeface="Poppins"/>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mn-lt"/>
                          <a:ea typeface="+mn-ea"/>
                          <a:cs typeface="Poppins"/>
                        </a:rPr>
                        <a:t>Lead: </a:t>
                      </a:r>
                      <a:r>
                        <a:rPr kumimoji="0" lang="en-US" sz="1000" b="0" i="0" u="none" strike="noStrike" kern="1200" cap="none" spc="0" normalizeH="0" baseline="0" noProof="0">
                          <a:ln>
                            <a:noFill/>
                          </a:ln>
                          <a:solidFill>
                            <a:srgbClr val="000000"/>
                          </a:solidFill>
                          <a:effectLst/>
                          <a:uLnTx/>
                          <a:uFillTx/>
                          <a:latin typeface="+mn-lt"/>
                          <a:ea typeface="+mn-ea"/>
                          <a:cs typeface="Poppins"/>
                        </a:rPr>
                        <a:t>Medical </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171450" indent="-171450" algn="l" defTabSz="914400" rtl="0" eaLnBrk="1" latinLnBrk="0" hangingPunct="1">
                        <a:spcBef>
                          <a:spcPts val="300"/>
                        </a:spcBef>
                        <a:buFont typeface="Arial" panose="020B0604020202020204" pitchFamily="34" charset="0"/>
                        <a:buChar char="•"/>
                      </a:pPr>
                      <a:r>
                        <a:rPr lang="en-US" sz="1000" b="1" i="0" strike="noStrike" kern="1200">
                          <a:solidFill>
                            <a:schemeClr val="tx1"/>
                          </a:solidFill>
                          <a:latin typeface="+mn-lt"/>
                          <a:ea typeface="+mn-ea"/>
                          <a:cs typeface="Poppins"/>
                          <a:hlinkClick r:id="rId6" action="ppaction://hlinksldjump">
                            <a:extLst>
                              <a:ext uri="{A12FA001-AC4F-418D-AE19-62706E023703}">
                                <ahyp:hlinkClr xmlns:ahyp="http://schemas.microsoft.com/office/drawing/2018/hyperlinkcolor" val="tx"/>
                              </a:ext>
                            </a:extLst>
                          </a:hlinkClick>
                        </a:rPr>
                        <a:t>NSCLC_HI_04</a:t>
                      </a:r>
                      <a:r>
                        <a:rPr lang="en-US" sz="1000" b="0" i="0" strike="noStrike" kern="1200">
                          <a:solidFill>
                            <a:schemeClr val="tx1"/>
                          </a:solidFill>
                          <a:latin typeface="+mn-lt"/>
                          <a:ea typeface="+mn-ea"/>
                          <a:cs typeface="Poppins"/>
                        </a:rPr>
                        <a:t>: BGB-58067’s efficacy and safety across pre-specified subgroups </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r>
                        <a:rPr lang="en-US" sz="1000" b="1" i="0" u="none" strike="noStrike" kern="1200" noProof="0">
                          <a:solidFill>
                            <a:schemeClr val="tx1"/>
                          </a:solidFill>
                          <a:effectLst/>
                          <a:latin typeface="+mn-lt"/>
                          <a:ea typeface="+mn-ea"/>
                          <a:cs typeface="Poppins"/>
                        </a:rPr>
                        <a:t>Design considerations:</a:t>
                      </a:r>
                    </a:p>
                    <a:p>
                      <a:pPr marL="171450" lvl="0" indent="-171450">
                        <a:spcBef>
                          <a:spcPts val="300"/>
                        </a:spcBef>
                        <a:buClr>
                          <a:srgbClr val="000000"/>
                        </a:buClr>
                        <a:buFont typeface="Arial" panose="020B0604020202020204" pitchFamily="34" charset="0"/>
                        <a:buChar char="•"/>
                      </a:pPr>
                      <a:r>
                        <a:rPr lang="en-US" sz="1000" b="0" strike="noStrike">
                          <a:solidFill>
                            <a:schemeClr val="tx1"/>
                          </a:solidFill>
                          <a:latin typeface="+mn-lt"/>
                        </a:rPr>
                        <a:t>Prespecified subgroups may pertain to: patient race/ethnicity (White, Black, Asian), PD-L1 status, histology, and geographies (eg., Japan), lines of therapy</a:t>
                      </a:r>
                    </a:p>
                    <a:p>
                      <a:pPr marL="171450" lvl="0" indent="-171450">
                        <a:spcBef>
                          <a:spcPts val="300"/>
                        </a:spcBef>
                        <a:buClr>
                          <a:srgbClr val="000000"/>
                        </a:buClr>
                        <a:buFont typeface="Arial" panose="020B0604020202020204" pitchFamily="34" charset="0"/>
                        <a:buChar char="•"/>
                      </a:pPr>
                      <a:r>
                        <a:rPr lang="en-US" sz="1000" b="0" strike="noStrike">
                          <a:solidFill>
                            <a:schemeClr val="tx1"/>
                          </a:solidFill>
                          <a:latin typeface="+mn-lt"/>
                        </a:rPr>
                        <a:t>Analysis would inform the selection of priority/unrepresented sub-groups for the planned IITs</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sng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sng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sng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sng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sng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sng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sng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sng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74479344"/>
                  </a:ext>
                </a:extLst>
              </a:tr>
              <a:tr h="1463040">
                <a:tc>
                  <a:txBody>
                    <a:bodyPr/>
                    <a:lstStyle/>
                    <a:p>
                      <a:pPr algn="l">
                        <a:spcBef>
                          <a:spcPts val="300"/>
                        </a:spcBef>
                      </a:pPr>
                      <a:r>
                        <a:rPr lang="en-US" sz="1000" b="0" i="0" strike="noStrike">
                          <a:solidFill>
                            <a:schemeClr val="tx1"/>
                          </a:solidFill>
                          <a:latin typeface="+mn-lt"/>
                          <a:cs typeface="Poppins"/>
                        </a:rPr>
                        <a:t>5. Pre-approval post-hoc analyses of HCRU proxies, treatment burden, and AE burden within clinical trials</a:t>
                      </a:r>
                    </a:p>
                    <a:p>
                      <a:pPr algn="l">
                        <a:spcBef>
                          <a:spcPts val="300"/>
                        </a:spcBef>
                      </a:pPr>
                      <a:endParaRPr lang="en-US" sz="1000" b="1" i="0" strike="noStrike">
                        <a:solidFill>
                          <a:schemeClr val="tx1"/>
                        </a:solidFill>
                        <a:latin typeface="+mn-lt"/>
                        <a:cs typeface="Poppins"/>
                      </a:endParaRPr>
                    </a:p>
                    <a:p>
                      <a:pPr marL="0" marR="0" lvl="0" indent="0" algn="l" defTabSz="914400" rtl="0" eaLnBrk="1" fontAlgn="auto" latinLnBrk="0" hangingPunct="1">
                        <a:lnSpc>
                          <a:spcPct val="100000"/>
                        </a:lnSpc>
                        <a:spcBef>
                          <a:spcPts val="300"/>
                        </a:spcBef>
                        <a:spcAft>
                          <a:spcPts val="0"/>
                        </a:spcAft>
                        <a:buClrTx/>
                        <a:buSzTx/>
                        <a:buFontTx/>
                        <a:buNone/>
                        <a:tabLst/>
                        <a:defRPr/>
                      </a:pPr>
                      <a:r>
                        <a:rPr lang="en-US" sz="1000" b="1" i="0" strike="noStrike">
                          <a:solidFill>
                            <a:schemeClr val="tx1"/>
                          </a:solidFill>
                          <a:latin typeface="+mn-lt"/>
                          <a:cs typeface="Poppins"/>
                        </a:rPr>
                        <a:t>Lead: </a:t>
                      </a:r>
                      <a:r>
                        <a:rPr lang="en-US" sz="1000" b="0" i="0" strike="noStrike">
                          <a:solidFill>
                            <a:schemeClr val="tx1"/>
                          </a:solidFill>
                          <a:latin typeface="+mn-lt"/>
                          <a:cs typeface="Poppins"/>
                        </a:rPr>
                        <a:t>PRO/HEOR </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171450" indent="-171450" algn="l" defTabSz="914400" rtl="0" eaLnBrk="1" latinLnBrk="0" hangingPunct="1">
                        <a:spcBef>
                          <a:spcPts val="300"/>
                        </a:spcBef>
                        <a:buFont typeface="Arial" panose="020B0604020202020204" pitchFamily="34" charset="0"/>
                        <a:buChar char="•"/>
                      </a:pPr>
                      <a:r>
                        <a:rPr lang="en-US" sz="1000" b="1" i="0" strike="noStrike" kern="1200">
                          <a:solidFill>
                            <a:schemeClr val="tx1"/>
                          </a:solidFill>
                          <a:latin typeface="+mn-lt"/>
                          <a:ea typeface="+mn-ea"/>
                          <a:cs typeface="Poppins"/>
                          <a:hlinkClick r:id="rId7" action="ppaction://hlinksldjump">
                            <a:extLst>
                              <a:ext uri="{A12FA001-AC4F-418D-AE19-62706E023703}">
                                <ahyp:hlinkClr xmlns:ahyp="http://schemas.microsoft.com/office/drawing/2018/hyperlinkcolor" val="tx"/>
                              </a:ext>
                            </a:extLst>
                          </a:hlinkClick>
                        </a:rPr>
                        <a:t>NSCLC_HI_07</a:t>
                      </a:r>
                      <a:r>
                        <a:rPr lang="en-US" sz="1000" b="0" i="0" strike="noStrike" kern="1200">
                          <a:solidFill>
                            <a:schemeClr val="tx1"/>
                          </a:solidFill>
                          <a:latin typeface="+mn-lt"/>
                          <a:ea typeface="+mn-ea"/>
                          <a:cs typeface="Poppins"/>
                        </a:rPr>
                        <a:t>: BGB-58067’s impact on HCRU and cost vs. SoC</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r>
                        <a:rPr lang="en-US" sz="1000" b="1" i="0" u="none" strike="noStrike" kern="1200" noProof="0">
                          <a:solidFill>
                            <a:schemeClr val="tx1"/>
                          </a:solidFill>
                          <a:effectLst/>
                          <a:latin typeface="+mn-lt"/>
                          <a:ea typeface="+mn-ea"/>
                          <a:cs typeface="Poppins"/>
                        </a:rPr>
                        <a:t>Design considerations:</a:t>
                      </a:r>
                    </a:p>
                    <a:p>
                      <a:pPr marL="171450" lvl="0" indent="-171450">
                        <a:spcBef>
                          <a:spcPts val="300"/>
                        </a:spcBef>
                        <a:buClr>
                          <a:srgbClr val="000000"/>
                        </a:buClr>
                        <a:buFont typeface="Arial" panose="020B0604020202020204" pitchFamily="34" charset="0"/>
                        <a:buChar char="•"/>
                      </a:pPr>
                      <a:r>
                        <a:rPr lang="en-US" sz="1000" b="0" strike="noStrike">
                          <a:solidFill>
                            <a:schemeClr val="tx1"/>
                          </a:solidFill>
                          <a:latin typeface="+mn-lt"/>
                        </a:rPr>
                        <a:t>Analysis further informs the post-approval RWE planned for HI_08</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178511159"/>
                  </a:ext>
                </a:extLst>
              </a:tr>
              <a:tr h="1463040">
                <a:tc>
                  <a:txBody>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Poppins"/>
                        </a:rPr>
                        <a:t>6. Trial segmentation and subgroup analyses of PRO data</a:t>
                      </a:r>
                    </a:p>
                    <a:p>
                      <a:pPr marL="0" marR="0" lvl="0" indent="0" algn="l" defTabSz="914400" rtl="0" eaLnBrk="1" fontAlgn="auto" latinLnBrk="0" hangingPunct="1">
                        <a:lnSpc>
                          <a:spcPct val="100000"/>
                        </a:lnSpc>
                        <a:spcBef>
                          <a:spcPts val="300"/>
                        </a:spcBef>
                        <a:spcAft>
                          <a:spcPts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mn-lt"/>
                        <a:ea typeface="+mn-ea"/>
                        <a:cs typeface="Poppins"/>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mn-lt"/>
                          <a:ea typeface="+mn-ea"/>
                          <a:cs typeface="Poppins"/>
                        </a:rPr>
                        <a:t>Lead: </a:t>
                      </a:r>
                      <a:r>
                        <a:rPr kumimoji="0" lang="en-US" sz="1000" b="0" i="0" u="none" strike="noStrike" kern="1200" cap="none" spc="0" normalizeH="0" baseline="0" noProof="0">
                          <a:ln>
                            <a:noFill/>
                          </a:ln>
                          <a:solidFill>
                            <a:srgbClr val="000000"/>
                          </a:solidFill>
                          <a:effectLst/>
                          <a:uLnTx/>
                          <a:uFillTx/>
                          <a:latin typeface="+mn-lt"/>
                          <a:ea typeface="+mn-ea"/>
                          <a:cs typeface="Poppins"/>
                        </a:rPr>
                        <a:t>PRO</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171450" indent="-171450" algn="l" defTabSz="914400" rtl="0" eaLnBrk="1" latinLnBrk="0" hangingPunct="1">
                        <a:spcBef>
                          <a:spcPts val="300"/>
                        </a:spcBef>
                        <a:buFont typeface="Arial" panose="020B0604020202020204" pitchFamily="34" charset="0"/>
                        <a:buChar char="•"/>
                      </a:pPr>
                      <a:r>
                        <a:rPr lang="en-US" sz="1000" b="1" i="0" strike="noStrike" kern="1200">
                          <a:solidFill>
                            <a:schemeClr val="tx1"/>
                          </a:solidFill>
                          <a:latin typeface="+mn-lt"/>
                          <a:ea typeface="+mn-ea"/>
                          <a:cs typeface="Poppins"/>
                          <a:hlinkClick r:id="rId7" action="ppaction://hlinksldjump">
                            <a:extLst>
                              <a:ext uri="{A12FA001-AC4F-418D-AE19-62706E023703}">
                                <ahyp:hlinkClr xmlns:ahyp="http://schemas.microsoft.com/office/drawing/2018/hyperlinkcolor" val="tx"/>
                              </a:ext>
                            </a:extLst>
                          </a:hlinkClick>
                        </a:rPr>
                        <a:t>NSCLC_HI_08</a:t>
                      </a:r>
                      <a:r>
                        <a:rPr lang="en-US" sz="1000" b="0" i="0" strike="noStrike" kern="1200">
                          <a:solidFill>
                            <a:schemeClr val="tx1"/>
                          </a:solidFill>
                          <a:latin typeface="+mn-lt"/>
                          <a:ea typeface="+mn-ea"/>
                          <a:cs typeface="Poppins"/>
                        </a:rPr>
                        <a:t>: BGB-58067’s impact on HRQoL and Tx burden overall and in key sub-populations </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r>
                        <a:rPr lang="en-US" sz="1000" b="1" i="0" u="none" strike="noStrike" kern="1200" noProof="0">
                          <a:solidFill>
                            <a:schemeClr val="tx1"/>
                          </a:solidFill>
                          <a:effectLst/>
                          <a:latin typeface="+mn-lt"/>
                          <a:ea typeface="+mn-ea"/>
                          <a:cs typeface="Poppins"/>
                        </a:rPr>
                        <a:t>Design considerations:</a:t>
                      </a:r>
                    </a:p>
                    <a:p>
                      <a:pPr marL="171450" lvl="0" indent="-171450">
                        <a:spcBef>
                          <a:spcPts val="300"/>
                        </a:spcBef>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Analysis should be segmented by CNS involvement, age 65+, 1L vs. 2L+ monotherapy setting, and co-mutation status</a:t>
                      </a:r>
                    </a:p>
                    <a:p>
                      <a:pPr marL="171450" lvl="0" indent="-171450">
                        <a:spcBef>
                          <a:spcPts val="300"/>
                        </a:spcBef>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Subgroups must be pre-specified in analysis and statistically powered, not exploratory</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183281723"/>
                  </a:ext>
                </a:extLst>
              </a:tr>
            </a:tbl>
          </a:graphicData>
        </a:graphic>
      </p:graphicFrame>
      <p:sp>
        <p:nvSpPr>
          <p:cNvPr id="20" name="Title 19">
            <a:extLst>
              <a:ext uri="{FF2B5EF4-FFF2-40B4-BE49-F238E27FC236}">
                <a16:creationId xmlns:a16="http://schemas.microsoft.com/office/drawing/2014/main" id="{67A8E22C-5B95-54D5-EE9F-D936F4E817EC}"/>
              </a:ext>
            </a:extLst>
          </p:cNvPr>
          <p:cNvSpPr>
            <a:spLocks noGrp="1"/>
          </p:cNvSpPr>
          <p:nvPr>
            <p:ph type="title"/>
          </p:nvPr>
        </p:nvSpPr>
        <p:spPr>
          <a:xfrm>
            <a:off x="358337" y="338328"/>
            <a:ext cx="11470125" cy="738664"/>
          </a:xfrm>
        </p:spPr>
        <p:txBody>
          <a:bodyPr vert="horz" rIns="0">
            <a:spAutoFit/>
          </a:bodyPr>
          <a:lstStyle/>
          <a:p>
            <a:r>
              <a:rPr lang="en-US" sz="2400"/>
              <a:t>Seven </a:t>
            </a:r>
            <a:r>
              <a:rPr lang="en-US" sz="2400" b="1">
                <a:solidFill>
                  <a:schemeClr val="accent3">
                    <a:lumMod val="40000"/>
                    <a:lumOff val="60000"/>
                  </a:schemeClr>
                </a:solidFill>
              </a:rPr>
              <a:t>post-hoc analyses </a:t>
            </a:r>
            <a:r>
              <a:rPr lang="en-US" sz="2400"/>
              <a:t>will generate differentiated clinical evidence from pivotal trial data (2/3)</a:t>
            </a:r>
          </a:p>
        </p:txBody>
      </p:sp>
      <p:sp>
        <p:nvSpPr>
          <p:cNvPr id="18" name="Arrow: Pentagon 17">
            <a:extLst>
              <a:ext uri="{FF2B5EF4-FFF2-40B4-BE49-F238E27FC236}">
                <a16:creationId xmlns:a16="http://schemas.microsoft.com/office/drawing/2014/main" id="{C5C43A6D-9C81-25D7-E27E-49FADA41380A}"/>
              </a:ext>
            </a:extLst>
          </p:cNvPr>
          <p:cNvSpPr/>
          <p:nvPr/>
        </p:nvSpPr>
        <p:spPr>
          <a:xfrm>
            <a:off x="10193987" y="2119686"/>
            <a:ext cx="581101" cy="388620"/>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21" name="Rectangle 20">
            <a:extLst>
              <a:ext uri="{FF2B5EF4-FFF2-40B4-BE49-F238E27FC236}">
                <a16:creationId xmlns:a16="http://schemas.microsoft.com/office/drawing/2014/main" id="{5F80F5A0-5A9F-3C6E-8523-FE699CADED3C}"/>
              </a:ext>
            </a:extLst>
          </p:cNvPr>
          <p:cNvSpPr/>
          <p:nvPr/>
        </p:nvSpPr>
        <p:spPr>
          <a:xfrm>
            <a:off x="9961166" y="2499951"/>
            <a:ext cx="1046743" cy="388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r>
              <a:rPr lang="en-US" sz="900" b="1">
                <a:solidFill>
                  <a:schemeClr val="tx1"/>
                </a:solidFill>
              </a:rPr>
              <a:t>1L / 2L+ DRO</a:t>
            </a:r>
            <a:r>
              <a:rPr lang="en-US" sz="900">
                <a:solidFill>
                  <a:schemeClr val="tx1"/>
                </a:solidFill>
              </a:rPr>
              <a:t>: 2030+</a:t>
            </a:r>
          </a:p>
        </p:txBody>
      </p:sp>
      <p:sp>
        <p:nvSpPr>
          <p:cNvPr id="29" name="Diamond 28">
            <a:extLst>
              <a:ext uri="{FF2B5EF4-FFF2-40B4-BE49-F238E27FC236}">
                <a16:creationId xmlns:a16="http://schemas.microsoft.com/office/drawing/2014/main" id="{B00475C9-429D-FA54-A057-58C17AFA0720}"/>
              </a:ext>
            </a:extLst>
          </p:cNvPr>
          <p:cNvSpPr/>
          <p:nvPr/>
        </p:nvSpPr>
        <p:spPr>
          <a:xfrm>
            <a:off x="10318919" y="2199696"/>
            <a:ext cx="228600" cy="22860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13" name="Arrow: Pentagon 12">
            <a:extLst>
              <a:ext uri="{FF2B5EF4-FFF2-40B4-BE49-F238E27FC236}">
                <a16:creationId xmlns:a16="http://schemas.microsoft.com/office/drawing/2014/main" id="{282B356D-6887-E959-6E16-8BC4D43E71F3}"/>
              </a:ext>
            </a:extLst>
          </p:cNvPr>
          <p:cNvSpPr/>
          <p:nvPr/>
        </p:nvSpPr>
        <p:spPr>
          <a:xfrm>
            <a:off x="10193987" y="5069920"/>
            <a:ext cx="581101" cy="388620"/>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17" name="Rectangle 16">
            <a:extLst>
              <a:ext uri="{FF2B5EF4-FFF2-40B4-BE49-F238E27FC236}">
                <a16:creationId xmlns:a16="http://schemas.microsoft.com/office/drawing/2014/main" id="{DA19FDD1-DB6A-7630-6F52-1E2F2618929F}"/>
              </a:ext>
            </a:extLst>
          </p:cNvPr>
          <p:cNvSpPr/>
          <p:nvPr/>
        </p:nvSpPr>
        <p:spPr>
          <a:xfrm>
            <a:off x="9961166" y="5460695"/>
            <a:ext cx="1046743" cy="388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r>
              <a:rPr lang="en-US" sz="900" b="1">
                <a:solidFill>
                  <a:schemeClr val="tx1"/>
                </a:solidFill>
              </a:rPr>
              <a:t>1L / 2L+ DRO</a:t>
            </a:r>
            <a:r>
              <a:rPr lang="en-US" sz="900">
                <a:solidFill>
                  <a:schemeClr val="tx1"/>
                </a:solidFill>
              </a:rPr>
              <a:t>: 2030+</a:t>
            </a:r>
          </a:p>
        </p:txBody>
      </p:sp>
      <p:sp>
        <p:nvSpPr>
          <p:cNvPr id="39" name="Diamond 38">
            <a:extLst>
              <a:ext uri="{FF2B5EF4-FFF2-40B4-BE49-F238E27FC236}">
                <a16:creationId xmlns:a16="http://schemas.microsoft.com/office/drawing/2014/main" id="{91F71708-C15A-7359-611C-CC5A25CF6446}"/>
              </a:ext>
            </a:extLst>
          </p:cNvPr>
          <p:cNvSpPr/>
          <p:nvPr/>
        </p:nvSpPr>
        <p:spPr>
          <a:xfrm>
            <a:off x="10318919" y="5149930"/>
            <a:ext cx="228600" cy="22860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42" name="Arrow: Pentagon 41">
            <a:extLst>
              <a:ext uri="{FF2B5EF4-FFF2-40B4-BE49-F238E27FC236}">
                <a16:creationId xmlns:a16="http://schemas.microsoft.com/office/drawing/2014/main" id="{43925E5A-EF26-292C-1287-FD21F94AD1B4}"/>
              </a:ext>
            </a:extLst>
          </p:cNvPr>
          <p:cNvSpPr/>
          <p:nvPr/>
        </p:nvSpPr>
        <p:spPr>
          <a:xfrm>
            <a:off x="10193987" y="3578617"/>
            <a:ext cx="581101" cy="388620"/>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44" name="Rectangle 43">
            <a:extLst>
              <a:ext uri="{FF2B5EF4-FFF2-40B4-BE49-F238E27FC236}">
                <a16:creationId xmlns:a16="http://schemas.microsoft.com/office/drawing/2014/main" id="{F27A2B61-A5AA-82A5-D366-CCA5A201825A}"/>
              </a:ext>
            </a:extLst>
          </p:cNvPr>
          <p:cNvSpPr/>
          <p:nvPr/>
        </p:nvSpPr>
        <p:spPr>
          <a:xfrm>
            <a:off x="9961166" y="3958882"/>
            <a:ext cx="1046743" cy="388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r>
              <a:rPr lang="en-US" sz="900" b="1">
                <a:solidFill>
                  <a:schemeClr val="tx1"/>
                </a:solidFill>
              </a:rPr>
              <a:t>1L / 2L+ DRO</a:t>
            </a:r>
            <a:r>
              <a:rPr lang="en-US" sz="900">
                <a:solidFill>
                  <a:schemeClr val="tx1"/>
                </a:solidFill>
              </a:rPr>
              <a:t>: 2030+</a:t>
            </a:r>
          </a:p>
        </p:txBody>
      </p:sp>
      <p:sp>
        <p:nvSpPr>
          <p:cNvPr id="46" name="Diamond 45">
            <a:extLst>
              <a:ext uri="{FF2B5EF4-FFF2-40B4-BE49-F238E27FC236}">
                <a16:creationId xmlns:a16="http://schemas.microsoft.com/office/drawing/2014/main" id="{32042084-E960-1C4F-5920-B635A929BB64}"/>
              </a:ext>
            </a:extLst>
          </p:cNvPr>
          <p:cNvSpPr/>
          <p:nvPr/>
        </p:nvSpPr>
        <p:spPr>
          <a:xfrm>
            <a:off x="10318919" y="3658627"/>
            <a:ext cx="228600" cy="22860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64" name="Footer Placeholder 2">
            <a:extLst>
              <a:ext uri="{FF2B5EF4-FFF2-40B4-BE49-F238E27FC236}">
                <a16:creationId xmlns:a16="http://schemas.microsoft.com/office/drawing/2014/main" id="{8D7581E4-39A2-50E6-2534-28281EFEECAF}"/>
              </a:ext>
            </a:extLst>
          </p:cNvPr>
          <p:cNvSpPr>
            <a:spLocks noGrp="1"/>
          </p:cNvSpPr>
          <p:nvPr>
            <p:ph type="ftr" sz="quarter" idx="10"/>
          </p:nvPr>
        </p:nvSpPr>
        <p:spPr>
          <a:xfrm>
            <a:off x="328864" y="6275655"/>
            <a:ext cx="5681293" cy="526584"/>
          </a:xfrm>
        </p:spPr>
        <p:txBody>
          <a:bodyPr/>
          <a:lstStyle/>
          <a:p>
            <a:pPr>
              <a:defRPr/>
            </a:pPr>
            <a:r>
              <a:rPr lang="en-US">
                <a:solidFill>
                  <a:srgbClr val="000000">
                    <a:lumMod val="65000"/>
                    <a:lumOff val="35000"/>
                  </a:srgbClr>
                </a:solidFill>
              </a:rPr>
              <a:t>Abbreviations: AE: Adverse Event; CNS: Central Nervous System; DRO: Data Readout; HCRU: Healthcare Resource Utilization; HEOR: Health Economics and Outcomes Research; HI: High Priority; </a:t>
            </a:r>
            <a:r>
              <a:rPr lang="en-US" err="1">
                <a:solidFill>
                  <a:srgbClr val="000000">
                    <a:lumMod val="65000"/>
                    <a:lumOff val="35000"/>
                  </a:srgbClr>
                </a:solidFill>
              </a:rPr>
              <a:t>HRQoL</a:t>
            </a:r>
            <a:r>
              <a:rPr lang="en-US">
                <a:solidFill>
                  <a:srgbClr val="000000">
                    <a:lumMod val="65000"/>
                    <a:lumOff val="35000"/>
                  </a:srgbClr>
                </a:solidFill>
              </a:rPr>
              <a:t>: Health-Related Quality of Life; IITs: Investigator-Initiated Trials; NSCLC: Non-Small Cell Lung Cancer; PD-L1: Programmed Death-Ligand 1; PRO: Patient-Reported Outcome; RWE: Real-World Evidence; SoC: Standard of Care; Tx: Treatment</a:t>
            </a:r>
            <a:endParaRPr lang="en-US"/>
          </a:p>
        </p:txBody>
      </p:sp>
      <p:sp>
        <p:nvSpPr>
          <p:cNvPr id="65" name="Rectangle 64">
            <a:extLst>
              <a:ext uri="{FF2B5EF4-FFF2-40B4-BE49-F238E27FC236}">
                <a16:creationId xmlns:a16="http://schemas.microsoft.com/office/drawing/2014/main" id="{F37D4641-E682-EED4-0BD8-06B7483C4FB8}"/>
              </a:ext>
            </a:extLst>
          </p:cNvPr>
          <p:cNvSpPr/>
          <p:nvPr/>
        </p:nvSpPr>
        <p:spPr>
          <a:xfrm>
            <a:off x="8765796" y="6280266"/>
            <a:ext cx="2242113" cy="3342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92500" lnSpcReduction="10000"/>
          </a:bodyPr>
          <a:lstStyle/>
          <a:p>
            <a:pPr algn="ctr"/>
            <a:endParaRPr lang="en-US" err="1">
              <a:solidFill>
                <a:schemeClr val="bg1"/>
              </a:solidFill>
            </a:endParaRPr>
          </a:p>
        </p:txBody>
      </p:sp>
      <p:grpSp>
        <p:nvGrpSpPr>
          <p:cNvPr id="66" name="Group 65">
            <a:extLst>
              <a:ext uri="{FF2B5EF4-FFF2-40B4-BE49-F238E27FC236}">
                <a16:creationId xmlns:a16="http://schemas.microsoft.com/office/drawing/2014/main" id="{E2BB2C4F-612B-F542-AB94-0B7ACF53249F}"/>
              </a:ext>
            </a:extLst>
          </p:cNvPr>
          <p:cNvGrpSpPr/>
          <p:nvPr/>
        </p:nvGrpSpPr>
        <p:grpSpPr>
          <a:xfrm>
            <a:off x="8025100" y="6327114"/>
            <a:ext cx="3279572" cy="319473"/>
            <a:chOff x="8676947" y="6306366"/>
            <a:chExt cx="3279572" cy="319473"/>
          </a:xfrm>
        </p:grpSpPr>
        <p:sp>
          <p:nvSpPr>
            <p:cNvPr id="67" name="TextBox 66">
              <a:extLst>
                <a:ext uri="{FF2B5EF4-FFF2-40B4-BE49-F238E27FC236}">
                  <a16:creationId xmlns:a16="http://schemas.microsoft.com/office/drawing/2014/main" id="{ED46D4E4-F6A3-33DD-ED75-065A518FB209}"/>
                </a:ext>
              </a:extLst>
            </p:cNvPr>
            <p:cNvSpPr txBox="1"/>
            <p:nvPr/>
          </p:nvSpPr>
          <p:spPr>
            <a:xfrm>
              <a:off x="8676947" y="6318062"/>
              <a:ext cx="470764" cy="307777"/>
            </a:xfrm>
            <a:prstGeom prst="rect">
              <a:avLst/>
            </a:prstGeom>
            <a:noFill/>
          </p:spPr>
          <p:txBody>
            <a:bodyPr wrap="square" lIns="91440" tIns="91440" rIns="91440" bIns="91440"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Poppins"/>
                  <a:ea typeface="+mn-ea"/>
                  <a:cs typeface="+mn-cs"/>
                </a:rPr>
                <a:t>Key:</a:t>
              </a:r>
            </a:p>
          </p:txBody>
        </p:sp>
        <p:grpSp>
          <p:nvGrpSpPr>
            <p:cNvPr id="68" name="Group 67">
              <a:extLst>
                <a:ext uri="{FF2B5EF4-FFF2-40B4-BE49-F238E27FC236}">
                  <a16:creationId xmlns:a16="http://schemas.microsoft.com/office/drawing/2014/main" id="{2BCD64F8-F543-98BF-A5AF-C6345D7529ED}"/>
                </a:ext>
              </a:extLst>
            </p:cNvPr>
            <p:cNvGrpSpPr/>
            <p:nvPr/>
          </p:nvGrpSpPr>
          <p:grpSpPr>
            <a:xfrm>
              <a:off x="8743681" y="6306366"/>
              <a:ext cx="3212838" cy="307777"/>
              <a:chOff x="6686281" y="6344466"/>
              <a:chExt cx="3212838" cy="307777"/>
            </a:xfrm>
          </p:grpSpPr>
          <p:sp>
            <p:nvSpPr>
              <p:cNvPr id="69" name="Diamond 68">
                <a:extLst>
                  <a:ext uri="{FF2B5EF4-FFF2-40B4-BE49-F238E27FC236}">
                    <a16:creationId xmlns:a16="http://schemas.microsoft.com/office/drawing/2014/main" id="{A4C32259-84AC-4F7E-A01A-639F727E835B}"/>
                  </a:ext>
                </a:extLst>
              </p:cNvPr>
              <p:cNvSpPr/>
              <p:nvPr/>
            </p:nvSpPr>
            <p:spPr>
              <a:xfrm>
                <a:off x="8778716" y="6409851"/>
                <a:ext cx="175330" cy="177007"/>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70" name="TextBox 69">
                <a:extLst>
                  <a:ext uri="{FF2B5EF4-FFF2-40B4-BE49-F238E27FC236}">
                    <a16:creationId xmlns:a16="http://schemas.microsoft.com/office/drawing/2014/main" id="{79811FDD-293A-6A4A-B9E0-CBEF27D06157}"/>
                  </a:ext>
                </a:extLst>
              </p:cNvPr>
              <p:cNvSpPr txBox="1"/>
              <p:nvPr/>
            </p:nvSpPr>
            <p:spPr>
              <a:xfrm>
                <a:off x="8910524" y="6344466"/>
                <a:ext cx="988595"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Milestone</a:t>
                </a:r>
              </a:p>
            </p:txBody>
          </p:sp>
          <p:sp>
            <p:nvSpPr>
              <p:cNvPr id="71" name="TextBox 70">
                <a:extLst>
                  <a:ext uri="{FF2B5EF4-FFF2-40B4-BE49-F238E27FC236}">
                    <a16:creationId xmlns:a16="http://schemas.microsoft.com/office/drawing/2014/main" id="{AEB98782-2C81-8A4A-5DE4-15ACBA9A7E4F}"/>
                  </a:ext>
                </a:extLst>
              </p:cNvPr>
              <p:cNvSpPr txBox="1"/>
              <p:nvPr/>
            </p:nvSpPr>
            <p:spPr>
              <a:xfrm>
                <a:off x="7292815" y="6344466"/>
                <a:ext cx="1632109"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Start of study to </a:t>
                </a:r>
                <a:r>
                  <a:rPr kumimoji="0" lang="en-US" sz="800" b="0" i="0" u="none" strike="noStrike" kern="1200" cap="none" spc="0" normalizeH="0" baseline="0" noProof="0" err="1">
                    <a:ln>
                      <a:noFill/>
                    </a:ln>
                    <a:solidFill>
                      <a:srgbClr val="000000"/>
                    </a:solidFill>
                    <a:effectLst/>
                    <a:uLnTx/>
                    <a:uFillTx/>
                    <a:latin typeface="Poppins"/>
                    <a:ea typeface="+mn-ea"/>
                    <a:cs typeface="+mn-cs"/>
                  </a:rPr>
                  <a:t>en</a:t>
                </a:r>
                <a:r>
                  <a:rPr lang="en-US" sz="800">
                    <a:solidFill>
                      <a:srgbClr val="000000"/>
                    </a:solidFill>
                    <a:latin typeface="Poppins"/>
                  </a:rPr>
                  <a:t>d/DRO</a:t>
                </a:r>
                <a:endParaRPr kumimoji="0" 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72" name="Arrow: Pentagon 71">
                <a:extLst>
                  <a:ext uri="{FF2B5EF4-FFF2-40B4-BE49-F238E27FC236}">
                    <a16:creationId xmlns:a16="http://schemas.microsoft.com/office/drawing/2014/main" id="{F348BA0F-3AA7-7F31-5884-6B54ABCC6701}"/>
                  </a:ext>
                </a:extLst>
              </p:cNvPr>
              <p:cNvSpPr/>
              <p:nvPr/>
            </p:nvSpPr>
            <p:spPr>
              <a:xfrm>
                <a:off x="7133798" y="6422147"/>
                <a:ext cx="182880" cy="182880"/>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algn="ctr"/>
                <a:endParaRPr lang="en-US">
                  <a:solidFill>
                    <a:schemeClr val="bg1"/>
                  </a:solidFill>
                </a:endParaRPr>
              </a:p>
            </p:txBody>
          </p:sp>
          <p:sp>
            <p:nvSpPr>
              <p:cNvPr id="73" name="Rectangle: Rounded Corners 72">
                <a:extLst>
                  <a:ext uri="{FF2B5EF4-FFF2-40B4-BE49-F238E27FC236}">
                    <a16:creationId xmlns:a16="http://schemas.microsoft.com/office/drawing/2014/main" id="{2FE18AF3-8339-B72D-3F0D-242474238518}"/>
                  </a:ext>
                </a:extLst>
              </p:cNvPr>
              <p:cNvSpPr/>
              <p:nvPr/>
            </p:nvSpPr>
            <p:spPr>
              <a:xfrm>
                <a:off x="6686281" y="6365302"/>
                <a:ext cx="2924444" cy="28150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algn="ctr"/>
                <a:endParaRPr lang="en-US">
                  <a:solidFill>
                    <a:schemeClr val="bg1"/>
                  </a:solidFill>
                </a:endParaRPr>
              </a:p>
            </p:txBody>
          </p:sp>
        </p:grpSp>
      </p:grpSp>
      <p:grpSp>
        <p:nvGrpSpPr>
          <p:cNvPr id="74" name="Group 73">
            <a:extLst>
              <a:ext uri="{FF2B5EF4-FFF2-40B4-BE49-F238E27FC236}">
                <a16:creationId xmlns:a16="http://schemas.microsoft.com/office/drawing/2014/main" id="{9CE9C85F-79A0-D2D7-A8A2-B73E56EE7F76}"/>
              </a:ext>
            </a:extLst>
          </p:cNvPr>
          <p:cNvGrpSpPr/>
          <p:nvPr/>
        </p:nvGrpSpPr>
        <p:grpSpPr>
          <a:xfrm>
            <a:off x="6044154" y="6332843"/>
            <a:ext cx="2001488" cy="395710"/>
            <a:chOff x="9984926" y="1221638"/>
            <a:chExt cx="2001488" cy="395710"/>
          </a:xfrm>
        </p:grpSpPr>
        <p:sp>
          <p:nvSpPr>
            <p:cNvPr id="75" name="Rectangle 74">
              <a:extLst>
                <a:ext uri="{FF2B5EF4-FFF2-40B4-BE49-F238E27FC236}">
                  <a16:creationId xmlns:a16="http://schemas.microsoft.com/office/drawing/2014/main" id="{CB6E9A28-7DB2-C2AD-4B12-F88790575BBD}"/>
                </a:ext>
              </a:extLst>
            </p:cNvPr>
            <p:cNvSpPr/>
            <p:nvPr/>
          </p:nvSpPr>
          <p:spPr>
            <a:xfrm>
              <a:off x="10122616" y="1221638"/>
              <a:ext cx="1863798" cy="3957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800">
                  <a:solidFill>
                    <a:schemeClr val="tx1"/>
                  </a:solidFill>
                </a:rPr>
                <a:t>Click the </a:t>
              </a:r>
              <a:r>
                <a:rPr lang="en-US" sz="800" b="1">
                  <a:solidFill>
                    <a:schemeClr val="tx1"/>
                  </a:solidFill>
                </a:rPr>
                <a:t>gap  ID to return to gap overview</a:t>
              </a:r>
              <a:endParaRPr lang="en-US" sz="800">
                <a:solidFill>
                  <a:schemeClr val="tx1"/>
                </a:solidFill>
              </a:endParaRPr>
            </a:p>
          </p:txBody>
        </p:sp>
        <p:pic>
          <p:nvPicPr>
            <p:cNvPr id="76" name="Graphic 75" descr="Cursor with solid fill">
              <a:extLst>
                <a:ext uri="{FF2B5EF4-FFF2-40B4-BE49-F238E27FC236}">
                  <a16:creationId xmlns:a16="http://schemas.microsoft.com/office/drawing/2014/main" id="{0F95C924-950F-D979-3D1E-E94C5CE0F37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984926" y="1302723"/>
              <a:ext cx="216000" cy="216000"/>
            </a:xfrm>
            <a:prstGeom prst="rect">
              <a:avLst/>
            </a:prstGeom>
          </p:spPr>
        </p:pic>
      </p:grpSp>
      <p:grpSp>
        <p:nvGrpSpPr>
          <p:cNvPr id="2" name="Group 1">
            <a:extLst>
              <a:ext uri="{FF2B5EF4-FFF2-40B4-BE49-F238E27FC236}">
                <a16:creationId xmlns:a16="http://schemas.microsoft.com/office/drawing/2014/main" id="{E0908C7E-A391-AEDD-A1D7-9B6001BF2939}"/>
              </a:ext>
            </a:extLst>
          </p:cNvPr>
          <p:cNvGrpSpPr/>
          <p:nvPr/>
        </p:nvGrpSpPr>
        <p:grpSpPr>
          <a:xfrm>
            <a:off x="362743" y="10216"/>
            <a:ext cx="10042505" cy="252000"/>
            <a:chOff x="362743" y="10216"/>
            <a:chExt cx="10042505" cy="252000"/>
          </a:xfrm>
        </p:grpSpPr>
        <p:sp>
          <p:nvSpPr>
            <p:cNvPr id="4" name="Pentagon 47">
              <a:extLst>
                <a:ext uri="{FF2B5EF4-FFF2-40B4-BE49-F238E27FC236}">
                  <a16:creationId xmlns:a16="http://schemas.microsoft.com/office/drawing/2014/main" id="{6C5CE422-7585-D555-9F3B-F75809BB270B}"/>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6" name="Chevron 48">
              <a:extLst>
                <a:ext uri="{FF2B5EF4-FFF2-40B4-BE49-F238E27FC236}">
                  <a16:creationId xmlns:a16="http://schemas.microsoft.com/office/drawing/2014/main" id="{68425674-19F1-C9E1-CED4-4F400107BBAA}"/>
                </a:ext>
              </a:extLst>
            </p:cNvPr>
            <p:cNvSpPr/>
            <p:nvPr/>
          </p:nvSpPr>
          <p:spPr>
            <a:xfrm>
              <a:off x="5371087"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7" name="Chevron 52">
              <a:extLst>
                <a:ext uri="{FF2B5EF4-FFF2-40B4-BE49-F238E27FC236}">
                  <a16:creationId xmlns:a16="http://schemas.microsoft.com/office/drawing/2014/main" id="{A4FDE367-610A-8A57-A3DA-91B9891C8DE7}"/>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8" name="Chevron 54">
              <a:extLst>
                <a:ext uri="{FF2B5EF4-FFF2-40B4-BE49-F238E27FC236}">
                  <a16:creationId xmlns:a16="http://schemas.microsoft.com/office/drawing/2014/main" id="{71B038EF-6A43-08D3-8F32-C4FC9FFFD7CB}"/>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9" name="Chevron 48">
              <a:extLst>
                <a:ext uri="{FF2B5EF4-FFF2-40B4-BE49-F238E27FC236}">
                  <a16:creationId xmlns:a16="http://schemas.microsoft.com/office/drawing/2014/main" id="{D1C3FE17-B766-EDAE-7940-B1934E192F5C}"/>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1" name="Chevron 48">
              <a:extLst>
                <a:ext uri="{FF2B5EF4-FFF2-40B4-BE49-F238E27FC236}">
                  <a16:creationId xmlns:a16="http://schemas.microsoft.com/office/drawing/2014/main" id="{062BD4AA-3E4A-2100-2A9D-5AAB656EE9DD}"/>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39153658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8A0C4-A14D-120D-EC99-79745B922532}"/>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CC2B59DB-AF76-4B03-B250-8FEF2A9EBF68}"/>
              </a:ext>
            </a:extLst>
          </p:cNvPr>
          <p:cNvGraphicFramePr>
            <a:graphicFrameLocks noGrp="1"/>
          </p:cNvGraphicFramePr>
          <p:nvPr>
            <p:extLst>
              <p:ext uri="{D42A27DB-BD31-4B8C-83A1-F6EECF244321}">
                <p14:modId xmlns:p14="http://schemas.microsoft.com/office/powerpoint/2010/main" val="923002873"/>
              </p:ext>
            </p:extLst>
          </p:nvPr>
        </p:nvGraphicFramePr>
        <p:xfrm>
          <a:off x="360936" y="1361962"/>
          <a:ext cx="11467526" cy="2693211"/>
        </p:xfrm>
        <a:graphic>
          <a:graphicData uri="http://schemas.openxmlformats.org/drawingml/2006/table">
            <a:tbl>
              <a:tblPr bandRow="1">
                <a:tableStyleId>{5C22544A-7EE6-4342-B048-85BDC9FD1C3A}</a:tableStyleId>
              </a:tblPr>
              <a:tblGrid>
                <a:gridCol w="1843653">
                  <a:extLst>
                    <a:ext uri="{9D8B030D-6E8A-4147-A177-3AD203B41FA5}">
                      <a16:colId xmlns:a16="http://schemas.microsoft.com/office/drawing/2014/main" val="1362236069"/>
                    </a:ext>
                  </a:extLst>
                </a:gridCol>
                <a:gridCol w="2550669">
                  <a:extLst>
                    <a:ext uri="{9D8B030D-6E8A-4147-A177-3AD203B41FA5}">
                      <a16:colId xmlns:a16="http://schemas.microsoft.com/office/drawing/2014/main" val="366937182"/>
                    </a:ext>
                  </a:extLst>
                </a:gridCol>
                <a:gridCol w="3828372">
                  <a:extLst>
                    <a:ext uri="{9D8B030D-6E8A-4147-A177-3AD203B41FA5}">
                      <a16:colId xmlns:a16="http://schemas.microsoft.com/office/drawing/2014/main" val="3093558049"/>
                    </a:ext>
                  </a:extLst>
                </a:gridCol>
                <a:gridCol w="405604">
                  <a:extLst>
                    <a:ext uri="{9D8B030D-6E8A-4147-A177-3AD203B41FA5}">
                      <a16:colId xmlns:a16="http://schemas.microsoft.com/office/drawing/2014/main" val="320023064"/>
                    </a:ext>
                  </a:extLst>
                </a:gridCol>
                <a:gridCol w="405604">
                  <a:extLst>
                    <a:ext uri="{9D8B030D-6E8A-4147-A177-3AD203B41FA5}">
                      <a16:colId xmlns:a16="http://schemas.microsoft.com/office/drawing/2014/main" val="1426101900"/>
                    </a:ext>
                  </a:extLst>
                </a:gridCol>
                <a:gridCol w="405604">
                  <a:extLst>
                    <a:ext uri="{9D8B030D-6E8A-4147-A177-3AD203B41FA5}">
                      <a16:colId xmlns:a16="http://schemas.microsoft.com/office/drawing/2014/main" val="3689681127"/>
                    </a:ext>
                  </a:extLst>
                </a:gridCol>
                <a:gridCol w="405604">
                  <a:extLst>
                    <a:ext uri="{9D8B030D-6E8A-4147-A177-3AD203B41FA5}">
                      <a16:colId xmlns:a16="http://schemas.microsoft.com/office/drawing/2014/main" val="2083152798"/>
                    </a:ext>
                  </a:extLst>
                </a:gridCol>
                <a:gridCol w="405604">
                  <a:extLst>
                    <a:ext uri="{9D8B030D-6E8A-4147-A177-3AD203B41FA5}">
                      <a16:colId xmlns:a16="http://schemas.microsoft.com/office/drawing/2014/main" val="3966416640"/>
                    </a:ext>
                  </a:extLst>
                </a:gridCol>
                <a:gridCol w="405604">
                  <a:extLst>
                    <a:ext uri="{9D8B030D-6E8A-4147-A177-3AD203B41FA5}">
                      <a16:colId xmlns:a16="http://schemas.microsoft.com/office/drawing/2014/main" val="3189174259"/>
                    </a:ext>
                  </a:extLst>
                </a:gridCol>
                <a:gridCol w="405604">
                  <a:extLst>
                    <a:ext uri="{9D8B030D-6E8A-4147-A177-3AD203B41FA5}">
                      <a16:colId xmlns:a16="http://schemas.microsoft.com/office/drawing/2014/main" val="2611606897"/>
                    </a:ext>
                  </a:extLst>
                </a:gridCol>
                <a:gridCol w="405604">
                  <a:extLst>
                    <a:ext uri="{9D8B030D-6E8A-4147-A177-3AD203B41FA5}">
                      <a16:colId xmlns:a16="http://schemas.microsoft.com/office/drawing/2014/main" val="1165802941"/>
                    </a:ext>
                  </a:extLst>
                </a:gridCol>
              </a:tblGrid>
              <a:tr h="0">
                <a:tc rowSpan="2">
                  <a:txBody>
                    <a:bodyPr/>
                    <a:lstStyle/>
                    <a:p>
                      <a:pPr algn="ctr">
                        <a:spcBef>
                          <a:spcPts val="300"/>
                        </a:spcBef>
                      </a:pPr>
                      <a:r>
                        <a:rPr lang="en-US" sz="1200" b="1" i="0">
                          <a:solidFill>
                            <a:schemeClr val="bg1"/>
                          </a:solidFill>
                          <a:latin typeface="+mn-lt"/>
                          <a:cs typeface="Poppins" pitchFamily="2" charset="77"/>
                        </a:rPr>
                        <a:t>Tactic</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algn="ctr">
                        <a:spcBef>
                          <a:spcPts val="300"/>
                        </a:spcBef>
                      </a:pPr>
                      <a:r>
                        <a:rPr lang="en-US" sz="1200" b="1" i="0">
                          <a:solidFill>
                            <a:schemeClr val="bg1"/>
                          </a:solidFill>
                          <a:latin typeface="+mn-lt"/>
                          <a:cs typeface="Poppins" pitchFamily="2" charset="77"/>
                        </a:rPr>
                        <a:t>Gaps addressed</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lang="en-US" sz="1200" b="1" i="0">
                          <a:solidFill>
                            <a:schemeClr val="bg1"/>
                          </a:solidFill>
                          <a:latin typeface="+mn-lt"/>
                          <a:cs typeface="Poppins" pitchFamily="2" charset="77"/>
                        </a:rPr>
                        <a:t>Rationale and design considerations</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gridSpan="8">
                  <a:txBody>
                    <a:bodyPr/>
                    <a:lstStyle/>
                    <a:p>
                      <a:pPr algn="ctr">
                        <a:spcBef>
                          <a:spcPts val="300"/>
                        </a:spcBef>
                      </a:pPr>
                      <a:r>
                        <a:rPr lang="en-US" sz="1200" b="1" i="0">
                          <a:solidFill>
                            <a:schemeClr val="bg1"/>
                          </a:solidFill>
                          <a:latin typeface="+mn-lt"/>
                          <a:cs typeface="Poppins" pitchFamily="2" charset="77"/>
                        </a:rPr>
                        <a:t>Timing</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pPr algn="ctr">
                        <a:spcBef>
                          <a:spcPts val="300"/>
                        </a:spcBef>
                      </a:pP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2323510155"/>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spcBef>
                          <a:spcPts val="300"/>
                        </a:spcBef>
                      </a:pPr>
                      <a:r>
                        <a:rPr lang="en-US" sz="1000" b="1" i="0">
                          <a:solidFill>
                            <a:schemeClr val="bg1"/>
                          </a:solidFill>
                          <a:latin typeface="+mn-lt"/>
                          <a:cs typeface="Poppins" pitchFamily="2" charset="77"/>
                        </a:rPr>
                        <a:t>2026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2027</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2028</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2029</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2030</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2031</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2032</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2033+</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1184289703"/>
                  </a:ext>
                </a:extLst>
              </a:tr>
              <a:tr h="2264331">
                <a:tc>
                  <a:txBody>
                    <a:bodyPr/>
                    <a:lstStyle/>
                    <a:p>
                      <a:pPr algn="l">
                        <a:spcBef>
                          <a:spcPts val="300"/>
                        </a:spcBef>
                      </a:pPr>
                      <a:r>
                        <a:rPr lang="en-US" sz="1000" b="0" i="0" strike="noStrike">
                          <a:solidFill>
                            <a:schemeClr val="tx1"/>
                          </a:solidFill>
                          <a:latin typeface="+mn-lt"/>
                          <a:cs typeface="Poppins"/>
                        </a:rPr>
                        <a:t>7. Efficacy/safety across baseline PD-L1 strata vs. doublet control</a:t>
                      </a:r>
                    </a:p>
                    <a:p>
                      <a:pPr algn="l">
                        <a:spcBef>
                          <a:spcPts val="300"/>
                        </a:spcBef>
                      </a:pPr>
                      <a:endParaRPr lang="en-US" sz="1000" b="1" i="0" strike="noStrike">
                        <a:solidFill>
                          <a:schemeClr val="tx1"/>
                        </a:solidFill>
                        <a:latin typeface="+mn-lt"/>
                        <a:cs typeface="Poppins"/>
                      </a:endParaRPr>
                    </a:p>
                    <a:p>
                      <a:pPr marL="0" marR="0" lvl="0" indent="0" algn="l" defTabSz="914400" rtl="0" eaLnBrk="1" fontAlgn="auto" latinLnBrk="0" hangingPunct="1">
                        <a:lnSpc>
                          <a:spcPct val="100000"/>
                        </a:lnSpc>
                        <a:spcBef>
                          <a:spcPts val="300"/>
                        </a:spcBef>
                        <a:spcAft>
                          <a:spcPts val="0"/>
                        </a:spcAft>
                        <a:buClrTx/>
                        <a:buSzTx/>
                        <a:buFontTx/>
                        <a:buNone/>
                        <a:tabLst/>
                        <a:defRPr/>
                      </a:pPr>
                      <a:r>
                        <a:rPr lang="en-US" sz="1000" b="1" i="0" strike="noStrike">
                          <a:solidFill>
                            <a:schemeClr val="tx1"/>
                          </a:solidFill>
                          <a:latin typeface="+mn-lt"/>
                          <a:cs typeface="Poppins"/>
                        </a:rPr>
                        <a:t>Lead: </a:t>
                      </a:r>
                      <a:r>
                        <a:rPr lang="en-US" sz="1000" b="0" i="0" strike="noStrike">
                          <a:solidFill>
                            <a:schemeClr val="tx1"/>
                          </a:solidFill>
                          <a:latin typeface="+mn-lt"/>
                          <a:cs typeface="Poppins"/>
                        </a:rPr>
                        <a:t>Medical</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D3E3"/>
                    </a:solidFill>
                  </a:tcPr>
                </a:tc>
                <a:tc>
                  <a:txBody>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chemeClr val="tx1"/>
                          </a:solidFill>
                          <a:effectLst/>
                          <a:uLnTx/>
                          <a:uFillTx/>
                          <a:latin typeface="+mn-lt"/>
                          <a:ea typeface="+mn-ea"/>
                          <a:cs typeface="Poppins"/>
                          <a:hlinkClick r:id="rId4" action="ppaction://hlinksldjump">
                            <a:extLst>
                              <a:ext uri="{A12FA001-AC4F-418D-AE19-62706E023703}">
                                <ahyp:hlinkClr xmlns:ahyp="http://schemas.microsoft.com/office/drawing/2018/hyperlinkcolor" val="tx"/>
                              </a:ext>
                            </a:extLst>
                          </a:hlinkClick>
                        </a:rPr>
                        <a:t>NSCLC_HI_14</a:t>
                      </a:r>
                      <a:r>
                        <a:rPr kumimoji="0" lang="en-US" sz="1000" b="0" i="0" u="none" strike="noStrike" kern="1200" cap="none" spc="0" normalizeH="0" baseline="0" noProof="0">
                          <a:ln>
                            <a:noFill/>
                          </a:ln>
                          <a:solidFill>
                            <a:schemeClr val="tx1"/>
                          </a:solidFill>
                          <a:effectLst/>
                          <a:uLnTx/>
                          <a:uFillTx/>
                          <a:latin typeface="+mn-lt"/>
                          <a:ea typeface="+mn-ea"/>
                          <a:cs typeface="Poppins"/>
                        </a:rPr>
                        <a:t>: </a:t>
                      </a:r>
                      <a:r>
                        <a:rPr kumimoji="0" lang="en-US" sz="1000" b="0" i="0" u="none" strike="noStrike" kern="1200" cap="none" spc="0" normalizeH="0" baseline="0" noProof="0">
                          <a:ln>
                            <a:noFill/>
                          </a:ln>
                          <a:solidFill>
                            <a:srgbClr val="000000"/>
                          </a:solidFill>
                          <a:effectLst/>
                          <a:uLnTx/>
                          <a:uFillTx/>
                          <a:latin typeface="+mn-lt"/>
                          <a:ea typeface="+mn-ea"/>
                          <a:cs typeface="Poppins"/>
                        </a:rPr>
                        <a:t>BGB-58067’s triplet vs. doublet efficacy and safety across PD-L1 strata</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r>
                        <a:rPr lang="en-US" sz="1000" b="1" i="0" u="none" strike="noStrike" kern="1200" noProof="0">
                          <a:solidFill>
                            <a:schemeClr val="tx1"/>
                          </a:solidFill>
                          <a:effectLst/>
                          <a:latin typeface="+mn-lt"/>
                          <a:ea typeface="+mn-ea"/>
                          <a:cs typeface="Poppins"/>
                        </a:rPr>
                        <a:t>Design considerations:</a:t>
                      </a:r>
                    </a:p>
                    <a:p>
                      <a:pPr marL="171450" lvl="0" indent="-171450">
                        <a:spcBef>
                          <a:spcPts val="300"/>
                        </a:spcBef>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Analysis should be stratified by PD-L1 expression (&lt;1%, 1–49%, ≥50%), with PD-L1 &lt;1% pre-specified as the primary sub-analysis</a:t>
                      </a:r>
                    </a:p>
                    <a:p>
                      <a:pPr marL="171450" lvl="0" indent="-171450">
                        <a:spcBef>
                          <a:spcPts val="300"/>
                        </a:spcBef>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The comparator used in the pivotal trial's control arm will drive regional relevance of results, as SoC differs by market</a:t>
                      </a:r>
                      <a:endParaRPr lang="en-US" sz="1000" b="1"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74479344"/>
                  </a:ext>
                </a:extLst>
              </a:tr>
            </a:tbl>
          </a:graphicData>
        </a:graphic>
      </p:graphicFrame>
      <p:graphicFrame>
        <p:nvGraphicFramePr>
          <p:cNvPr id="5" name="think-cell data - do not delete" hidden="1">
            <a:extLst>
              <a:ext uri="{FF2B5EF4-FFF2-40B4-BE49-F238E27FC236}">
                <a16:creationId xmlns:a16="http://schemas.microsoft.com/office/drawing/2014/main" id="{E3EADFA8-E12C-15D9-C44C-CD187A85BA8B}"/>
              </a:ext>
            </a:extLst>
          </p:cNvPr>
          <p:cNvGraphicFramePr>
            <a:graphicFrameLocks/>
          </p:cNvGraphicFramePr>
          <p:nvPr>
            <p:custDataLst>
              <p:tags r:id="rId1"/>
            </p:custDataLst>
            <p:extLst>
              <p:ext uri="{D42A27DB-BD31-4B8C-83A1-F6EECF244321}">
                <p14:modId xmlns:p14="http://schemas.microsoft.com/office/powerpoint/2010/main" val="6217935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6" progId="TCLayout.ActiveDocument.1">
                  <p:embed/>
                </p:oleObj>
              </mc:Choice>
              <mc:Fallback>
                <p:oleObj name="think-cell Slide" r:id="rId5" imgW="395" imgH="396" progId="TCLayout.ActiveDocument.1">
                  <p:embed/>
                  <p:pic>
                    <p:nvPicPr>
                      <p:cNvPr id="5" name="think-cell data - do not delete" hidden="1">
                        <a:extLst>
                          <a:ext uri="{FF2B5EF4-FFF2-40B4-BE49-F238E27FC236}">
                            <a16:creationId xmlns:a16="http://schemas.microsoft.com/office/drawing/2014/main" id="{E3EADFA8-E12C-15D9-C44C-CD187A85BA8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0" name="Title 19">
            <a:extLst>
              <a:ext uri="{FF2B5EF4-FFF2-40B4-BE49-F238E27FC236}">
                <a16:creationId xmlns:a16="http://schemas.microsoft.com/office/drawing/2014/main" id="{476D67EE-BD67-EAFB-6000-7C2D31CCF10D}"/>
              </a:ext>
            </a:extLst>
          </p:cNvPr>
          <p:cNvSpPr>
            <a:spLocks noGrp="1"/>
          </p:cNvSpPr>
          <p:nvPr>
            <p:ph type="title"/>
          </p:nvPr>
        </p:nvSpPr>
        <p:spPr>
          <a:xfrm>
            <a:off x="358337" y="338328"/>
            <a:ext cx="11470125" cy="738664"/>
          </a:xfrm>
        </p:spPr>
        <p:txBody>
          <a:bodyPr vert="horz" rIns="0">
            <a:spAutoFit/>
          </a:bodyPr>
          <a:lstStyle/>
          <a:p>
            <a:r>
              <a:rPr lang="en-US" sz="2400"/>
              <a:t>Seven </a:t>
            </a:r>
            <a:r>
              <a:rPr lang="en-US" sz="2400" b="1">
                <a:solidFill>
                  <a:schemeClr val="accent3">
                    <a:lumMod val="40000"/>
                    <a:lumOff val="60000"/>
                  </a:schemeClr>
                </a:solidFill>
              </a:rPr>
              <a:t>post-hoc analyses </a:t>
            </a:r>
            <a:r>
              <a:rPr lang="en-US" sz="2400"/>
              <a:t>will generate differentiated clinical evidence from pivotal trial data (3/3)</a:t>
            </a:r>
          </a:p>
        </p:txBody>
      </p:sp>
      <p:sp>
        <p:nvSpPr>
          <p:cNvPr id="57" name="Arrow: Pentagon 56">
            <a:extLst>
              <a:ext uri="{FF2B5EF4-FFF2-40B4-BE49-F238E27FC236}">
                <a16:creationId xmlns:a16="http://schemas.microsoft.com/office/drawing/2014/main" id="{7E819F50-16DE-AAE1-303D-EC034FE39DF3}"/>
              </a:ext>
            </a:extLst>
          </p:cNvPr>
          <p:cNvSpPr/>
          <p:nvPr/>
        </p:nvSpPr>
        <p:spPr>
          <a:xfrm>
            <a:off x="10193987" y="3021928"/>
            <a:ext cx="581101" cy="388620"/>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59" name="Rectangle 58">
            <a:extLst>
              <a:ext uri="{FF2B5EF4-FFF2-40B4-BE49-F238E27FC236}">
                <a16:creationId xmlns:a16="http://schemas.microsoft.com/office/drawing/2014/main" id="{31235FD9-D2B0-9380-D33C-6300B499F1B0}"/>
              </a:ext>
            </a:extLst>
          </p:cNvPr>
          <p:cNvSpPr/>
          <p:nvPr/>
        </p:nvSpPr>
        <p:spPr>
          <a:xfrm>
            <a:off x="9961166" y="3402193"/>
            <a:ext cx="1046743" cy="388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r>
              <a:rPr lang="en-US" sz="900" b="1">
                <a:solidFill>
                  <a:schemeClr val="tx1"/>
                </a:solidFill>
              </a:rPr>
              <a:t>1L / 2L+ DRO</a:t>
            </a:r>
            <a:r>
              <a:rPr lang="en-US" sz="900">
                <a:solidFill>
                  <a:schemeClr val="tx1"/>
                </a:solidFill>
              </a:rPr>
              <a:t>: 2030+</a:t>
            </a:r>
          </a:p>
        </p:txBody>
      </p:sp>
      <p:sp>
        <p:nvSpPr>
          <p:cNvPr id="61" name="Diamond 60">
            <a:extLst>
              <a:ext uri="{FF2B5EF4-FFF2-40B4-BE49-F238E27FC236}">
                <a16:creationId xmlns:a16="http://schemas.microsoft.com/office/drawing/2014/main" id="{941E8F48-9FB0-15B0-D0F3-E63C10405662}"/>
              </a:ext>
            </a:extLst>
          </p:cNvPr>
          <p:cNvSpPr/>
          <p:nvPr/>
        </p:nvSpPr>
        <p:spPr>
          <a:xfrm>
            <a:off x="10318919" y="3101938"/>
            <a:ext cx="228600" cy="22860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12" name="Footer Placeholder 2">
            <a:extLst>
              <a:ext uri="{FF2B5EF4-FFF2-40B4-BE49-F238E27FC236}">
                <a16:creationId xmlns:a16="http://schemas.microsoft.com/office/drawing/2014/main" id="{79BFF771-AF63-BA20-2A1E-737DE0C2EE48}"/>
              </a:ext>
            </a:extLst>
          </p:cNvPr>
          <p:cNvSpPr>
            <a:spLocks noGrp="1"/>
          </p:cNvSpPr>
          <p:nvPr>
            <p:ph type="ftr" sz="quarter" idx="10"/>
          </p:nvPr>
        </p:nvSpPr>
        <p:spPr>
          <a:xfrm>
            <a:off x="328864" y="6278199"/>
            <a:ext cx="5681293" cy="409740"/>
          </a:xfrm>
        </p:spPr>
        <p:txBody>
          <a:bodyPr/>
          <a:lstStyle/>
          <a:p>
            <a:pPr>
              <a:defRPr/>
            </a:pPr>
            <a:r>
              <a:rPr lang="en-US">
                <a:solidFill>
                  <a:srgbClr val="000000">
                    <a:lumMod val="65000"/>
                    <a:lumOff val="35000"/>
                  </a:srgbClr>
                </a:solidFill>
              </a:rPr>
              <a:t>Abbreviations: </a:t>
            </a:r>
            <a:r>
              <a:rPr lang="en-US"/>
              <a:t>DRO: Data Readout; HI: High Priority; NSCLC: Non-Small Cell Lung Cancer; PD-L1: Programmed Death-Ligand 1; SoC: Standard of Care</a:t>
            </a:r>
          </a:p>
        </p:txBody>
      </p:sp>
      <p:sp>
        <p:nvSpPr>
          <p:cNvPr id="13" name="Rectangle 12">
            <a:extLst>
              <a:ext uri="{FF2B5EF4-FFF2-40B4-BE49-F238E27FC236}">
                <a16:creationId xmlns:a16="http://schemas.microsoft.com/office/drawing/2014/main" id="{C8769F6D-272B-B8EC-0708-0179B6FD83E0}"/>
              </a:ext>
            </a:extLst>
          </p:cNvPr>
          <p:cNvSpPr/>
          <p:nvPr/>
        </p:nvSpPr>
        <p:spPr>
          <a:xfrm>
            <a:off x="8765796" y="6280266"/>
            <a:ext cx="2242113" cy="3342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92500" lnSpcReduction="10000"/>
          </a:bodyPr>
          <a:lstStyle/>
          <a:p>
            <a:pPr algn="ctr"/>
            <a:endParaRPr lang="en-US" err="1">
              <a:solidFill>
                <a:schemeClr val="bg1"/>
              </a:solidFill>
            </a:endParaRPr>
          </a:p>
        </p:txBody>
      </p:sp>
      <p:grpSp>
        <p:nvGrpSpPr>
          <p:cNvPr id="16" name="Group 15">
            <a:extLst>
              <a:ext uri="{FF2B5EF4-FFF2-40B4-BE49-F238E27FC236}">
                <a16:creationId xmlns:a16="http://schemas.microsoft.com/office/drawing/2014/main" id="{67C435C5-69F9-CF8B-8CA6-B2936313A0BD}"/>
              </a:ext>
            </a:extLst>
          </p:cNvPr>
          <p:cNvGrpSpPr/>
          <p:nvPr/>
        </p:nvGrpSpPr>
        <p:grpSpPr>
          <a:xfrm>
            <a:off x="8025100" y="6327114"/>
            <a:ext cx="3279572" cy="319473"/>
            <a:chOff x="8676947" y="6306366"/>
            <a:chExt cx="3279572" cy="319473"/>
          </a:xfrm>
        </p:grpSpPr>
        <p:sp>
          <p:nvSpPr>
            <p:cNvPr id="17" name="TextBox 16">
              <a:extLst>
                <a:ext uri="{FF2B5EF4-FFF2-40B4-BE49-F238E27FC236}">
                  <a16:creationId xmlns:a16="http://schemas.microsoft.com/office/drawing/2014/main" id="{96E6AFB2-6377-7492-C826-4168E01977F4}"/>
                </a:ext>
              </a:extLst>
            </p:cNvPr>
            <p:cNvSpPr txBox="1"/>
            <p:nvPr/>
          </p:nvSpPr>
          <p:spPr>
            <a:xfrm>
              <a:off x="8676947" y="6318062"/>
              <a:ext cx="470764" cy="307777"/>
            </a:xfrm>
            <a:prstGeom prst="rect">
              <a:avLst/>
            </a:prstGeom>
            <a:noFill/>
          </p:spPr>
          <p:txBody>
            <a:bodyPr wrap="square" lIns="91440" tIns="91440" rIns="91440" bIns="91440"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Poppins"/>
                  <a:ea typeface="+mn-ea"/>
                  <a:cs typeface="+mn-cs"/>
                </a:rPr>
                <a:t>Key:</a:t>
              </a:r>
            </a:p>
          </p:txBody>
        </p:sp>
        <p:grpSp>
          <p:nvGrpSpPr>
            <p:cNvPr id="18" name="Group 17">
              <a:extLst>
                <a:ext uri="{FF2B5EF4-FFF2-40B4-BE49-F238E27FC236}">
                  <a16:creationId xmlns:a16="http://schemas.microsoft.com/office/drawing/2014/main" id="{0EC66213-1DC9-414D-9359-7B03538BD5E1}"/>
                </a:ext>
              </a:extLst>
            </p:cNvPr>
            <p:cNvGrpSpPr/>
            <p:nvPr/>
          </p:nvGrpSpPr>
          <p:grpSpPr>
            <a:xfrm>
              <a:off x="8743681" y="6306366"/>
              <a:ext cx="3212838" cy="307777"/>
              <a:chOff x="6686281" y="6344466"/>
              <a:chExt cx="3212838" cy="307777"/>
            </a:xfrm>
          </p:grpSpPr>
          <p:sp>
            <p:nvSpPr>
              <p:cNvPr id="19" name="Diamond 18">
                <a:extLst>
                  <a:ext uri="{FF2B5EF4-FFF2-40B4-BE49-F238E27FC236}">
                    <a16:creationId xmlns:a16="http://schemas.microsoft.com/office/drawing/2014/main" id="{74E1FE9A-BBFA-5FE3-A80F-672A09A7A030}"/>
                  </a:ext>
                </a:extLst>
              </p:cNvPr>
              <p:cNvSpPr/>
              <p:nvPr/>
            </p:nvSpPr>
            <p:spPr>
              <a:xfrm>
                <a:off x="8778716" y="6409851"/>
                <a:ext cx="175330" cy="177007"/>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21" name="TextBox 20">
                <a:extLst>
                  <a:ext uri="{FF2B5EF4-FFF2-40B4-BE49-F238E27FC236}">
                    <a16:creationId xmlns:a16="http://schemas.microsoft.com/office/drawing/2014/main" id="{EB5E1306-700E-D03C-F63E-2C4A121ADB36}"/>
                  </a:ext>
                </a:extLst>
              </p:cNvPr>
              <p:cNvSpPr txBox="1"/>
              <p:nvPr/>
            </p:nvSpPr>
            <p:spPr>
              <a:xfrm>
                <a:off x="8910524" y="6344466"/>
                <a:ext cx="988595"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Milestone</a:t>
                </a:r>
              </a:p>
            </p:txBody>
          </p:sp>
          <p:sp>
            <p:nvSpPr>
              <p:cNvPr id="22" name="TextBox 21">
                <a:extLst>
                  <a:ext uri="{FF2B5EF4-FFF2-40B4-BE49-F238E27FC236}">
                    <a16:creationId xmlns:a16="http://schemas.microsoft.com/office/drawing/2014/main" id="{31E0882A-6D70-C4A3-5B94-1DFCCE4AB4E8}"/>
                  </a:ext>
                </a:extLst>
              </p:cNvPr>
              <p:cNvSpPr txBox="1"/>
              <p:nvPr/>
            </p:nvSpPr>
            <p:spPr>
              <a:xfrm>
                <a:off x="7292815" y="6344466"/>
                <a:ext cx="1632109"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Start of study to </a:t>
                </a:r>
                <a:r>
                  <a:rPr kumimoji="0" lang="en-US" sz="800" b="0" i="0" u="none" strike="noStrike" kern="1200" cap="none" spc="0" normalizeH="0" baseline="0" noProof="0" err="1">
                    <a:ln>
                      <a:noFill/>
                    </a:ln>
                    <a:solidFill>
                      <a:srgbClr val="000000"/>
                    </a:solidFill>
                    <a:effectLst/>
                    <a:uLnTx/>
                    <a:uFillTx/>
                    <a:latin typeface="Poppins"/>
                    <a:ea typeface="+mn-ea"/>
                    <a:cs typeface="+mn-cs"/>
                  </a:rPr>
                  <a:t>en</a:t>
                </a:r>
                <a:r>
                  <a:rPr lang="en-US" sz="800">
                    <a:solidFill>
                      <a:srgbClr val="000000"/>
                    </a:solidFill>
                    <a:latin typeface="Poppins"/>
                  </a:rPr>
                  <a:t>d/DRO</a:t>
                </a:r>
                <a:endParaRPr kumimoji="0" 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23" name="Arrow: Pentagon 22">
                <a:extLst>
                  <a:ext uri="{FF2B5EF4-FFF2-40B4-BE49-F238E27FC236}">
                    <a16:creationId xmlns:a16="http://schemas.microsoft.com/office/drawing/2014/main" id="{0E6A4E0D-D63F-9694-1880-F13BD7284475}"/>
                  </a:ext>
                </a:extLst>
              </p:cNvPr>
              <p:cNvSpPr/>
              <p:nvPr/>
            </p:nvSpPr>
            <p:spPr>
              <a:xfrm>
                <a:off x="7133798" y="6422147"/>
                <a:ext cx="182880" cy="182880"/>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algn="ctr"/>
                <a:endParaRPr lang="en-US">
                  <a:solidFill>
                    <a:schemeClr val="bg1"/>
                  </a:solidFill>
                </a:endParaRPr>
              </a:p>
            </p:txBody>
          </p:sp>
          <p:sp>
            <p:nvSpPr>
              <p:cNvPr id="24" name="Rectangle: Rounded Corners 23">
                <a:extLst>
                  <a:ext uri="{FF2B5EF4-FFF2-40B4-BE49-F238E27FC236}">
                    <a16:creationId xmlns:a16="http://schemas.microsoft.com/office/drawing/2014/main" id="{9F76D8AE-8C50-4E06-C102-3B0BBC0DD5D5}"/>
                  </a:ext>
                </a:extLst>
              </p:cNvPr>
              <p:cNvSpPr/>
              <p:nvPr/>
            </p:nvSpPr>
            <p:spPr>
              <a:xfrm>
                <a:off x="6686281" y="6365302"/>
                <a:ext cx="2924444" cy="28150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algn="ctr"/>
                <a:endParaRPr lang="en-US">
                  <a:solidFill>
                    <a:schemeClr val="bg1"/>
                  </a:solidFill>
                </a:endParaRPr>
              </a:p>
            </p:txBody>
          </p:sp>
        </p:grpSp>
      </p:grpSp>
      <p:grpSp>
        <p:nvGrpSpPr>
          <p:cNvPr id="25" name="Group 24">
            <a:extLst>
              <a:ext uri="{FF2B5EF4-FFF2-40B4-BE49-F238E27FC236}">
                <a16:creationId xmlns:a16="http://schemas.microsoft.com/office/drawing/2014/main" id="{7C204B2B-F10A-B6E2-FD03-D0FEF7E18BCE}"/>
              </a:ext>
            </a:extLst>
          </p:cNvPr>
          <p:cNvGrpSpPr/>
          <p:nvPr/>
        </p:nvGrpSpPr>
        <p:grpSpPr>
          <a:xfrm>
            <a:off x="6044154" y="6332843"/>
            <a:ext cx="2001488" cy="395710"/>
            <a:chOff x="9984926" y="1221638"/>
            <a:chExt cx="2001488" cy="395710"/>
          </a:xfrm>
        </p:grpSpPr>
        <p:sp>
          <p:nvSpPr>
            <p:cNvPr id="26" name="Rectangle 25">
              <a:extLst>
                <a:ext uri="{FF2B5EF4-FFF2-40B4-BE49-F238E27FC236}">
                  <a16:creationId xmlns:a16="http://schemas.microsoft.com/office/drawing/2014/main" id="{612CBEB1-DEC7-C848-70C3-0ABE5A854ECF}"/>
                </a:ext>
              </a:extLst>
            </p:cNvPr>
            <p:cNvSpPr/>
            <p:nvPr/>
          </p:nvSpPr>
          <p:spPr>
            <a:xfrm>
              <a:off x="10122616" y="1221638"/>
              <a:ext cx="1863798" cy="3957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800">
                  <a:solidFill>
                    <a:schemeClr val="tx1"/>
                  </a:solidFill>
                </a:rPr>
                <a:t>Click the </a:t>
              </a:r>
              <a:r>
                <a:rPr lang="en-US" sz="800" b="1">
                  <a:solidFill>
                    <a:schemeClr val="tx1"/>
                  </a:solidFill>
                </a:rPr>
                <a:t>gap  ID to return to gap overview</a:t>
              </a:r>
              <a:endParaRPr lang="en-US" sz="800">
                <a:solidFill>
                  <a:schemeClr val="tx1"/>
                </a:solidFill>
              </a:endParaRPr>
            </a:p>
          </p:txBody>
        </p:sp>
        <p:pic>
          <p:nvPicPr>
            <p:cNvPr id="27" name="Graphic 26" descr="Cursor with solid fill">
              <a:extLst>
                <a:ext uri="{FF2B5EF4-FFF2-40B4-BE49-F238E27FC236}">
                  <a16:creationId xmlns:a16="http://schemas.microsoft.com/office/drawing/2014/main" id="{BCFD1C81-E08B-F014-1041-8B928C317C5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984926" y="1302723"/>
              <a:ext cx="216000" cy="216000"/>
            </a:xfrm>
            <a:prstGeom prst="rect">
              <a:avLst/>
            </a:prstGeom>
          </p:spPr>
        </p:pic>
      </p:grpSp>
      <p:grpSp>
        <p:nvGrpSpPr>
          <p:cNvPr id="2" name="Group 1">
            <a:extLst>
              <a:ext uri="{FF2B5EF4-FFF2-40B4-BE49-F238E27FC236}">
                <a16:creationId xmlns:a16="http://schemas.microsoft.com/office/drawing/2014/main" id="{E313EA14-19DA-766C-9948-41C29DBD5E2D}"/>
              </a:ext>
            </a:extLst>
          </p:cNvPr>
          <p:cNvGrpSpPr/>
          <p:nvPr/>
        </p:nvGrpSpPr>
        <p:grpSpPr>
          <a:xfrm>
            <a:off x="362743" y="10216"/>
            <a:ext cx="10042505" cy="252000"/>
            <a:chOff x="362743" y="10216"/>
            <a:chExt cx="10042505" cy="252000"/>
          </a:xfrm>
        </p:grpSpPr>
        <p:sp>
          <p:nvSpPr>
            <p:cNvPr id="4" name="Pentagon 47">
              <a:extLst>
                <a:ext uri="{FF2B5EF4-FFF2-40B4-BE49-F238E27FC236}">
                  <a16:creationId xmlns:a16="http://schemas.microsoft.com/office/drawing/2014/main" id="{0F39A618-987F-2F90-3386-049F0AC9CF98}"/>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6" name="Chevron 48">
              <a:extLst>
                <a:ext uri="{FF2B5EF4-FFF2-40B4-BE49-F238E27FC236}">
                  <a16:creationId xmlns:a16="http://schemas.microsoft.com/office/drawing/2014/main" id="{1438C655-D053-07C6-2045-51006B583050}"/>
                </a:ext>
              </a:extLst>
            </p:cNvPr>
            <p:cNvSpPr/>
            <p:nvPr/>
          </p:nvSpPr>
          <p:spPr>
            <a:xfrm>
              <a:off x="5371087"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7" name="Chevron 52">
              <a:extLst>
                <a:ext uri="{FF2B5EF4-FFF2-40B4-BE49-F238E27FC236}">
                  <a16:creationId xmlns:a16="http://schemas.microsoft.com/office/drawing/2014/main" id="{C5E138F6-2E07-8D92-9813-F557F768C9E1}"/>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8" name="Chevron 54">
              <a:extLst>
                <a:ext uri="{FF2B5EF4-FFF2-40B4-BE49-F238E27FC236}">
                  <a16:creationId xmlns:a16="http://schemas.microsoft.com/office/drawing/2014/main" id="{ABC4382E-2E95-28F8-F0AD-356EAA993E34}"/>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9" name="Chevron 48">
              <a:extLst>
                <a:ext uri="{FF2B5EF4-FFF2-40B4-BE49-F238E27FC236}">
                  <a16:creationId xmlns:a16="http://schemas.microsoft.com/office/drawing/2014/main" id="{2133BF1E-3B6B-F477-F3F4-829F88A53F4F}"/>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1" name="Chevron 48">
              <a:extLst>
                <a:ext uri="{FF2B5EF4-FFF2-40B4-BE49-F238E27FC236}">
                  <a16:creationId xmlns:a16="http://schemas.microsoft.com/office/drawing/2014/main" id="{FFBA1FE3-37E1-8B16-6857-B240B572CF70}"/>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31047890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7D26D-8721-A929-1B10-FF21F91DEAEB}"/>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60E5714B-E945-D6FA-69D2-32A05B4A87A6}"/>
              </a:ext>
            </a:extLst>
          </p:cNvPr>
          <p:cNvGraphicFramePr>
            <a:graphicFrameLocks noGrp="1"/>
          </p:cNvGraphicFramePr>
          <p:nvPr>
            <p:extLst>
              <p:ext uri="{D42A27DB-BD31-4B8C-83A1-F6EECF244321}">
                <p14:modId xmlns:p14="http://schemas.microsoft.com/office/powerpoint/2010/main" val="2308010628"/>
              </p:ext>
            </p:extLst>
          </p:nvPr>
        </p:nvGraphicFramePr>
        <p:xfrm>
          <a:off x="360936" y="1361962"/>
          <a:ext cx="11467527" cy="4768699"/>
        </p:xfrm>
        <a:graphic>
          <a:graphicData uri="http://schemas.openxmlformats.org/drawingml/2006/table">
            <a:tbl>
              <a:tblPr bandRow="1">
                <a:tableStyleId>{5C22544A-7EE6-4342-B048-85BDC9FD1C3A}</a:tableStyleId>
              </a:tblPr>
              <a:tblGrid>
                <a:gridCol w="1843653">
                  <a:extLst>
                    <a:ext uri="{9D8B030D-6E8A-4147-A177-3AD203B41FA5}">
                      <a16:colId xmlns:a16="http://schemas.microsoft.com/office/drawing/2014/main" val="1362236069"/>
                    </a:ext>
                  </a:extLst>
                </a:gridCol>
                <a:gridCol w="2433853">
                  <a:extLst>
                    <a:ext uri="{9D8B030D-6E8A-4147-A177-3AD203B41FA5}">
                      <a16:colId xmlns:a16="http://schemas.microsoft.com/office/drawing/2014/main" val="366937182"/>
                    </a:ext>
                  </a:extLst>
                </a:gridCol>
                <a:gridCol w="3945189">
                  <a:extLst>
                    <a:ext uri="{9D8B030D-6E8A-4147-A177-3AD203B41FA5}">
                      <a16:colId xmlns:a16="http://schemas.microsoft.com/office/drawing/2014/main" val="3093558049"/>
                    </a:ext>
                  </a:extLst>
                </a:gridCol>
                <a:gridCol w="405604">
                  <a:extLst>
                    <a:ext uri="{9D8B030D-6E8A-4147-A177-3AD203B41FA5}">
                      <a16:colId xmlns:a16="http://schemas.microsoft.com/office/drawing/2014/main" val="320023064"/>
                    </a:ext>
                  </a:extLst>
                </a:gridCol>
                <a:gridCol w="405604">
                  <a:extLst>
                    <a:ext uri="{9D8B030D-6E8A-4147-A177-3AD203B41FA5}">
                      <a16:colId xmlns:a16="http://schemas.microsoft.com/office/drawing/2014/main" val="1426101900"/>
                    </a:ext>
                  </a:extLst>
                </a:gridCol>
                <a:gridCol w="405604">
                  <a:extLst>
                    <a:ext uri="{9D8B030D-6E8A-4147-A177-3AD203B41FA5}">
                      <a16:colId xmlns:a16="http://schemas.microsoft.com/office/drawing/2014/main" val="3689681127"/>
                    </a:ext>
                  </a:extLst>
                </a:gridCol>
                <a:gridCol w="405604">
                  <a:extLst>
                    <a:ext uri="{9D8B030D-6E8A-4147-A177-3AD203B41FA5}">
                      <a16:colId xmlns:a16="http://schemas.microsoft.com/office/drawing/2014/main" val="2083152798"/>
                    </a:ext>
                  </a:extLst>
                </a:gridCol>
                <a:gridCol w="405604">
                  <a:extLst>
                    <a:ext uri="{9D8B030D-6E8A-4147-A177-3AD203B41FA5}">
                      <a16:colId xmlns:a16="http://schemas.microsoft.com/office/drawing/2014/main" val="3966416640"/>
                    </a:ext>
                  </a:extLst>
                </a:gridCol>
                <a:gridCol w="405604">
                  <a:extLst>
                    <a:ext uri="{9D8B030D-6E8A-4147-A177-3AD203B41FA5}">
                      <a16:colId xmlns:a16="http://schemas.microsoft.com/office/drawing/2014/main" val="3189174259"/>
                    </a:ext>
                  </a:extLst>
                </a:gridCol>
                <a:gridCol w="405604">
                  <a:extLst>
                    <a:ext uri="{9D8B030D-6E8A-4147-A177-3AD203B41FA5}">
                      <a16:colId xmlns:a16="http://schemas.microsoft.com/office/drawing/2014/main" val="2611606897"/>
                    </a:ext>
                  </a:extLst>
                </a:gridCol>
                <a:gridCol w="405604">
                  <a:extLst>
                    <a:ext uri="{9D8B030D-6E8A-4147-A177-3AD203B41FA5}">
                      <a16:colId xmlns:a16="http://schemas.microsoft.com/office/drawing/2014/main" val="1076578594"/>
                    </a:ext>
                  </a:extLst>
                </a:gridCol>
              </a:tblGrid>
              <a:tr h="0">
                <a:tc rowSpan="2">
                  <a:txBody>
                    <a:bodyPr/>
                    <a:lstStyle/>
                    <a:p>
                      <a:pPr algn="ctr">
                        <a:spcBef>
                          <a:spcPts val="300"/>
                        </a:spcBef>
                      </a:pPr>
                      <a:r>
                        <a:rPr lang="en-US" sz="1200" b="1" i="0">
                          <a:solidFill>
                            <a:schemeClr val="bg1"/>
                          </a:solidFill>
                          <a:latin typeface="+mn-lt"/>
                          <a:cs typeface="Poppins" pitchFamily="2" charset="77"/>
                        </a:rPr>
                        <a:t>Tactic</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algn="ctr">
                        <a:spcBef>
                          <a:spcPts val="300"/>
                        </a:spcBef>
                      </a:pPr>
                      <a:r>
                        <a:rPr lang="en-US" sz="1200" b="1" i="0">
                          <a:solidFill>
                            <a:schemeClr val="bg1"/>
                          </a:solidFill>
                          <a:latin typeface="+mn-lt"/>
                          <a:cs typeface="Poppins" pitchFamily="2" charset="77"/>
                        </a:rPr>
                        <a:t>Gaps addressed</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lang="en-US" sz="1200" b="1" i="0">
                          <a:solidFill>
                            <a:schemeClr val="bg1"/>
                          </a:solidFill>
                          <a:latin typeface="+mn-lt"/>
                          <a:cs typeface="Poppins" pitchFamily="2" charset="77"/>
                        </a:rPr>
                        <a:t>Rationale and design considerations</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gridSpan="8">
                  <a:txBody>
                    <a:bodyPr/>
                    <a:lstStyle/>
                    <a:p>
                      <a:pPr algn="ctr">
                        <a:spcBef>
                          <a:spcPts val="300"/>
                        </a:spcBef>
                      </a:pPr>
                      <a:r>
                        <a:rPr lang="en-US" sz="1200" b="1" i="0">
                          <a:solidFill>
                            <a:schemeClr val="bg1"/>
                          </a:solidFill>
                          <a:latin typeface="+mn-lt"/>
                          <a:cs typeface="Poppins" pitchFamily="2" charset="77"/>
                        </a:rPr>
                        <a:t>Timing</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pPr algn="ctr">
                        <a:spcBef>
                          <a:spcPts val="300"/>
                        </a:spcBef>
                      </a:pP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2323510155"/>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spcBef>
                          <a:spcPts val="300"/>
                        </a:spcBef>
                      </a:pPr>
                      <a:r>
                        <a:rPr lang="en-US" sz="1000" b="1" i="0">
                          <a:solidFill>
                            <a:schemeClr val="bg1"/>
                          </a:solidFill>
                          <a:latin typeface="+mn-lt"/>
                          <a:cs typeface="Poppins" pitchFamily="2" charset="77"/>
                        </a:rPr>
                        <a:t>2026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2027</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2028</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2029</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2030</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2031</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2032</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2033+</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1184289703"/>
                  </a:ext>
                </a:extLst>
              </a:tr>
              <a:tr h="1823328">
                <a:tc>
                  <a:txBody>
                    <a:bodyPr/>
                    <a:lstStyle/>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r>
                        <a:rPr lang="en-US" sz="1000" b="0" i="0" strike="noStrike">
                          <a:solidFill>
                            <a:schemeClr val="tx1"/>
                          </a:solidFill>
                          <a:latin typeface="+mn-lt"/>
                          <a:cs typeface="Poppins"/>
                        </a:rPr>
                        <a:t>8. Natural history, prognosis, and treatment outcomes in MTAP-del NSCLC</a:t>
                      </a:r>
                    </a:p>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endParaRPr lang="en-US" sz="1000" b="0" i="0" strike="noStrike">
                        <a:solidFill>
                          <a:schemeClr val="tx1"/>
                        </a:solidFill>
                        <a:latin typeface="+mn-lt"/>
                        <a:cs typeface="Poppins"/>
                      </a:endParaRPr>
                    </a:p>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r>
                        <a:rPr lang="en-US" sz="1000" b="1" i="0" strike="noStrike">
                          <a:solidFill>
                            <a:schemeClr val="tx1"/>
                          </a:solidFill>
                          <a:latin typeface="+mn-lt"/>
                          <a:cs typeface="Poppins"/>
                        </a:rPr>
                        <a:t>Lead: </a:t>
                      </a:r>
                      <a:r>
                        <a:rPr lang="en-US" sz="1000" b="0" i="0" strike="noStrike">
                          <a:solidFill>
                            <a:schemeClr val="tx1"/>
                          </a:solidFill>
                          <a:latin typeface="+mn-lt"/>
                          <a:cs typeface="Poppins"/>
                        </a:rPr>
                        <a:t>HEOR</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3EFFF"/>
                    </a:solidFill>
                  </a:tcPr>
                </a:tc>
                <a:tc>
                  <a:txBody>
                    <a:bodyPr/>
                    <a:lstStyle/>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1" i="0" strike="noStrike">
                          <a:solidFill>
                            <a:schemeClr val="tx1"/>
                          </a:solidFill>
                          <a:latin typeface="+mn-lt"/>
                          <a:cs typeface="Poppins"/>
                          <a:hlinkClick r:id="rId4" action="ppaction://hlinksldjump">
                            <a:extLst>
                              <a:ext uri="{A12FA001-AC4F-418D-AE19-62706E023703}">
                                <ahyp:hlinkClr xmlns:ahyp="http://schemas.microsoft.com/office/drawing/2018/hyperlinkcolor" val="tx"/>
                              </a:ext>
                            </a:extLst>
                          </a:hlinkClick>
                        </a:rPr>
                        <a:t>NSCLC_HI_01</a:t>
                      </a:r>
                      <a:r>
                        <a:rPr lang="en-US" sz="1000" b="0" i="0" strike="noStrike">
                          <a:solidFill>
                            <a:schemeClr val="tx1"/>
                          </a:solidFill>
                          <a:latin typeface="+mn-lt"/>
                          <a:cs typeface="Poppins"/>
                        </a:rPr>
                        <a:t>: Characterization of the natural history, prognosis, and treatment outcomes of MTAP-deleted NSCLC across LoTs</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mn-lt"/>
                          <a:cs typeface="Poppins"/>
                        </a:rPr>
                        <a:t>Design considerations:</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a:rPr>
                        <a:t>Treatment outcomes across emerging SoC can be incorporated into a living review to enable regular updates upon new data availability</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a:rPr>
                        <a:t>SLR can be further enriched by the post-hoc analysis under HI_01</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a:rPr>
                        <a:t>Evidence crucial for demonstrating unmet need in MTAP-del NSCLC</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74479344"/>
                  </a:ext>
                </a:extLst>
              </a:tr>
              <a:tr h="2516491">
                <a:tc>
                  <a:txBody>
                    <a:bodyPr/>
                    <a:lstStyle/>
                    <a:p>
                      <a:pPr marL="0" indent="0" algn="l">
                        <a:spcBef>
                          <a:spcPts val="300"/>
                        </a:spcBef>
                        <a:buFont typeface="Arial" panose="020B0604020202020204" pitchFamily="34" charset="0"/>
                        <a:buNone/>
                      </a:pPr>
                      <a:r>
                        <a:rPr lang="en-US" sz="1000" b="0" i="0" strike="noStrike">
                          <a:solidFill>
                            <a:schemeClr val="tx1"/>
                          </a:solidFill>
                          <a:latin typeface="+mn-lt"/>
                          <a:cs typeface="Poppins"/>
                        </a:rPr>
                        <a:t>9. Efficacy, safety, and QoL/value data of relevant SoC and  emerging MTA-cooperative PRMT5i</a:t>
                      </a:r>
                    </a:p>
                    <a:p>
                      <a:pPr marL="0" indent="0" algn="l">
                        <a:spcBef>
                          <a:spcPts val="300"/>
                        </a:spcBef>
                        <a:buFont typeface="Arial" panose="020B0604020202020204" pitchFamily="34" charset="0"/>
                        <a:buNone/>
                      </a:pPr>
                      <a:endParaRPr lang="en-US" sz="1000" b="0" i="0" strike="noStrike">
                        <a:solidFill>
                          <a:schemeClr val="tx1"/>
                        </a:solidFill>
                        <a:latin typeface="+mn-lt"/>
                        <a:cs typeface="Poppins"/>
                      </a:endParaRPr>
                    </a:p>
                    <a:p>
                      <a:pPr algn="l">
                        <a:spcBef>
                          <a:spcPts val="300"/>
                        </a:spcBef>
                      </a:pPr>
                      <a:r>
                        <a:rPr lang="en-US" sz="1000" b="1" i="0" strike="noStrike">
                          <a:solidFill>
                            <a:schemeClr val="tx1"/>
                          </a:solidFill>
                          <a:latin typeface="+mn-lt"/>
                          <a:cs typeface="Poppins"/>
                        </a:rPr>
                        <a:t>Lead: </a:t>
                      </a:r>
                      <a:r>
                        <a:rPr lang="en-US" sz="1000" b="0" i="0" strike="noStrike">
                          <a:solidFill>
                            <a:schemeClr val="tx1"/>
                          </a:solidFill>
                          <a:latin typeface="+mn-lt"/>
                          <a:cs typeface="Poppins"/>
                        </a:rPr>
                        <a:t>HEOR</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1" i="0" strike="noStrike">
                          <a:solidFill>
                            <a:schemeClr val="tx1"/>
                          </a:solidFill>
                          <a:latin typeface="+mn-lt"/>
                          <a:cs typeface="Poppins"/>
                          <a:hlinkClick r:id="rId5" action="ppaction://hlinksldjump">
                            <a:extLst>
                              <a:ext uri="{A12FA001-AC4F-418D-AE19-62706E023703}">
                                <ahyp:hlinkClr xmlns:ahyp="http://schemas.microsoft.com/office/drawing/2018/hyperlinkcolor" val="tx"/>
                              </a:ext>
                            </a:extLst>
                          </a:hlinkClick>
                        </a:rPr>
                        <a:t>NSCLC_HI_05</a:t>
                      </a:r>
                      <a:r>
                        <a:rPr lang="en-US" sz="1000" b="1" i="0" strike="noStrike">
                          <a:solidFill>
                            <a:schemeClr val="tx1"/>
                          </a:solidFill>
                          <a:latin typeface="+mn-lt"/>
                          <a:cs typeface="Poppins"/>
                        </a:rPr>
                        <a:t>: </a:t>
                      </a:r>
                      <a:r>
                        <a:rPr lang="en-US" sz="1000" b="0" i="0" strike="noStrike">
                          <a:solidFill>
                            <a:schemeClr val="tx1"/>
                          </a:solidFill>
                        </a:rPr>
                        <a:t>BGB-58067's efficacy and toxicity profile in MTAP-del population compared to emerging MTA-cooperative PRMT5i and other potential SoC</a:t>
                      </a:r>
                      <a:endParaRPr lang="en-US" sz="500" b="0" i="0" strike="noStrike">
                        <a:solidFill>
                          <a:schemeClr val="tx1"/>
                        </a:solidFill>
                        <a:latin typeface="+mn-lt"/>
                        <a:cs typeface="Poppins"/>
                      </a:endParaRP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mn-lt"/>
                          <a:cs typeface="Poppins"/>
                        </a:rPr>
                        <a:t>Design considerations:</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a:rPr>
                        <a:t>Emerging SoC and PRMT5i data can be incorporated into a living review to enable regular updates upon new data availability</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a:rPr>
                        <a:t>SLR to feed directly into an unanchored MAIC/STC model</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195660211"/>
                  </a:ext>
                </a:extLst>
              </a:tr>
            </a:tbl>
          </a:graphicData>
        </a:graphic>
      </p:graphicFrame>
      <p:graphicFrame>
        <p:nvGraphicFramePr>
          <p:cNvPr id="5" name="think-cell data - do not delete" hidden="1">
            <a:extLst>
              <a:ext uri="{FF2B5EF4-FFF2-40B4-BE49-F238E27FC236}">
                <a16:creationId xmlns:a16="http://schemas.microsoft.com/office/drawing/2014/main" id="{45B771A7-D6C2-05C7-1600-F5D546EEDE78}"/>
              </a:ext>
            </a:extLst>
          </p:cNvPr>
          <p:cNvGraphicFramePr>
            <a:graphicFrameLocks/>
          </p:cNvGraphicFramePr>
          <p:nvPr>
            <p:custDataLst>
              <p:tags r:id="rId1"/>
            </p:custDataLst>
            <p:extLst>
              <p:ext uri="{D42A27DB-BD31-4B8C-83A1-F6EECF244321}">
                <p14:modId xmlns:p14="http://schemas.microsoft.com/office/powerpoint/2010/main" val="5082097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6" progId="TCLayout.ActiveDocument.1">
                  <p:embed/>
                </p:oleObj>
              </mc:Choice>
              <mc:Fallback>
                <p:oleObj name="think-cell Slide" r:id="rId6" imgW="395" imgH="396" progId="TCLayout.ActiveDocument.1">
                  <p:embed/>
                  <p:pic>
                    <p:nvPicPr>
                      <p:cNvPr id="5" name="think-cell data - do not delete" hidden="1">
                        <a:extLst>
                          <a:ext uri="{FF2B5EF4-FFF2-40B4-BE49-F238E27FC236}">
                            <a16:creationId xmlns:a16="http://schemas.microsoft.com/office/drawing/2014/main" id="{45B771A7-D6C2-05C7-1600-F5D546EEDE7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0" name="Title 19">
            <a:extLst>
              <a:ext uri="{FF2B5EF4-FFF2-40B4-BE49-F238E27FC236}">
                <a16:creationId xmlns:a16="http://schemas.microsoft.com/office/drawing/2014/main" id="{B8884AC1-9483-EDF5-E3D5-3BBF6EF60C6E}"/>
              </a:ext>
            </a:extLst>
          </p:cNvPr>
          <p:cNvSpPr>
            <a:spLocks noGrp="1"/>
          </p:cNvSpPr>
          <p:nvPr>
            <p:ph type="title"/>
          </p:nvPr>
        </p:nvSpPr>
        <p:spPr>
          <a:xfrm>
            <a:off x="358337" y="338328"/>
            <a:ext cx="11470125" cy="738664"/>
          </a:xfrm>
        </p:spPr>
        <p:txBody>
          <a:bodyPr vert="horz" rIns="0">
            <a:spAutoFit/>
          </a:bodyPr>
          <a:lstStyle/>
          <a:p>
            <a:r>
              <a:rPr lang="en-US" sz="2400"/>
              <a:t>Two distinct </a:t>
            </a:r>
            <a:r>
              <a:rPr lang="en-US" sz="2400" b="1">
                <a:solidFill>
                  <a:schemeClr val="accent4">
                    <a:lumMod val="60000"/>
                    <a:lumOff val="40000"/>
                  </a:schemeClr>
                </a:solidFill>
              </a:rPr>
              <a:t>SLRs</a:t>
            </a:r>
            <a:r>
              <a:rPr lang="en-US" sz="2400"/>
              <a:t> establish the evidence foundation to inform unmet need and comparative benefit assessments</a:t>
            </a:r>
            <a:endParaRPr lang="en-US" sz="2400">
              <a:highlight>
                <a:srgbClr val="FFFF00"/>
              </a:highlight>
            </a:endParaRPr>
          </a:p>
        </p:txBody>
      </p:sp>
      <p:sp>
        <p:nvSpPr>
          <p:cNvPr id="4" name="Arrow: Pentagon 3">
            <a:extLst>
              <a:ext uri="{FF2B5EF4-FFF2-40B4-BE49-F238E27FC236}">
                <a16:creationId xmlns:a16="http://schemas.microsoft.com/office/drawing/2014/main" id="{05823B3E-8FB4-3FD9-E336-A26DF16F4B7D}"/>
              </a:ext>
            </a:extLst>
          </p:cNvPr>
          <p:cNvSpPr/>
          <p:nvPr/>
        </p:nvSpPr>
        <p:spPr>
          <a:xfrm>
            <a:off x="8780082" y="2635086"/>
            <a:ext cx="514351" cy="388620"/>
          </a:xfrm>
          <a:prstGeom prst="homePlate">
            <a:avLst/>
          </a:prstGeom>
          <a:solidFill>
            <a:srgbClr val="B3EFFF"/>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8" name="Arrow: Pentagon 7">
            <a:extLst>
              <a:ext uri="{FF2B5EF4-FFF2-40B4-BE49-F238E27FC236}">
                <a16:creationId xmlns:a16="http://schemas.microsoft.com/office/drawing/2014/main" id="{7840DB5A-97DE-0FB4-00F8-E08A1D48E108}"/>
              </a:ext>
            </a:extLst>
          </p:cNvPr>
          <p:cNvSpPr/>
          <p:nvPr/>
        </p:nvSpPr>
        <p:spPr>
          <a:xfrm>
            <a:off x="8780083" y="4898745"/>
            <a:ext cx="514351" cy="388620"/>
          </a:xfrm>
          <a:prstGeom prst="homePlate">
            <a:avLst/>
          </a:prstGeom>
          <a:solidFill>
            <a:srgbClr val="B3EFFF"/>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15" name="Footer Placeholder 2">
            <a:extLst>
              <a:ext uri="{FF2B5EF4-FFF2-40B4-BE49-F238E27FC236}">
                <a16:creationId xmlns:a16="http://schemas.microsoft.com/office/drawing/2014/main" id="{D6843268-079D-EA14-7FBD-5B1766A82FBD}"/>
              </a:ext>
            </a:extLst>
          </p:cNvPr>
          <p:cNvSpPr>
            <a:spLocks noGrp="1"/>
          </p:cNvSpPr>
          <p:nvPr>
            <p:ph type="ftr" sz="quarter" idx="10"/>
          </p:nvPr>
        </p:nvSpPr>
        <p:spPr>
          <a:xfrm>
            <a:off x="328864" y="6275655"/>
            <a:ext cx="5681293" cy="526584"/>
          </a:xfrm>
        </p:spPr>
        <p:txBody>
          <a:bodyPr/>
          <a:lstStyle/>
          <a:p>
            <a:pPr>
              <a:defRPr/>
            </a:pPr>
            <a:r>
              <a:rPr lang="en-US">
                <a:solidFill>
                  <a:srgbClr val="000000">
                    <a:lumMod val="65000"/>
                    <a:lumOff val="35000"/>
                  </a:srgbClr>
                </a:solidFill>
              </a:rPr>
              <a:t>Abbreviations: </a:t>
            </a:r>
            <a:r>
              <a:rPr lang="en-US"/>
              <a:t>HEOR: Health Economics and Outcomes Research; HI: High Priority; LoTs: Lines of Therapy; MAIC: Matching-Adjusted Indirect Comparison; MTA: Methylthioadenosine; MTAP-del: Methylthioadenosine Phosphorylase-deleted; NSCLC: Non-Small Cell Lung Cancer; PRMT5i: Protein Arginine Methyltransferase 5 Inhibitor; QoL: Quality of Life; SLR: Systematic Literature Review; SoC: Standard of Care; STC: Simulated Treatment Comparison</a:t>
            </a:r>
          </a:p>
        </p:txBody>
      </p:sp>
      <p:sp>
        <p:nvSpPr>
          <p:cNvPr id="16" name="Rectangle 15">
            <a:extLst>
              <a:ext uri="{FF2B5EF4-FFF2-40B4-BE49-F238E27FC236}">
                <a16:creationId xmlns:a16="http://schemas.microsoft.com/office/drawing/2014/main" id="{D3209A3E-CB77-871A-6252-1E65D92ACBDB}"/>
              </a:ext>
            </a:extLst>
          </p:cNvPr>
          <p:cNvSpPr/>
          <p:nvPr/>
        </p:nvSpPr>
        <p:spPr>
          <a:xfrm>
            <a:off x="8765796" y="6280266"/>
            <a:ext cx="2242113" cy="3342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92500" lnSpcReduction="10000"/>
          </a:bodyPr>
          <a:lstStyle/>
          <a:p>
            <a:pPr algn="ctr"/>
            <a:endParaRPr lang="en-US" err="1">
              <a:solidFill>
                <a:schemeClr val="bg1"/>
              </a:solidFill>
            </a:endParaRPr>
          </a:p>
        </p:txBody>
      </p:sp>
      <p:grpSp>
        <p:nvGrpSpPr>
          <p:cNvPr id="17" name="Group 16">
            <a:extLst>
              <a:ext uri="{FF2B5EF4-FFF2-40B4-BE49-F238E27FC236}">
                <a16:creationId xmlns:a16="http://schemas.microsoft.com/office/drawing/2014/main" id="{5329E7F1-A488-466C-0249-F424F3DC91CD}"/>
              </a:ext>
            </a:extLst>
          </p:cNvPr>
          <p:cNvGrpSpPr/>
          <p:nvPr/>
        </p:nvGrpSpPr>
        <p:grpSpPr>
          <a:xfrm>
            <a:off x="8025100" y="6327114"/>
            <a:ext cx="3279572" cy="319473"/>
            <a:chOff x="8676947" y="6306366"/>
            <a:chExt cx="3279572" cy="319473"/>
          </a:xfrm>
        </p:grpSpPr>
        <p:sp>
          <p:nvSpPr>
            <p:cNvPr id="18" name="TextBox 17">
              <a:extLst>
                <a:ext uri="{FF2B5EF4-FFF2-40B4-BE49-F238E27FC236}">
                  <a16:creationId xmlns:a16="http://schemas.microsoft.com/office/drawing/2014/main" id="{A4F6B46B-DF6F-A8DC-0089-E050170E4F53}"/>
                </a:ext>
              </a:extLst>
            </p:cNvPr>
            <p:cNvSpPr txBox="1"/>
            <p:nvPr/>
          </p:nvSpPr>
          <p:spPr>
            <a:xfrm>
              <a:off x="8676947" y="6318062"/>
              <a:ext cx="470764" cy="307777"/>
            </a:xfrm>
            <a:prstGeom prst="rect">
              <a:avLst/>
            </a:prstGeom>
            <a:noFill/>
          </p:spPr>
          <p:txBody>
            <a:bodyPr wrap="square" lIns="91440" tIns="91440" rIns="91440" bIns="91440"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Poppins"/>
                  <a:ea typeface="+mn-ea"/>
                  <a:cs typeface="+mn-cs"/>
                </a:rPr>
                <a:t>Key:</a:t>
              </a:r>
            </a:p>
          </p:txBody>
        </p:sp>
        <p:grpSp>
          <p:nvGrpSpPr>
            <p:cNvPr id="19" name="Group 18">
              <a:extLst>
                <a:ext uri="{FF2B5EF4-FFF2-40B4-BE49-F238E27FC236}">
                  <a16:creationId xmlns:a16="http://schemas.microsoft.com/office/drawing/2014/main" id="{5718FCC7-76D4-E45E-105A-C2A6E257E2D2}"/>
                </a:ext>
              </a:extLst>
            </p:cNvPr>
            <p:cNvGrpSpPr/>
            <p:nvPr/>
          </p:nvGrpSpPr>
          <p:grpSpPr>
            <a:xfrm>
              <a:off x="8743681" y="6306366"/>
              <a:ext cx="3212838" cy="307777"/>
              <a:chOff x="6686281" y="6344466"/>
              <a:chExt cx="3212838" cy="307777"/>
            </a:xfrm>
          </p:grpSpPr>
          <p:sp>
            <p:nvSpPr>
              <p:cNvPr id="24" name="Diamond 23">
                <a:extLst>
                  <a:ext uri="{FF2B5EF4-FFF2-40B4-BE49-F238E27FC236}">
                    <a16:creationId xmlns:a16="http://schemas.microsoft.com/office/drawing/2014/main" id="{433394BC-7A89-81EC-DB1E-939BEA60C0E0}"/>
                  </a:ext>
                </a:extLst>
              </p:cNvPr>
              <p:cNvSpPr/>
              <p:nvPr/>
            </p:nvSpPr>
            <p:spPr>
              <a:xfrm>
                <a:off x="8778716" y="6409851"/>
                <a:ext cx="175330" cy="177007"/>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25" name="TextBox 24">
                <a:extLst>
                  <a:ext uri="{FF2B5EF4-FFF2-40B4-BE49-F238E27FC236}">
                    <a16:creationId xmlns:a16="http://schemas.microsoft.com/office/drawing/2014/main" id="{4A6C03F0-690E-F43D-1967-D99784D7EDFC}"/>
                  </a:ext>
                </a:extLst>
              </p:cNvPr>
              <p:cNvSpPr txBox="1"/>
              <p:nvPr/>
            </p:nvSpPr>
            <p:spPr>
              <a:xfrm>
                <a:off x="8910524" y="6344466"/>
                <a:ext cx="988595"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Milestone</a:t>
                </a:r>
              </a:p>
            </p:txBody>
          </p:sp>
          <p:sp>
            <p:nvSpPr>
              <p:cNvPr id="26" name="TextBox 25">
                <a:extLst>
                  <a:ext uri="{FF2B5EF4-FFF2-40B4-BE49-F238E27FC236}">
                    <a16:creationId xmlns:a16="http://schemas.microsoft.com/office/drawing/2014/main" id="{7E1320E1-C965-DE29-3C8D-E9569F406A8F}"/>
                  </a:ext>
                </a:extLst>
              </p:cNvPr>
              <p:cNvSpPr txBox="1"/>
              <p:nvPr/>
            </p:nvSpPr>
            <p:spPr>
              <a:xfrm>
                <a:off x="7292815" y="6344466"/>
                <a:ext cx="1632109"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Start of study to en</a:t>
                </a:r>
                <a:r>
                  <a:rPr lang="en-US" sz="800">
                    <a:solidFill>
                      <a:srgbClr val="000000"/>
                    </a:solidFill>
                    <a:latin typeface="Poppins"/>
                  </a:rPr>
                  <a:t>d/DRO</a:t>
                </a:r>
                <a:endParaRPr kumimoji="0" 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35" name="Arrow: Pentagon 34">
                <a:extLst>
                  <a:ext uri="{FF2B5EF4-FFF2-40B4-BE49-F238E27FC236}">
                    <a16:creationId xmlns:a16="http://schemas.microsoft.com/office/drawing/2014/main" id="{3464D7E8-F4A4-0ED9-C019-14D775875562}"/>
                  </a:ext>
                </a:extLst>
              </p:cNvPr>
              <p:cNvSpPr/>
              <p:nvPr/>
            </p:nvSpPr>
            <p:spPr>
              <a:xfrm>
                <a:off x="7133798" y="6422147"/>
                <a:ext cx="182880" cy="182880"/>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algn="ctr"/>
                <a:endParaRPr lang="en-US">
                  <a:solidFill>
                    <a:schemeClr val="bg1"/>
                  </a:solidFill>
                </a:endParaRPr>
              </a:p>
            </p:txBody>
          </p:sp>
          <p:sp>
            <p:nvSpPr>
              <p:cNvPr id="36" name="Rectangle: Rounded Corners 35">
                <a:extLst>
                  <a:ext uri="{FF2B5EF4-FFF2-40B4-BE49-F238E27FC236}">
                    <a16:creationId xmlns:a16="http://schemas.microsoft.com/office/drawing/2014/main" id="{14401F4E-C01F-1FB2-4F06-F12CF5EAAAAA}"/>
                  </a:ext>
                </a:extLst>
              </p:cNvPr>
              <p:cNvSpPr/>
              <p:nvPr/>
            </p:nvSpPr>
            <p:spPr>
              <a:xfrm>
                <a:off x="6686281" y="6365302"/>
                <a:ext cx="2924444" cy="28150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algn="ctr"/>
                <a:endParaRPr lang="en-US">
                  <a:solidFill>
                    <a:schemeClr val="bg1"/>
                  </a:solidFill>
                </a:endParaRPr>
              </a:p>
            </p:txBody>
          </p:sp>
        </p:grpSp>
      </p:grpSp>
      <p:grpSp>
        <p:nvGrpSpPr>
          <p:cNvPr id="37" name="Group 36">
            <a:extLst>
              <a:ext uri="{FF2B5EF4-FFF2-40B4-BE49-F238E27FC236}">
                <a16:creationId xmlns:a16="http://schemas.microsoft.com/office/drawing/2014/main" id="{39BF7DDB-828F-249A-9550-5F04ED6ECA0D}"/>
              </a:ext>
            </a:extLst>
          </p:cNvPr>
          <p:cNvGrpSpPr/>
          <p:nvPr/>
        </p:nvGrpSpPr>
        <p:grpSpPr>
          <a:xfrm>
            <a:off x="6044154" y="6332843"/>
            <a:ext cx="2001488" cy="395710"/>
            <a:chOff x="9984926" y="1221638"/>
            <a:chExt cx="2001488" cy="395710"/>
          </a:xfrm>
        </p:grpSpPr>
        <p:sp>
          <p:nvSpPr>
            <p:cNvPr id="38" name="Rectangle 37">
              <a:extLst>
                <a:ext uri="{FF2B5EF4-FFF2-40B4-BE49-F238E27FC236}">
                  <a16:creationId xmlns:a16="http://schemas.microsoft.com/office/drawing/2014/main" id="{167AC797-6D00-4FE8-0634-8603E880A195}"/>
                </a:ext>
              </a:extLst>
            </p:cNvPr>
            <p:cNvSpPr/>
            <p:nvPr/>
          </p:nvSpPr>
          <p:spPr>
            <a:xfrm>
              <a:off x="10122616" y="1221638"/>
              <a:ext cx="1863798" cy="3957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800">
                  <a:solidFill>
                    <a:schemeClr val="tx1"/>
                  </a:solidFill>
                </a:rPr>
                <a:t>Click the </a:t>
              </a:r>
              <a:r>
                <a:rPr lang="en-US" sz="800" b="1">
                  <a:solidFill>
                    <a:schemeClr val="tx1"/>
                  </a:solidFill>
                </a:rPr>
                <a:t>gap  ID to return to gap overview</a:t>
              </a:r>
              <a:endParaRPr lang="en-US" sz="800">
                <a:solidFill>
                  <a:schemeClr val="tx1"/>
                </a:solidFill>
              </a:endParaRPr>
            </a:p>
          </p:txBody>
        </p:sp>
        <p:pic>
          <p:nvPicPr>
            <p:cNvPr id="39" name="Graphic 38" descr="Cursor with solid fill">
              <a:extLst>
                <a:ext uri="{FF2B5EF4-FFF2-40B4-BE49-F238E27FC236}">
                  <a16:creationId xmlns:a16="http://schemas.microsoft.com/office/drawing/2014/main" id="{5E47F00C-27E4-E1C5-3931-64ADCFB7BC2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984926" y="1302723"/>
              <a:ext cx="216000" cy="216000"/>
            </a:xfrm>
            <a:prstGeom prst="rect">
              <a:avLst/>
            </a:prstGeom>
          </p:spPr>
        </p:pic>
      </p:grpSp>
      <p:grpSp>
        <p:nvGrpSpPr>
          <p:cNvPr id="2" name="Group 1">
            <a:extLst>
              <a:ext uri="{FF2B5EF4-FFF2-40B4-BE49-F238E27FC236}">
                <a16:creationId xmlns:a16="http://schemas.microsoft.com/office/drawing/2014/main" id="{BFC6E489-2DCD-8C56-9394-3ACECAFE529E}"/>
              </a:ext>
            </a:extLst>
          </p:cNvPr>
          <p:cNvGrpSpPr/>
          <p:nvPr/>
        </p:nvGrpSpPr>
        <p:grpSpPr>
          <a:xfrm>
            <a:off x="362743" y="10216"/>
            <a:ext cx="10042505" cy="252000"/>
            <a:chOff x="362743" y="10216"/>
            <a:chExt cx="10042505" cy="252000"/>
          </a:xfrm>
        </p:grpSpPr>
        <p:sp>
          <p:nvSpPr>
            <p:cNvPr id="6" name="Pentagon 47">
              <a:extLst>
                <a:ext uri="{FF2B5EF4-FFF2-40B4-BE49-F238E27FC236}">
                  <a16:creationId xmlns:a16="http://schemas.microsoft.com/office/drawing/2014/main" id="{FA6EBCE3-2B43-AFC1-E87E-2951646BB662}"/>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7" name="Chevron 48">
              <a:extLst>
                <a:ext uri="{FF2B5EF4-FFF2-40B4-BE49-F238E27FC236}">
                  <a16:creationId xmlns:a16="http://schemas.microsoft.com/office/drawing/2014/main" id="{CB2872ED-1BE3-939C-FA62-0A43501D4559}"/>
                </a:ext>
              </a:extLst>
            </p:cNvPr>
            <p:cNvSpPr/>
            <p:nvPr/>
          </p:nvSpPr>
          <p:spPr>
            <a:xfrm>
              <a:off x="5371087"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9" name="Chevron 52">
              <a:extLst>
                <a:ext uri="{FF2B5EF4-FFF2-40B4-BE49-F238E27FC236}">
                  <a16:creationId xmlns:a16="http://schemas.microsoft.com/office/drawing/2014/main" id="{72C47EE5-7F72-6268-91E4-0A46CBE0ED16}"/>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10" name="Chevron 54">
              <a:extLst>
                <a:ext uri="{FF2B5EF4-FFF2-40B4-BE49-F238E27FC236}">
                  <a16:creationId xmlns:a16="http://schemas.microsoft.com/office/drawing/2014/main" id="{8790FFC0-045D-65E5-9A35-C5F324D61692}"/>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1" name="Chevron 48">
              <a:extLst>
                <a:ext uri="{FF2B5EF4-FFF2-40B4-BE49-F238E27FC236}">
                  <a16:creationId xmlns:a16="http://schemas.microsoft.com/office/drawing/2014/main" id="{A884821A-614E-BB1C-0ACA-93A7CD3F782E}"/>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3" name="Chevron 48">
              <a:extLst>
                <a:ext uri="{FF2B5EF4-FFF2-40B4-BE49-F238E27FC236}">
                  <a16:creationId xmlns:a16="http://schemas.microsoft.com/office/drawing/2014/main" id="{2624BA8A-76A8-5A62-B93F-38BA846FED49}"/>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29741458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651D5-0A1B-B4E1-8E25-0F68FC65C77A}"/>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55C959F2-C26F-C830-DA35-149BF4C8E29F}"/>
              </a:ext>
            </a:extLst>
          </p:cNvPr>
          <p:cNvGraphicFramePr>
            <a:graphicFrameLocks noGrp="1"/>
          </p:cNvGraphicFramePr>
          <p:nvPr>
            <p:extLst>
              <p:ext uri="{D42A27DB-BD31-4B8C-83A1-F6EECF244321}">
                <p14:modId xmlns:p14="http://schemas.microsoft.com/office/powerpoint/2010/main" val="1283193325"/>
              </p:ext>
            </p:extLst>
          </p:nvPr>
        </p:nvGraphicFramePr>
        <p:xfrm>
          <a:off x="360936" y="1361962"/>
          <a:ext cx="11467527" cy="4601325"/>
        </p:xfrm>
        <a:graphic>
          <a:graphicData uri="http://schemas.openxmlformats.org/drawingml/2006/table">
            <a:tbl>
              <a:tblPr bandRow="1">
                <a:tableStyleId>{5C22544A-7EE6-4342-B048-85BDC9FD1C3A}</a:tableStyleId>
              </a:tblPr>
              <a:tblGrid>
                <a:gridCol w="1843653">
                  <a:extLst>
                    <a:ext uri="{9D8B030D-6E8A-4147-A177-3AD203B41FA5}">
                      <a16:colId xmlns:a16="http://schemas.microsoft.com/office/drawing/2014/main" val="1362236069"/>
                    </a:ext>
                  </a:extLst>
                </a:gridCol>
                <a:gridCol w="2444109">
                  <a:extLst>
                    <a:ext uri="{9D8B030D-6E8A-4147-A177-3AD203B41FA5}">
                      <a16:colId xmlns:a16="http://schemas.microsoft.com/office/drawing/2014/main" val="366937182"/>
                    </a:ext>
                  </a:extLst>
                </a:gridCol>
                <a:gridCol w="3934933">
                  <a:extLst>
                    <a:ext uri="{9D8B030D-6E8A-4147-A177-3AD203B41FA5}">
                      <a16:colId xmlns:a16="http://schemas.microsoft.com/office/drawing/2014/main" val="3093558049"/>
                    </a:ext>
                  </a:extLst>
                </a:gridCol>
                <a:gridCol w="405604">
                  <a:extLst>
                    <a:ext uri="{9D8B030D-6E8A-4147-A177-3AD203B41FA5}">
                      <a16:colId xmlns:a16="http://schemas.microsoft.com/office/drawing/2014/main" val="320023064"/>
                    </a:ext>
                  </a:extLst>
                </a:gridCol>
                <a:gridCol w="405604">
                  <a:extLst>
                    <a:ext uri="{9D8B030D-6E8A-4147-A177-3AD203B41FA5}">
                      <a16:colId xmlns:a16="http://schemas.microsoft.com/office/drawing/2014/main" val="1426101900"/>
                    </a:ext>
                  </a:extLst>
                </a:gridCol>
                <a:gridCol w="405604">
                  <a:extLst>
                    <a:ext uri="{9D8B030D-6E8A-4147-A177-3AD203B41FA5}">
                      <a16:colId xmlns:a16="http://schemas.microsoft.com/office/drawing/2014/main" val="3689681127"/>
                    </a:ext>
                  </a:extLst>
                </a:gridCol>
                <a:gridCol w="405604">
                  <a:extLst>
                    <a:ext uri="{9D8B030D-6E8A-4147-A177-3AD203B41FA5}">
                      <a16:colId xmlns:a16="http://schemas.microsoft.com/office/drawing/2014/main" val="2083152798"/>
                    </a:ext>
                  </a:extLst>
                </a:gridCol>
                <a:gridCol w="405604">
                  <a:extLst>
                    <a:ext uri="{9D8B030D-6E8A-4147-A177-3AD203B41FA5}">
                      <a16:colId xmlns:a16="http://schemas.microsoft.com/office/drawing/2014/main" val="3966416640"/>
                    </a:ext>
                  </a:extLst>
                </a:gridCol>
                <a:gridCol w="405604">
                  <a:extLst>
                    <a:ext uri="{9D8B030D-6E8A-4147-A177-3AD203B41FA5}">
                      <a16:colId xmlns:a16="http://schemas.microsoft.com/office/drawing/2014/main" val="3189174259"/>
                    </a:ext>
                  </a:extLst>
                </a:gridCol>
                <a:gridCol w="405604">
                  <a:extLst>
                    <a:ext uri="{9D8B030D-6E8A-4147-A177-3AD203B41FA5}">
                      <a16:colId xmlns:a16="http://schemas.microsoft.com/office/drawing/2014/main" val="2611606897"/>
                    </a:ext>
                  </a:extLst>
                </a:gridCol>
                <a:gridCol w="405604">
                  <a:extLst>
                    <a:ext uri="{9D8B030D-6E8A-4147-A177-3AD203B41FA5}">
                      <a16:colId xmlns:a16="http://schemas.microsoft.com/office/drawing/2014/main" val="667450891"/>
                    </a:ext>
                  </a:extLst>
                </a:gridCol>
              </a:tblGrid>
              <a:tr h="0">
                <a:tc rowSpan="2">
                  <a:txBody>
                    <a:bodyPr/>
                    <a:lstStyle/>
                    <a:p>
                      <a:pPr algn="ctr">
                        <a:spcBef>
                          <a:spcPts val="300"/>
                        </a:spcBef>
                      </a:pPr>
                      <a:r>
                        <a:rPr lang="en-US" sz="1200" b="1" i="0">
                          <a:solidFill>
                            <a:schemeClr val="bg1"/>
                          </a:solidFill>
                          <a:latin typeface="+mn-lt"/>
                          <a:cs typeface="Poppins" pitchFamily="2" charset="77"/>
                        </a:rPr>
                        <a:t>Tactic</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algn="ctr">
                        <a:spcBef>
                          <a:spcPts val="300"/>
                        </a:spcBef>
                      </a:pPr>
                      <a:r>
                        <a:rPr lang="en-US" sz="1200" b="1" i="0">
                          <a:solidFill>
                            <a:schemeClr val="bg1"/>
                          </a:solidFill>
                          <a:latin typeface="+mn-lt"/>
                          <a:cs typeface="Poppins" pitchFamily="2" charset="77"/>
                        </a:rPr>
                        <a:t>Gaps addressed</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lang="en-US" sz="1200" b="1" i="0">
                          <a:solidFill>
                            <a:schemeClr val="bg1"/>
                          </a:solidFill>
                          <a:latin typeface="+mn-lt"/>
                          <a:cs typeface="Poppins" pitchFamily="2" charset="77"/>
                        </a:rPr>
                        <a:t>Rationale and design considerations</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gridSpan="8">
                  <a:txBody>
                    <a:bodyPr/>
                    <a:lstStyle/>
                    <a:p>
                      <a:pPr algn="ctr">
                        <a:spcBef>
                          <a:spcPts val="300"/>
                        </a:spcBef>
                      </a:pPr>
                      <a:r>
                        <a:rPr lang="en-US" sz="1200" b="1" i="0">
                          <a:solidFill>
                            <a:schemeClr val="bg1"/>
                          </a:solidFill>
                          <a:latin typeface="+mn-lt"/>
                          <a:cs typeface="Poppins" pitchFamily="2" charset="77"/>
                        </a:rPr>
                        <a:t>Timing</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pPr algn="ctr">
                        <a:spcBef>
                          <a:spcPts val="300"/>
                        </a:spcBef>
                      </a:pP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2323510155"/>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spcBef>
                          <a:spcPts val="300"/>
                        </a:spcBef>
                      </a:pPr>
                      <a:r>
                        <a:rPr lang="en-US" sz="1000" b="1" i="0">
                          <a:solidFill>
                            <a:schemeClr val="bg1"/>
                          </a:solidFill>
                          <a:latin typeface="+mn-lt"/>
                          <a:cs typeface="Poppins" pitchFamily="2" charset="77"/>
                        </a:rPr>
                        <a:t>2026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2027</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2028</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2029</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2030</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2031</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2032</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2033+</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1184289703"/>
                  </a:ext>
                </a:extLst>
              </a:tr>
              <a:tr h="4172445">
                <a:tc>
                  <a:txBody>
                    <a:bodyPr/>
                    <a:lstStyle/>
                    <a:p>
                      <a:pPr algn="l">
                        <a:spcBef>
                          <a:spcPts val="300"/>
                        </a:spcBef>
                      </a:pPr>
                      <a:r>
                        <a:rPr lang="en-US" sz="1000" b="0" i="0">
                          <a:solidFill>
                            <a:schemeClr val="tx1"/>
                          </a:solidFill>
                          <a:latin typeface="+mn-lt"/>
                          <a:cs typeface="Poppins"/>
                        </a:rPr>
                        <a:t>10. MTAP Testing HE Model incl. TAT modeling</a:t>
                      </a:r>
                    </a:p>
                    <a:p>
                      <a:pPr algn="l">
                        <a:spcBef>
                          <a:spcPts val="300"/>
                        </a:spcBef>
                      </a:pPr>
                      <a:endParaRPr lang="en-US" sz="1000" b="0" i="0">
                        <a:solidFill>
                          <a:schemeClr val="tx1"/>
                        </a:solidFill>
                        <a:latin typeface="+mn-lt"/>
                        <a:cs typeface="Poppins"/>
                      </a:endParaRPr>
                    </a:p>
                    <a:p>
                      <a:pPr algn="l">
                        <a:spcBef>
                          <a:spcPts val="300"/>
                        </a:spcBef>
                      </a:pPr>
                      <a:r>
                        <a:rPr lang="en-US" sz="1000" b="1" i="0">
                          <a:solidFill>
                            <a:schemeClr val="tx1"/>
                          </a:solidFill>
                          <a:latin typeface="+mn-lt"/>
                          <a:cs typeface="Poppins"/>
                        </a:rPr>
                        <a:t>Lead: </a:t>
                      </a:r>
                      <a:r>
                        <a:rPr lang="en-US" sz="1000" b="0" i="0">
                          <a:solidFill>
                            <a:schemeClr val="tx1"/>
                          </a:solidFill>
                          <a:latin typeface="+mn-lt"/>
                          <a:cs typeface="Poppins"/>
                        </a:rPr>
                        <a:t>HEOR / Medical</a:t>
                      </a:r>
                    </a:p>
                    <a:p>
                      <a:pPr algn="l">
                        <a:spcBef>
                          <a:spcPts val="300"/>
                        </a:spcBef>
                      </a:pPr>
                      <a:endParaRPr lang="en-US" sz="1000" b="0" i="0">
                        <a:solidFill>
                          <a:schemeClr val="tx1"/>
                        </a:solidFill>
                        <a:latin typeface="+mn-lt"/>
                        <a:cs typeface="Poppins"/>
                      </a:endParaRPr>
                    </a:p>
                    <a:p>
                      <a:pPr marL="0" indent="0" algn="l">
                        <a:spcBef>
                          <a:spcPts val="300"/>
                        </a:spcBef>
                        <a:buFont typeface="Arial" panose="020B0604020202020204" pitchFamily="34" charset="0"/>
                        <a:buNone/>
                      </a:pPr>
                      <a:r>
                        <a:rPr lang="en-US" sz="1000" b="1" i="0">
                          <a:solidFill>
                            <a:schemeClr val="tx1"/>
                          </a:solidFill>
                          <a:latin typeface="+mn-lt"/>
                          <a:cs typeface="Poppins"/>
                        </a:rPr>
                        <a:t>Support:</a:t>
                      </a:r>
                    </a:p>
                    <a:p>
                      <a:pPr marL="171450" indent="-171450" algn="l">
                        <a:spcBef>
                          <a:spcPts val="300"/>
                        </a:spcBef>
                        <a:buFont typeface="Arial" panose="020B0604020202020204" pitchFamily="34" charset="0"/>
                        <a:buChar char="•"/>
                      </a:pPr>
                      <a:r>
                        <a:rPr lang="en-US" sz="1000" b="0" i="0">
                          <a:solidFill>
                            <a:schemeClr val="tx1"/>
                          </a:solidFill>
                          <a:latin typeface="+mn-lt"/>
                          <a:cs typeface="Poppins"/>
                        </a:rPr>
                        <a:t>Biomarker </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171450" indent="-171450" algn="l" defTabSz="914400" rtl="0" eaLnBrk="1" latinLnBrk="0" hangingPunct="1">
                        <a:spcBef>
                          <a:spcPts val="300"/>
                        </a:spcBef>
                        <a:buFont typeface="Arial" panose="020B0604020202020204" pitchFamily="34" charset="0"/>
                        <a:buChar char="•"/>
                      </a:pPr>
                      <a:r>
                        <a:rPr lang="en-US" sz="1000" b="1" i="0" kern="1200">
                          <a:solidFill>
                            <a:schemeClr val="tx1"/>
                          </a:solidFill>
                          <a:latin typeface="+mn-lt"/>
                          <a:ea typeface="+mn-ea"/>
                          <a:cs typeface="Poppins"/>
                          <a:hlinkClick r:id="rId4" action="ppaction://hlinksldjump">
                            <a:extLst>
                              <a:ext uri="{A12FA001-AC4F-418D-AE19-62706E023703}">
                                <ahyp:hlinkClr xmlns:ahyp="http://schemas.microsoft.com/office/drawing/2018/hyperlinkcolor" val="tx"/>
                              </a:ext>
                            </a:extLst>
                          </a:hlinkClick>
                        </a:rPr>
                        <a:t>NSCLC_HI_02</a:t>
                      </a:r>
                      <a:r>
                        <a:rPr lang="en-US" sz="1000" b="0" i="0" kern="1200">
                          <a:solidFill>
                            <a:schemeClr val="tx1"/>
                          </a:solidFill>
                          <a:latin typeface="+mn-lt"/>
                          <a:ea typeface="+mn-ea"/>
                          <a:cs typeface="Poppins"/>
                        </a:rPr>
                        <a:t>: Cost-effectiveness of MTAP testing strategies — direct cost comparison IHC vs. NGS; simulation model (cost per patient, time to treatment, downstream cost offsets, cost per QALY); administration costs by modality and market</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000" b="1" i="0" kern="1200">
                          <a:solidFill>
                            <a:schemeClr val="tx1"/>
                          </a:solidFill>
                          <a:latin typeface="+mn-lt"/>
                          <a:ea typeface="+mn-ea"/>
                          <a:cs typeface="Poppins"/>
                          <a:hlinkClick r:id="rId5" action="ppaction://hlinksldjump">
                            <a:extLst>
                              <a:ext uri="{A12FA001-AC4F-418D-AE19-62706E023703}">
                                <ahyp:hlinkClr xmlns:ahyp="http://schemas.microsoft.com/office/drawing/2018/hyperlinkcolor" val="tx"/>
                              </a:ext>
                            </a:extLst>
                          </a:hlinkClick>
                        </a:rPr>
                        <a:t>NSCLC_HI_09</a:t>
                      </a:r>
                      <a:r>
                        <a:rPr lang="en-US" sz="1000" b="0" i="0" kern="1200">
                          <a:solidFill>
                            <a:schemeClr val="tx1"/>
                          </a:solidFill>
                          <a:latin typeface="+mn-lt"/>
                          <a:ea typeface="+mn-ea"/>
                          <a:cs typeface="Poppins"/>
                        </a:rPr>
                        <a:t>: CTA turnaround time impact on BGB-58067 efficacy across NGS and IHC testing</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GB" sz="1000" b="0" i="0" u="none" strike="noStrike" kern="1200" cap="none" spc="0" normalizeH="0" baseline="0" noProof="0">
                          <a:ln>
                            <a:noFill/>
                          </a:ln>
                          <a:solidFill>
                            <a:schemeClr val="tx1"/>
                          </a:solidFill>
                          <a:effectLst/>
                          <a:uLnTx/>
                          <a:uFillTx/>
                          <a:latin typeface="+mn-lt"/>
                          <a:cs typeface="Poppins"/>
                        </a:rPr>
                        <a:t>CTA turnaround time modelling can be embedded within the broader MTAP-testing cost-effectiveness analysis</a:t>
                      </a:r>
                    </a:p>
                    <a:p>
                      <a:pPr marL="0" marR="0" lvl="0" indent="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mn-lt"/>
                          <a:cs typeface="Poppins"/>
                        </a:rPr>
                        <a:t>Design considerations:</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a:rPr>
                        <a:t>Direct cost comparison of IHC vs. NGS; model structured to feed directly into global CEM</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lang="en-US" sz="1000" b="0">
                          <a:solidFill>
                            <a:schemeClr val="tx1"/>
                          </a:solidFill>
                          <a:latin typeface="+mn-lt"/>
                          <a:sym typeface="Wingdings" panose="05000000000000000000" pitchFamily="2" charset="2"/>
                        </a:rPr>
                        <a:t>Model should be designed to be adaptable across markets given heterogeneity in testing reimbursement pathways and cost structures</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a:sym typeface="Wingdings" panose="05000000000000000000" pitchFamily="2" charset="2"/>
                        </a:rPr>
                        <a:t>Study would be informed by analytical concordance of MTAP-testing methods and </a:t>
                      </a:r>
                      <a:r>
                        <a:rPr kumimoji="0" lang="en-GB" sz="1000" b="0" i="0" u="none" strike="noStrike" kern="1200" cap="none" spc="0" normalizeH="0" baseline="0" noProof="0">
                          <a:ln>
                            <a:noFill/>
                          </a:ln>
                          <a:solidFill>
                            <a:schemeClr val="tx1"/>
                          </a:solidFill>
                          <a:effectLst/>
                          <a:uLnTx/>
                          <a:uFillTx/>
                          <a:latin typeface="+mn-lt"/>
                          <a:cs typeface="Poppins"/>
                          <a:sym typeface="Wingdings" panose="05000000000000000000" pitchFamily="2" charset="2"/>
                        </a:rPr>
                        <a:t>post-hoc analysis of efficacy by testing modality and testing-to-treatment interval (both currently planned/addressed by BMx team)</a:t>
                      </a:r>
                      <a:endParaRPr kumimoji="0" lang="en-US" sz="1000" b="0" i="0" u="none" strike="noStrike" kern="1200" cap="none" spc="0" normalizeH="0" baseline="0" noProof="0">
                        <a:ln>
                          <a:noFill/>
                        </a:ln>
                        <a:solidFill>
                          <a:schemeClr val="tx1"/>
                        </a:solidFill>
                        <a:effectLst/>
                        <a:uLnTx/>
                        <a:uFillTx/>
                        <a:latin typeface="+mn-lt"/>
                        <a:cs typeface="Poppins"/>
                        <a:sym typeface="Wingdings" panose="05000000000000000000" pitchFamily="2" charset="2"/>
                      </a:endParaRP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74479344"/>
                  </a:ext>
                </a:extLst>
              </a:tr>
            </a:tbl>
          </a:graphicData>
        </a:graphic>
      </p:graphicFrame>
      <p:graphicFrame>
        <p:nvGraphicFramePr>
          <p:cNvPr id="5" name="think-cell data - do not delete" hidden="1">
            <a:extLst>
              <a:ext uri="{FF2B5EF4-FFF2-40B4-BE49-F238E27FC236}">
                <a16:creationId xmlns:a16="http://schemas.microsoft.com/office/drawing/2014/main" id="{499FF589-6748-5C6E-67FD-DB34C33597C5}"/>
              </a:ext>
            </a:extLst>
          </p:cNvPr>
          <p:cNvGraphicFramePr>
            <a:graphicFrameLocks/>
          </p:cNvGraphicFramePr>
          <p:nvPr>
            <p:custDataLst>
              <p:tags r:id="rId1"/>
            </p:custDataLst>
            <p:extLst>
              <p:ext uri="{D42A27DB-BD31-4B8C-83A1-F6EECF244321}">
                <p14:modId xmlns:p14="http://schemas.microsoft.com/office/powerpoint/2010/main" val="14021780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6" progId="TCLayout.ActiveDocument.1">
                  <p:embed/>
                </p:oleObj>
              </mc:Choice>
              <mc:Fallback>
                <p:oleObj name="think-cell Slide" r:id="rId6" imgW="395" imgH="396" progId="TCLayout.ActiveDocument.1">
                  <p:embed/>
                  <p:pic>
                    <p:nvPicPr>
                      <p:cNvPr id="5" name="think-cell data - do not delete" hidden="1">
                        <a:extLst>
                          <a:ext uri="{FF2B5EF4-FFF2-40B4-BE49-F238E27FC236}">
                            <a16:creationId xmlns:a16="http://schemas.microsoft.com/office/drawing/2014/main" id="{499FF589-6748-5C6E-67FD-DB34C33597C5}"/>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0" name="Title 19">
            <a:extLst>
              <a:ext uri="{FF2B5EF4-FFF2-40B4-BE49-F238E27FC236}">
                <a16:creationId xmlns:a16="http://schemas.microsoft.com/office/drawing/2014/main" id="{201016E2-9690-E3C3-0BFD-350A4DF9B16A}"/>
              </a:ext>
            </a:extLst>
          </p:cNvPr>
          <p:cNvSpPr>
            <a:spLocks noGrp="1"/>
          </p:cNvSpPr>
          <p:nvPr>
            <p:ph type="title"/>
          </p:nvPr>
        </p:nvSpPr>
        <p:spPr>
          <a:xfrm>
            <a:off x="358337" y="338328"/>
            <a:ext cx="11470125" cy="738664"/>
          </a:xfrm>
        </p:spPr>
        <p:txBody>
          <a:bodyPr vert="horz" rIns="0">
            <a:spAutoFit/>
          </a:bodyPr>
          <a:lstStyle/>
          <a:p>
            <a:r>
              <a:rPr lang="en-US" sz="2400"/>
              <a:t>One </a:t>
            </a:r>
            <a:r>
              <a:rPr lang="en-US" sz="2400" b="1">
                <a:solidFill>
                  <a:schemeClr val="bg1">
                    <a:lumMod val="85000"/>
                  </a:schemeClr>
                </a:solidFill>
              </a:rPr>
              <a:t>modeling</a:t>
            </a:r>
            <a:r>
              <a:rPr lang="en-US" sz="2400">
                <a:solidFill>
                  <a:schemeClr val="accent4">
                    <a:lumMod val="60000"/>
                    <a:lumOff val="40000"/>
                  </a:schemeClr>
                </a:solidFill>
              </a:rPr>
              <a:t> </a:t>
            </a:r>
            <a:r>
              <a:rPr lang="en-US" sz="2400"/>
              <a:t>study can address two gaps around MTAP-del testing methodologies and their cost implications</a:t>
            </a:r>
          </a:p>
        </p:txBody>
      </p:sp>
      <p:sp>
        <p:nvSpPr>
          <p:cNvPr id="4" name="Arrow: Pentagon 3">
            <a:extLst>
              <a:ext uri="{FF2B5EF4-FFF2-40B4-BE49-F238E27FC236}">
                <a16:creationId xmlns:a16="http://schemas.microsoft.com/office/drawing/2014/main" id="{59008B79-62E5-F149-1169-067B8746013A}"/>
              </a:ext>
            </a:extLst>
          </p:cNvPr>
          <p:cNvSpPr/>
          <p:nvPr/>
        </p:nvSpPr>
        <p:spPr>
          <a:xfrm>
            <a:off x="10606119" y="3714270"/>
            <a:ext cx="681367" cy="388620"/>
          </a:xfrm>
          <a:prstGeom prst="homePlate">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9" name="Rectangle 8">
            <a:extLst>
              <a:ext uri="{FF2B5EF4-FFF2-40B4-BE49-F238E27FC236}">
                <a16:creationId xmlns:a16="http://schemas.microsoft.com/office/drawing/2014/main" id="{7935738D-CC5B-11D9-6788-99AE473ABA98}"/>
              </a:ext>
            </a:extLst>
          </p:cNvPr>
          <p:cNvSpPr/>
          <p:nvPr/>
        </p:nvSpPr>
        <p:spPr>
          <a:xfrm>
            <a:off x="8856702" y="3665794"/>
            <a:ext cx="1664663" cy="5313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r>
              <a:rPr lang="en-US" sz="900">
                <a:solidFill>
                  <a:schemeClr val="tx1"/>
                </a:solidFill>
              </a:rPr>
              <a:t>Modelling dependent on analytical concordance and post-hoc data</a:t>
            </a:r>
          </a:p>
        </p:txBody>
      </p:sp>
      <p:sp>
        <p:nvSpPr>
          <p:cNvPr id="7" name="Rectangle 6">
            <a:extLst>
              <a:ext uri="{FF2B5EF4-FFF2-40B4-BE49-F238E27FC236}">
                <a16:creationId xmlns:a16="http://schemas.microsoft.com/office/drawing/2014/main" id="{9DF2AF10-B1FA-530F-0710-DF1F786FC6D1}"/>
              </a:ext>
            </a:extLst>
          </p:cNvPr>
          <p:cNvSpPr/>
          <p:nvPr/>
        </p:nvSpPr>
        <p:spPr>
          <a:xfrm>
            <a:off x="10521365" y="3291200"/>
            <a:ext cx="1341090" cy="388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r>
              <a:rPr lang="en-US" sz="900" b="1">
                <a:solidFill>
                  <a:schemeClr val="tx1"/>
                </a:solidFill>
              </a:rPr>
              <a:t>Start: </a:t>
            </a:r>
          </a:p>
          <a:p>
            <a:r>
              <a:rPr lang="en-US" sz="900">
                <a:solidFill>
                  <a:schemeClr val="tx1"/>
                </a:solidFill>
              </a:rPr>
              <a:t>~6m past 2L DRO</a:t>
            </a:r>
          </a:p>
        </p:txBody>
      </p:sp>
      <p:sp>
        <p:nvSpPr>
          <p:cNvPr id="14" name="Footer Placeholder 2">
            <a:extLst>
              <a:ext uri="{FF2B5EF4-FFF2-40B4-BE49-F238E27FC236}">
                <a16:creationId xmlns:a16="http://schemas.microsoft.com/office/drawing/2014/main" id="{4A0DFB83-3D8C-E7F0-E82C-CE70B9A86761}"/>
              </a:ext>
            </a:extLst>
          </p:cNvPr>
          <p:cNvSpPr>
            <a:spLocks noGrp="1"/>
          </p:cNvSpPr>
          <p:nvPr>
            <p:ph type="ftr" sz="quarter" idx="10"/>
          </p:nvPr>
        </p:nvSpPr>
        <p:spPr>
          <a:xfrm>
            <a:off x="328864" y="6257406"/>
            <a:ext cx="5681293" cy="526584"/>
          </a:xfrm>
        </p:spPr>
        <p:txBody>
          <a:bodyPr/>
          <a:lstStyle/>
          <a:p>
            <a:pPr>
              <a:defRPr/>
            </a:pPr>
            <a:r>
              <a:rPr lang="en-US">
                <a:solidFill>
                  <a:srgbClr val="000000">
                    <a:lumMod val="65000"/>
                    <a:lumOff val="35000"/>
                  </a:srgbClr>
                </a:solidFill>
              </a:rPr>
              <a:t>Abbreviations: </a:t>
            </a:r>
            <a:r>
              <a:rPr lang="en-US" err="1">
                <a:solidFill>
                  <a:srgbClr val="000000">
                    <a:lumMod val="65000"/>
                    <a:lumOff val="35000"/>
                  </a:srgbClr>
                </a:solidFill>
              </a:rPr>
              <a:t>BMx</a:t>
            </a:r>
            <a:r>
              <a:rPr lang="en-US">
                <a:solidFill>
                  <a:srgbClr val="000000">
                    <a:lumMod val="65000"/>
                    <a:lumOff val="35000"/>
                  </a:srgbClr>
                </a:solidFill>
              </a:rPr>
              <a:t>: Biomarkers; CEM: Cost-Effectiveness Model; CTA: Clinical Trial Assay; DRO: Data Readout; HE: Health Economics; HEOR: Health Economics and Outcomes Research; HI: High Priority; IHC: Immunohistochemistry; MTAP: </a:t>
            </a:r>
            <a:r>
              <a:rPr lang="en-US" err="1">
                <a:solidFill>
                  <a:srgbClr val="000000">
                    <a:lumMod val="65000"/>
                    <a:lumOff val="35000"/>
                  </a:srgbClr>
                </a:solidFill>
              </a:rPr>
              <a:t>Methylthioadenosine</a:t>
            </a:r>
            <a:r>
              <a:rPr lang="en-US">
                <a:solidFill>
                  <a:srgbClr val="000000">
                    <a:lumMod val="65000"/>
                    <a:lumOff val="35000"/>
                  </a:srgbClr>
                </a:solidFill>
              </a:rPr>
              <a:t> Phosphorylase; NGS: Next-Generation Sequencing; NSCLC: Non-Small Cell Lung Cancer; QALY: Quality-Adjusted Life Year; TAT: Turnaround Time</a:t>
            </a:r>
            <a:endParaRPr lang="en-US"/>
          </a:p>
        </p:txBody>
      </p:sp>
      <p:sp>
        <p:nvSpPr>
          <p:cNvPr id="16" name="Rectangle 15">
            <a:extLst>
              <a:ext uri="{FF2B5EF4-FFF2-40B4-BE49-F238E27FC236}">
                <a16:creationId xmlns:a16="http://schemas.microsoft.com/office/drawing/2014/main" id="{E3AD69FC-60CB-D33C-70DA-973E0059B0BA}"/>
              </a:ext>
            </a:extLst>
          </p:cNvPr>
          <p:cNvSpPr/>
          <p:nvPr/>
        </p:nvSpPr>
        <p:spPr>
          <a:xfrm>
            <a:off x="8765796" y="6280266"/>
            <a:ext cx="2242113" cy="3342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92500" lnSpcReduction="10000"/>
          </a:bodyPr>
          <a:lstStyle/>
          <a:p>
            <a:pPr algn="ctr"/>
            <a:endParaRPr lang="en-US" err="1">
              <a:solidFill>
                <a:schemeClr val="bg1"/>
              </a:solidFill>
            </a:endParaRPr>
          </a:p>
        </p:txBody>
      </p:sp>
      <p:grpSp>
        <p:nvGrpSpPr>
          <p:cNvPr id="33" name="Group 32">
            <a:extLst>
              <a:ext uri="{FF2B5EF4-FFF2-40B4-BE49-F238E27FC236}">
                <a16:creationId xmlns:a16="http://schemas.microsoft.com/office/drawing/2014/main" id="{3C55012F-341B-E487-0CED-5C316DA7982C}"/>
              </a:ext>
            </a:extLst>
          </p:cNvPr>
          <p:cNvGrpSpPr/>
          <p:nvPr/>
        </p:nvGrpSpPr>
        <p:grpSpPr>
          <a:xfrm>
            <a:off x="8025100" y="6327114"/>
            <a:ext cx="3279572" cy="319473"/>
            <a:chOff x="8676947" y="6306366"/>
            <a:chExt cx="3279572" cy="319473"/>
          </a:xfrm>
        </p:grpSpPr>
        <p:sp>
          <p:nvSpPr>
            <p:cNvPr id="34" name="TextBox 33">
              <a:extLst>
                <a:ext uri="{FF2B5EF4-FFF2-40B4-BE49-F238E27FC236}">
                  <a16:creationId xmlns:a16="http://schemas.microsoft.com/office/drawing/2014/main" id="{7402DF5A-A4BE-A68C-EBAF-E6073F1FB896}"/>
                </a:ext>
              </a:extLst>
            </p:cNvPr>
            <p:cNvSpPr txBox="1"/>
            <p:nvPr/>
          </p:nvSpPr>
          <p:spPr>
            <a:xfrm>
              <a:off x="8676947" y="6318062"/>
              <a:ext cx="470764" cy="307777"/>
            </a:xfrm>
            <a:prstGeom prst="rect">
              <a:avLst/>
            </a:prstGeom>
            <a:noFill/>
          </p:spPr>
          <p:txBody>
            <a:bodyPr wrap="square" lIns="91440" tIns="91440" rIns="91440" bIns="91440"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Poppins"/>
                  <a:ea typeface="+mn-ea"/>
                  <a:cs typeface="+mn-cs"/>
                </a:rPr>
                <a:t>Key:</a:t>
              </a:r>
            </a:p>
          </p:txBody>
        </p:sp>
        <p:grpSp>
          <p:nvGrpSpPr>
            <p:cNvPr id="35" name="Group 34">
              <a:extLst>
                <a:ext uri="{FF2B5EF4-FFF2-40B4-BE49-F238E27FC236}">
                  <a16:creationId xmlns:a16="http://schemas.microsoft.com/office/drawing/2014/main" id="{F13A8A82-5838-DD71-86A7-2C00F399F5B8}"/>
                </a:ext>
              </a:extLst>
            </p:cNvPr>
            <p:cNvGrpSpPr/>
            <p:nvPr/>
          </p:nvGrpSpPr>
          <p:grpSpPr>
            <a:xfrm>
              <a:off x="8743681" y="6306366"/>
              <a:ext cx="3212838" cy="307777"/>
              <a:chOff x="6686281" y="6344466"/>
              <a:chExt cx="3212838" cy="307777"/>
            </a:xfrm>
          </p:grpSpPr>
          <p:sp>
            <p:nvSpPr>
              <p:cNvPr id="36" name="Diamond 35">
                <a:extLst>
                  <a:ext uri="{FF2B5EF4-FFF2-40B4-BE49-F238E27FC236}">
                    <a16:creationId xmlns:a16="http://schemas.microsoft.com/office/drawing/2014/main" id="{CF7CDCF6-17F0-7B33-4ACF-4F5AFEB3F2C3}"/>
                  </a:ext>
                </a:extLst>
              </p:cNvPr>
              <p:cNvSpPr/>
              <p:nvPr/>
            </p:nvSpPr>
            <p:spPr>
              <a:xfrm>
                <a:off x="8778716" y="6409851"/>
                <a:ext cx="175330" cy="177007"/>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37" name="TextBox 36">
                <a:extLst>
                  <a:ext uri="{FF2B5EF4-FFF2-40B4-BE49-F238E27FC236}">
                    <a16:creationId xmlns:a16="http://schemas.microsoft.com/office/drawing/2014/main" id="{8C91AF89-5EF8-63B2-507A-38351143A820}"/>
                  </a:ext>
                </a:extLst>
              </p:cNvPr>
              <p:cNvSpPr txBox="1"/>
              <p:nvPr/>
            </p:nvSpPr>
            <p:spPr>
              <a:xfrm>
                <a:off x="8910524" y="6344466"/>
                <a:ext cx="988595"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Milestone</a:t>
                </a:r>
              </a:p>
            </p:txBody>
          </p:sp>
          <p:sp>
            <p:nvSpPr>
              <p:cNvPr id="38" name="TextBox 37">
                <a:extLst>
                  <a:ext uri="{FF2B5EF4-FFF2-40B4-BE49-F238E27FC236}">
                    <a16:creationId xmlns:a16="http://schemas.microsoft.com/office/drawing/2014/main" id="{458CECB2-0E80-B28B-E291-F8AAAF2F6874}"/>
                  </a:ext>
                </a:extLst>
              </p:cNvPr>
              <p:cNvSpPr txBox="1"/>
              <p:nvPr/>
            </p:nvSpPr>
            <p:spPr>
              <a:xfrm>
                <a:off x="7292815" y="6344466"/>
                <a:ext cx="1632109"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Start of study to </a:t>
                </a:r>
                <a:r>
                  <a:rPr kumimoji="0" lang="en-US" sz="800" b="0" i="0" u="none" strike="noStrike" kern="1200" cap="none" spc="0" normalizeH="0" baseline="0" noProof="0" err="1">
                    <a:ln>
                      <a:noFill/>
                    </a:ln>
                    <a:solidFill>
                      <a:srgbClr val="000000"/>
                    </a:solidFill>
                    <a:effectLst/>
                    <a:uLnTx/>
                    <a:uFillTx/>
                    <a:latin typeface="Poppins"/>
                    <a:ea typeface="+mn-ea"/>
                    <a:cs typeface="+mn-cs"/>
                  </a:rPr>
                  <a:t>en</a:t>
                </a:r>
                <a:r>
                  <a:rPr lang="en-US" sz="800">
                    <a:solidFill>
                      <a:srgbClr val="000000"/>
                    </a:solidFill>
                    <a:latin typeface="Poppins"/>
                  </a:rPr>
                  <a:t>d/DRO</a:t>
                </a:r>
                <a:endParaRPr kumimoji="0" 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39" name="Arrow: Pentagon 38">
                <a:extLst>
                  <a:ext uri="{FF2B5EF4-FFF2-40B4-BE49-F238E27FC236}">
                    <a16:creationId xmlns:a16="http://schemas.microsoft.com/office/drawing/2014/main" id="{D99D91CA-AEE5-E07D-31B1-66AD4FCBF513}"/>
                  </a:ext>
                </a:extLst>
              </p:cNvPr>
              <p:cNvSpPr/>
              <p:nvPr/>
            </p:nvSpPr>
            <p:spPr>
              <a:xfrm>
                <a:off x="7133798" y="6422147"/>
                <a:ext cx="182880" cy="182880"/>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algn="ctr"/>
                <a:endParaRPr lang="en-US">
                  <a:solidFill>
                    <a:schemeClr val="bg1"/>
                  </a:solidFill>
                </a:endParaRPr>
              </a:p>
            </p:txBody>
          </p:sp>
          <p:sp>
            <p:nvSpPr>
              <p:cNvPr id="40" name="Rectangle: Rounded Corners 39">
                <a:extLst>
                  <a:ext uri="{FF2B5EF4-FFF2-40B4-BE49-F238E27FC236}">
                    <a16:creationId xmlns:a16="http://schemas.microsoft.com/office/drawing/2014/main" id="{0DEE97BE-9A60-547C-1A9F-2ACFAF04DCC3}"/>
                  </a:ext>
                </a:extLst>
              </p:cNvPr>
              <p:cNvSpPr/>
              <p:nvPr/>
            </p:nvSpPr>
            <p:spPr>
              <a:xfrm>
                <a:off x="6686281" y="6365302"/>
                <a:ext cx="2924444" cy="28150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algn="ctr"/>
                <a:endParaRPr lang="en-US">
                  <a:solidFill>
                    <a:schemeClr val="bg1"/>
                  </a:solidFill>
                </a:endParaRPr>
              </a:p>
            </p:txBody>
          </p:sp>
        </p:grpSp>
      </p:grpSp>
      <p:grpSp>
        <p:nvGrpSpPr>
          <p:cNvPr id="41" name="Group 40">
            <a:extLst>
              <a:ext uri="{FF2B5EF4-FFF2-40B4-BE49-F238E27FC236}">
                <a16:creationId xmlns:a16="http://schemas.microsoft.com/office/drawing/2014/main" id="{DEBCFCD2-891D-7788-03C3-247FCE9A3BAD}"/>
              </a:ext>
            </a:extLst>
          </p:cNvPr>
          <p:cNvGrpSpPr/>
          <p:nvPr/>
        </p:nvGrpSpPr>
        <p:grpSpPr>
          <a:xfrm>
            <a:off x="6044154" y="6332843"/>
            <a:ext cx="2001488" cy="395710"/>
            <a:chOff x="9984926" y="1221638"/>
            <a:chExt cx="2001488" cy="395710"/>
          </a:xfrm>
        </p:grpSpPr>
        <p:sp>
          <p:nvSpPr>
            <p:cNvPr id="42" name="Rectangle 41">
              <a:extLst>
                <a:ext uri="{FF2B5EF4-FFF2-40B4-BE49-F238E27FC236}">
                  <a16:creationId xmlns:a16="http://schemas.microsoft.com/office/drawing/2014/main" id="{BC687858-637D-D685-F7B3-2C5737068EA7}"/>
                </a:ext>
              </a:extLst>
            </p:cNvPr>
            <p:cNvSpPr/>
            <p:nvPr/>
          </p:nvSpPr>
          <p:spPr>
            <a:xfrm>
              <a:off x="10122616" y="1221638"/>
              <a:ext cx="1863798" cy="3957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800">
                  <a:solidFill>
                    <a:schemeClr val="tx1"/>
                  </a:solidFill>
                </a:rPr>
                <a:t>Click the </a:t>
              </a:r>
              <a:r>
                <a:rPr lang="en-US" sz="800" b="1">
                  <a:solidFill>
                    <a:schemeClr val="tx1"/>
                  </a:solidFill>
                </a:rPr>
                <a:t>gap  ID to return to gap overview</a:t>
              </a:r>
              <a:endParaRPr lang="en-US" sz="800">
                <a:solidFill>
                  <a:schemeClr val="tx1"/>
                </a:solidFill>
              </a:endParaRPr>
            </a:p>
          </p:txBody>
        </p:sp>
        <p:pic>
          <p:nvPicPr>
            <p:cNvPr id="43" name="Graphic 42" descr="Cursor with solid fill">
              <a:extLst>
                <a:ext uri="{FF2B5EF4-FFF2-40B4-BE49-F238E27FC236}">
                  <a16:creationId xmlns:a16="http://schemas.microsoft.com/office/drawing/2014/main" id="{2A9D9040-5462-5CDD-0F1B-3DDBF950118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984926" y="1302723"/>
              <a:ext cx="216000" cy="216000"/>
            </a:xfrm>
            <a:prstGeom prst="rect">
              <a:avLst/>
            </a:prstGeom>
          </p:spPr>
        </p:pic>
      </p:grpSp>
      <p:grpSp>
        <p:nvGrpSpPr>
          <p:cNvPr id="2" name="Group 1">
            <a:extLst>
              <a:ext uri="{FF2B5EF4-FFF2-40B4-BE49-F238E27FC236}">
                <a16:creationId xmlns:a16="http://schemas.microsoft.com/office/drawing/2014/main" id="{36510958-7DCC-9793-0159-BB92117A52F1}"/>
              </a:ext>
            </a:extLst>
          </p:cNvPr>
          <p:cNvGrpSpPr/>
          <p:nvPr/>
        </p:nvGrpSpPr>
        <p:grpSpPr>
          <a:xfrm>
            <a:off x="362743" y="10216"/>
            <a:ext cx="10042505" cy="252000"/>
            <a:chOff x="362743" y="10216"/>
            <a:chExt cx="10042505" cy="252000"/>
          </a:xfrm>
        </p:grpSpPr>
        <p:sp>
          <p:nvSpPr>
            <p:cNvPr id="6" name="Pentagon 47">
              <a:extLst>
                <a:ext uri="{FF2B5EF4-FFF2-40B4-BE49-F238E27FC236}">
                  <a16:creationId xmlns:a16="http://schemas.microsoft.com/office/drawing/2014/main" id="{6EA9B7BF-D440-F053-5800-4C702DBD0E04}"/>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8" name="Chevron 48">
              <a:extLst>
                <a:ext uri="{FF2B5EF4-FFF2-40B4-BE49-F238E27FC236}">
                  <a16:creationId xmlns:a16="http://schemas.microsoft.com/office/drawing/2014/main" id="{07D394C5-1525-229D-D5DD-4A17E8AC8DC3}"/>
                </a:ext>
              </a:extLst>
            </p:cNvPr>
            <p:cNvSpPr/>
            <p:nvPr/>
          </p:nvSpPr>
          <p:spPr>
            <a:xfrm>
              <a:off x="5371087"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10" name="Chevron 52">
              <a:extLst>
                <a:ext uri="{FF2B5EF4-FFF2-40B4-BE49-F238E27FC236}">
                  <a16:creationId xmlns:a16="http://schemas.microsoft.com/office/drawing/2014/main" id="{8AF884AD-D24A-520E-3AD1-0F52C2580610}"/>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11" name="Chevron 54">
              <a:extLst>
                <a:ext uri="{FF2B5EF4-FFF2-40B4-BE49-F238E27FC236}">
                  <a16:creationId xmlns:a16="http://schemas.microsoft.com/office/drawing/2014/main" id="{8F90221E-9F37-0450-2C3A-2533BE7A4449}"/>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2" name="Chevron 48">
              <a:extLst>
                <a:ext uri="{FF2B5EF4-FFF2-40B4-BE49-F238E27FC236}">
                  <a16:creationId xmlns:a16="http://schemas.microsoft.com/office/drawing/2014/main" id="{75C7F096-9A62-77CF-BF8C-DA795E6A408C}"/>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5" name="Chevron 48">
              <a:extLst>
                <a:ext uri="{FF2B5EF4-FFF2-40B4-BE49-F238E27FC236}">
                  <a16:creationId xmlns:a16="http://schemas.microsoft.com/office/drawing/2014/main" id="{9D63F307-7739-E9CF-2C22-64CC20A98006}"/>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31252942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A8F1E-48DB-851E-4E79-FEF4C831B4EF}"/>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7EC18018-DE79-00FB-7EDB-32AB746D5736}"/>
              </a:ext>
            </a:extLst>
          </p:cNvPr>
          <p:cNvGraphicFramePr>
            <a:graphicFrameLocks/>
          </p:cNvGraphicFramePr>
          <p:nvPr>
            <p:custDataLst>
              <p:tags r:id="rId1"/>
            </p:custDataLst>
            <p:extLst>
              <p:ext uri="{D42A27DB-BD31-4B8C-83A1-F6EECF244321}">
                <p14:modId xmlns:p14="http://schemas.microsoft.com/office/powerpoint/2010/main" val="42532433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think-cell data - do not delete" hidden="1">
                        <a:extLst>
                          <a:ext uri="{FF2B5EF4-FFF2-40B4-BE49-F238E27FC236}">
                            <a16:creationId xmlns:a16="http://schemas.microsoft.com/office/drawing/2014/main" id="{7EC18018-DE79-00FB-7EDB-32AB746D573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 name="Table 2">
            <a:extLst>
              <a:ext uri="{FF2B5EF4-FFF2-40B4-BE49-F238E27FC236}">
                <a16:creationId xmlns:a16="http://schemas.microsoft.com/office/drawing/2014/main" id="{313250F3-4EF7-B58A-7C52-7BCF38F4C145}"/>
              </a:ext>
            </a:extLst>
          </p:cNvPr>
          <p:cNvGraphicFramePr>
            <a:graphicFrameLocks noGrp="1"/>
          </p:cNvGraphicFramePr>
          <p:nvPr>
            <p:extLst>
              <p:ext uri="{D42A27DB-BD31-4B8C-83A1-F6EECF244321}">
                <p14:modId xmlns:p14="http://schemas.microsoft.com/office/powerpoint/2010/main" val="2504078620"/>
              </p:ext>
            </p:extLst>
          </p:nvPr>
        </p:nvGraphicFramePr>
        <p:xfrm>
          <a:off x="360936" y="1361961"/>
          <a:ext cx="11489284" cy="4758742"/>
        </p:xfrm>
        <a:graphic>
          <a:graphicData uri="http://schemas.openxmlformats.org/drawingml/2006/table">
            <a:tbl>
              <a:tblPr bandRow="1">
                <a:tableStyleId>{5C22544A-7EE6-4342-B048-85BDC9FD1C3A}</a:tableStyleId>
              </a:tblPr>
              <a:tblGrid>
                <a:gridCol w="1843652">
                  <a:extLst>
                    <a:ext uri="{9D8B030D-6E8A-4147-A177-3AD203B41FA5}">
                      <a16:colId xmlns:a16="http://schemas.microsoft.com/office/drawing/2014/main" val="1362236069"/>
                    </a:ext>
                  </a:extLst>
                </a:gridCol>
                <a:gridCol w="3200400">
                  <a:extLst>
                    <a:ext uri="{9D8B030D-6E8A-4147-A177-3AD203B41FA5}">
                      <a16:colId xmlns:a16="http://schemas.microsoft.com/office/drawing/2014/main" val="366937182"/>
                    </a:ext>
                  </a:extLst>
                </a:gridCol>
                <a:gridCol w="3200400">
                  <a:extLst>
                    <a:ext uri="{9D8B030D-6E8A-4147-A177-3AD203B41FA5}">
                      <a16:colId xmlns:a16="http://schemas.microsoft.com/office/drawing/2014/main" val="3093558049"/>
                    </a:ext>
                  </a:extLst>
                </a:gridCol>
                <a:gridCol w="405604">
                  <a:extLst>
                    <a:ext uri="{9D8B030D-6E8A-4147-A177-3AD203B41FA5}">
                      <a16:colId xmlns:a16="http://schemas.microsoft.com/office/drawing/2014/main" val="320023064"/>
                    </a:ext>
                  </a:extLst>
                </a:gridCol>
                <a:gridCol w="405604">
                  <a:extLst>
                    <a:ext uri="{9D8B030D-6E8A-4147-A177-3AD203B41FA5}">
                      <a16:colId xmlns:a16="http://schemas.microsoft.com/office/drawing/2014/main" val="1426101900"/>
                    </a:ext>
                  </a:extLst>
                </a:gridCol>
                <a:gridCol w="405604">
                  <a:extLst>
                    <a:ext uri="{9D8B030D-6E8A-4147-A177-3AD203B41FA5}">
                      <a16:colId xmlns:a16="http://schemas.microsoft.com/office/drawing/2014/main" val="3689681127"/>
                    </a:ext>
                  </a:extLst>
                </a:gridCol>
                <a:gridCol w="405604">
                  <a:extLst>
                    <a:ext uri="{9D8B030D-6E8A-4147-A177-3AD203B41FA5}">
                      <a16:colId xmlns:a16="http://schemas.microsoft.com/office/drawing/2014/main" val="2083152798"/>
                    </a:ext>
                  </a:extLst>
                </a:gridCol>
                <a:gridCol w="405604">
                  <a:extLst>
                    <a:ext uri="{9D8B030D-6E8A-4147-A177-3AD203B41FA5}">
                      <a16:colId xmlns:a16="http://schemas.microsoft.com/office/drawing/2014/main" val="3966416640"/>
                    </a:ext>
                  </a:extLst>
                </a:gridCol>
                <a:gridCol w="405604">
                  <a:extLst>
                    <a:ext uri="{9D8B030D-6E8A-4147-A177-3AD203B41FA5}">
                      <a16:colId xmlns:a16="http://schemas.microsoft.com/office/drawing/2014/main" val="3189174259"/>
                    </a:ext>
                  </a:extLst>
                </a:gridCol>
                <a:gridCol w="405604">
                  <a:extLst>
                    <a:ext uri="{9D8B030D-6E8A-4147-A177-3AD203B41FA5}">
                      <a16:colId xmlns:a16="http://schemas.microsoft.com/office/drawing/2014/main" val="2611606897"/>
                    </a:ext>
                  </a:extLst>
                </a:gridCol>
                <a:gridCol w="405604">
                  <a:extLst>
                    <a:ext uri="{9D8B030D-6E8A-4147-A177-3AD203B41FA5}">
                      <a16:colId xmlns:a16="http://schemas.microsoft.com/office/drawing/2014/main" val="3205945461"/>
                    </a:ext>
                  </a:extLst>
                </a:gridCol>
              </a:tblGrid>
              <a:tr h="0">
                <a:tc rowSpan="2">
                  <a:txBody>
                    <a:bodyPr/>
                    <a:lstStyle/>
                    <a:p>
                      <a:pPr algn="ctr">
                        <a:spcBef>
                          <a:spcPts val="300"/>
                        </a:spcBef>
                      </a:pPr>
                      <a:r>
                        <a:rPr lang="en-US" sz="1200" b="1" i="0">
                          <a:solidFill>
                            <a:schemeClr val="bg1"/>
                          </a:solidFill>
                          <a:latin typeface="+mn-lt"/>
                          <a:cs typeface="Poppins" pitchFamily="2" charset="77"/>
                        </a:rPr>
                        <a:t>Tactic</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algn="ctr">
                        <a:spcBef>
                          <a:spcPts val="300"/>
                        </a:spcBef>
                      </a:pPr>
                      <a:r>
                        <a:rPr lang="en-US" sz="1200" b="1" i="0">
                          <a:solidFill>
                            <a:schemeClr val="bg1"/>
                          </a:solidFill>
                          <a:latin typeface="+mn-lt"/>
                          <a:cs typeface="Poppins" pitchFamily="2" charset="77"/>
                        </a:rPr>
                        <a:t>Gaps addressed</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lang="en-US" sz="1200" b="1" i="0">
                          <a:solidFill>
                            <a:schemeClr val="bg1"/>
                          </a:solidFill>
                          <a:latin typeface="+mn-lt"/>
                          <a:cs typeface="Poppins" pitchFamily="2" charset="77"/>
                        </a:rPr>
                        <a:t>Rationale and design considerations</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gridSpan="8">
                  <a:txBody>
                    <a:bodyPr/>
                    <a:lstStyle/>
                    <a:p>
                      <a:pPr algn="ctr">
                        <a:spcBef>
                          <a:spcPts val="300"/>
                        </a:spcBef>
                      </a:pPr>
                      <a:r>
                        <a:rPr lang="en-US" sz="1200" b="1" i="0">
                          <a:solidFill>
                            <a:schemeClr val="bg1"/>
                          </a:solidFill>
                          <a:latin typeface="+mn-lt"/>
                          <a:cs typeface="Poppins" pitchFamily="2" charset="77"/>
                        </a:rPr>
                        <a:t>Timing</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pPr algn="ctr">
                        <a:spcBef>
                          <a:spcPts val="300"/>
                        </a:spcBef>
                      </a:pP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2323510155"/>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spcBef>
                          <a:spcPts val="300"/>
                        </a:spcBef>
                      </a:pPr>
                      <a:r>
                        <a:rPr lang="en-US" sz="1000" b="1" i="0">
                          <a:solidFill>
                            <a:schemeClr val="bg1"/>
                          </a:solidFill>
                          <a:latin typeface="+mn-lt"/>
                          <a:cs typeface="Poppins" pitchFamily="2" charset="77"/>
                        </a:rPr>
                        <a:t>2026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2027</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2028</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2029</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2030</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2031</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2032</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2033+</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1184289703"/>
                  </a:ext>
                </a:extLst>
              </a:tr>
              <a:tr h="2164931">
                <a:tc>
                  <a:txBody>
                    <a:bodyPr/>
                    <a:lstStyle/>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r>
                        <a:rPr lang="en-US" sz="1000" b="0" i="0" strike="noStrike">
                          <a:solidFill>
                            <a:schemeClr val="tx1"/>
                          </a:solidFill>
                          <a:latin typeface="+mn-lt"/>
                          <a:cs typeface="Poppins"/>
                        </a:rPr>
                        <a:t>11. PD-L1 class-level ITC — compare BGB-58067 </a:t>
                      </a:r>
                      <a:r>
                        <a:rPr lang="en-US" sz="1000" b="0" i="0" strike="noStrike" err="1">
                          <a:solidFill>
                            <a:schemeClr val="tx1"/>
                          </a:solidFill>
                          <a:latin typeface="+mn-lt"/>
                          <a:cs typeface="Poppins"/>
                        </a:rPr>
                        <a:t>CoE</a:t>
                      </a:r>
                      <a:r>
                        <a:rPr lang="en-US" sz="1000" b="0" i="0" strike="noStrike">
                          <a:solidFill>
                            <a:schemeClr val="tx1"/>
                          </a:solidFill>
                          <a:latin typeface="+mn-lt"/>
                          <a:cs typeface="Poppins"/>
                        </a:rPr>
                        <a:t> across different anti-PD-1/PD-L1 agents (STC/MAIC)</a:t>
                      </a:r>
                    </a:p>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endParaRPr lang="en-US" sz="1000" b="0" i="0" strike="noStrike">
                        <a:solidFill>
                          <a:schemeClr val="tx1"/>
                        </a:solidFill>
                        <a:latin typeface="+mn-lt"/>
                        <a:cs typeface="Poppins"/>
                      </a:endParaRPr>
                    </a:p>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r>
                        <a:rPr lang="en-US" sz="1000" b="1" i="0" strike="noStrike">
                          <a:solidFill>
                            <a:schemeClr val="tx1"/>
                          </a:solidFill>
                          <a:latin typeface="+mn-lt"/>
                          <a:cs typeface="Poppins"/>
                        </a:rPr>
                        <a:t>Lead: </a:t>
                      </a:r>
                      <a:r>
                        <a:rPr lang="en-US" sz="1000" b="0" i="0" strike="noStrike">
                          <a:solidFill>
                            <a:schemeClr val="tx1"/>
                          </a:solidFill>
                          <a:latin typeface="+mn-lt"/>
                          <a:cs typeface="Poppins"/>
                        </a:rPr>
                        <a:t>HEOR </a:t>
                      </a:r>
                    </a:p>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endParaRPr lang="en-US" sz="1000" b="0" i="0" strike="noStrike">
                        <a:solidFill>
                          <a:schemeClr val="tx1"/>
                        </a:solidFill>
                        <a:latin typeface="+mn-lt"/>
                        <a:cs typeface="Poppins"/>
                      </a:endParaRP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1D2D4"/>
                    </a:solidFill>
                  </a:tcPr>
                </a:tc>
                <a:tc>
                  <a:txBody>
                    <a:bodyPr/>
                    <a:lstStyle/>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1" i="0" strike="noStrike">
                          <a:solidFill>
                            <a:schemeClr val="tx1"/>
                          </a:solidFill>
                          <a:latin typeface="+mn-lt"/>
                          <a:cs typeface="Poppins"/>
                          <a:hlinkClick r:id="rId6" action="ppaction://hlinksldjump">
                            <a:extLst>
                              <a:ext uri="{A12FA001-AC4F-418D-AE19-62706E023703}">
                                <ahyp:hlinkClr xmlns:ahyp="http://schemas.microsoft.com/office/drawing/2018/hyperlinkcolor" val="tx"/>
                              </a:ext>
                            </a:extLst>
                          </a:hlinkClick>
                        </a:rPr>
                        <a:t>NSCLC_CE_03</a:t>
                      </a:r>
                      <a:r>
                        <a:rPr lang="en-US" sz="1000" b="0" i="0" strike="noStrike">
                          <a:solidFill>
                            <a:schemeClr val="tx1"/>
                          </a:solidFill>
                          <a:latin typeface="+mn-lt"/>
                          <a:cs typeface="Poppins"/>
                        </a:rPr>
                        <a:t>: Contribution of effect (COE) of BGB-58067 beyond PD-1 backbone therapy in 1L treatment </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mn-lt"/>
                          <a:cs typeface="Poppins"/>
                        </a:rPr>
                        <a:t>Design considerations:</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a:rPr>
                        <a:t>Subject to decision on PD-1i backbone in the pivotal trial design</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lang="en-US" sz="1000" b="0" strike="noStrike">
                          <a:solidFill>
                            <a:schemeClr val="tx1"/>
                          </a:solidFill>
                          <a:latin typeface="+mn-lt"/>
                        </a:rPr>
                        <a:t>ITC analysis to enable downstream benefit-risk/value assessment</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lang="en-US" sz="1000" b="0" strike="noStrike">
                          <a:solidFill>
                            <a:schemeClr val="tx1"/>
                          </a:solidFill>
                          <a:latin typeface="+mn-lt"/>
                        </a:rPr>
                        <a:t>BRA predicted on the current SoC; may differ based on regional markets</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74479344"/>
                  </a:ext>
                </a:extLst>
              </a:tr>
              <a:tr h="2164931">
                <a:tc>
                  <a:txBody>
                    <a:bodyPr/>
                    <a:lstStyle/>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r>
                        <a:rPr lang="en-US" sz="1000" b="0" i="0" strike="noStrike">
                          <a:solidFill>
                            <a:schemeClr val="tx1"/>
                          </a:solidFill>
                          <a:latin typeface="+mn-lt"/>
                          <a:cs typeface="Poppins"/>
                        </a:rPr>
                        <a:t>12. ITC of CNS outcomes vs. current US SoC and emerging PRMT5i </a:t>
                      </a:r>
                    </a:p>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endParaRPr lang="en-US" sz="1000" b="0" i="0" strike="noStrike">
                        <a:solidFill>
                          <a:schemeClr val="tx1"/>
                        </a:solidFill>
                        <a:latin typeface="+mn-lt"/>
                        <a:cs typeface="Poppins"/>
                      </a:endParaRPr>
                    </a:p>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r>
                        <a:rPr lang="en-US" sz="1000" b="1" i="0" strike="noStrike">
                          <a:solidFill>
                            <a:schemeClr val="tx1"/>
                          </a:solidFill>
                          <a:latin typeface="+mn-lt"/>
                          <a:cs typeface="Poppins"/>
                        </a:rPr>
                        <a:t>Lead: </a:t>
                      </a:r>
                      <a:r>
                        <a:rPr lang="en-US" sz="1000" b="0" i="0" strike="noStrike">
                          <a:solidFill>
                            <a:schemeClr val="tx1"/>
                          </a:solidFill>
                          <a:latin typeface="+mn-lt"/>
                          <a:cs typeface="Poppins"/>
                        </a:rPr>
                        <a:t>HEOR </a:t>
                      </a:r>
                    </a:p>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endParaRPr lang="en-US" sz="1000" b="0" i="0" strike="noStrike">
                        <a:solidFill>
                          <a:schemeClr val="tx1"/>
                        </a:solidFill>
                        <a:latin typeface="+mn-lt"/>
                        <a:cs typeface="Poppins"/>
                      </a:endParaRPr>
                    </a:p>
                    <a:p>
                      <a:pPr marL="0" marR="0" lvl="0" indent="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None/>
                        <a:tabLst/>
                        <a:defRPr/>
                      </a:pPr>
                      <a:endParaRPr lang="en-US" sz="1000" b="0" i="0" strike="noStrike">
                        <a:solidFill>
                          <a:schemeClr val="tx1"/>
                        </a:solidFill>
                        <a:latin typeface="+mn-lt"/>
                        <a:cs typeface="Poppins"/>
                      </a:endParaRP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1D2D4"/>
                    </a:solidFill>
                  </a:tcPr>
                </a:tc>
                <a:tc>
                  <a:txBody>
                    <a:bodyPr/>
                    <a:lstStyle/>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1" i="0" strike="noStrike">
                          <a:solidFill>
                            <a:schemeClr val="tx1"/>
                          </a:solidFill>
                          <a:latin typeface="+mn-lt"/>
                          <a:cs typeface="Poppins"/>
                          <a:hlinkClick r:id="rId7" action="ppaction://hlinksldjump">
                            <a:extLst>
                              <a:ext uri="{A12FA001-AC4F-418D-AE19-62706E023703}">
                                <ahyp:hlinkClr xmlns:ahyp="http://schemas.microsoft.com/office/drawing/2018/hyperlinkcolor" val="tx"/>
                              </a:ext>
                            </a:extLst>
                          </a:hlinkClick>
                        </a:rPr>
                        <a:t>NSCLC_CE_04</a:t>
                      </a:r>
                      <a:r>
                        <a:rPr lang="en-US" sz="1000" b="1" i="0" strike="noStrike">
                          <a:solidFill>
                            <a:schemeClr val="tx1"/>
                          </a:solidFill>
                          <a:latin typeface="+mn-lt"/>
                          <a:cs typeface="Poppins"/>
                        </a:rPr>
                        <a:t>: </a:t>
                      </a:r>
                      <a:r>
                        <a:rPr lang="en-US" sz="1000" b="0" i="0" strike="noStrike" kern="1200">
                          <a:solidFill>
                            <a:schemeClr val="tx1"/>
                          </a:solidFill>
                          <a:latin typeface="+mn-lt"/>
                          <a:ea typeface="+mn-ea"/>
                          <a:cs typeface="Poppins"/>
                        </a:rPr>
                        <a:t>BGB-58067’s impact on CNS metastases </a:t>
                      </a:r>
                      <a:r>
                        <a:rPr lang="en-US" sz="1000" b="0" strike="noStrike" kern="1200">
                          <a:solidFill>
                            <a:schemeClr val="tx1"/>
                          </a:solidFill>
                          <a:latin typeface="+mn-lt"/>
                          <a:ea typeface="+mn-ea"/>
                          <a:cs typeface="Poppins"/>
                        </a:rPr>
                        <a:t>relative to control arm</a:t>
                      </a:r>
                      <a:endParaRPr lang="en-US" sz="1000" b="0" i="0" strike="noStrike">
                        <a:solidFill>
                          <a:schemeClr val="tx1"/>
                        </a:solidFill>
                        <a:latin typeface="+mn-lt"/>
                        <a:cs typeface="Poppins"/>
                      </a:endParaRP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mn-lt"/>
                          <a:cs typeface="Poppins"/>
                        </a:rPr>
                        <a:t>Design considerations:</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a:rPr>
                        <a:t>Leverage data from master SLR on current US SoC and supplement analysis with new data from emerging PRMT5i, incl. BMS-986504 and vopimetostat</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a:rPr>
                        <a:t>Crucial for approvals and reimbursement process, especially if docetaxel used as comparator in 2L+</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34765954"/>
                  </a:ext>
                </a:extLst>
              </a:tr>
            </a:tbl>
          </a:graphicData>
        </a:graphic>
      </p:graphicFrame>
      <p:sp>
        <p:nvSpPr>
          <p:cNvPr id="20" name="Title 19">
            <a:extLst>
              <a:ext uri="{FF2B5EF4-FFF2-40B4-BE49-F238E27FC236}">
                <a16:creationId xmlns:a16="http://schemas.microsoft.com/office/drawing/2014/main" id="{EFB19A3B-E65E-FBBC-A5A0-E34B3127F9D9}"/>
              </a:ext>
            </a:extLst>
          </p:cNvPr>
          <p:cNvSpPr>
            <a:spLocks noGrp="1"/>
          </p:cNvSpPr>
          <p:nvPr>
            <p:ph type="title"/>
          </p:nvPr>
        </p:nvSpPr>
        <p:spPr>
          <a:xfrm>
            <a:off x="358337" y="338328"/>
            <a:ext cx="11470125" cy="738664"/>
          </a:xfrm>
        </p:spPr>
        <p:txBody>
          <a:bodyPr vert="horz" rIns="0">
            <a:spAutoFit/>
          </a:bodyPr>
          <a:lstStyle/>
          <a:p>
            <a:r>
              <a:rPr lang="en-US" sz="2400"/>
              <a:t>Four</a:t>
            </a:r>
            <a:r>
              <a:rPr lang="en-US" sz="2400" b="1">
                <a:solidFill>
                  <a:srgbClr val="E4AAAE"/>
                </a:solidFill>
              </a:rPr>
              <a:t> ITC packages </a:t>
            </a:r>
            <a:r>
              <a:rPr lang="en-US" sz="2400"/>
              <a:t>generate evidence to position BGB-58067 within the evolving 1L / 2L+ NSCLC treatment landscape (1/2)</a:t>
            </a:r>
          </a:p>
        </p:txBody>
      </p:sp>
      <p:sp>
        <p:nvSpPr>
          <p:cNvPr id="37" name="Footer Placeholder 2">
            <a:extLst>
              <a:ext uri="{FF2B5EF4-FFF2-40B4-BE49-F238E27FC236}">
                <a16:creationId xmlns:a16="http://schemas.microsoft.com/office/drawing/2014/main" id="{E8ECC961-A265-A590-9A64-537BF07CE746}"/>
              </a:ext>
            </a:extLst>
          </p:cNvPr>
          <p:cNvSpPr>
            <a:spLocks noGrp="1"/>
          </p:cNvSpPr>
          <p:nvPr>
            <p:ph type="ftr" sz="quarter" idx="10"/>
          </p:nvPr>
        </p:nvSpPr>
        <p:spPr>
          <a:xfrm>
            <a:off x="358337" y="6284957"/>
            <a:ext cx="5545562" cy="526584"/>
          </a:xfrm>
        </p:spPr>
        <p:txBody>
          <a:bodyPr/>
          <a:lstStyle/>
          <a:p>
            <a:pPr>
              <a:defRPr/>
            </a:pPr>
            <a:r>
              <a:rPr lang="en-US">
                <a:solidFill>
                  <a:srgbClr val="000000">
                    <a:lumMod val="65000"/>
                    <a:lumOff val="35000"/>
                  </a:srgbClr>
                </a:solidFill>
              </a:rPr>
              <a:t>Abbreviations: </a:t>
            </a:r>
            <a:r>
              <a:rPr lang="en-US"/>
              <a:t>BMS: Bristol Myers Squibb; BRA: Benefit-Risk Assessment; CE: Critical Priority; CNS: Central Nervous System; </a:t>
            </a:r>
            <a:r>
              <a:rPr lang="en-US" err="1"/>
              <a:t>CoE</a:t>
            </a:r>
            <a:r>
              <a:rPr lang="en-US"/>
              <a:t> / COE: Contribution of Effect; DRO: Data Readout; HEOR: Health Economics and Outcomes Research; ITC: Indirect Treatment Comparison; MAIC: Matching-Adjusted Indirect Comparison; NSCLC: Non-Small Cell Lung Cancer; PD-1: Programmed Cell Death Protein 1; PD-1i: PD-1 Inhibitor; PD-L1: Programmed Death-Ligand 1; PRMT5i: Protein Arginine Methyltransferase 5 Inhibitor; SLR: Systematic Literature Review; SoC: Standard of Care; STC: Simulated Treatment Comparison</a:t>
            </a:r>
          </a:p>
        </p:txBody>
      </p:sp>
      <p:sp>
        <p:nvSpPr>
          <p:cNvPr id="7" name="Rectangle 6">
            <a:extLst>
              <a:ext uri="{FF2B5EF4-FFF2-40B4-BE49-F238E27FC236}">
                <a16:creationId xmlns:a16="http://schemas.microsoft.com/office/drawing/2014/main" id="{4C1ABA33-6E9F-BAB5-866D-D484BAF0696D}"/>
              </a:ext>
            </a:extLst>
          </p:cNvPr>
          <p:cNvSpPr/>
          <p:nvPr/>
        </p:nvSpPr>
        <p:spPr>
          <a:xfrm>
            <a:off x="9501354" y="2653499"/>
            <a:ext cx="1020031" cy="388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r>
              <a:rPr lang="en-US" sz="900" b="1">
                <a:solidFill>
                  <a:schemeClr val="tx1"/>
                </a:solidFill>
              </a:rPr>
              <a:t>1L /2L+ DRO: </a:t>
            </a:r>
            <a:r>
              <a:rPr lang="en-US" sz="900">
                <a:solidFill>
                  <a:schemeClr val="tx1"/>
                </a:solidFill>
              </a:rPr>
              <a:t>2030</a:t>
            </a:r>
          </a:p>
        </p:txBody>
      </p:sp>
      <p:grpSp>
        <p:nvGrpSpPr>
          <p:cNvPr id="13" name="Group 12">
            <a:extLst>
              <a:ext uri="{FF2B5EF4-FFF2-40B4-BE49-F238E27FC236}">
                <a16:creationId xmlns:a16="http://schemas.microsoft.com/office/drawing/2014/main" id="{64DA4CEE-C355-41D1-F42A-932BF59704FF}"/>
              </a:ext>
            </a:extLst>
          </p:cNvPr>
          <p:cNvGrpSpPr/>
          <p:nvPr/>
        </p:nvGrpSpPr>
        <p:grpSpPr>
          <a:xfrm>
            <a:off x="10304253" y="2654824"/>
            <a:ext cx="1020031" cy="387022"/>
            <a:chOff x="9647769" y="3657933"/>
            <a:chExt cx="1020031" cy="387022"/>
          </a:xfrm>
        </p:grpSpPr>
        <p:sp>
          <p:nvSpPr>
            <p:cNvPr id="25" name="Arrow: Pentagon 24">
              <a:extLst>
                <a:ext uri="{FF2B5EF4-FFF2-40B4-BE49-F238E27FC236}">
                  <a16:creationId xmlns:a16="http://schemas.microsoft.com/office/drawing/2014/main" id="{159B93D8-EA42-54E1-1E46-D8A8757E7015}"/>
                </a:ext>
              </a:extLst>
            </p:cNvPr>
            <p:cNvSpPr/>
            <p:nvPr/>
          </p:nvSpPr>
          <p:spPr>
            <a:xfrm>
              <a:off x="9732438" y="3657933"/>
              <a:ext cx="935362" cy="387022"/>
            </a:xfrm>
            <a:prstGeom prst="homePlate">
              <a:avLst/>
            </a:prstGeom>
            <a:solidFill>
              <a:srgbClr val="F1D2D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28" name="Diamond 27">
              <a:extLst>
                <a:ext uri="{FF2B5EF4-FFF2-40B4-BE49-F238E27FC236}">
                  <a16:creationId xmlns:a16="http://schemas.microsoft.com/office/drawing/2014/main" id="{0117E09F-F1ED-A7CA-31A1-B27BAE5D0AE1}"/>
                </a:ext>
              </a:extLst>
            </p:cNvPr>
            <p:cNvSpPr/>
            <p:nvPr/>
          </p:nvSpPr>
          <p:spPr>
            <a:xfrm>
              <a:off x="9647769" y="3723279"/>
              <a:ext cx="228600" cy="22860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grpSp>
      <p:sp>
        <p:nvSpPr>
          <p:cNvPr id="47" name="Rectangle 46">
            <a:extLst>
              <a:ext uri="{FF2B5EF4-FFF2-40B4-BE49-F238E27FC236}">
                <a16:creationId xmlns:a16="http://schemas.microsoft.com/office/drawing/2014/main" id="{C892B9CB-4571-C597-5662-E272EDAE6DBC}"/>
              </a:ext>
            </a:extLst>
          </p:cNvPr>
          <p:cNvSpPr/>
          <p:nvPr/>
        </p:nvSpPr>
        <p:spPr>
          <a:xfrm>
            <a:off x="9501354" y="4801551"/>
            <a:ext cx="1020031" cy="388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r>
              <a:rPr lang="en-US" sz="900" b="1">
                <a:solidFill>
                  <a:schemeClr val="tx1"/>
                </a:solidFill>
              </a:rPr>
              <a:t>1L /2L+ DRO: </a:t>
            </a:r>
            <a:r>
              <a:rPr lang="en-US" sz="900">
                <a:solidFill>
                  <a:schemeClr val="tx1"/>
                </a:solidFill>
              </a:rPr>
              <a:t>2030</a:t>
            </a:r>
          </a:p>
        </p:txBody>
      </p:sp>
      <p:sp>
        <p:nvSpPr>
          <p:cNvPr id="48" name="Arrow: Pentagon 47">
            <a:extLst>
              <a:ext uri="{FF2B5EF4-FFF2-40B4-BE49-F238E27FC236}">
                <a16:creationId xmlns:a16="http://schemas.microsoft.com/office/drawing/2014/main" id="{119848A0-7A38-253A-5CB3-F0152D86027A}"/>
              </a:ext>
            </a:extLst>
          </p:cNvPr>
          <p:cNvSpPr/>
          <p:nvPr/>
        </p:nvSpPr>
        <p:spPr>
          <a:xfrm>
            <a:off x="10683202" y="4801278"/>
            <a:ext cx="1101530" cy="388620"/>
          </a:xfrm>
          <a:prstGeom prst="homePlate">
            <a:avLst/>
          </a:prstGeom>
          <a:solidFill>
            <a:srgbClr val="F1D2D4">
              <a:alpha val="30196"/>
            </a:srgb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grpSp>
        <p:nvGrpSpPr>
          <p:cNvPr id="49" name="Group 48">
            <a:extLst>
              <a:ext uri="{FF2B5EF4-FFF2-40B4-BE49-F238E27FC236}">
                <a16:creationId xmlns:a16="http://schemas.microsoft.com/office/drawing/2014/main" id="{5884468C-AB02-D3CC-6E73-1B3196BCB81D}"/>
              </a:ext>
            </a:extLst>
          </p:cNvPr>
          <p:cNvGrpSpPr/>
          <p:nvPr/>
        </p:nvGrpSpPr>
        <p:grpSpPr>
          <a:xfrm>
            <a:off x="10304253" y="4802876"/>
            <a:ext cx="1020031" cy="387022"/>
            <a:chOff x="9647769" y="3657933"/>
            <a:chExt cx="1020031" cy="387022"/>
          </a:xfrm>
        </p:grpSpPr>
        <p:sp>
          <p:nvSpPr>
            <p:cNvPr id="50" name="Arrow: Pentagon 49">
              <a:extLst>
                <a:ext uri="{FF2B5EF4-FFF2-40B4-BE49-F238E27FC236}">
                  <a16:creationId xmlns:a16="http://schemas.microsoft.com/office/drawing/2014/main" id="{9DFDC994-C173-F1F1-EB7A-17BC13334A48}"/>
                </a:ext>
              </a:extLst>
            </p:cNvPr>
            <p:cNvSpPr/>
            <p:nvPr/>
          </p:nvSpPr>
          <p:spPr>
            <a:xfrm>
              <a:off x="9732438" y="3657933"/>
              <a:ext cx="935362" cy="387022"/>
            </a:xfrm>
            <a:prstGeom prst="homePlate">
              <a:avLst/>
            </a:prstGeom>
            <a:solidFill>
              <a:srgbClr val="F1D2D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51" name="Diamond 50">
              <a:extLst>
                <a:ext uri="{FF2B5EF4-FFF2-40B4-BE49-F238E27FC236}">
                  <a16:creationId xmlns:a16="http://schemas.microsoft.com/office/drawing/2014/main" id="{E7055AC8-3E6A-C099-5C45-423565F7DC8E}"/>
                </a:ext>
              </a:extLst>
            </p:cNvPr>
            <p:cNvSpPr/>
            <p:nvPr/>
          </p:nvSpPr>
          <p:spPr>
            <a:xfrm>
              <a:off x="9647769" y="3723279"/>
              <a:ext cx="228600" cy="22860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grpSp>
      <p:sp>
        <p:nvSpPr>
          <p:cNvPr id="52" name="Rectangle 51">
            <a:extLst>
              <a:ext uri="{FF2B5EF4-FFF2-40B4-BE49-F238E27FC236}">
                <a16:creationId xmlns:a16="http://schemas.microsoft.com/office/drawing/2014/main" id="{A0B8FBDC-39B1-D35F-FD36-4B81D6EAABEE}"/>
              </a:ext>
            </a:extLst>
          </p:cNvPr>
          <p:cNvSpPr/>
          <p:nvPr/>
        </p:nvSpPr>
        <p:spPr>
          <a:xfrm>
            <a:off x="10013360" y="5224347"/>
            <a:ext cx="1806589" cy="388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r>
              <a:rPr lang="en-US" sz="900" b="1">
                <a:solidFill>
                  <a:schemeClr val="tx1"/>
                </a:solidFill>
              </a:rPr>
              <a:t>End date: </a:t>
            </a:r>
            <a:r>
              <a:rPr lang="en-US" sz="900">
                <a:solidFill>
                  <a:schemeClr val="tx1"/>
                </a:solidFill>
              </a:rPr>
              <a:t>dependent on competitor data availability</a:t>
            </a:r>
          </a:p>
        </p:txBody>
      </p:sp>
      <p:sp>
        <p:nvSpPr>
          <p:cNvPr id="18" name="Rectangle 17">
            <a:extLst>
              <a:ext uri="{FF2B5EF4-FFF2-40B4-BE49-F238E27FC236}">
                <a16:creationId xmlns:a16="http://schemas.microsoft.com/office/drawing/2014/main" id="{4CEEAAE8-567F-A4DE-80F0-12D5EB43E0F9}"/>
              </a:ext>
            </a:extLst>
          </p:cNvPr>
          <p:cNvSpPr/>
          <p:nvPr/>
        </p:nvSpPr>
        <p:spPr>
          <a:xfrm>
            <a:off x="8765796" y="6323504"/>
            <a:ext cx="2178429" cy="291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85000" lnSpcReduction="20000"/>
          </a:bodyPr>
          <a:lstStyle/>
          <a:p>
            <a:pPr algn="ctr"/>
            <a:endParaRPr lang="en-US" err="1">
              <a:solidFill>
                <a:schemeClr val="bg1"/>
              </a:solidFill>
            </a:endParaRPr>
          </a:p>
        </p:txBody>
      </p:sp>
      <p:grpSp>
        <p:nvGrpSpPr>
          <p:cNvPr id="19" name="Group 18">
            <a:extLst>
              <a:ext uri="{FF2B5EF4-FFF2-40B4-BE49-F238E27FC236}">
                <a16:creationId xmlns:a16="http://schemas.microsoft.com/office/drawing/2014/main" id="{18641CD7-6D8B-8355-ABED-147B9DE18F43}"/>
              </a:ext>
            </a:extLst>
          </p:cNvPr>
          <p:cNvGrpSpPr/>
          <p:nvPr/>
        </p:nvGrpSpPr>
        <p:grpSpPr>
          <a:xfrm>
            <a:off x="8025100" y="6327114"/>
            <a:ext cx="3279572" cy="319473"/>
            <a:chOff x="8676947" y="6306366"/>
            <a:chExt cx="3279572" cy="319473"/>
          </a:xfrm>
        </p:grpSpPr>
        <p:sp>
          <p:nvSpPr>
            <p:cNvPr id="21" name="TextBox 20">
              <a:extLst>
                <a:ext uri="{FF2B5EF4-FFF2-40B4-BE49-F238E27FC236}">
                  <a16:creationId xmlns:a16="http://schemas.microsoft.com/office/drawing/2014/main" id="{E88FC53F-E820-EFE3-FE56-B602CB7140D6}"/>
                </a:ext>
              </a:extLst>
            </p:cNvPr>
            <p:cNvSpPr txBox="1"/>
            <p:nvPr/>
          </p:nvSpPr>
          <p:spPr>
            <a:xfrm>
              <a:off x="8676947" y="6318062"/>
              <a:ext cx="470764" cy="307777"/>
            </a:xfrm>
            <a:prstGeom prst="rect">
              <a:avLst/>
            </a:prstGeom>
            <a:noFill/>
          </p:spPr>
          <p:txBody>
            <a:bodyPr wrap="square" lIns="91440" tIns="91440" rIns="91440" bIns="91440"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Poppins"/>
                  <a:ea typeface="+mn-ea"/>
                  <a:cs typeface="+mn-cs"/>
                </a:rPr>
                <a:t>Key:</a:t>
              </a:r>
            </a:p>
          </p:txBody>
        </p:sp>
        <p:grpSp>
          <p:nvGrpSpPr>
            <p:cNvPr id="22" name="Group 21">
              <a:extLst>
                <a:ext uri="{FF2B5EF4-FFF2-40B4-BE49-F238E27FC236}">
                  <a16:creationId xmlns:a16="http://schemas.microsoft.com/office/drawing/2014/main" id="{67947630-4D3F-4C82-D694-D8D15DA5F113}"/>
                </a:ext>
              </a:extLst>
            </p:cNvPr>
            <p:cNvGrpSpPr/>
            <p:nvPr/>
          </p:nvGrpSpPr>
          <p:grpSpPr>
            <a:xfrm>
              <a:off x="8743681" y="6306366"/>
              <a:ext cx="3212838" cy="307777"/>
              <a:chOff x="6686281" y="6344466"/>
              <a:chExt cx="3212838" cy="307777"/>
            </a:xfrm>
          </p:grpSpPr>
          <p:sp>
            <p:nvSpPr>
              <p:cNvPr id="23" name="Diamond 22">
                <a:extLst>
                  <a:ext uri="{FF2B5EF4-FFF2-40B4-BE49-F238E27FC236}">
                    <a16:creationId xmlns:a16="http://schemas.microsoft.com/office/drawing/2014/main" id="{3897501B-714F-C864-C075-4F3CE91D87A9}"/>
                  </a:ext>
                </a:extLst>
              </p:cNvPr>
              <p:cNvSpPr/>
              <p:nvPr/>
            </p:nvSpPr>
            <p:spPr>
              <a:xfrm>
                <a:off x="8778716" y="6409851"/>
                <a:ext cx="175330" cy="177007"/>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24" name="TextBox 23">
                <a:extLst>
                  <a:ext uri="{FF2B5EF4-FFF2-40B4-BE49-F238E27FC236}">
                    <a16:creationId xmlns:a16="http://schemas.microsoft.com/office/drawing/2014/main" id="{0150EE4E-7DEC-6087-56A9-2D79CF18378D}"/>
                  </a:ext>
                </a:extLst>
              </p:cNvPr>
              <p:cNvSpPr txBox="1"/>
              <p:nvPr/>
            </p:nvSpPr>
            <p:spPr>
              <a:xfrm>
                <a:off x="8910524" y="6344466"/>
                <a:ext cx="988595"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Milestone</a:t>
                </a:r>
              </a:p>
            </p:txBody>
          </p:sp>
          <p:sp>
            <p:nvSpPr>
              <p:cNvPr id="26" name="TextBox 25">
                <a:extLst>
                  <a:ext uri="{FF2B5EF4-FFF2-40B4-BE49-F238E27FC236}">
                    <a16:creationId xmlns:a16="http://schemas.microsoft.com/office/drawing/2014/main" id="{D0E39405-2949-1A82-3CDC-2716A61254BD}"/>
                  </a:ext>
                </a:extLst>
              </p:cNvPr>
              <p:cNvSpPr txBox="1"/>
              <p:nvPr/>
            </p:nvSpPr>
            <p:spPr>
              <a:xfrm>
                <a:off x="7292815" y="6344466"/>
                <a:ext cx="1632109"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Start of study to </a:t>
                </a:r>
                <a:r>
                  <a:rPr kumimoji="0" lang="en-US" sz="800" b="0" i="0" u="none" strike="noStrike" kern="1200" cap="none" spc="0" normalizeH="0" baseline="0" noProof="0" err="1">
                    <a:ln>
                      <a:noFill/>
                    </a:ln>
                    <a:solidFill>
                      <a:srgbClr val="000000"/>
                    </a:solidFill>
                    <a:effectLst/>
                    <a:uLnTx/>
                    <a:uFillTx/>
                    <a:latin typeface="Poppins"/>
                    <a:ea typeface="+mn-ea"/>
                    <a:cs typeface="+mn-cs"/>
                  </a:rPr>
                  <a:t>en</a:t>
                </a:r>
                <a:r>
                  <a:rPr lang="en-US" sz="800">
                    <a:solidFill>
                      <a:srgbClr val="000000"/>
                    </a:solidFill>
                    <a:latin typeface="Poppins"/>
                  </a:rPr>
                  <a:t>d/DRO</a:t>
                </a:r>
                <a:endParaRPr kumimoji="0" 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27" name="Arrow: Pentagon 26">
                <a:extLst>
                  <a:ext uri="{FF2B5EF4-FFF2-40B4-BE49-F238E27FC236}">
                    <a16:creationId xmlns:a16="http://schemas.microsoft.com/office/drawing/2014/main" id="{F251D58E-82D6-BA8A-9F8F-0AA01AA26701}"/>
                  </a:ext>
                </a:extLst>
              </p:cNvPr>
              <p:cNvSpPr/>
              <p:nvPr/>
            </p:nvSpPr>
            <p:spPr>
              <a:xfrm>
                <a:off x="7133798" y="6422147"/>
                <a:ext cx="182880" cy="182880"/>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algn="ctr"/>
                <a:endParaRPr lang="en-US">
                  <a:solidFill>
                    <a:schemeClr val="bg1"/>
                  </a:solidFill>
                </a:endParaRPr>
              </a:p>
            </p:txBody>
          </p:sp>
          <p:sp>
            <p:nvSpPr>
              <p:cNvPr id="29" name="Rectangle: Rounded Corners 28">
                <a:extLst>
                  <a:ext uri="{FF2B5EF4-FFF2-40B4-BE49-F238E27FC236}">
                    <a16:creationId xmlns:a16="http://schemas.microsoft.com/office/drawing/2014/main" id="{BBAF7B77-965C-9271-8913-DC94F8C43E94}"/>
                  </a:ext>
                </a:extLst>
              </p:cNvPr>
              <p:cNvSpPr/>
              <p:nvPr/>
            </p:nvSpPr>
            <p:spPr>
              <a:xfrm>
                <a:off x="6686281" y="6365302"/>
                <a:ext cx="2924444" cy="28150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algn="ctr"/>
                <a:endParaRPr lang="en-US">
                  <a:solidFill>
                    <a:schemeClr val="bg1"/>
                  </a:solidFill>
                </a:endParaRPr>
              </a:p>
            </p:txBody>
          </p:sp>
        </p:grpSp>
      </p:grpSp>
      <p:grpSp>
        <p:nvGrpSpPr>
          <p:cNvPr id="30" name="Group 29">
            <a:extLst>
              <a:ext uri="{FF2B5EF4-FFF2-40B4-BE49-F238E27FC236}">
                <a16:creationId xmlns:a16="http://schemas.microsoft.com/office/drawing/2014/main" id="{73D49F1C-143F-A5D8-F94C-301E8CA2C307}"/>
              </a:ext>
            </a:extLst>
          </p:cNvPr>
          <p:cNvGrpSpPr/>
          <p:nvPr/>
        </p:nvGrpSpPr>
        <p:grpSpPr>
          <a:xfrm>
            <a:off x="6044154" y="6332843"/>
            <a:ext cx="2001488" cy="395710"/>
            <a:chOff x="9984926" y="1221638"/>
            <a:chExt cx="2001488" cy="395710"/>
          </a:xfrm>
        </p:grpSpPr>
        <p:sp>
          <p:nvSpPr>
            <p:cNvPr id="31" name="Rectangle 30">
              <a:extLst>
                <a:ext uri="{FF2B5EF4-FFF2-40B4-BE49-F238E27FC236}">
                  <a16:creationId xmlns:a16="http://schemas.microsoft.com/office/drawing/2014/main" id="{F7EAC816-819E-2BE9-05B4-234C63A5074F}"/>
                </a:ext>
              </a:extLst>
            </p:cNvPr>
            <p:cNvSpPr/>
            <p:nvPr/>
          </p:nvSpPr>
          <p:spPr>
            <a:xfrm>
              <a:off x="10122616" y="1221638"/>
              <a:ext cx="1863798" cy="3957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800">
                  <a:solidFill>
                    <a:schemeClr val="tx1"/>
                  </a:solidFill>
                </a:rPr>
                <a:t>Click the </a:t>
              </a:r>
              <a:r>
                <a:rPr lang="en-US" sz="800" b="1">
                  <a:solidFill>
                    <a:schemeClr val="tx1"/>
                  </a:solidFill>
                </a:rPr>
                <a:t>gap  ID to return to gap overview</a:t>
              </a:r>
              <a:endParaRPr lang="en-US" sz="800">
                <a:solidFill>
                  <a:schemeClr val="tx1"/>
                </a:solidFill>
              </a:endParaRPr>
            </a:p>
          </p:txBody>
        </p:sp>
        <p:pic>
          <p:nvPicPr>
            <p:cNvPr id="32" name="Graphic 31" descr="Cursor with solid fill">
              <a:extLst>
                <a:ext uri="{FF2B5EF4-FFF2-40B4-BE49-F238E27FC236}">
                  <a16:creationId xmlns:a16="http://schemas.microsoft.com/office/drawing/2014/main" id="{86108649-0B1B-3327-5C11-BB22F1B244C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984926" y="1302723"/>
              <a:ext cx="216000" cy="216000"/>
            </a:xfrm>
            <a:prstGeom prst="rect">
              <a:avLst/>
            </a:prstGeom>
          </p:spPr>
        </p:pic>
      </p:grpSp>
      <p:grpSp>
        <p:nvGrpSpPr>
          <p:cNvPr id="2" name="Group 1">
            <a:extLst>
              <a:ext uri="{FF2B5EF4-FFF2-40B4-BE49-F238E27FC236}">
                <a16:creationId xmlns:a16="http://schemas.microsoft.com/office/drawing/2014/main" id="{9752C7DF-B166-B59C-EF78-C5A23110F2A1}"/>
              </a:ext>
            </a:extLst>
          </p:cNvPr>
          <p:cNvGrpSpPr/>
          <p:nvPr/>
        </p:nvGrpSpPr>
        <p:grpSpPr>
          <a:xfrm>
            <a:off x="362743" y="10216"/>
            <a:ext cx="10042505" cy="252000"/>
            <a:chOff x="362743" y="10216"/>
            <a:chExt cx="10042505" cy="252000"/>
          </a:xfrm>
        </p:grpSpPr>
        <p:sp>
          <p:nvSpPr>
            <p:cNvPr id="4" name="Pentagon 47">
              <a:extLst>
                <a:ext uri="{FF2B5EF4-FFF2-40B4-BE49-F238E27FC236}">
                  <a16:creationId xmlns:a16="http://schemas.microsoft.com/office/drawing/2014/main" id="{CF37FF5B-1803-7495-B7E7-FE0D691C8DBA}"/>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6" name="Chevron 48">
              <a:extLst>
                <a:ext uri="{FF2B5EF4-FFF2-40B4-BE49-F238E27FC236}">
                  <a16:creationId xmlns:a16="http://schemas.microsoft.com/office/drawing/2014/main" id="{E10541EF-B84E-F8D8-E1EB-05BAB5471EB5}"/>
                </a:ext>
              </a:extLst>
            </p:cNvPr>
            <p:cNvSpPr/>
            <p:nvPr/>
          </p:nvSpPr>
          <p:spPr>
            <a:xfrm>
              <a:off x="5371087"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8" name="Chevron 52">
              <a:extLst>
                <a:ext uri="{FF2B5EF4-FFF2-40B4-BE49-F238E27FC236}">
                  <a16:creationId xmlns:a16="http://schemas.microsoft.com/office/drawing/2014/main" id="{0A394445-B75C-A849-E9FF-B6890EC5D720}"/>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9" name="Chevron 54">
              <a:extLst>
                <a:ext uri="{FF2B5EF4-FFF2-40B4-BE49-F238E27FC236}">
                  <a16:creationId xmlns:a16="http://schemas.microsoft.com/office/drawing/2014/main" id="{774988CD-49C6-8FF3-BABC-BD8E2E084DB9}"/>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0" name="Chevron 48">
              <a:extLst>
                <a:ext uri="{FF2B5EF4-FFF2-40B4-BE49-F238E27FC236}">
                  <a16:creationId xmlns:a16="http://schemas.microsoft.com/office/drawing/2014/main" id="{2CB1663D-77B3-E3DB-3DBA-D863A776A0E5}"/>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2" name="Chevron 48">
              <a:extLst>
                <a:ext uri="{FF2B5EF4-FFF2-40B4-BE49-F238E27FC236}">
                  <a16:creationId xmlns:a16="http://schemas.microsoft.com/office/drawing/2014/main" id="{9E51141B-0A4E-6D59-39E8-AC753ABBDA8D}"/>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41494888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6A971-F21F-61B0-D66B-D812176F42F5}"/>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F21ECAF-4CC2-8DC5-106B-DD361B4FD23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think-cell data - do not delete" hidden="1">
                        <a:extLst>
                          <a:ext uri="{FF2B5EF4-FFF2-40B4-BE49-F238E27FC236}">
                            <a16:creationId xmlns:a16="http://schemas.microsoft.com/office/drawing/2014/main" id="{8F21ECAF-4CC2-8DC5-106B-DD361B4FD23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 name="Table 2">
            <a:extLst>
              <a:ext uri="{FF2B5EF4-FFF2-40B4-BE49-F238E27FC236}">
                <a16:creationId xmlns:a16="http://schemas.microsoft.com/office/drawing/2014/main" id="{A67FB446-38EA-B54F-D20F-51073D33905C}"/>
              </a:ext>
            </a:extLst>
          </p:cNvPr>
          <p:cNvGraphicFramePr>
            <a:graphicFrameLocks noGrp="1"/>
          </p:cNvGraphicFramePr>
          <p:nvPr>
            <p:extLst>
              <p:ext uri="{D42A27DB-BD31-4B8C-83A1-F6EECF244321}">
                <p14:modId xmlns:p14="http://schemas.microsoft.com/office/powerpoint/2010/main" val="1565112086"/>
              </p:ext>
            </p:extLst>
          </p:nvPr>
        </p:nvGraphicFramePr>
        <p:xfrm>
          <a:off x="360936" y="1361961"/>
          <a:ext cx="11489284" cy="4758742"/>
        </p:xfrm>
        <a:graphic>
          <a:graphicData uri="http://schemas.openxmlformats.org/drawingml/2006/table">
            <a:tbl>
              <a:tblPr bandRow="1">
                <a:tableStyleId>{5C22544A-7EE6-4342-B048-85BDC9FD1C3A}</a:tableStyleId>
              </a:tblPr>
              <a:tblGrid>
                <a:gridCol w="1843652">
                  <a:extLst>
                    <a:ext uri="{9D8B030D-6E8A-4147-A177-3AD203B41FA5}">
                      <a16:colId xmlns:a16="http://schemas.microsoft.com/office/drawing/2014/main" val="1362236069"/>
                    </a:ext>
                  </a:extLst>
                </a:gridCol>
                <a:gridCol w="3200400">
                  <a:extLst>
                    <a:ext uri="{9D8B030D-6E8A-4147-A177-3AD203B41FA5}">
                      <a16:colId xmlns:a16="http://schemas.microsoft.com/office/drawing/2014/main" val="366937182"/>
                    </a:ext>
                  </a:extLst>
                </a:gridCol>
                <a:gridCol w="3200400">
                  <a:extLst>
                    <a:ext uri="{9D8B030D-6E8A-4147-A177-3AD203B41FA5}">
                      <a16:colId xmlns:a16="http://schemas.microsoft.com/office/drawing/2014/main" val="3093558049"/>
                    </a:ext>
                  </a:extLst>
                </a:gridCol>
                <a:gridCol w="405604">
                  <a:extLst>
                    <a:ext uri="{9D8B030D-6E8A-4147-A177-3AD203B41FA5}">
                      <a16:colId xmlns:a16="http://schemas.microsoft.com/office/drawing/2014/main" val="320023064"/>
                    </a:ext>
                  </a:extLst>
                </a:gridCol>
                <a:gridCol w="405604">
                  <a:extLst>
                    <a:ext uri="{9D8B030D-6E8A-4147-A177-3AD203B41FA5}">
                      <a16:colId xmlns:a16="http://schemas.microsoft.com/office/drawing/2014/main" val="1426101900"/>
                    </a:ext>
                  </a:extLst>
                </a:gridCol>
                <a:gridCol w="405604">
                  <a:extLst>
                    <a:ext uri="{9D8B030D-6E8A-4147-A177-3AD203B41FA5}">
                      <a16:colId xmlns:a16="http://schemas.microsoft.com/office/drawing/2014/main" val="3689681127"/>
                    </a:ext>
                  </a:extLst>
                </a:gridCol>
                <a:gridCol w="405604">
                  <a:extLst>
                    <a:ext uri="{9D8B030D-6E8A-4147-A177-3AD203B41FA5}">
                      <a16:colId xmlns:a16="http://schemas.microsoft.com/office/drawing/2014/main" val="2083152798"/>
                    </a:ext>
                  </a:extLst>
                </a:gridCol>
                <a:gridCol w="405604">
                  <a:extLst>
                    <a:ext uri="{9D8B030D-6E8A-4147-A177-3AD203B41FA5}">
                      <a16:colId xmlns:a16="http://schemas.microsoft.com/office/drawing/2014/main" val="3966416640"/>
                    </a:ext>
                  </a:extLst>
                </a:gridCol>
                <a:gridCol w="405604">
                  <a:extLst>
                    <a:ext uri="{9D8B030D-6E8A-4147-A177-3AD203B41FA5}">
                      <a16:colId xmlns:a16="http://schemas.microsoft.com/office/drawing/2014/main" val="3189174259"/>
                    </a:ext>
                  </a:extLst>
                </a:gridCol>
                <a:gridCol w="405604">
                  <a:extLst>
                    <a:ext uri="{9D8B030D-6E8A-4147-A177-3AD203B41FA5}">
                      <a16:colId xmlns:a16="http://schemas.microsoft.com/office/drawing/2014/main" val="2611606897"/>
                    </a:ext>
                  </a:extLst>
                </a:gridCol>
                <a:gridCol w="405604">
                  <a:extLst>
                    <a:ext uri="{9D8B030D-6E8A-4147-A177-3AD203B41FA5}">
                      <a16:colId xmlns:a16="http://schemas.microsoft.com/office/drawing/2014/main" val="4158973741"/>
                    </a:ext>
                  </a:extLst>
                </a:gridCol>
              </a:tblGrid>
              <a:tr h="0">
                <a:tc rowSpan="2">
                  <a:txBody>
                    <a:bodyPr/>
                    <a:lstStyle/>
                    <a:p>
                      <a:pPr algn="ctr">
                        <a:spcBef>
                          <a:spcPts val="300"/>
                        </a:spcBef>
                      </a:pPr>
                      <a:r>
                        <a:rPr lang="en-US" sz="1200" b="1" i="0">
                          <a:solidFill>
                            <a:schemeClr val="bg1"/>
                          </a:solidFill>
                          <a:latin typeface="+mn-lt"/>
                          <a:cs typeface="Poppins" pitchFamily="2" charset="77"/>
                        </a:rPr>
                        <a:t>Tactic</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algn="ctr">
                        <a:spcBef>
                          <a:spcPts val="300"/>
                        </a:spcBef>
                      </a:pPr>
                      <a:r>
                        <a:rPr lang="en-US" sz="1200" b="1" i="0">
                          <a:solidFill>
                            <a:schemeClr val="bg1"/>
                          </a:solidFill>
                          <a:latin typeface="+mn-lt"/>
                          <a:cs typeface="Poppins" pitchFamily="2" charset="77"/>
                        </a:rPr>
                        <a:t>Gaps addressed</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lang="en-US" sz="1200" b="1" i="0">
                          <a:solidFill>
                            <a:schemeClr val="bg1"/>
                          </a:solidFill>
                          <a:latin typeface="+mn-lt"/>
                          <a:cs typeface="Poppins" pitchFamily="2" charset="77"/>
                        </a:rPr>
                        <a:t>Rationale and design considerations</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gridSpan="8">
                  <a:txBody>
                    <a:bodyPr/>
                    <a:lstStyle/>
                    <a:p>
                      <a:pPr algn="ctr">
                        <a:spcBef>
                          <a:spcPts val="300"/>
                        </a:spcBef>
                      </a:pPr>
                      <a:r>
                        <a:rPr lang="en-US" sz="1200" b="1" i="0">
                          <a:solidFill>
                            <a:schemeClr val="bg1"/>
                          </a:solidFill>
                          <a:latin typeface="+mn-lt"/>
                          <a:cs typeface="Poppins" pitchFamily="2" charset="77"/>
                        </a:rPr>
                        <a:t>Timing</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pPr algn="ctr">
                        <a:spcBef>
                          <a:spcPts val="300"/>
                        </a:spcBef>
                      </a:pP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2323510155"/>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spcBef>
                          <a:spcPts val="300"/>
                        </a:spcBef>
                      </a:pPr>
                      <a:r>
                        <a:rPr lang="en-US" sz="1000" b="1" i="0">
                          <a:solidFill>
                            <a:schemeClr val="bg1"/>
                          </a:solidFill>
                          <a:latin typeface="+mn-lt"/>
                          <a:cs typeface="Poppins" pitchFamily="2" charset="77"/>
                        </a:rPr>
                        <a:t>2026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2027</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2028</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2029</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2030</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2031</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2032</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2033+</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1184289703"/>
                  </a:ext>
                </a:extLst>
              </a:tr>
              <a:tr h="2164931">
                <a:tc>
                  <a:txBody>
                    <a:bodyPr/>
                    <a:lstStyle/>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r>
                        <a:rPr lang="en-US" sz="1000" b="0" i="0" strike="noStrike">
                          <a:solidFill>
                            <a:schemeClr val="tx1"/>
                          </a:solidFill>
                          <a:latin typeface="+mn-lt"/>
                          <a:cs typeface="Poppins"/>
                        </a:rPr>
                        <a:t>13. ITC (MAIC/STC) vs. other therapies</a:t>
                      </a:r>
                    </a:p>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endParaRPr lang="en-US" sz="1000" b="0" i="0" strike="noStrike">
                        <a:solidFill>
                          <a:schemeClr val="tx1"/>
                        </a:solidFill>
                        <a:latin typeface="+mn-lt"/>
                        <a:cs typeface="Poppins"/>
                      </a:endParaRPr>
                    </a:p>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r>
                        <a:rPr lang="en-US" sz="1000" b="1" i="0" strike="noStrike">
                          <a:solidFill>
                            <a:schemeClr val="tx1"/>
                          </a:solidFill>
                          <a:latin typeface="+mn-lt"/>
                          <a:cs typeface="Poppins"/>
                        </a:rPr>
                        <a:t>Lead: </a:t>
                      </a:r>
                      <a:r>
                        <a:rPr lang="en-US" sz="1000" b="0" i="0" strike="noStrike">
                          <a:solidFill>
                            <a:schemeClr val="tx1"/>
                          </a:solidFill>
                          <a:latin typeface="+mn-lt"/>
                          <a:cs typeface="Poppins"/>
                        </a:rPr>
                        <a:t>HEOR </a:t>
                      </a:r>
                    </a:p>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endParaRPr lang="en-US" sz="1000" b="0" i="0" strike="noStrike">
                        <a:solidFill>
                          <a:schemeClr val="tx1"/>
                        </a:solidFill>
                        <a:latin typeface="+mn-lt"/>
                        <a:cs typeface="Poppins"/>
                      </a:endParaRP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1D2D4"/>
                    </a:solidFill>
                  </a:tcPr>
                </a:tc>
                <a:tc>
                  <a:txBody>
                    <a:bodyPr/>
                    <a:lstStyle/>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1" i="0" strike="noStrike">
                          <a:solidFill>
                            <a:schemeClr val="tx1"/>
                          </a:solidFill>
                          <a:latin typeface="+mn-lt"/>
                          <a:cs typeface="Poppins"/>
                          <a:hlinkClick r:id="rId6" action="ppaction://hlinksldjump">
                            <a:extLst>
                              <a:ext uri="{A12FA001-AC4F-418D-AE19-62706E023703}">
                                <ahyp:hlinkClr xmlns:ahyp="http://schemas.microsoft.com/office/drawing/2018/hyperlinkcolor" val="tx"/>
                              </a:ext>
                            </a:extLst>
                          </a:hlinkClick>
                        </a:rPr>
                        <a:t>NSCLC_HI_05</a:t>
                      </a:r>
                      <a:r>
                        <a:rPr lang="en-US" sz="1000" b="0" i="0" strike="noStrike">
                          <a:solidFill>
                            <a:schemeClr val="tx1"/>
                          </a:solidFill>
                          <a:latin typeface="+mn-lt"/>
                          <a:cs typeface="Poppins"/>
                        </a:rPr>
                        <a:t>: </a:t>
                      </a:r>
                      <a:r>
                        <a:rPr lang="en-US" sz="1000" b="0" i="0" strike="noStrike" kern="1200">
                          <a:solidFill>
                            <a:schemeClr val="tx1"/>
                          </a:solidFill>
                          <a:latin typeface="+mn-lt"/>
                          <a:ea typeface="+mn-ea"/>
                          <a:cs typeface="Poppins"/>
                        </a:rPr>
                        <a:t>BGB-58067's efficacy and toxicity profile in MTAP-del population compared to emerging MTA-cooperative PRMT5i and other SoC</a:t>
                      </a:r>
                      <a:endParaRPr lang="en-US" sz="1000" b="0" i="0" strike="noStrike">
                        <a:solidFill>
                          <a:schemeClr val="tx1"/>
                        </a:solidFill>
                        <a:latin typeface="+mn-lt"/>
                        <a:cs typeface="Poppins"/>
                      </a:endParaRP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mn-lt"/>
                          <a:cs typeface="Poppins"/>
                        </a:rPr>
                        <a:t>Design considerations:</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a:rPr>
                        <a:t>Master SLR to feed into the unanchored MAIC/STC model, to be supplemented by new data from BMS-986504, vopimetostat, ivonescimab, Dato-DXd, and other emerging SoC and leveraged for the ITC</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lang="en-US" sz="1000" b="0" strike="noStrike">
                          <a:solidFill>
                            <a:schemeClr val="tx1"/>
                          </a:solidFill>
                          <a:latin typeface="+mn-lt"/>
                        </a:rPr>
                        <a:t>ITC analysis to enable downstream benefit-risk/value assessment</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lang="en-US" sz="1000" b="0" strike="noStrike">
                          <a:solidFill>
                            <a:schemeClr val="tx1"/>
                          </a:solidFill>
                          <a:latin typeface="+mn-lt"/>
                        </a:rPr>
                        <a:t>BRA predicted on the current SoC; may differ based on regional markets</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74479344"/>
                  </a:ext>
                </a:extLst>
              </a:tr>
              <a:tr h="2164931">
                <a:tc>
                  <a:txBody>
                    <a:bodyPr/>
                    <a:lstStyle/>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r>
                        <a:rPr lang="en-US" sz="1000" b="0" i="0" strike="noStrike">
                          <a:solidFill>
                            <a:schemeClr val="tx1"/>
                          </a:solidFill>
                          <a:latin typeface="+mn-lt"/>
                          <a:cs typeface="Poppins"/>
                        </a:rPr>
                        <a:t>14. ITC vs. anti-PD-1 monotherapy in PD-L1-high (≥50%) non-squamous NSCLC patients</a:t>
                      </a:r>
                    </a:p>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endParaRPr lang="en-US" sz="1000" b="0" i="0" strike="noStrike">
                        <a:solidFill>
                          <a:schemeClr val="tx1"/>
                        </a:solidFill>
                        <a:latin typeface="+mn-lt"/>
                        <a:cs typeface="Poppins"/>
                      </a:endParaRPr>
                    </a:p>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r>
                        <a:rPr lang="en-US" sz="1000" b="1" i="0" strike="noStrike">
                          <a:solidFill>
                            <a:schemeClr val="tx1"/>
                          </a:solidFill>
                          <a:latin typeface="+mn-lt"/>
                          <a:cs typeface="Poppins"/>
                        </a:rPr>
                        <a:t>Lead: </a:t>
                      </a:r>
                      <a:r>
                        <a:rPr lang="en-US" sz="1000" b="0" i="0" strike="noStrike">
                          <a:solidFill>
                            <a:schemeClr val="tx1"/>
                          </a:solidFill>
                          <a:latin typeface="+mn-lt"/>
                          <a:cs typeface="Poppins"/>
                        </a:rPr>
                        <a:t>HEOR </a:t>
                      </a:r>
                    </a:p>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endParaRPr lang="en-US" sz="1000" b="0" i="0" strike="noStrike">
                        <a:solidFill>
                          <a:schemeClr val="tx1"/>
                        </a:solidFill>
                        <a:latin typeface="+mn-lt"/>
                        <a:cs typeface="Poppins"/>
                      </a:endParaRPr>
                    </a:p>
                    <a:p>
                      <a:pPr marL="0" marR="0" lvl="0" indent="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None/>
                        <a:tabLst/>
                        <a:defRPr/>
                      </a:pPr>
                      <a:endParaRPr lang="en-US" sz="1000" b="0" i="0" strike="noStrike">
                        <a:solidFill>
                          <a:schemeClr val="tx1"/>
                        </a:solidFill>
                        <a:latin typeface="+mn-lt"/>
                        <a:cs typeface="Poppins"/>
                      </a:endParaRP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1D2D4"/>
                    </a:solidFill>
                  </a:tcPr>
                </a:tc>
                <a:tc>
                  <a:txBody>
                    <a:bodyPr/>
                    <a:lstStyle/>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1" i="0" strike="noStrike">
                          <a:solidFill>
                            <a:schemeClr val="tx1"/>
                          </a:solidFill>
                          <a:latin typeface="+mn-lt"/>
                          <a:cs typeface="Poppins"/>
                          <a:hlinkClick r:id="rId7" action="ppaction://hlinksldjump">
                            <a:extLst>
                              <a:ext uri="{A12FA001-AC4F-418D-AE19-62706E023703}">
                                <ahyp:hlinkClr xmlns:ahyp="http://schemas.microsoft.com/office/drawing/2018/hyperlinkcolor" val="tx"/>
                              </a:ext>
                            </a:extLst>
                          </a:hlinkClick>
                        </a:rPr>
                        <a:t>NSCLC_HI_14</a:t>
                      </a:r>
                      <a:r>
                        <a:rPr lang="en-US" sz="1000" b="0" i="0" strike="noStrike">
                          <a:solidFill>
                            <a:schemeClr val="tx1"/>
                          </a:solidFill>
                          <a:latin typeface="+mn-lt"/>
                          <a:cs typeface="Poppins"/>
                        </a:rPr>
                        <a:t>: BGB-58067’s efficacy and safety of triplet therapy across PD-L1 strata compared to standard doublet therapy and anti-PD-1 monotherapy in 1L</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mn-lt"/>
                          <a:cs typeface="Poppins"/>
                        </a:rPr>
                        <a:t>Design considerations:</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lang="en-US" sz="1000" b="0" strike="noStrike">
                          <a:solidFill>
                            <a:schemeClr val="tx1"/>
                          </a:solidFill>
                          <a:latin typeface="+mn-lt"/>
                        </a:rPr>
                        <a:t>ITC analysis to enable downstream benefit-risk/value assessment</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lang="en-US" sz="1000" b="0" strike="noStrike">
                          <a:solidFill>
                            <a:schemeClr val="tx1"/>
                          </a:solidFill>
                          <a:latin typeface="+mn-lt"/>
                        </a:rPr>
                        <a:t>BRA predicted on the current SoC; may differ based on regional markets</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34765954"/>
                  </a:ext>
                </a:extLst>
              </a:tr>
            </a:tbl>
          </a:graphicData>
        </a:graphic>
      </p:graphicFrame>
      <p:sp>
        <p:nvSpPr>
          <p:cNvPr id="20" name="Title 19">
            <a:extLst>
              <a:ext uri="{FF2B5EF4-FFF2-40B4-BE49-F238E27FC236}">
                <a16:creationId xmlns:a16="http://schemas.microsoft.com/office/drawing/2014/main" id="{9C863C7E-1E82-6071-36ED-9DF1D5A07200}"/>
              </a:ext>
            </a:extLst>
          </p:cNvPr>
          <p:cNvSpPr>
            <a:spLocks noGrp="1"/>
          </p:cNvSpPr>
          <p:nvPr>
            <p:ph type="title"/>
          </p:nvPr>
        </p:nvSpPr>
        <p:spPr>
          <a:xfrm>
            <a:off x="358337" y="338328"/>
            <a:ext cx="11470125" cy="738664"/>
          </a:xfrm>
        </p:spPr>
        <p:txBody>
          <a:bodyPr vert="horz" rIns="0">
            <a:spAutoFit/>
          </a:bodyPr>
          <a:lstStyle/>
          <a:p>
            <a:r>
              <a:rPr lang="en-US" sz="2400"/>
              <a:t>Four</a:t>
            </a:r>
            <a:r>
              <a:rPr lang="en-US" sz="2400" b="1">
                <a:solidFill>
                  <a:srgbClr val="E4AAAE"/>
                </a:solidFill>
              </a:rPr>
              <a:t> ITC packages </a:t>
            </a:r>
            <a:r>
              <a:rPr lang="en-US" sz="2400"/>
              <a:t>generate evidence to position BGB-58067 within the evolving 1L / 2L+ NSCLC treatment landscape (2/2)</a:t>
            </a:r>
          </a:p>
        </p:txBody>
      </p:sp>
      <p:sp>
        <p:nvSpPr>
          <p:cNvPr id="14" name="Rectangle 13">
            <a:extLst>
              <a:ext uri="{FF2B5EF4-FFF2-40B4-BE49-F238E27FC236}">
                <a16:creationId xmlns:a16="http://schemas.microsoft.com/office/drawing/2014/main" id="{5C0A2C7E-2F29-493A-63DC-E2E3F0689CA8}"/>
              </a:ext>
            </a:extLst>
          </p:cNvPr>
          <p:cNvSpPr/>
          <p:nvPr/>
        </p:nvSpPr>
        <p:spPr>
          <a:xfrm>
            <a:off x="9501354" y="2452486"/>
            <a:ext cx="1020031" cy="388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r>
              <a:rPr lang="en-US" sz="900" b="1">
                <a:solidFill>
                  <a:schemeClr val="tx1"/>
                </a:solidFill>
              </a:rPr>
              <a:t>1L /2L+ DRO: </a:t>
            </a:r>
            <a:r>
              <a:rPr lang="en-US" sz="900">
                <a:solidFill>
                  <a:schemeClr val="tx1"/>
                </a:solidFill>
              </a:rPr>
              <a:t>2030</a:t>
            </a:r>
          </a:p>
        </p:txBody>
      </p:sp>
      <p:sp>
        <p:nvSpPr>
          <p:cNvPr id="17" name="Arrow: Pentagon 16">
            <a:extLst>
              <a:ext uri="{FF2B5EF4-FFF2-40B4-BE49-F238E27FC236}">
                <a16:creationId xmlns:a16="http://schemas.microsoft.com/office/drawing/2014/main" id="{54792EBF-5FDD-8857-1BC1-A50C86D70482}"/>
              </a:ext>
            </a:extLst>
          </p:cNvPr>
          <p:cNvSpPr/>
          <p:nvPr/>
        </p:nvSpPr>
        <p:spPr>
          <a:xfrm>
            <a:off x="10683202" y="2452213"/>
            <a:ext cx="1101530" cy="388620"/>
          </a:xfrm>
          <a:prstGeom prst="homePlate">
            <a:avLst/>
          </a:prstGeom>
          <a:solidFill>
            <a:srgbClr val="F1D2D4">
              <a:alpha val="30196"/>
            </a:srgb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grpSp>
        <p:nvGrpSpPr>
          <p:cNvPr id="18" name="Group 17">
            <a:extLst>
              <a:ext uri="{FF2B5EF4-FFF2-40B4-BE49-F238E27FC236}">
                <a16:creationId xmlns:a16="http://schemas.microsoft.com/office/drawing/2014/main" id="{6EAE096B-113A-0DB2-2616-1874865CE074}"/>
              </a:ext>
            </a:extLst>
          </p:cNvPr>
          <p:cNvGrpSpPr/>
          <p:nvPr/>
        </p:nvGrpSpPr>
        <p:grpSpPr>
          <a:xfrm>
            <a:off x="10304253" y="2453811"/>
            <a:ext cx="1020031" cy="387022"/>
            <a:chOff x="9647769" y="3657933"/>
            <a:chExt cx="1020031" cy="387022"/>
          </a:xfrm>
        </p:grpSpPr>
        <p:sp>
          <p:nvSpPr>
            <p:cNvPr id="19" name="Arrow: Pentagon 18">
              <a:extLst>
                <a:ext uri="{FF2B5EF4-FFF2-40B4-BE49-F238E27FC236}">
                  <a16:creationId xmlns:a16="http://schemas.microsoft.com/office/drawing/2014/main" id="{E767D06E-3E79-CA2B-9443-E2AFA88A6E89}"/>
                </a:ext>
              </a:extLst>
            </p:cNvPr>
            <p:cNvSpPr/>
            <p:nvPr/>
          </p:nvSpPr>
          <p:spPr>
            <a:xfrm>
              <a:off x="9732438" y="3657933"/>
              <a:ext cx="935362" cy="387022"/>
            </a:xfrm>
            <a:prstGeom prst="homePlate">
              <a:avLst/>
            </a:prstGeom>
            <a:solidFill>
              <a:srgbClr val="F1D2D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47" name="Diamond 46">
              <a:extLst>
                <a:ext uri="{FF2B5EF4-FFF2-40B4-BE49-F238E27FC236}">
                  <a16:creationId xmlns:a16="http://schemas.microsoft.com/office/drawing/2014/main" id="{4D0EC78B-89A1-C6FD-FCEA-7E0171E7813F}"/>
                </a:ext>
              </a:extLst>
            </p:cNvPr>
            <p:cNvSpPr/>
            <p:nvPr/>
          </p:nvSpPr>
          <p:spPr>
            <a:xfrm>
              <a:off x="9647769" y="3723279"/>
              <a:ext cx="228600" cy="22860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grpSp>
      <p:sp>
        <p:nvSpPr>
          <p:cNvPr id="48" name="Rectangle 47">
            <a:extLst>
              <a:ext uri="{FF2B5EF4-FFF2-40B4-BE49-F238E27FC236}">
                <a16:creationId xmlns:a16="http://schemas.microsoft.com/office/drawing/2014/main" id="{F3FF6A0B-CBD2-E87A-C479-9DFCD5E4C249}"/>
              </a:ext>
            </a:extLst>
          </p:cNvPr>
          <p:cNvSpPr/>
          <p:nvPr/>
        </p:nvSpPr>
        <p:spPr>
          <a:xfrm>
            <a:off x="10013360" y="2875282"/>
            <a:ext cx="1806589" cy="388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r>
              <a:rPr lang="en-US" sz="900" b="1">
                <a:solidFill>
                  <a:schemeClr val="tx1"/>
                </a:solidFill>
              </a:rPr>
              <a:t>End date: </a:t>
            </a:r>
            <a:r>
              <a:rPr lang="en-US" sz="900">
                <a:solidFill>
                  <a:schemeClr val="tx1"/>
                </a:solidFill>
              </a:rPr>
              <a:t>dependent on  competitor data availability</a:t>
            </a:r>
          </a:p>
        </p:txBody>
      </p:sp>
      <p:sp>
        <p:nvSpPr>
          <p:cNvPr id="49" name="Rectangle 48">
            <a:extLst>
              <a:ext uri="{FF2B5EF4-FFF2-40B4-BE49-F238E27FC236}">
                <a16:creationId xmlns:a16="http://schemas.microsoft.com/office/drawing/2014/main" id="{0E99A46E-FFA5-8C18-5C9A-EFBEA0FED2FE}"/>
              </a:ext>
            </a:extLst>
          </p:cNvPr>
          <p:cNvSpPr/>
          <p:nvPr/>
        </p:nvSpPr>
        <p:spPr>
          <a:xfrm>
            <a:off x="9501354" y="4712206"/>
            <a:ext cx="1020031" cy="388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r>
              <a:rPr lang="en-US" sz="900" b="1">
                <a:solidFill>
                  <a:schemeClr val="tx1"/>
                </a:solidFill>
              </a:rPr>
              <a:t>1L  DRO: </a:t>
            </a:r>
            <a:r>
              <a:rPr lang="en-US" sz="900">
                <a:solidFill>
                  <a:schemeClr val="tx1"/>
                </a:solidFill>
              </a:rPr>
              <a:t>2030</a:t>
            </a:r>
          </a:p>
        </p:txBody>
      </p:sp>
      <p:grpSp>
        <p:nvGrpSpPr>
          <p:cNvPr id="51" name="Group 50">
            <a:extLst>
              <a:ext uri="{FF2B5EF4-FFF2-40B4-BE49-F238E27FC236}">
                <a16:creationId xmlns:a16="http://schemas.microsoft.com/office/drawing/2014/main" id="{965B4BF1-B050-3939-C4AC-A0444AB8225D}"/>
              </a:ext>
            </a:extLst>
          </p:cNvPr>
          <p:cNvGrpSpPr/>
          <p:nvPr/>
        </p:nvGrpSpPr>
        <p:grpSpPr>
          <a:xfrm>
            <a:off x="10304253" y="4713531"/>
            <a:ext cx="1020031" cy="387022"/>
            <a:chOff x="9647769" y="3657933"/>
            <a:chExt cx="1020031" cy="387022"/>
          </a:xfrm>
        </p:grpSpPr>
        <p:sp>
          <p:nvSpPr>
            <p:cNvPr id="52" name="Arrow: Pentagon 51">
              <a:extLst>
                <a:ext uri="{FF2B5EF4-FFF2-40B4-BE49-F238E27FC236}">
                  <a16:creationId xmlns:a16="http://schemas.microsoft.com/office/drawing/2014/main" id="{944CE19D-5FB3-3B1B-9BEC-D1150DC8C6B3}"/>
                </a:ext>
              </a:extLst>
            </p:cNvPr>
            <p:cNvSpPr/>
            <p:nvPr/>
          </p:nvSpPr>
          <p:spPr>
            <a:xfrm>
              <a:off x="9732438" y="3657933"/>
              <a:ext cx="935362" cy="387022"/>
            </a:xfrm>
            <a:prstGeom prst="homePlate">
              <a:avLst/>
            </a:prstGeom>
            <a:solidFill>
              <a:srgbClr val="F1D2D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53" name="Diamond 52">
              <a:extLst>
                <a:ext uri="{FF2B5EF4-FFF2-40B4-BE49-F238E27FC236}">
                  <a16:creationId xmlns:a16="http://schemas.microsoft.com/office/drawing/2014/main" id="{2161D6AE-965B-10F2-8166-4C7EDE9B310B}"/>
                </a:ext>
              </a:extLst>
            </p:cNvPr>
            <p:cNvSpPr/>
            <p:nvPr/>
          </p:nvSpPr>
          <p:spPr>
            <a:xfrm>
              <a:off x="9647769" y="3723279"/>
              <a:ext cx="228600" cy="22860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grpSp>
      <p:sp>
        <p:nvSpPr>
          <p:cNvPr id="9" name="Footer Placeholder 2">
            <a:extLst>
              <a:ext uri="{FF2B5EF4-FFF2-40B4-BE49-F238E27FC236}">
                <a16:creationId xmlns:a16="http://schemas.microsoft.com/office/drawing/2014/main" id="{CE67C0CE-D6A9-A180-A8CA-E424530ADE12}"/>
              </a:ext>
            </a:extLst>
          </p:cNvPr>
          <p:cNvSpPr>
            <a:spLocks noGrp="1"/>
          </p:cNvSpPr>
          <p:nvPr>
            <p:ph type="ftr" sz="quarter" idx="10"/>
          </p:nvPr>
        </p:nvSpPr>
        <p:spPr>
          <a:xfrm>
            <a:off x="328864" y="6275655"/>
            <a:ext cx="5681293" cy="526584"/>
          </a:xfrm>
        </p:spPr>
        <p:txBody>
          <a:bodyPr/>
          <a:lstStyle/>
          <a:p>
            <a:pPr>
              <a:defRPr/>
            </a:pPr>
            <a:r>
              <a:rPr lang="en-US">
                <a:solidFill>
                  <a:srgbClr val="000000">
                    <a:lumMod val="65000"/>
                    <a:lumOff val="35000"/>
                  </a:srgbClr>
                </a:solidFill>
              </a:rPr>
              <a:t>Abbreviations: </a:t>
            </a:r>
            <a:r>
              <a:rPr lang="en-US"/>
              <a:t>BMS: Bristol Myers Squibb; BRA: Benefit-Risk Assessment; DRO: Data Readout; HEOR: Health Economics and Outcomes Research; HI: High Priority; ITC: Indirect Treatment Comparison; MAIC: Matching-Adjusted Indirect Comparison; MTA: </a:t>
            </a:r>
            <a:r>
              <a:rPr lang="en-US" err="1"/>
              <a:t>Methylthioadenosine</a:t>
            </a:r>
            <a:r>
              <a:rPr lang="en-US"/>
              <a:t>; MTAP-del: </a:t>
            </a:r>
            <a:r>
              <a:rPr lang="en-US" err="1"/>
              <a:t>Methylthioadenosine</a:t>
            </a:r>
            <a:r>
              <a:rPr lang="en-US"/>
              <a:t> Phosphorylase-deleted; NSCLC: Non-Small Cell Lung Cancer; PD-1: Programmed Cell Death Protein 1; PD-L1: Programmed Death-Ligand 1; PRMT5i: Protein Arginine Methyltransferase 5 Inhibitor; SoC: Standard of Care; STC: Simulated Treatment Comparison</a:t>
            </a:r>
          </a:p>
        </p:txBody>
      </p:sp>
      <p:sp>
        <p:nvSpPr>
          <p:cNvPr id="11" name="Rectangle 10">
            <a:extLst>
              <a:ext uri="{FF2B5EF4-FFF2-40B4-BE49-F238E27FC236}">
                <a16:creationId xmlns:a16="http://schemas.microsoft.com/office/drawing/2014/main" id="{2F81FB2E-69BD-743E-8BC5-292B4B861401}"/>
              </a:ext>
            </a:extLst>
          </p:cNvPr>
          <p:cNvSpPr/>
          <p:nvPr/>
        </p:nvSpPr>
        <p:spPr>
          <a:xfrm>
            <a:off x="8765796" y="6280266"/>
            <a:ext cx="2242113" cy="3342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92500" lnSpcReduction="10000"/>
          </a:bodyPr>
          <a:lstStyle/>
          <a:p>
            <a:pPr algn="ctr"/>
            <a:endParaRPr lang="en-US" err="1">
              <a:solidFill>
                <a:schemeClr val="bg1"/>
              </a:solidFill>
            </a:endParaRPr>
          </a:p>
        </p:txBody>
      </p:sp>
      <p:grpSp>
        <p:nvGrpSpPr>
          <p:cNvPr id="13" name="Group 12">
            <a:extLst>
              <a:ext uri="{FF2B5EF4-FFF2-40B4-BE49-F238E27FC236}">
                <a16:creationId xmlns:a16="http://schemas.microsoft.com/office/drawing/2014/main" id="{B1C40AC8-D37C-ED02-5D81-359DA1FF4E30}"/>
              </a:ext>
            </a:extLst>
          </p:cNvPr>
          <p:cNvGrpSpPr/>
          <p:nvPr/>
        </p:nvGrpSpPr>
        <p:grpSpPr>
          <a:xfrm>
            <a:off x="8025100" y="6327114"/>
            <a:ext cx="3279572" cy="319473"/>
            <a:chOff x="8676947" y="6306366"/>
            <a:chExt cx="3279572" cy="319473"/>
          </a:xfrm>
        </p:grpSpPr>
        <p:sp>
          <p:nvSpPr>
            <p:cNvPr id="21" name="TextBox 20">
              <a:extLst>
                <a:ext uri="{FF2B5EF4-FFF2-40B4-BE49-F238E27FC236}">
                  <a16:creationId xmlns:a16="http://schemas.microsoft.com/office/drawing/2014/main" id="{FF3DE917-CD9C-E4D7-2B8E-65138526000E}"/>
                </a:ext>
              </a:extLst>
            </p:cNvPr>
            <p:cNvSpPr txBox="1"/>
            <p:nvPr/>
          </p:nvSpPr>
          <p:spPr>
            <a:xfrm>
              <a:off x="8676947" y="6318062"/>
              <a:ext cx="470764" cy="307777"/>
            </a:xfrm>
            <a:prstGeom prst="rect">
              <a:avLst/>
            </a:prstGeom>
            <a:noFill/>
          </p:spPr>
          <p:txBody>
            <a:bodyPr wrap="square" lIns="91440" tIns="91440" rIns="91440" bIns="91440"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Poppins"/>
                  <a:ea typeface="+mn-ea"/>
                  <a:cs typeface="+mn-cs"/>
                </a:rPr>
                <a:t>Key:</a:t>
              </a:r>
            </a:p>
          </p:txBody>
        </p:sp>
        <p:grpSp>
          <p:nvGrpSpPr>
            <p:cNvPr id="22" name="Group 21">
              <a:extLst>
                <a:ext uri="{FF2B5EF4-FFF2-40B4-BE49-F238E27FC236}">
                  <a16:creationId xmlns:a16="http://schemas.microsoft.com/office/drawing/2014/main" id="{C94AEA10-68E4-C35C-3DFE-23CE09FB3252}"/>
                </a:ext>
              </a:extLst>
            </p:cNvPr>
            <p:cNvGrpSpPr/>
            <p:nvPr/>
          </p:nvGrpSpPr>
          <p:grpSpPr>
            <a:xfrm>
              <a:off x="8743681" y="6306366"/>
              <a:ext cx="3212838" cy="307777"/>
              <a:chOff x="6686281" y="6344466"/>
              <a:chExt cx="3212838" cy="307777"/>
            </a:xfrm>
          </p:grpSpPr>
          <p:sp>
            <p:nvSpPr>
              <p:cNvPr id="23" name="Diamond 22">
                <a:extLst>
                  <a:ext uri="{FF2B5EF4-FFF2-40B4-BE49-F238E27FC236}">
                    <a16:creationId xmlns:a16="http://schemas.microsoft.com/office/drawing/2014/main" id="{58488671-0309-E2AF-83FF-24257BB7DB59}"/>
                  </a:ext>
                </a:extLst>
              </p:cNvPr>
              <p:cNvSpPr/>
              <p:nvPr/>
            </p:nvSpPr>
            <p:spPr>
              <a:xfrm>
                <a:off x="8778716" y="6409851"/>
                <a:ext cx="175330" cy="177007"/>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24" name="TextBox 23">
                <a:extLst>
                  <a:ext uri="{FF2B5EF4-FFF2-40B4-BE49-F238E27FC236}">
                    <a16:creationId xmlns:a16="http://schemas.microsoft.com/office/drawing/2014/main" id="{EBBC9C01-5947-581E-A332-80554026E801}"/>
                  </a:ext>
                </a:extLst>
              </p:cNvPr>
              <p:cNvSpPr txBox="1"/>
              <p:nvPr/>
            </p:nvSpPr>
            <p:spPr>
              <a:xfrm>
                <a:off x="8910524" y="6344466"/>
                <a:ext cx="988595"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Milestone</a:t>
                </a:r>
              </a:p>
            </p:txBody>
          </p:sp>
          <p:sp>
            <p:nvSpPr>
              <p:cNvPr id="25" name="TextBox 24">
                <a:extLst>
                  <a:ext uri="{FF2B5EF4-FFF2-40B4-BE49-F238E27FC236}">
                    <a16:creationId xmlns:a16="http://schemas.microsoft.com/office/drawing/2014/main" id="{AF88D81E-BA65-A406-AC8E-153BC7B9972B}"/>
                  </a:ext>
                </a:extLst>
              </p:cNvPr>
              <p:cNvSpPr txBox="1"/>
              <p:nvPr/>
            </p:nvSpPr>
            <p:spPr>
              <a:xfrm>
                <a:off x="7292815" y="6344466"/>
                <a:ext cx="1632109"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Start of study to </a:t>
                </a:r>
                <a:r>
                  <a:rPr kumimoji="0" lang="en-US" sz="800" b="0" i="0" u="none" strike="noStrike" kern="1200" cap="none" spc="0" normalizeH="0" baseline="0" noProof="0" err="1">
                    <a:ln>
                      <a:noFill/>
                    </a:ln>
                    <a:solidFill>
                      <a:srgbClr val="000000"/>
                    </a:solidFill>
                    <a:effectLst/>
                    <a:uLnTx/>
                    <a:uFillTx/>
                    <a:latin typeface="Poppins"/>
                    <a:ea typeface="+mn-ea"/>
                    <a:cs typeface="+mn-cs"/>
                  </a:rPr>
                  <a:t>en</a:t>
                </a:r>
                <a:r>
                  <a:rPr lang="en-US" sz="800">
                    <a:solidFill>
                      <a:srgbClr val="000000"/>
                    </a:solidFill>
                    <a:latin typeface="Poppins"/>
                  </a:rPr>
                  <a:t>d/DRO</a:t>
                </a:r>
                <a:endParaRPr kumimoji="0" 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26" name="Arrow: Pentagon 25">
                <a:extLst>
                  <a:ext uri="{FF2B5EF4-FFF2-40B4-BE49-F238E27FC236}">
                    <a16:creationId xmlns:a16="http://schemas.microsoft.com/office/drawing/2014/main" id="{65177B7F-8B9B-9A49-0821-34C15FE9B128}"/>
                  </a:ext>
                </a:extLst>
              </p:cNvPr>
              <p:cNvSpPr/>
              <p:nvPr/>
            </p:nvSpPr>
            <p:spPr>
              <a:xfrm>
                <a:off x="7133798" y="6422147"/>
                <a:ext cx="182880" cy="182880"/>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algn="ctr"/>
                <a:endParaRPr lang="en-US">
                  <a:solidFill>
                    <a:schemeClr val="bg1"/>
                  </a:solidFill>
                </a:endParaRPr>
              </a:p>
            </p:txBody>
          </p:sp>
          <p:sp>
            <p:nvSpPr>
              <p:cNvPr id="27" name="Rectangle: Rounded Corners 26">
                <a:extLst>
                  <a:ext uri="{FF2B5EF4-FFF2-40B4-BE49-F238E27FC236}">
                    <a16:creationId xmlns:a16="http://schemas.microsoft.com/office/drawing/2014/main" id="{1BADAFF0-C922-0554-4366-95DFEB665959}"/>
                  </a:ext>
                </a:extLst>
              </p:cNvPr>
              <p:cNvSpPr/>
              <p:nvPr/>
            </p:nvSpPr>
            <p:spPr>
              <a:xfrm>
                <a:off x="6686281" y="6365302"/>
                <a:ext cx="2924444" cy="28150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algn="ctr"/>
                <a:endParaRPr lang="en-US">
                  <a:solidFill>
                    <a:schemeClr val="bg1"/>
                  </a:solidFill>
                </a:endParaRPr>
              </a:p>
            </p:txBody>
          </p:sp>
        </p:grpSp>
      </p:grpSp>
      <p:grpSp>
        <p:nvGrpSpPr>
          <p:cNvPr id="28" name="Group 27">
            <a:extLst>
              <a:ext uri="{FF2B5EF4-FFF2-40B4-BE49-F238E27FC236}">
                <a16:creationId xmlns:a16="http://schemas.microsoft.com/office/drawing/2014/main" id="{5F7729D8-5B90-FD16-2EF9-0C80DED1E3CF}"/>
              </a:ext>
            </a:extLst>
          </p:cNvPr>
          <p:cNvGrpSpPr/>
          <p:nvPr/>
        </p:nvGrpSpPr>
        <p:grpSpPr>
          <a:xfrm>
            <a:off x="6044154" y="6332843"/>
            <a:ext cx="2001488" cy="395710"/>
            <a:chOff x="9984926" y="1221638"/>
            <a:chExt cx="2001488" cy="395710"/>
          </a:xfrm>
        </p:grpSpPr>
        <p:sp>
          <p:nvSpPr>
            <p:cNvPr id="29" name="Rectangle 28">
              <a:extLst>
                <a:ext uri="{FF2B5EF4-FFF2-40B4-BE49-F238E27FC236}">
                  <a16:creationId xmlns:a16="http://schemas.microsoft.com/office/drawing/2014/main" id="{E3177546-CD36-FB10-5494-8E9AD48C8BEC}"/>
                </a:ext>
              </a:extLst>
            </p:cNvPr>
            <p:cNvSpPr/>
            <p:nvPr/>
          </p:nvSpPr>
          <p:spPr>
            <a:xfrm>
              <a:off x="10122616" y="1221638"/>
              <a:ext cx="1863798" cy="3957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800">
                  <a:solidFill>
                    <a:schemeClr val="tx1"/>
                  </a:solidFill>
                </a:rPr>
                <a:t>Click the </a:t>
              </a:r>
              <a:r>
                <a:rPr lang="en-US" sz="800" b="1">
                  <a:solidFill>
                    <a:schemeClr val="tx1"/>
                  </a:solidFill>
                </a:rPr>
                <a:t>gap  ID to return to gap overview</a:t>
              </a:r>
              <a:endParaRPr lang="en-US" sz="800">
                <a:solidFill>
                  <a:schemeClr val="tx1"/>
                </a:solidFill>
              </a:endParaRPr>
            </a:p>
          </p:txBody>
        </p:sp>
        <p:pic>
          <p:nvPicPr>
            <p:cNvPr id="30" name="Graphic 29" descr="Cursor with solid fill">
              <a:extLst>
                <a:ext uri="{FF2B5EF4-FFF2-40B4-BE49-F238E27FC236}">
                  <a16:creationId xmlns:a16="http://schemas.microsoft.com/office/drawing/2014/main" id="{85A0220B-0297-1759-5883-4A7547F3144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984926" y="1302723"/>
              <a:ext cx="216000" cy="216000"/>
            </a:xfrm>
            <a:prstGeom prst="rect">
              <a:avLst/>
            </a:prstGeom>
          </p:spPr>
        </p:pic>
      </p:grpSp>
      <p:grpSp>
        <p:nvGrpSpPr>
          <p:cNvPr id="2" name="Group 1">
            <a:extLst>
              <a:ext uri="{FF2B5EF4-FFF2-40B4-BE49-F238E27FC236}">
                <a16:creationId xmlns:a16="http://schemas.microsoft.com/office/drawing/2014/main" id="{35CD9239-5B66-2277-7E36-E2B11BB191E1}"/>
              </a:ext>
            </a:extLst>
          </p:cNvPr>
          <p:cNvGrpSpPr/>
          <p:nvPr/>
        </p:nvGrpSpPr>
        <p:grpSpPr>
          <a:xfrm>
            <a:off x="362743" y="10216"/>
            <a:ext cx="10042505" cy="252000"/>
            <a:chOff x="362743" y="10216"/>
            <a:chExt cx="10042505" cy="252000"/>
          </a:xfrm>
        </p:grpSpPr>
        <p:sp>
          <p:nvSpPr>
            <p:cNvPr id="4" name="Pentagon 47">
              <a:extLst>
                <a:ext uri="{FF2B5EF4-FFF2-40B4-BE49-F238E27FC236}">
                  <a16:creationId xmlns:a16="http://schemas.microsoft.com/office/drawing/2014/main" id="{C7A5E8C6-F17E-2E27-2869-4E429FD26114}"/>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6" name="Chevron 48">
              <a:extLst>
                <a:ext uri="{FF2B5EF4-FFF2-40B4-BE49-F238E27FC236}">
                  <a16:creationId xmlns:a16="http://schemas.microsoft.com/office/drawing/2014/main" id="{4AB66ACA-7C95-384A-CD3A-D5B5E5709966}"/>
                </a:ext>
              </a:extLst>
            </p:cNvPr>
            <p:cNvSpPr/>
            <p:nvPr/>
          </p:nvSpPr>
          <p:spPr>
            <a:xfrm>
              <a:off x="5371087"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7" name="Chevron 52">
              <a:extLst>
                <a:ext uri="{FF2B5EF4-FFF2-40B4-BE49-F238E27FC236}">
                  <a16:creationId xmlns:a16="http://schemas.microsoft.com/office/drawing/2014/main" id="{8E4507E0-03AA-D264-2C87-19DD19FE3A55}"/>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8" name="Chevron 54">
              <a:extLst>
                <a:ext uri="{FF2B5EF4-FFF2-40B4-BE49-F238E27FC236}">
                  <a16:creationId xmlns:a16="http://schemas.microsoft.com/office/drawing/2014/main" id="{BF7EEF99-E269-F926-9993-296A5E53D83A}"/>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0" name="Chevron 48">
              <a:extLst>
                <a:ext uri="{FF2B5EF4-FFF2-40B4-BE49-F238E27FC236}">
                  <a16:creationId xmlns:a16="http://schemas.microsoft.com/office/drawing/2014/main" id="{9B81A248-356A-D282-D0F4-C0AB7D576052}"/>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5" name="Chevron 48">
              <a:extLst>
                <a:ext uri="{FF2B5EF4-FFF2-40B4-BE49-F238E27FC236}">
                  <a16:creationId xmlns:a16="http://schemas.microsoft.com/office/drawing/2014/main" id="{1FBD7501-B480-0DC9-4857-A72862B79F65}"/>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17331903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6B437-5C02-3FAF-12CA-1F04F971E94E}"/>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92C44CF9-F129-E656-EDAD-9C1F14D17649}"/>
              </a:ext>
            </a:extLst>
          </p:cNvPr>
          <p:cNvGraphicFramePr>
            <a:graphicFrameLocks/>
          </p:cNvGraphicFramePr>
          <p:nvPr>
            <p:custDataLst>
              <p:tags r:id="rId1"/>
            </p:custDataLst>
            <p:extLst>
              <p:ext uri="{D42A27DB-BD31-4B8C-83A1-F6EECF244321}">
                <p14:modId xmlns:p14="http://schemas.microsoft.com/office/powerpoint/2010/main" val="16008247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think-cell data - do not delete" hidden="1">
                        <a:extLst>
                          <a:ext uri="{FF2B5EF4-FFF2-40B4-BE49-F238E27FC236}">
                            <a16:creationId xmlns:a16="http://schemas.microsoft.com/office/drawing/2014/main" id="{92C44CF9-F129-E656-EDAD-9C1F14D1764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 name="Table 2">
            <a:extLst>
              <a:ext uri="{FF2B5EF4-FFF2-40B4-BE49-F238E27FC236}">
                <a16:creationId xmlns:a16="http://schemas.microsoft.com/office/drawing/2014/main" id="{79261A45-288A-4286-59FD-137A30E3B7CE}"/>
              </a:ext>
            </a:extLst>
          </p:cNvPr>
          <p:cNvGraphicFramePr>
            <a:graphicFrameLocks noGrp="1"/>
          </p:cNvGraphicFramePr>
          <p:nvPr>
            <p:extLst>
              <p:ext uri="{D42A27DB-BD31-4B8C-83A1-F6EECF244321}">
                <p14:modId xmlns:p14="http://schemas.microsoft.com/office/powerpoint/2010/main" val="252676963"/>
              </p:ext>
            </p:extLst>
          </p:nvPr>
        </p:nvGraphicFramePr>
        <p:xfrm>
          <a:off x="360936" y="1361963"/>
          <a:ext cx="11447358" cy="4900235"/>
        </p:xfrm>
        <a:graphic>
          <a:graphicData uri="http://schemas.openxmlformats.org/drawingml/2006/table">
            <a:tbl>
              <a:tblPr bandRow="1">
                <a:tableStyleId>{5C22544A-7EE6-4342-B048-85BDC9FD1C3A}</a:tableStyleId>
              </a:tblPr>
              <a:tblGrid>
                <a:gridCol w="1847088">
                  <a:extLst>
                    <a:ext uri="{9D8B030D-6E8A-4147-A177-3AD203B41FA5}">
                      <a16:colId xmlns:a16="http://schemas.microsoft.com/office/drawing/2014/main" val="1362236069"/>
                    </a:ext>
                  </a:extLst>
                </a:gridCol>
                <a:gridCol w="1881352">
                  <a:extLst>
                    <a:ext uri="{9D8B030D-6E8A-4147-A177-3AD203B41FA5}">
                      <a16:colId xmlns:a16="http://schemas.microsoft.com/office/drawing/2014/main" val="366937182"/>
                    </a:ext>
                  </a:extLst>
                </a:gridCol>
                <a:gridCol w="4474086">
                  <a:extLst>
                    <a:ext uri="{9D8B030D-6E8A-4147-A177-3AD203B41FA5}">
                      <a16:colId xmlns:a16="http://schemas.microsoft.com/office/drawing/2014/main" val="3093558049"/>
                    </a:ext>
                  </a:extLst>
                </a:gridCol>
                <a:gridCol w="405604">
                  <a:extLst>
                    <a:ext uri="{9D8B030D-6E8A-4147-A177-3AD203B41FA5}">
                      <a16:colId xmlns:a16="http://schemas.microsoft.com/office/drawing/2014/main" val="320023064"/>
                    </a:ext>
                  </a:extLst>
                </a:gridCol>
                <a:gridCol w="405604">
                  <a:extLst>
                    <a:ext uri="{9D8B030D-6E8A-4147-A177-3AD203B41FA5}">
                      <a16:colId xmlns:a16="http://schemas.microsoft.com/office/drawing/2014/main" val="1426101900"/>
                    </a:ext>
                  </a:extLst>
                </a:gridCol>
                <a:gridCol w="405604">
                  <a:extLst>
                    <a:ext uri="{9D8B030D-6E8A-4147-A177-3AD203B41FA5}">
                      <a16:colId xmlns:a16="http://schemas.microsoft.com/office/drawing/2014/main" val="3689681127"/>
                    </a:ext>
                  </a:extLst>
                </a:gridCol>
                <a:gridCol w="405604">
                  <a:extLst>
                    <a:ext uri="{9D8B030D-6E8A-4147-A177-3AD203B41FA5}">
                      <a16:colId xmlns:a16="http://schemas.microsoft.com/office/drawing/2014/main" val="2083152798"/>
                    </a:ext>
                  </a:extLst>
                </a:gridCol>
                <a:gridCol w="405604">
                  <a:extLst>
                    <a:ext uri="{9D8B030D-6E8A-4147-A177-3AD203B41FA5}">
                      <a16:colId xmlns:a16="http://schemas.microsoft.com/office/drawing/2014/main" val="3966416640"/>
                    </a:ext>
                  </a:extLst>
                </a:gridCol>
                <a:gridCol w="405604">
                  <a:extLst>
                    <a:ext uri="{9D8B030D-6E8A-4147-A177-3AD203B41FA5}">
                      <a16:colId xmlns:a16="http://schemas.microsoft.com/office/drawing/2014/main" val="3189174259"/>
                    </a:ext>
                  </a:extLst>
                </a:gridCol>
                <a:gridCol w="405604">
                  <a:extLst>
                    <a:ext uri="{9D8B030D-6E8A-4147-A177-3AD203B41FA5}">
                      <a16:colId xmlns:a16="http://schemas.microsoft.com/office/drawing/2014/main" val="2611606897"/>
                    </a:ext>
                  </a:extLst>
                </a:gridCol>
                <a:gridCol w="405604">
                  <a:extLst>
                    <a:ext uri="{9D8B030D-6E8A-4147-A177-3AD203B41FA5}">
                      <a16:colId xmlns:a16="http://schemas.microsoft.com/office/drawing/2014/main" val="1528921154"/>
                    </a:ext>
                  </a:extLst>
                </a:gridCol>
              </a:tblGrid>
              <a:tr h="273851">
                <a:tc rowSpan="2">
                  <a:txBody>
                    <a:bodyPr/>
                    <a:lstStyle/>
                    <a:p>
                      <a:pPr algn="ctr">
                        <a:spcBef>
                          <a:spcPts val="300"/>
                        </a:spcBef>
                      </a:pPr>
                      <a:r>
                        <a:rPr lang="en-US" sz="1200" b="1" i="0">
                          <a:solidFill>
                            <a:schemeClr val="bg1"/>
                          </a:solidFill>
                          <a:latin typeface="+mn-lt"/>
                          <a:cs typeface="Poppins" pitchFamily="2" charset="77"/>
                        </a:rPr>
                        <a:t>Tactic</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algn="ctr">
                        <a:spcBef>
                          <a:spcPts val="300"/>
                        </a:spcBef>
                      </a:pPr>
                      <a:r>
                        <a:rPr lang="en-US" sz="1200" b="1" i="0">
                          <a:solidFill>
                            <a:schemeClr val="bg1"/>
                          </a:solidFill>
                          <a:latin typeface="+mn-lt"/>
                          <a:cs typeface="Poppins" pitchFamily="2" charset="77"/>
                        </a:rPr>
                        <a:t>Gaps addressed</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lang="en-US" sz="1200" b="1" i="0">
                          <a:solidFill>
                            <a:schemeClr val="bg1"/>
                          </a:solidFill>
                          <a:latin typeface="+mn-lt"/>
                          <a:cs typeface="Poppins" pitchFamily="2" charset="77"/>
                        </a:rPr>
                        <a:t>Rationale and design considerations</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gridSpan="8">
                  <a:txBody>
                    <a:bodyPr/>
                    <a:lstStyle/>
                    <a:p>
                      <a:pPr algn="ctr">
                        <a:spcBef>
                          <a:spcPts val="300"/>
                        </a:spcBef>
                      </a:pPr>
                      <a:r>
                        <a:rPr lang="en-US" sz="1200" b="1" i="0">
                          <a:solidFill>
                            <a:schemeClr val="bg1"/>
                          </a:solidFill>
                          <a:latin typeface="+mn-lt"/>
                          <a:cs typeface="Poppins" pitchFamily="2" charset="77"/>
                        </a:rPr>
                        <a:t>Timing</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pPr algn="ctr">
                        <a:spcBef>
                          <a:spcPts val="300"/>
                        </a:spcBef>
                      </a:pP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2323510155"/>
                  </a:ext>
                </a:extLst>
              </a:tr>
              <a:tr h="150951">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spcBef>
                          <a:spcPts val="300"/>
                        </a:spcBef>
                      </a:pPr>
                      <a:r>
                        <a:rPr lang="en-US" sz="1000" b="1" i="0">
                          <a:solidFill>
                            <a:schemeClr val="bg1"/>
                          </a:solidFill>
                          <a:latin typeface="+mn-lt"/>
                          <a:cs typeface="Poppins" pitchFamily="2" charset="77"/>
                        </a:rPr>
                        <a:t>2026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2027</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2028</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2029</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2030</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2031</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2032</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2033+</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1184289703"/>
                  </a:ext>
                </a:extLst>
              </a:tr>
              <a:tr h="1375792">
                <a:tc>
                  <a:txBody>
                    <a:bodyPr/>
                    <a:lstStyle/>
                    <a:p>
                      <a:pPr algn="l">
                        <a:spcBef>
                          <a:spcPts val="300"/>
                        </a:spcBef>
                      </a:pPr>
                      <a:r>
                        <a:rPr lang="en-US" sz="1000" b="0" i="0">
                          <a:solidFill>
                            <a:schemeClr val="tx1"/>
                          </a:solidFill>
                          <a:latin typeface="+mn-lt"/>
                          <a:cs typeface="Poppins" pitchFamily="2" charset="77"/>
                        </a:rPr>
                        <a:t>15. Multi-country, retrospective RWE on MTAP-del NSCLC Natural History and Epidemiology</a:t>
                      </a:r>
                    </a:p>
                    <a:p>
                      <a:pPr algn="l">
                        <a:spcBef>
                          <a:spcPts val="300"/>
                        </a:spcBef>
                      </a:pPr>
                      <a:endParaRPr lang="en-US" sz="1000" b="1" i="0">
                        <a:solidFill>
                          <a:schemeClr val="tx1"/>
                        </a:solidFill>
                        <a:latin typeface="+mn-lt"/>
                        <a:cs typeface="Poppins" pitchFamily="2" charset="77"/>
                      </a:endParaRPr>
                    </a:p>
                    <a:p>
                      <a:pPr marL="0" marR="0" lvl="0" indent="0" algn="l" defTabSz="914400" rtl="0" eaLnBrk="1" fontAlgn="auto" latinLnBrk="0" hangingPunct="1">
                        <a:lnSpc>
                          <a:spcPct val="100000"/>
                        </a:lnSpc>
                        <a:spcBef>
                          <a:spcPts val="300"/>
                        </a:spcBef>
                        <a:spcAft>
                          <a:spcPts val="0"/>
                        </a:spcAft>
                        <a:buClrTx/>
                        <a:buSzTx/>
                        <a:buFontTx/>
                        <a:buNone/>
                        <a:tabLst/>
                        <a:defRPr/>
                      </a:pPr>
                      <a:r>
                        <a:rPr lang="en-US" sz="1000" b="1" i="0">
                          <a:solidFill>
                            <a:schemeClr val="tx1"/>
                          </a:solidFill>
                          <a:latin typeface="+mn-lt"/>
                          <a:cs typeface="Poppins" pitchFamily="2" charset="77"/>
                        </a:rPr>
                        <a:t>Lead: </a:t>
                      </a:r>
                      <a:r>
                        <a:rPr lang="en-US" sz="1000" b="0" i="0">
                          <a:solidFill>
                            <a:schemeClr val="tx1"/>
                          </a:solidFill>
                          <a:latin typeface="+mn-lt"/>
                          <a:cs typeface="Poppins" pitchFamily="2" charset="77"/>
                        </a:rPr>
                        <a:t>HEOR (incl. Regional HEOR teams)</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171450" indent="-171450" algn="l" defTabSz="914400" rtl="0" eaLnBrk="1" latinLnBrk="0" hangingPunct="1">
                        <a:spcBef>
                          <a:spcPts val="300"/>
                        </a:spcBef>
                        <a:buFont typeface="Arial" panose="020B0604020202020204" pitchFamily="34" charset="0"/>
                        <a:buChar char="•"/>
                      </a:pPr>
                      <a:r>
                        <a:rPr lang="en-US" sz="1000" b="1" i="0" kern="1200">
                          <a:solidFill>
                            <a:schemeClr val="tx1"/>
                          </a:solidFill>
                          <a:latin typeface="+mn-lt"/>
                          <a:ea typeface="+mn-ea"/>
                          <a:cs typeface="Poppins" pitchFamily="2" charset="77"/>
                          <a:hlinkClick r:id="rId6" action="ppaction://hlinksldjump">
                            <a:extLst>
                              <a:ext uri="{A12FA001-AC4F-418D-AE19-62706E023703}">
                                <ahyp:hlinkClr xmlns:ahyp="http://schemas.microsoft.com/office/drawing/2018/hyperlinkcolor" val="tx"/>
                              </a:ext>
                            </a:extLst>
                          </a:hlinkClick>
                        </a:rPr>
                        <a:t>NSCLC_HI_01</a:t>
                      </a:r>
                      <a:r>
                        <a:rPr lang="en-US" sz="1000" b="0" i="0" kern="1200">
                          <a:solidFill>
                            <a:schemeClr val="tx1"/>
                          </a:solidFill>
                          <a:latin typeface="+mn-lt"/>
                          <a:ea typeface="+mn-ea"/>
                          <a:cs typeface="Poppins" pitchFamily="2" charset="77"/>
                        </a:rPr>
                        <a:t>: Natural history, prognosis, and treatment outcomes of MTAP-del NSCLC across LoTs </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r>
                        <a:rPr lang="en-US" sz="1000" b="1" i="0" u="none" strike="noStrike" kern="1200" noProof="0">
                          <a:solidFill>
                            <a:schemeClr val="tx1"/>
                          </a:solidFill>
                          <a:effectLst/>
                          <a:latin typeface="+mn-lt"/>
                          <a:ea typeface="+mn-ea"/>
                          <a:cs typeface="Poppins"/>
                        </a:rPr>
                        <a:t>Design considerations:</a:t>
                      </a:r>
                    </a:p>
                    <a:p>
                      <a:pPr marL="171450" lvl="0" indent="-171450">
                        <a:spcBef>
                          <a:spcPts val="300"/>
                        </a:spcBef>
                        <a:buClr>
                          <a:srgbClr val="000000"/>
                        </a:buClr>
                        <a:buFont typeface="Arial" panose="020B0604020202020204" pitchFamily="34" charset="0"/>
                        <a:buChar char="•"/>
                      </a:pPr>
                      <a:r>
                        <a:rPr lang="en-GB" sz="1000" b="0" i="0" u="none" strike="noStrike" kern="1200" noProof="0">
                          <a:solidFill>
                            <a:schemeClr val="tx1"/>
                          </a:solidFill>
                          <a:effectLst/>
                          <a:latin typeface="+mn-lt"/>
                          <a:ea typeface="+mn-ea"/>
                          <a:cs typeface="Poppins"/>
                        </a:rPr>
                        <a:t>Country-level data needed and potentially available from various groups (e.g., Flatiron (US), CPRD (UK), THORACIC/WJOG (Japan)) but major driver of cost and timelines, but with implications for generalizability across markets</a:t>
                      </a:r>
                    </a:p>
                    <a:p>
                      <a:pPr marL="171450" lvl="0" indent="-171450">
                        <a:spcBef>
                          <a:spcPts val="300"/>
                        </a:spcBef>
                        <a:buClr>
                          <a:srgbClr val="000000"/>
                        </a:buClr>
                        <a:buFont typeface="Arial" panose="020B0604020202020204" pitchFamily="34" charset="0"/>
                        <a:buChar char="•"/>
                      </a:pPr>
                      <a:r>
                        <a:rPr lang="en-GB" sz="1000" b="0" i="0" u="none" strike="noStrike" kern="1200" noProof="0">
                          <a:solidFill>
                            <a:schemeClr val="tx1"/>
                          </a:solidFill>
                          <a:effectLst/>
                          <a:latin typeface="+mn-lt"/>
                          <a:ea typeface="+mn-ea"/>
                          <a:cs typeface="Poppins"/>
                        </a:rPr>
                        <a:t>US data currently available via Tempus AI</a:t>
                      </a: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74479344"/>
                  </a:ext>
                </a:extLst>
              </a:tr>
              <a:tr h="1164811">
                <a:tc>
                  <a:txBody>
                    <a:bodyPr/>
                    <a:lstStyle/>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r>
                        <a:rPr lang="en-US" sz="1000" b="0" i="0">
                          <a:solidFill>
                            <a:schemeClr val="tx1"/>
                          </a:solidFill>
                          <a:latin typeface="+mn-lt"/>
                          <a:cs typeface="Poppins" pitchFamily="2" charset="77"/>
                        </a:rPr>
                        <a:t>16. Retrospective RWE of MTAP Testing Workflows</a:t>
                      </a:r>
                    </a:p>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endParaRPr lang="en-US" sz="1000" b="0" i="0">
                        <a:solidFill>
                          <a:schemeClr val="tx1"/>
                        </a:solidFill>
                        <a:latin typeface="+mn-lt"/>
                        <a:cs typeface="Poppins" pitchFamily="2" charset="77"/>
                      </a:endParaRPr>
                    </a:p>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r>
                        <a:rPr lang="en-US" sz="1000" b="1" i="0">
                          <a:solidFill>
                            <a:schemeClr val="tx1"/>
                          </a:solidFill>
                          <a:latin typeface="+mn-lt"/>
                          <a:cs typeface="Poppins" pitchFamily="2" charset="77"/>
                        </a:rPr>
                        <a:t>Lead: </a:t>
                      </a:r>
                      <a:r>
                        <a:rPr lang="en-US" sz="1000" b="0" i="0">
                          <a:solidFill>
                            <a:schemeClr val="tx1"/>
                          </a:solidFill>
                          <a:latin typeface="+mn-lt"/>
                          <a:cs typeface="Poppins" pitchFamily="2" charset="77"/>
                        </a:rPr>
                        <a:t>HEOR</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1" i="0">
                          <a:solidFill>
                            <a:schemeClr val="tx1"/>
                          </a:solidFill>
                          <a:latin typeface="+mn-lt"/>
                          <a:cs typeface="Poppins" pitchFamily="2" charset="77"/>
                          <a:hlinkClick r:id="rId6" action="ppaction://hlinksldjump">
                            <a:extLst>
                              <a:ext uri="{A12FA001-AC4F-418D-AE19-62706E023703}">
                                <ahyp:hlinkClr xmlns:ahyp="http://schemas.microsoft.com/office/drawing/2018/hyperlinkcolor" val="tx"/>
                              </a:ext>
                            </a:extLst>
                          </a:hlinkClick>
                        </a:rPr>
                        <a:t>NSCLC_HI_02</a:t>
                      </a:r>
                      <a:r>
                        <a:rPr lang="en-US" sz="1000" b="0" i="0">
                          <a:solidFill>
                            <a:schemeClr val="tx1"/>
                          </a:solidFill>
                          <a:latin typeface="+mn-lt"/>
                          <a:cs typeface="Poppins" pitchFamily="2" charset="77"/>
                        </a:rPr>
                        <a:t>: Cost effectiveness of MTAP testing strategies across NGS and IHC modalities</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mn-lt"/>
                          <a:cs typeface="Poppins" pitchFamily="2" charset="77"/>
                        </a:rPr>
                        <a:t>Design considerations:</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Lower priority in markets where NGS and IHC cost parity already exists</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lang="en-US" sz="1000" b="0" i="0">
                          <a:solidFill>
                            <a:schemeClr val="tx1"/>
                          </a:solidFill>
                          <a:latin typeface="+mn-lt"/>
                        </a:rPr>
                        <a:t>Potential operational challenges in RWE given variability in sample quality, platform, and operator expertise across settings</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lang="en-US" sz="1000" b="0">
                          <a:solidFill>
                            <a:schemeClr val="tx1"/>
                          </a:solidFill>
                          <a:latin typeface="+mn-lt"/>
                        </a:rPr>
                        <a:t>Medical education is a downstream dependency </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1135778"/>
                  </a:ext>
                </a:extLst>
              </a:tr>
              <a:tr h="1930752">
                <a:tc>
                  <a:txBody>
                    <a:bodyPr/>
                    <a:lstStyle/>
                    <a:p>
                      <a:pPr algn="l">
                        <a:spcBef>
                          <a:spcPts val="300"/>
                        </a:spcBef>
                      </a:pPr>
                      <a:r>
                        <a:rPr lang="en-US" sz="1000" b="0" i="0">
                          <a:solidFill>
                            <a:schemeClr val="tx1"/>
                          </a:solidFill>
                          <a:latin typeface="+mn-lt"/>
                          <a:cs typeface="Poppins" pitchFamily="2" charset="77"/>
                        </a:rPr>
                        <a:t>17. Pre-launch retrospective study of new CNS metastasis rates in MTAP-del NSCLC under current SoC </a:t>
                      </a:r>
                    </a:p>
                    <a:p>
                      <a:pPr algn="l">
                        <a:spcBef>
                          <a:spcPts val="300"/>
                        </a:spcBef>
                      </a:pPr>
                      <a:endParaRPr lang="en-US" sz="1000" b="1" i="0">
                        <a:solidFill>
                          <a:schemeClr val="tx1"/>
                        </a:solidFill>
                        <a:latin typeface="+mn-lt"/>
                        <a:cs typeface="Poppins" pitchFamily="2" charset="77"/>
                      </a:endParaRPr>
                    </a:p>
                    <a:p>
                      <a:pPr marL="0" marR="0" lvl="0" indent="0" algn="l" defTabSz="914400" rtl="0" eaLnBrk="1" fontAlgn="auto" latinLnBrk="0" hangingPunct="1">
                        <a:lnSpc>
                          <a:spcPct val="100000"/>
                        </a:lnSpc>
                        <a:spcBef>
                          <a:spcPts val="300"/>
                        </a:spcBef>
                        <a:spcAft>
                          <a:spcPts val="0"/>
                        </a:spcAft>
                        <a:buClrTx/>
                        <a:buSzTx/>
                        <a:buFontTx/>
                        <a:buNone/>
                        <a:tabLst/>
                        <a:defRPr/>
                      </a:pPr>
                      <a:r>
                        <a:rPr lang="en-US" sz="1000" b="1" i="0">
                          <a:solidFill>
                            <a:schemeClr val="tx1"/>
                          </a:solidFill>
                          <a:latin typeface="+mn-lt"/>
                          <a:cs typeface="Poppins" pitchFamily="2" charset="77"/>
                        </a:rPr>
                        <a:t>Lead: </a:t>
                      </a:r>
                      <a:r>
                        <a:rPr lang="en-US" sz="1000" b="0" i="0">
                          <a:solidFill>
                            <a:schemeClr val="tx1"/>
                          </a:solidFill>
                          <a:latin typeface="+mn-lt"/>
                          <a:cs typeface="Poppins" pitchFamily="2" charset="77"/>
                        </a:rPr>
                        <a:t>HEOR </a:t>
                      </a:r>
                    </a:p>
                    <a:p>
                      <a:pPr marL="0" marR="0" lvl="0" indent="0" algn="l" defTabSz="914400" rtl="0" eaLnBrk="1" fontAlgn="auto" latinLnBrk="0" hangingPunct="1">
                        <a:lnSpc>
                          <a:spcPct val="100000"/>
                        </a:lnSpc>
                        <a:spcBef>
                          <a:spcPts val="300"/>
                        </a:spcBef>
                        <a:spcAft>
                          <a:spcPts val="0"/>
                        </a:spcAft>
                        <a:buClrTx/>
                        <a:buSzTx/>
                        <a:buFontTx/>
                        <a:buNone/>
                        <a:tabLst/>
                        <a:defRPr/>
                      </a:pPr>
                      <a:endParaRPr lang="en-US" sz="1000" b="0" i="0">
                        <a:solidFill>
                          <a:schemeClr val="tx1"/>
                        </a:solidFill>
                        <a:highlight>
                          <a:srgbClr val="FFFF00"/>
                        </a:highlight>
                        <a:latin typeface="+mn-lt"/>
                        <a:cs typeface="Poppins" pitchFamily="2" charset="77"/>
                      </a:endParaRP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1" i="0">
                          <a:solidFill>
                            <a:schemeClr val="tx1"/>
                          </a:solidFill>
                          <a:latin typeface="+mn-lt"/>
                          <a:cs typeface="Poppins" pitchFamily="2" charset="77"/>
                          <a:hlinkClick r:id="rId6" action="ppaction://hlinksldjump">
                            <a:extLst>
                              <a:ext uri="{A12FA001-AC4F-418D-AE19-62706E023703}">
                                <ahyp:hlinkClr xmlns:ahyp="http://schemas.microsoft.com/office/drawing/2018/hyperlinkcolor" val="tx"/>
                              </a:ext>
                            </a:extLst>
                          </a:hlinkClick>
                        </a:rPr>
                        <a:t>NSCLC_CE_04</a:t>
                      </a:r>
                      <a:r>
                        <a:rPr lang="en-US" sz="1000" b="0" i="0">
                          <a:solidFill>
                            <a:schemeClr val="tx1"/>
                          </a:solidFill>
                          <a:latin typeface="+mn-lt"/>
                          <a:cs typeface="Poppins" pitchFamily="2" charset="77"/>
                        </a:rPr>
                        <a:t>: BGB-58067's impact on CNS metastases relative to control arm (1L and 2L+) and competitor PRMT5i in MTAP-deleted NSCLC or other tumors</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mn-lt"/>
                          <a:cs typeface="Poppins" pitchFamily="2" charset="77"/>
                        </a:rPr>
                        <a:t>Design considerations:</a:t>
                      </a:r>
                      <a:endParaRPr kumimoji="0" lang="en-US" sz="1000" b="0" i="0" u="none" strike="noStrike" kern="1200" cap="none" spc="0" normalizeH="0" baseline="0" noProof="0">
                        <a:ln>
                          <a:noFill/>
                        </a:ln>
                        <a:solidFill>
                          <a:schemeClr val="tx1"/>
                        </a:solidFill>
                        <a:effectLst/>
                        <a:uLnTx/>
                        <a:uFillTx/>
                        <a:latin typeface="+mn-lt"/>
                        <a:cs typeface="Poppins" pitchFamily="2" charset="77"/>
                      </a:endParaRP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May be limited by data availability across geographies and HTA bodies for which the data would be acceptable </a:t>
                      </a:r>
                    </a:p>
                    <a:p>
                      <a:pPr marL="628650" marR="0" lvl="1"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Potential to leverage nNGM (Germany) and ATLAS (Italy)</a:t>
                      </a:r>
                    </a:p>
                    <a:p>
                      <a:pPr marL="628650" marR="0" lvl="1"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Chart review study design should be considered if limited access to claims and registry data</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Study design may be further informed/enriched by insights from post-hoc analysis for CE_04</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Evidence crucial for establishing baseline CNS burden and supporting future reimbursement re-negotiations</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605594405"/>
                  </a:ext>
                </a:extLst>
              </a:tr>
            </a:tbl>
          </a:graphicData>
        </a:graphic>
      </p:graphicFrame>
      <p:sp>
        <p:nvSpPr>
          <p:cNvPr id="20" name="Title 19">
            <a:extLst>
              <a:ext uri="{FF2B5EF4-FFF2-40B4-BE49-F238E27FC236}">
                <a16:creationId xmlns:a16="http://schemas.microsoft.com/office/drawing/2014/main" id="{68B8A2A9-28EE-0EA0-9F86-11FDFCF99092}"/>
              </a:ext>
            </a:extLst>
          </p:cNvPr>
          <p:cNvSpPr>
            <a:spLocks noGrp="1"/>
          </p:cNvSpPr>
          <p:nvPr>
            <p:ph type="title"/>
          </p:nvPr>
        </p:nvSpPr>
        <p:spPr>
          <a:xfrm>
            <a:off x="358337" y="338328"/>
            <a:ext cx="11470125" cy="738664"/>
          </a:xfrm>
        </p:spPr>
        <p:txBody>
          <a:bodyPr vert="horz" rIns="0">
            <a:spAutoFit/>
          </a:bodyPr>
          <a:lstStyle/>
          <a:p>
            <a:r>
              <a:rPr lang="en-US" sz="2400"/>
              <a:t>Six </a:t>
            </a:r>
            <a:r>
              <a:rPr lang="en-US" sz="2400" b="1">
                <a:solidFill>
                  <a:schemeClr val="accent6"/>
                </a:solidFill>
              </a:rPr>
              <a:t>RWE studies </a:t>
            </a:r>
            <a:r>
              <a:rPr lang="en-US" sz="2400"/>
              <a:t>establish unmet need in MTAP-del NSCLC and contextualize real-world clinical benefit of BGB-58067 (1/3)</a:t>
            </a:r>
          </a:p>
        </p:txBody>
      </p:sp>
      <p:sp>
        <p:nvSpPr>
          <p:cNvPr id="7" name="Rectangle 6">
            <a:extLst>
              <a:ext uri="{FF2B5EF4-FFF2-40B4-BE49-F238E27FC236}">
                <a16:creationId xmlns:a16="http://schemas.microsoft.com/office/drawing/2014/main" id="{7E59273A-97DD-0CE6-DE83-F0E52579D556}"/>
              </a:ext>
            </a:extLst>
          </p:cNvPr>
          <p:cNvSpPr/>
          <p:nvPr/>
        </p:nvSpPr>
        <p:spPr>
          <a:xfrm>
            <a:off x="9553574" y="2447365"/>
            <a:ext cx="1902329" cy="7868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r>
              <a:rPr lang="en-US" sz="900" b="1">
                <a:solidFill>
                  <a:schemeClr val="tx1"/>
                </a:solidFill>
              </a:rPr>
              <a:t>Start: </a:t>
            </a:r>
            <a:r>
              <a:rPr lang="en-US" sz="900">
                <a:solidFill>
                  <a:schemeClr val="tx1"/>
                </a:solidFill>
              </a:rPr>
              <a:t>subject to feasibility of ex-US databases</a:t>
            </a:r>
          </a:p>
        </p:txBody>
      </p:sp>
      <p:sp>
        <p:nvSpPr>
          <p:cNvPr id="11" name="Rectangle 10">
            <a:extLst>
              <a:ext uri="{FF2B5EF4-FFF2-40B4-BE49-F238E27FC236}">
                <a16:creationId xmlns:a16="http://schemas.microsoft.com/office/drawing/2014/main" id="{B0275C2D-7269-8C0D-2370-42AE4B118A78}"/>
              </a:ext>
            </a:extLst>
          </p:cNvPr>
          <p:cNvSpPr/>
          <p:nvPr/>
        </p:nvSpPr>
        <p:spPr>
          <a:xfrm>
            <a:off x="10081035" y="1789768"/>
            <a:ext cx="1791255" cy="388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r>
              <a:rPr lang="en-US" sz="900" b="1">
                <a:solidFill>
                  <a:schemeClr val="tx1"/>
                </a:solidFill>
              </a:rPr>
              <a:t>Anticipated Launch: </a:t>
            </a:r>
            <a:r>
              <a:rPr lang="en-US" sz="900">
                <a:solidFill>
                  <a:schemeClr val="tx1"/>
                </a:solidFill>
              </a:rPr>
              <a:t>2032+</a:t>
            </a:r>
          </a:p>
        </p:txBody>
      </p:sp>
      <p:sp>
        <p:nvSpPr>
          <p:cNvPr id="25" name="Rectangle 24">
            <a:extLst>
              <a:ext uri="{FF2B5EF4-FFF2-40B4-BE49-F238E27FC236}">
                <a16:creationId xmlns:a16="http://schemas.microsoft.com/office/drawing/2014/main" id="{19B8779E-095E-5BAA-C73B-871D6E787BAB}"/>
              </a:ext>
            </a:extLst>
          </p:cNvPr>
          <p:cNvSpPr/>
          <p:nvPr/>
        </p:nvSpPr>
        <p:spPr>
          <a:xfrm>
            <a:off x="8986345" y="3928320"/>
            <a:ext cx="2842117" cy="4321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900" b="1">
                <a:solidFill>
                  <a:schemeClr val="tx1"/>
                </a:solidFill>
              </a:rPr>
              <a:t>Start: </a:t>
            </a:r>
            <a:r>
              <a:rPr lang="en-US" sz="900">
                <a:solidFill>
                  <a:schemeClr val="tx1"/>
                </a:solidFill>
              </a:rPr>
              <a:t>subject to feasibility assessment with minimum testing prevalence threshold</a:t>
            </a:r>
          </a:p>
        </p:txBody>
      </p:sp>
      <p:sp>
        <p:nvSpPr>
          <p:cNvPr id="42" name="Rectangle 41">
            <a:extLst>
              <a:ext uri="{FF2B5EF4-FFF2-40B4-BE49-F238E27FC236}">
                <a16:creationId xmlns:a16="http://schemas.microsoft.com/office/drawing/2014/main" id="{D2BE1DEC-A01D-DF6B-0C9D-9BA18DFF1656}"/>
              </a:ext>
            </a:extLst>
          </p:cNvPr>
          <p:cNvSpPr/>
          <p:nvPr/>
        </p:nvSpPr>
        <p:spPr>
          <a:xfrm>
            <a:off x="9699628" y="5359485"/>
            <a:ext cx="1577969" cy="7868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r>
              <a:rPr lang="en-US" sz="900" b="1">
                <a:solidFill>
                  <a:schemeClr val="tx1"/>
                </a:solidFill>
              </a:rPr>
              <a:t>Start: </a:t>
            </a:r>
            <a:r>
              <a:rPr lang="en-US" sz="900">
                <a:solidFill>
                  <a:schemeClr val="tx1"/>
                </a:solidFill>
              </a:rPr>
              <a:t>dependent competitor/emerging SoC data availability</a:t>
            </a:r>
          </a:p>
        </p:txBody>
      </p:sp>
      <p:sp>
        <p:nvSpPr>
          <p:cNvPr id="48" name="Rectangle 47">
            <a:extLst>
              <a:ext uri="{FF2B5EF4-FFF2-40B4-BE49-F238E27FC236}">
                <a16:creationId xmlns:a16="http://schemas.microsoft.com/office/drawing/2014/main" id="{C0A2D747-D4D9-57C8-53F5-C40279BEB42D}"/>
              </a:ext>
            </a:extLst>
          </p:cNvPr>
          <p:cNvSpPr/>
          <p:nvPr/>
        </p:nvSpPr>
        <p:spPr>
          <a:xfrm>
            <a:off x="10081034" y="4598806"/>
            <a:ext cx="1727259" cy="388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r>
              <a:rPr lang="en-US" sz="900" b="1">
                <a:solidFill>
                  <a:schemeClr val="tx1"/>
                </a:solidFill>
              </a:rPr>
              <a:t>Anticipated Launch: </a:t>
            </a:r>
            <a:r>
              <a:rPr lang="en-US" sz="900">
                <a:solidFill>
                  <a:schemeClr val="tx1"/>
                </a:solidFill>
              </a:rPr>
              <a:t>2032+</a:t>
            </a:r>
          </a:p>
        </p:txBody>
      </p:sp>
      <p:sp>
        <p:nvSpPr>
          <p:cNvPr id="14" name="Rectangle 13">
            <a:extLst>
              <a:ext uri="{FF2B5EF4-FFF2-40B4-BE49-F238E27FC236}">
                <a16:creationId xmlns:a16="http://schemas.microsoft.com/office/drawing/2014/main" id="{BFC30C12-C2A9-405E-300E-7DDC2F467292}"/>
              </a:ext>
            </a:extLst>
          </p:cNvPr>
          <p:cNvSpPr/>
          <p:nvPr/>
        </p:nvSpPr>
        <p:spPr>
          <a:xfrm>
            <a:off x="9022879" y="2145813"/>
            <a:ext cx="1101530" cy="365760"/>
          </a:xfrm>
          <a:prstGeom prst="rect">
            <a:avLst/>
          </a:prstGeom>
          <a:solidFill>
            <a:srgbClr val="FFC891">
              <a:alpha val="30000"/>
            </a:srgb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50" name="Rectangle 49">
            <a:extLst>
              <a:ext uri="{FF2B5EF4-FFF2-40B4-BE49-F238E27FC236}">
                <a16:creationId xmlns:a16="http://schemas.microsoft.com/office/drawing/2014/main" id="{8E3D2614-A902-101D-FC93-9725CEFF4739}"/>
              </a:ext>
            </a:extLst>
          </p:cNvPr>
          <p:cNvSpPr/>
          <p:nvPr/>
        </p:nvSpPr>
        <p:spPr>
          <a:xfrm>
            <a:off x="10081034" y="3191577"/>
            <a:ext cx="1791255" cy="388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r>
              <a:rPr lang="en-US" sz="900" b="1">
                <a:solidFill>
                  <a:schemeClr val="tx1"/>
                </a:solidFill>
              </a:rPr>
              <a:t>Anticipated Launch: </a:t>
            </a:r>
            <a:r>
              <a:rPr lang="en-US" sz="900">
                <a:solidFill>
                  <a:schemeClr val="tx1"/>
                </a:solidFill>
              </a:rPr>
              <a:t>2032+</a:t>
            </a:r>
          </a:p>
        </p:txBody>
      </p:sp>
      <p:sp>
        <p:nvSpPr>
          <p:cNvPr id="4" name="Arrow: Pentagon 3">
            <a:extLst>
              <a:ext uri="{FF2B5EF4-FFF2-40B4-BE49-F238E27FC236}">
                <a16:creationId xmlns:a16="http://schemas.microsoft.com/office/drawing/2014/main" id="{F9BB630F-989A-FB14-3C4A-60E2E08F94BD}"/>
              </a:ext>
            </a:extLst>
          </p:cNvPr>
          <p:cNvSpPr/>
          <p:nvPr/>
        </p:nvSpPr>
        <p:spPr>
          <a:xfrm>
            <a:off x="9553574" y="2134383"/>
            <a:ext cx="1724025" cy="388620"/>
          </a:xfrm>
          <a:prstGeom prst="homePlat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9" name="Diamond 8">
            <a:extLst>
              <a:ext uri="{FF2B5EF4-FFF2-40B4-BE49-F238E27FC236}">
                <a16:creationId xmlns:a16="http://schemas.microsoft.com/office/drawing/2014/main" id="{D0D1F66C-00FE-57D2-7DDB-59576E7E23EF}"/>
              </a:ext>
            </a:extLst>
          </p:cNvPr>
          <p:cNvSpPr/>
          <p:nvPr/>
        </p:nvSpPr>
        <p:spPr>
          <a:xfrm>
            <a:off x="11136654" y="2214393"/>
            <a:ext cx="228600" cy="22860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18" name="Rectangle 17">
            <a:extLst>
              <a:ext uri="{FF2B5EF4-FFF2-40B4-BE49-F238E27FC236}">
                <a16:creationId xmlns:a16="http://schemas.microsoft.com/office/drawing/2014/main" id="{BA3091B5-1340-E802-0E31-E79741862975}"/>
              </a:ext>
            </a:extLst>
          </p:cNvPr>
          <p:cNvSpPr/>
          <p:nvPr/>
        </p:nvSpPr>
        <p:spPr>
          <a:xfrm>
            <a:off x="9022877" y="3533420"/>
            <a:ext cx="1101530" cy="365760"/>
          </a:xfrm>
          <a:prstGeom prst="rect">
            <a:avLst/>
          </a:prstGeom>
          <a:solidFill>
            <a:srgbClr val="FFC891">
              <a:alpha val="30000"/>
            </a:srgb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22" name="Arrow: Pentagon 21">
            <a:extLst>
              <a:ext uri="{FF2B5EF4-FFF2-40B4-BE49-F238E27FC236}">
                <a16:creationId xmlns:a16="http://schemas.microsoft.com/office/drawing/2014/main" id="{260E54F6-C944-E7C2-D292-80288C2F0ABA}"/>
              </a:ext>
            </a:extLst>
          </p:cNvPr>
          <p:cNvSpPr/>
          <p:nvPr/>
        </p:nvSpPr>
        <p:spPr>
          <a:xfrm>
            <a:off x="9553572" y="3521990"/>
            <a:ext cx="1724025" cy="388620"/>
          </a:xfrm>
          <a:prstGeom prst="homePlat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24" name="Diamond 23">
            <a:extLst>
              <a:ext uri="{FF2B5EF4-FFF2-40B4-BE49-F238E27FC236}">
                <a16:creationId xmlns:a16="http://schemas.microsoft.com/office/drawing/2014/main" id="{7C3BE7C0-C6D1-3143-3031-0E4E4F0BF7FB}"/>
              </a:ext>
            </a:extLst>
          </p:cNvPr>
          <p:cNvSpPr/>
          <p:nvPr/>
        </p:nvSpPr>
        <p:spPr>
          <a:xfrm>
            <a:off x="11136652" y="3602000"/>
            <a:ext cx="228600" cy="22860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28" name="Rectangle 27">
            <a:extLst>
              <a:ext uri="{FF2B5EF4-FFF2-40B4-BE49-F238E27FC236}">
                <a16:creationId xmlns:a16="http://schemas.microsoft.com/office/drawing/2014/main" id="{6D24E1CD-F548-98EF-0432-1054A6BDE7A8}"/>
              </a:ext>
            </a:extLst>
          </p:cNvPr>
          <p:cNvSpPr/>
          <p:nvPr/>
        </p:nvSpPr>
        <p:spPr>
          <a:xfrm>
            <a:off x="9022877" y="5030325"/>
            <a:ext cx="1101530" cy="365760"/>
          </a:xfrm>
          <a:prstGeom prst="rect">
            <a:avLst/>
          </a:prstGeom>
          <a:solidFill>
            <a:srgbClr val="FFC891">
              <a:alpha val="30000"/>
            </a:srgb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41" name="Arrow: Pentagon 40">
            <a:extLst>
              <a:ext uri="{FF2B5EF4-FFF2-40B4-BE49-F238E27FC236}">
                <a16:creationId xmlns:a16="http://schemas.microsoft.com/office/drawing/2014/main" id="{CE0B89A5-F83A-DFD4-B1D2-D421C8C92171}"/>
              </a:ext>
            </a:extLst>
          </p:cNvPr>
          <p:cNvSpPr/>
          <p:nvPr/>
        </p:nvSpPr>
        <p:spPr>
          <a:xfrm>
            <a:off x="9553572" y="5018895"/>
            <a:ext cx="1724025" cy="388620"/>
          </a:xfrm>
          <a:prstGeom prst="homePlat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45" name="Diamond 44">
            <a:extLst>
              <a:ext uri="{FF2B5EF4-FFF2-40B4-BE49-F238E27FC236}">
                <a16:creationId xmlns:a16="http://schemas.microsoft.com/office/drawing/2014/main" id="{A84327AB-6217-F9E2-FA8B-F310585DBCBA}"/>
              </a:ext>
            </a:extLst>
          </p:cNvPr>
          <p:cNvSpPr/>
          <p:nvPr/>
        </p:nvSpPr>
        <p:spPr>
          <a:xfrm>
            <a:off x="11136652" y="5098905"/>
            <a:ext cx="228600" cy="22860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16" name="Footer Placeholder 2">
            <a:extLst>
              <a:ext uri="{FF2B5EF4-FFF2-40B4-BE49-F238E27FC236}">
                <a16:creationId xmlns:a16="http://schemas.microsoft.com/office/drawing/2014/main" id="{2A17DC2F-8312-D6A2-C3A2-AF056C64A3B7}"/>
              </a:ext>
            </a:extLst>
          </p:cNvPr>
          <p:cNvSpPr>
            <a:spLocks noGrp="1"/>
          </p:cNvSpPr>
          <p:nvPr>
            <p:ph type="ftr" sz="quarter" idx="10"/>
          </p:nvPr>
        </p:nvSpPr>
        <p:spPr>
          <a:xfrm>
            <a:off x="358336" y="6284957"/>
            <a:ext cx="5901817" cy="526584"/>
          </a:xfrm>
        </p:spPr>
        <p:txBody>
          <a:bodyPr/>
          <a:lstStyle/>
          <a:p>
            <a:pPr>
              <a:defRPr/>
            </a:pPr>
            <a:r>
              <a:rPr lang="en-US">
                <a:solidFill>
                  <a:srgbClr val="000000">
                    <a:lumMod val="65000"/>
                    <a:lumOff val="35000"/>
                  </a:srgbClr>
                </a:solidFill>
              </a:rPr>
              <a:t>Abbreviations </a:t>
            </a:r>
            <a:r>
              <a:rPr lang="en-US"/>
              <a:t>AI: Artificial Intelligence; CE: Critical Priority; CNS: Central Nervous System; CPRD: Clinical Practice Research Datalink; HEOR: Health Economics and Outcomes Research; HI: High Priority; HTA: Health Technology Assessment; IHC: Immunohistochemistry; </a:t>
            </a:r>
            <a:r>
              <a:rPr lang="en-US" err="1"/>
              <a:t>LoT</a:t>
            </a:r>
            <a:r>
              <a:rPr lang="en-US"/>
              <a:t>: Line of Therapy; MTAP: </a:t>
            </a:r>
            <a:r>
              <a:rPr lang="en-US" err="1"/>
              <a:t>Methylthioadenosine</a:t>
            </a:r>
            <a:r>
              <a:rPr lang="en-US"/>
              <a:t> Phosphorylase; NGS: Next-Generation Sequencing; </a:t>
            </a:r>
            <a:r>
              <a:rPr lang="en-US" err="1"/>
              <a:t>nNGM</a:t>
            </a:r>
            <a:r>
              <a:rPr lang="en-US"/>
              <a:t>: Network of Genomic Medicine (Germany); NSCLC: Non-Small Cell Lung Cancer; PRMT5i: Protein Arginine Methyltransferase 5 Inhibitor; RWE: Real-World Evidence; SoC: Standard of Care; THORACIC/WJOG: Thoracic Oncology / West Japan Oncology Group (Japan)</a:t>
            </a:r>
          </a:p>
        </p:txBody>
      </p:sp>
      <p:sp>
        <p:nvSpPr>
          <p:cNvPr id="21" name="Rectangle 20">
            <a:extLst>
              <a:ext uri="{FF2B5EF4-FFF2-40B4-BE49-F238E27FC236}">
                <a16:creationId xmlns:a16="http://schemas.microsoft.com/office/drawing/2014/main" id="{8FAF41C4-4BF8-1B46-9E4B-02FBF8C73622}"/>
              </a:ext>
            </a:extLst>
          </p:cNvPr>
          <p:cNvSpPr/>
          <p:nvPr/>
        </p:nvSpPr>
        <p:spPr>
          <a:xfrm>
            <a:off x="8765796" y="6323504"/>
            <a:ext cx="2178429" cy="291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85000" lnSpcReduction="20000"/>
          </a:bodyPr>
          <a:lstStyle/>
          <a:p>
            <a:pPr algn="ctr"/>
            <a:endParaRPr lang="en-US" err="1">
              <a:solidFill>
                <a:schemeClr val="bg1"/>
              </a:solidFill>
            </a:endParaRPr>
          </a:p>
        </p:txBody>
      </p:sp>
      <p:grpSp>
        <p:nvGrpSpPr>
          <p:cNvPr id="23" name="Group 22">
            <a:extLst>
              <a:ext uri="{FF2B5EF4-FFF2-40B4-BE49-F238E27FC236}">
                <a16:creationId xmlns:a16="http://schemas.microsoft.com/office/drawing/2014/main" id="{DF7157A5-E916-F007-E3C3-50EECF4D705B}"/>
              </a:ext>
            </a:extLst>
          </p:cNvPr>
          <p:cNvGrpSpPr/>
          <p:nvPr/>
        </p:nvGrpSpPr>
        <p:grpSpPr>
          <a:xfrm>
            <a:off x="8101300" y="6327114"/>
            <a:ext cx="3279572" cy="319473"/>
            <a:chOff x="8676947" y="6306366"/>
            <a:chExt cx="3279572" cy="319473"/>
          </a:xfrm>
        </p:grpSpPr>
        <p:sp>
          <p:nvSpPr>
            <p:cNvPr id="26" name="TextBox 25">
              <a:extLst>
                <a:ext uri="{FF2B5EF4-FFF2-40B4-BE49-F238E27FC236}">
                  <a16:creationId xmlns:a16="http://schemas.microsoft.com/office/drawing/2014/main" id="{CEC60971-862F-DBD0-0E70-79EED1C77424}"/>
                </a:ext>
              </a:extLst>
            </p:cNvPr>
            <p:cNvSpPr txBox="1"/>
            <p:nvPr/>
          </p:nvSpPr>
          <p:spPr>
            <a:xfrm>
              <a:off x="8676947" y="6318062"/>
              <a:ext cx="470764" cy="307777"/>
            </a:xfrm>
            <a:prstGeom prst="rect">
              <a:avLst/>
            </a:prstGeom>
            <a:noFill/>
          </p:spPr>
          <p:txBody>
            <a:bodyPr wrap="square" lIns="91440" tIns="91440" rIns="91440" bIns="91440"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Poppins"/>
                  <a:ea typeface="+mn-ea"/>
                  <a:cs typeface="+mn-cs"/>
                </a:rPr>
                <a:t>Key:</a:t>
              </a:r>
            </a:p>
          </p:txBody>
        </p:sp>
        <p:grpSp>
          <p:nvGrpSpPr>
            <p:cNvPr id="40" name="Group 39">
              <a:extLst>
                <a:ext uri="{FF2B5EF4-FFF2-40B4-BE49-F238E27FC236}">
                  <a16:creationId xmlns:a16="http://schemas.microsoft.com/office/drawing/2014/main" id="{6189DE69-1724-E730-6985-DFF6E4C5A80D}"/>
                </a:ext>
              </a:extLst>
            </p:cNvPr>
            <p:cNvGrpSpPr/>
            <p:nvPr/>
          </p:nvGrpSpPr>
          <p:grpSpPr>
            <a:xfrm>
              <a:off x="8743681" y="6306366"/>
              <a:ext cx="3212838" cy="307777"/>
              <a:chOff x="6686281" y="6344466"/>
              <a:chExt cx="3212838" cy="307777"/>
            </a:xfrm>
          </p:grpSpPr>
          <p:sp>
            <p:nvSpPr>
              <p:cNvPr id="43" name="Diamond 42">
                <a:extLst>
                  <a:ext uri="{FF2B5EF4-FFF2-40B4-BE49-F238E27FC236}">
                    <a16:creationId xmlns:a16="http://schemas.microsoft.com/office/drawing/2014/main" id="{9FD9F176-181B-E04A-99B9-81785CF1ACA7}"/>
                  </a:ext>
                </a:extLst>
              </p:cNvPr>
              <p:cNvSpPr/>
              <p:nvPr/>
            </p:nvSpPr>
            <p:spPr>
              <a:xfrm>
                <a:off x="8778716" y="6409851"/>
                <a:ext cx="175330" cy="177007"/>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47" name="TextBox 46">
                <a:extLst>
                  <a:ext uri="{FF2B5EF4-FFF2-40B4-BE49-F238E27FC236}">
                    <a16:creationId xmlns:a16="http://schemas.microsoft.com/office/drawing/2014/main" id="{12C31DE3-EC82-1572-6670-31EA5C9A6E1F}"/>
                  </a:ext>
                </a:extLst>
              </p:cNvPr>
              <p:cNvSpPr txBox="1"/>
              <p:nvPr/>
            </p:nvSpPr>
            <p:spPr>
              <a:xfrm>
                <a:off x="8910524" y="6344466"/>
                <a:ext cx="988595"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Milestone</a:t>
                </a:r>
              </a:p>
            </p:txBody>
          </p:sp>
          <p:sp>
            <p:nvSpPr>
              <p:cNvPr id="49" name="TextBox 48">
                <a:extLst>
                  <a:ext uri="{FF2B5EF4-FFF2-40B4-BE49-F238E27FC236}">
                    <a16:creationId xmlns:a16="http://schemas.microsoft.com/office/drawing/2014/main" id="{A986BB18-7653-7612-7DD5-21C4E14F43B2}"/>
                  </a:ext>
                </a:extLst>
              </p:cNvPr>
              <p:cNvSpPr txBox="1"/>
              <p:nvPr/>
            </p:nvSpPr>
            <p:spPr>
              <a:xfrm>
                <a:off x="7292815" y="6344466"/>
                <a:ext cx="1632109"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Start of study to </a:t>
                </a:r>
                <a:r>
                  <a:rPr kumimoji="0" lang="en-US" sz="800" b="0" i="0" u="none" strike="noStrike" kern="1200" cap="none" spc="0" normalizeH="0" baseline="0" noProof="0" err="1">
                    <a:ln>
                      <a:noFill/>
                    </a:ln>
                    <a:solidFill>
                      <a:srgbClr val="000000"/>
                    </a:solidFill>
                    <a:effectLst/>
                    <a:uLnTx/>
                    <a:uFillTx/>
                    <a:latin typeface="Poppins"/>
                    <a:ea typeface="+mn-ea"/>
                    <a:cs typeface="+mn-cs"/>
                  </a:rPr>
                  <a:t>en</a:t>
                </a:r>
                <a:r>
                  <a:rPr lang="en-US" sz="800">
                    <a:solidFill>
                      <a:srgbClr val="000000"/>
                    </a:solidFill>
                    <a:latin typeface="Poppins"/>
                  </a:rPr>
                  <a:t>d/DRO</a:t>
                </a:r>
                <a:endParaRPr kumimoji="0" 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51" name="Arrow: Pentagon 50">
                <a:extLst>
                  <a:ext uri="{FF2B5EF4-FFF2-40B4-BE49-F238E27FC236}">
                    <a16:creationId xmlns:a16="http://schemas.microsoft.com/office/drawing/2014/main" id="{0F2D9E3C-4D62-7C50-F3EC-2F349ACB9FAA}"/>
                  </a:ext>
                </a:extLst>
              </p:cNvPr>
              <p:cNvSpPr/>
              <p:nvPr/>
            </p:nvSpPr>
            <p:spPr>
              <a:xfrm>
                <a:off x="7133798" y="6422147"/>
                <a:ext cx="182880" cy="182880"/>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algn="ctr"/>
                <a:endParaRPr lang="en-US">
                  <a:solidFill>
                    <a:schemeClr val="bg1"/>
                  </a:solidFill>
                </a:endParaRPr>
              </a:p>
            </p:txBody>
          </p:sp>
          <p:sp>
            <p:nvSpPr>
              <p:cNvPr id="52" name="Rectangle: Rounded Corners 51">
                <a:extLst>
                  <a:ext uri="{FF2B5EF4-FFF2-40B4-BE49-F238E27FC236}">
                    <a16:creationId xmlns:a16="http://schemas.microsoft.com/office/drawing/2014/main" id="{E2642B41-3D3F-C859-2CD0-80087728EAC8}"/>
                  </a:ext>
                </a:extLst>
              </p:cNvPr>
              <p:cNvSpPr/>
              <p:nvPr/>
            </p:nvSpPr>
            <p:spPr>
              <a:xfrm>
                <a:off x="6686281" y="6365302"/>
                <a:ext cx="2924444" cy="28150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algn="ctr"/>
                <a:endParaRPr lang="en-US">
                  <a:solidFill>
                    <a:schemeClr val="bg1"/>
                  </a:solidFill>
                </a:endParaRPr>
              </a:p>
            </p:txBody>
          </p:sp>
        </p:grpSp>
      </p:grpSp>
      <p:grpSp>
        <p:nvGrpSpPr>
          <p:cNvPr id="53" name="Group 52">
            <a:extLst>
              <a:ext uri="{FF2B5EF4-FFF2-40B4-BE49-F238E27FC236}">
                <a16:creationId xmlns:a16="http://schemas.microsoft.com/office/drawing/2014/main" id="{6EC8C368-9C30-63FA-DD70-01E7E13E6628}"/>
              </a:ext>
            </a:extLst>
          </p:cNvPr>
          <p:cNvGrpSpPr/>
          <p:nvPr/>
        </p:nvGrpSpPr>
        <p:grpSpPr>
          <a:xfrm>
            <a:off x="6263229" y="6332843"/>
            <a:ext cx="1953863" cy="395710"/>
            <a:chOff x="10032551" y="1221638"/>
            <a:chExt cx="1953863" cy="395710"/>
          </a:xfrm>
        </p:grpSpPr>
        <p:sp>
          <p:nvSpPr>
            <p:cNvPr id="54" name="Rectangle 53">
              <a:extLst>
                <a:ext uri="{FF2B5EF4-FFF2-40B4-BE49-F238E27FC236}">
                  <a16:creationId xmlns:a16="http://schemas.microsoft.com/office/drawing/2014/main" id="{D5CB305C-A9F7-FFFD-874A-27DD882EC100}"/>
                </a:ext>
              </a:extLst>
            </p:cNvPr>
            <p:cNvSpPr/>
            <p:nvPr/>
          </p:nvSpPr>
          <p:spPr>
            <a:xfrm>
              <a:off x="10122616" y="1221638"/>
              <a:ext cx="1863798" cy="3957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800">
                  <a:solidFill>
                    <a:schemeClr val="tx1"/>
                  </a:solidFill>
                </a:rPr>
                <a:t>Click the </a:t>
              </a:r>
              <a:r>
                <a:rPr lang="en-US" sz="800" b="1">
                  <a:solidFill>
                    <a:schemeClr val="tx1"/>
                  </a:solidFill>
                </a:rPr>
                <a:t>gap  ID to return to gap overview</a:t>
              </a:r>
              <a:endParaRPr lang="en-US" sz="800">
                <a:solidFill>
                  <a:schemeClr val="tx1"/>
                </a:solidFill>
              </a:endParaRPr>
            </a:p>
          </p:txBody>
        </p:sp>
        <p:pic>
          <p:nvPicPr>
            <p:cNvPr id="55" name="Graphic 54" descr="Cursor with solid fill">
              <a:extLst>
                <a:ext uri="{FF2B5EF4-FFF2-40B4-BE49-F238E27FC236}">
                  <a16:creationId xmlns:a16="http://schemas.microsoft.com/office/drawing/2014/main" id="{DC73C37C-46B2-42B9-A47D-9C41E1F5202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032551" y="1255098"/>
              <a:ext cx="216000" cy="216000"/>
            </a:xfrm>
            <a:prstGeom prst="rect">
              <a:avLst/>
            </a:prstGeom>
          </p:spPr>
        </p:pic>
      </p:grpSp>
      <p:grpSp>
        <p:nvGrpSpPr>
          <p:cNvPr id="2" name="Group 1">
            <a:extLst>
              <a:ext uri="{FF2B5EF4-FFF2-40B4-BE49-F238E27FC236}">
                <a16:creationId xmlns:a16="http://schemas.microsoft.com/office/drawing/2014/main" id="{B7C12957-42F9-65EA-8C84-B4FB9D7C882B}"/>
              </a:ext>
            </a:extLst>
          </p:cNvPr>
          <p:cNvGrpSpPr/>
          <p:nvPr/>
        </p:nvGrpSpPr>
        <p:grpSpPr>
          <a:xfrm>
            <a:off x="362743" y="10216"/>
            <a:ext cx="10042505" cy="252000"/>
            <a:chOff x="362743" y="10216"/>
            <a:chExt cx="10042505" cy="252000"/>
          </a:xfrm>
        </p:grpSpPr>
        <p:sp>
          <p:nvSpPr>
            <p:cNvPr id="6" name="Pentagon 47">
              <a:extLst>
                <a:ext uri="{FF2B5EF4-FFF2-40B4-BE49-F238E27FC236}">
                  <a16:creationId xmlns:a16="http://schemas.microsoft.com/office/drawing/2014/main" id="{B46C15DB-F5CD-161E-32F2-0E5249A166F8}"/>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8" name="Chevron 48">
              <a:extLst>
                <a:ext uri="{FF2B5EF4-FFF2-40B4-BE49-F238E27FC236}">
                  <a16:creationId xmlns:a16="http://schemas.microsoft.com/office/drawing/2014/main" id="{4674F84B-ACCA-8235-B0B7-9CEA45266C32}"/>
                </a:ext>
              </a:extLst>
            </p:cNvPr>
            <p:cNvSpPr/>
            <p:nvPr/>
          </p:nvSpPr>
          <p:spPr>
            <a:xfrm>
              <a:off x="5371087"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10" name="Chevron 52">
              <a:extLst>
                <a:ext uri="{FF2B5EF4-FFF2-40B4-BE49-F238E27FC236}">
                  <a16:creationId xmlns:a16="http://schemas.microsoft.com/office/drawing/2014/main" id="{B00AD79A-05A8-03DD-93FB-72B69F9E8E44}"/>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12" name="Chevron 54">
              <a:extLst>
                <a:ext uri="{FF2B5EF4-FFF2-40B4-BE49-F238E27FC236}">
                  <a16:creationId xmlns:a16="http://schemas.microsoft.com/office/drawing/2014/main" id="{05888C36-AF15-677D-08EA-1F6510F4D427}"/>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3" name="Chevron 48">
              <a:extLst>
                <a:ext uri="{FF2B5EF4-FFF2-40B4-BE49-F238E27FC236}">
                  <a16:creationId xmlns:a16="http://schemas.microsoft.com/office/drawing/2014/main" id="{AA54F26A-60E2-970F-C8F9-BA7EB5AF534A}"/>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7" name="Chevron 48">
              <a:extLst>
                <a:ext uri="{FF2B5EF4-FFF2-40B4-BE49-F238E27FC236}">
                  <a16:creationId xmlns:a16="http://schemas.microsoft.com/office/drawing/2014/main" id="{6924B4E4-FB53-1F57-76EE-30F19733623F}"/>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539658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165A9-417D-FA8B-1DBD-545BD9837B95}"/>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2D47419-BA04-3EAF-0A27-4CEE7E9CCFD3}"/>
              </a:ext>
            </a:extLst>
          </p:cNvPr>
          <p:cNvGraphicFramePr>
            <a:graphicFrameLocks/>
          </p:cNvGraphicFramePr>
          <p:nvPr>
            <p:custDataLst>
              <p:tags r:id="rId1"/>
            </p:custDataLst>
            <p:extLst>
              <p:ext uri="{D42A27DB-BD31-4B8C-83A1-F6EECF244321}">
                <p14:modId xmlns:p14="http://schemas.microsoft.com/office/powerpoint/2010/main" val="29393323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think-cell data - do not delete" hidden="1">
                        <a:extLst>
                          <a:ext uri="{FF2B5EF4-FFF2-40B4-BE49-F238E27FC236}">
                            <a16:creationId xmlns:a16="http://schemas.microsoft.com/office/drawing/2014/main" id="{02D47419-BA04-3EAF-0A27-4CEE7E9CCFD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 name="Table 2">
            <a:extLst>
              <a:ext uri="{FF2B5EF4-FFF2-40B4-BE49-F238E27FC236}">
                <a16:creationId xmlns:a16="http://schemas.microsoft.com/office/drawing/2014/main" id="{0C182354-EEE0-E2B6-F249-DEE68EE0BDDC}"/>
              </a:ext>
            </a:extLst>
          </p:cNvPr>
          <p:cNvGraphicFramePr>
            <a:graphicFrameLocks noGrp="1"/>
          </p:cNvGraphicFramePr>
          <p:nvPr>
            <p:extLst>
              <p:ext uri="{D42A27DB-BD31-4B8C-83A1-F6EECF244321}">
                <p14:modId xmlns:p14="http://schemas.microsoft.com/office/powerpoint/2010/main" val="2405559361"/>
              </p:ext>
            </p:extLst>
          </p:nvPr>
        </p:nvGraphicFramePr>
        <p:xfrm>
          <a:off x="360936" y="1361962"/>
          <a:ext cx="11466575" cy="4587720"/>
        </p:xfrm>
        <a:graphic>
          <a:graphicData uri="http://schemas.openxmlformats.org/drawingml/2006/table">
            <a:tbl>
              <a:tblPr bandRow="1">
                <a:tableStyleId>{5C22544A-7EE6-4342-B048-85BDC9FD1C3A}</a:tableStyleId>
              </a:tblPr>
              <a:tblGrid>
                <a:gridCol w="1844312">
                  <a:extLst>
                    <a:ext uri="{9D8B030D-6E8A-4147-A177-3AD203B41FA5}">
                      <a16:colId xmlns:a16="http://schemas.microsoft.com/office/drawing/2014/main" val="1362236069"/>
                    </a:ext>
                  </a:extLst>
                </a:gridCol>
                <a:gridCol w="2568114">
                  <a:extLst>
                    <a:ext uri="{9D8B030D-6E8A-4147-A177-3AD203B41FA5}">
                      <a16:colId xmlns:a16="http://schemas.microsoft.com/office/drawing/2014/main" val="366937182"/>
                    </a:ext>
                  </a:extLst>
                </a:gridCol>
                <a:gridCol w="3807893">
                  <a:extLst>
                    <a:ext uri="{9D8B030D-6E8A-4147-A177-3AD203B41FA5}">
                      <a16:colId xmlns:a16="http://schemas.microsoft.com/office/drawing/2014/main" val="3093558049"/>
                    </a:ext>
                  </a:extLst>
                </a:gridCol>
                <a:gridCol w="405782">
                  <a:extLst>
                    <a:ext uri="{9D8B030D-6E8A-4147-A177-3AD203B41FA5}">
                      <a16:colId xmlns:a16="http://schemas.microsoft.com/office/drawing/2014/main" val="320023064"/>
                    </a:ext>
                  </a:extLst>
                </a:gridCol>
                <a:gridCol w="405782">
                  <a:extLst>
                    <a:ext uri="{9D8B030D-6E8A-4147-A177-3AD203B41FA5}">
                      <a16:colId xmlns:a16="http://schemas.microsoft.com/office/drawing/2014/main" val="1426101900"/>
                    </a:ext>
                  </a:extLst>
                </a:gridCol>
                <a:gridCol w="405782">
                  <a:extLst>
                    <a:ext uri="{9D8B030D-6E8A-4147-A177-3AD203B41FA5}">
                      <a16:colId xmlns:a16="http://schemas.microsoft.com/office/drawing/2014/main" val="3689681127"/>
                    </a:ext>
                  </a:extLst>
                </a:gridCol>
                <a:gridCol w="405782">
                  <a:extLst>
                    <a:ext uri="{9D8B030D-6E8A-4147-A177-3AD203B41FA5}">
                      <a16:colId xmlns:a16="http://schemas.microsoft.com/office/drawing/2014/main" val="2083152798"/>
                    </a:ext>
                  </a:extLst>
                </a:gridCol>
                <a:gridCol w="405782">
                  <a:extLst>
                    <a:ext uri="{9D8B030D-6E8A-4147-A177-3AD203B41FA5}">
                      <a16:colId xmlns:a16="http://schemas.microsoft.com/office/drawing/2014/main" val="3966416640"/>
                    </a:ext>
                  </a:extLst>
                </a:gridCol>
                <a:gridCol w="405782">
                  <a:extLst>
                    <a:ext uri="{9D8B030D-6E8A-4147-A177-3AD203B41FA5}">
                      <a16:colId xmlns:a16="http://schemas.microsoft.com/office/drawing/2014/main" val="3189174259"/>
                    </a:ext>
                  </a:extLst>
                </a:gridCol>
                <a:gridCol w="405782">
                  <a:extLst>
                    <a:ext uri="{9D8B030D-6E8A-4147-A177-3AD203B41FA5}">
                      <a16:colId xmlns:a16="http://schemas.microsoft.com/office/drawing/2014/main" val="2611606897"/>
                    </a:ext>
                  </a:extLst>
                </a:gridCol>
                <a:gridCol w="405782">
                  <a:extLst>
                    <a:ext uri="{9D8B030D-6E8A-4147-A177-3AD203B41FA5}">
                      <a16:colId xmlns:a16="http://schemas.microsoft.com/office/drawing/2014/main" val="264690398"/>
                    </a:ext>
                  </a:extLst>
                </a:gridCol>
              </a:tblGrid>
              <a:tr h="0">
                <a:tc rowSpan="2">
                  <a:txBody>
                    <a:bodyPr/>
                    <a:lstStyle/>
                    <a:p>
                      <a:pPr algn="ctr">
                        <a:spcBef>
                          <a:spcPts val="300"/>
                        </a:spcBef>
                      </a:pPr>
                      <a:r>
                        <a:rPr lang="en-US" sz="1200" b="1" i="0">
                          <a:solidFill>
                            <a:schemeClr val="bg1"/>
                          </a:solidFill>
                          <a:latin typeface="+mn-lt"/>
                          <a:cs typeface="Poppins" pitchFamily="2" charset="77"/>
                        </a:rPr>
                        <a:t>Tactic</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algn="ctr">
                        <a:spcBef>
                          <a:spcPts val="300"/>
                        </a:spcBef>
                      </a:pPr>
                      <a:r>
                        <a:rPr lang="en-US" sz="1200" b="1" i="0">
                          <a:solidFill>
                            <a:schemeClr val="bg1"/>
                          </a:solidFill>
                          <a:latin typeface="+mn-lt"/>
                          <a:cs typeface="Poppins" pitchFamily="2" charset="77"/>
                        </a:rPr>
                        <a:t>Gaps addressed</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lang="en-US" sz="1200" b="1" i="0">
                          <a:solidFill>
                            <a:schemeClr val="bg1"/>
                          </a:solidFill>
                          <a:latin typeface="+mn-lt"/>
                          <a:cs typeface="Poppins" pitchFamily="2" charset="77"/>
                        </a:rPr>
                        <a:t>Rationale and design considerations</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gridSpan="8">
                  <a:txBody>
                    <a:bodyPr/>
                    <a:lstStyle/>
                    <a:p>
                      <a:pPr algn="ctr">
                        <a:spcBef>
                          <a:spcPts val="300"/>
                        </a:spcBef>
                      </a:pPr>
                      <a:r>
                        <a:rPr lang="en-US" sz="1200" b="1" i="0">
                          <a:solidFill>
                            <a:schemeClr val="bg1"/>
                          </a:solidFill>
                          <a:latin typeface="+mn-lt"/>
                          <a:cs typeface="Poppins" pitchFamily="2" charset="77"/>
                        </a:rPr>
                        <a:t>Timing</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pPr algn="ctr">
                        <a:spcBef>
                          <a:spcPts val="300"/>
                        </a:spcBef>
                      </a:pP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2323510155"/>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spcBef>
                          <a:spcPts val="300"/>
                        </a:spcBef>
                      </a:pPr>
                      <a:r>
                        <a:rPr lang="en-US" sz="1000" b="1" i="0">
                          <a:solidFill>
                            <a:schemeClr val="bg1"/>
                          </a:solidFill>
                          <a:latin typeface="+mn-lt"/>
                          <a:cs typeface="Poppins" pitchFamily="2" charset="77"/>
                        </a:rPr>
                        <a:t>2026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2027</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2028</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2029</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2030</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2031</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2032</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2033+</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1184289703"/>
                  </a:ext>
                </a:extLst>
              </a:tr>
              <a:tr h="1350720">
                <a:tc>
                  <a:txBody>
                    <a:bodyPr/>
                    <a:lstStyle/>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r>
                        <a:rPr lang="en-US" sz="1000" b="0" i="0">
                          <a:solidFill>
                            <a:schemeClr val="tx1"/>
                          </a:solidFill>
                          <a:latin typeface="+mn-lt"/>
                          <a:cs typeface="Poppins" pitchFamily="2" charset="77"/>
                        </a:rPr>
                        <a:t>18. Retrospective RWE in Expanded Indications </a:t>
                      </a:r>
                    </a:p>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endParaRPr lang="en-US" sz="1000" b="0" i="0">
                        <a:solidFill>
                          <a:schemeClr val="tx1"/>
                        </a:solidFill>
                        <a:latin typeface="+mn-lt"/>
                        <a:cs typeface="Poppins" pitchFamily="2" charset="77"/>
                      </a:endParaRPr>
                    </a:p>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r>
                        <a:rPr lang="en-US" sz="1000" b="1" i="0">
                          <a:solidFill>
                            <a:schemeClr val="tx1"/>
                          </a:solidFill>
                          <a:latin typeface="+mn-lt"/>
                          <a:cs typeface="Poppins" pitchFamily="2" charset="77"/>
                        </a:rPr>
                        <a:t>Lead: </a:t>
                      </a:r>
                      <a:r>
                        <a:rPr lang="en-US" sz="1000" b="0" i="0">
                          <a:solidFill>
                            <a:schemeClr val="tx1"/>
                          </a:solidFill>
                          <a:latin typeface="+mn-lt"/>
                          <a:cs typeface="Poppins" pitchFamily="2" charset="77"/>
                        </a:rPr>
                        <a:t>HEOR</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1" i="0">
                          <a:solidFill>
                            <a:schemeClr val="tx1"/>
                          </a:solidFill>
                          <a:latin typeface="+mn-lt"/>
                          <a:cs typeface="Poppins" pitchFamily="2" charset="77"/>
                          <a:hlinkClick r:id="rId6" action="ppaction://hlinksldjump">
                            <a:extLst>
                              <a:ext uri="{A12FA001-AC4F-418D-AE19-62706E023703}">
                                <ahyp:hlinkClr xmlns:ahyp="http://schemas.microsoft.com/office/drawing/2018/hyperlinkcolor" val="tx"/>
                              </a:ext>
                            </a:extLst>
                          </a:hlinkClick>
                        </a:rPr>
                        <a:t>NSCLC_CE_02</a:t>
                      </a:r>
                      <a:r>
                        <a:rPr lang="en-US" sz="1000" b="0" i="0">
                          <a:solidFill>
                            <a:schemeClr val="tx1"/>
                          </a:solidFill>
                          <a:latin typeface="+mn-lt"/>
                          <a:cs typeface="Poppins" pitchFamily="2" charset="77"/>
                        </a:rPr>
                        <a:t>: Efficacy and safety in MTAP-del tumor types beyond CDP (GBM, HNSCC, mesothelioma,</a:t>
                      </a:r>
                      <a:r>
                        <a:rPr lang="en-US" sz="1000" b="0" kern="1200">
                          <a:solidFill>
                            <a:schemeClr val="tx1"/>
                          </a:solidFill>
                          <a:latin typeface="+mn-lt"/>
                          <a:ea typeface="+mn-ea"/>
                          <a:cs typeface="Poppins"/>
                        </a:rPr>
                        <a:t> CCA, rare tumors)</a:t>
                      </a:r>
                      <a:endParaRPr lang="en-US" sz="1000" b="0" i="0">
                        <a:solidFill>
                          <a:schemeClr val="tx1"/>
                        </a:solidFill>
                        <a:latin typeface="+mn-lt"/>
                        <a:cs typeface="Poppins" pitchFamily="2" charset="77"/>
                      </a:endParaRP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mn-lt"/>
                          <a:cs typeface="Poppins" pitchFamily="2" charset="77"/>
                        </a:rPr>
                        <a:t>Design considerations:</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lang="en-US" sz="1000" b="0">
                          <a:solidFill>
                            <a:schemeClr val="tx1"/>
                          </a:solidFill>
                          <a:latin typeface="+mn-lt"/>
                        </a:rPr>
                        <a:t>RWE to focus on understanding the current Tx landscape to identify SOC benchmarks across indications </a:t>
                      </a:r>
                      <a:endParaRPr lang="en-US" sz="1000" b="0">
                        <a:solidFill>
                          <a:schemeClr val="tx1"/>
                        </a:solidFill>
                        <a:latin typeface="+mn-lt"/>
                        <a:sym typeface="Wingdings" panose="05000000000000000000" pitchFamily="2" charset="2"/>
                      </a:endParaRP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lang="en-US" sz="1000">
                          <a:solidFill>
                            <a:schemeClr val="tx1"/>
                          </a:solidFill>
                          <a:latin typeface="+mn-lt"/>
                          <a:sym typeface="Wingdings" panose="05000000000000000000" pitchFamily="2" charset="2"/>
                        </a:rPr>
                        <a:t>Biobank may be required to enable retrospective biomarker assessment</a:t>
                      </a:r>
                      <a:endParaRPr kumimoji="0" lang="en-US" sz="1000" b="0" i="0" u="none" strike="noStrike" kern="1200" cap="none" spc="0" normalizeH="0" baseline="0" noProof="0">
                        <a:ln>
                          <a:noFill/>
                        </a:ln>
                        <a:solidFill>
                          <a:schemeClr val="tx1"/>
                        </a:solidFill>
                        <a:effectLst/>
                        <a:uLnTx/>
                        <a:uFillTx/>
                        <a:latin typeface="+mn-lt"/>
                        <a:cs typeface="Poppins" pitchFamily="2" charset="77"/>
                      </a:endParaRP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1135778"/>
                  </a:ext>
                </a:extLst>
              </a:tr>
              <a:tr h="2808120">
                <a:tc>
                  <a:txBody>
                    <a:bodyPr/>
                    <a:lstStyle/>
                    <a:p>
                      <a:pPr algn="l">
                        <a:spcBef>
                          <a:spcPts val="300"/>
                        </a:spcBef>
                      </a:pPr>
                      <a:r>
                        <a:rPr lang="en-US" sz="1000" b="0" i="0">
                          <a:solidFill>
                            <a:schemeClr val="tx1"/>
                          </a:solidFill>
                          <a:latin typeface="+mn-lt"/>
                          <a:cs typeface="Poppins" pitchFamily="2" charset="77"/>
                        </a:rPr>
                        <a:t>19. Comparative RWE on safety and effectiveness (prospective comparative registry) or post-marketing observational study </a:t>
                      </a:r>
                    </a:p>
                    <a:p>
                      <a:pPr algn="l">
                        <a:spcBef>
                          <a:spcPts val="300"/>
                        </a:spcBef>
                      </a:pPr>
                      <a:endParaRPr lang="en-US" sz="1000" b="1" i="0">
                        <a:solidFill>
                          <a:schemeClr val="tx1"/>
                        </a:solidFill>
                        <a:highlight>
                          <a:srgbClr val="FFFF00"/>
                        </a:highlight>
                        <a:latin typeface="+mn-lt"/>
                        <a:cs typeface="Poppins" pitchFamily="2" charset="77"/>
                      </a:endParaRPr>
                    </a:p>
                    <a:p>
                      <a:pPr marL="0" marR="0" lvl="0" indent="0" algn="l" defTabSz="914400" rtl="0" eaLnBrk="1" fontAlgn="auto" latinLnBrk="0" hangingPunct="1">
                        <a:lnSpc>
                          <a:spcPct val="100000"/>
                        </a:lnSpc>
                        <a:spcBef>
                          <a:spcPts val="300"/>
                        </a:spcBef>
                        <a:spcAft>
                          <a:spcPts val="0"/>
                        </a:spcAft>
                        <a:buClrTx/>
                        <a:buSzTx/>
                        <a:buFontTx/>
                        <a:buNone/>
                        <a:tabLst/>
                        <a:defRPr/>
                      </a:pPr>
                      <a:r>
                        <a:rPr lang="en-US" sz="1000" b="1" i="0">
                          <a:solidFill>
                            <a:schemeClr val="tx1"/>
                          </a:solidFill>
                          <a:latin typeface="+mn-lt"/>
                          <a:cs typeface="Poppins" pitchFamily="2" charset="77"/>
                        </a:rPr>
                        <a:t>Lead: </a:t>
                      </a:r>
                      <a:r>
                        <a:rPr lang="en-US" sz="1000" b="0" i="0">
                          <a:solidFill>
                            <a:schemeClr val="tx1"/>
                          </a:solidFill>
                          <a:latin typeface="+mn-lt"/>
                          <a:cs typeface="Poppins" pitchFamily="2" charset="77"/>
                        </a:rPr>
                        <a:t>Regional MA / HEOR</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1" i="0">
                          <a:solidFill>
                            <a:schemeClr val="tx1"/>
                          </a:solidFill>
                          <a:latin typeface="+mn-lt"/>
                          <a:cs typeface="Poppins" pitchFamily="2" charset="77"/>
                          <a:hlinkClick r:id="rId6" action="ppaction://hlinksldjump">
                            <a:extLst>
                              <a:ext uri="{A12FA001-AC4F-418D-AE19-62706E023703}">
                                <ahyp:hlinkClr xmlns:ahyp="http://schemas.microsoft.com/office/drawing/2018/hyperlinkcolor" val="tx"/>
                              </a:ext>
                            </a:extLst>
                          </a:hlinkClick>
                        </a:rPr>
                        <a:t>NSCLC_CE_01</a:t>
                      </a:r>
                      <a:r>
                        <a:rPr lang="en-US" sz="1000" b="1" i="0">
                          <a:solidFill>
                            <a:schemeClr val="tx1"/>
                          </a:solidFill>
                          <a:latin typeface="+mn-lt"/>
                          <a:cs typeface="Poppins" pitchFamily="2" charset="77"/>
                        </a:rPr>
                        <a:t>: </a:t>
                      </a:r>
                      <a:r>
                        <a:rPr lang="en-US" sz="1000" b="0" i="0" kern="1200">
                          <a:solidFill>
                            <a:schemeClr val="tx1"/>
                          </a:solidFill>
                          <a:latin typeface="+mn-lt"/>
                          <a:ea typeface="+mn-ea"/>
                          <a:cs typeface="Poppins" pitchFamily="2" charset="77"/>
                        </a:rPr>
                        <a:t>BGB-58067's long-term data on efficacy, quality-adjusted survival outcomes, safety and tolerability profile patterns</a:t>
                      </a:r>
                      <a:endParaRPr lang="en-US" sz="1000" b="1" i="0">
                        <a:solidFill>
                          <a:schemeClr val="accent4"/>
                        </a:solidFill>
                        <a:latin typeface="+mn-lt"/>
                        <a:cs typeface="Poppins" pitchFamily="2" charset="77"/>
                      </a:endParaRPr>
                    </a:p>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1" i="0">
                          <a:solidFill>
                            <a:schemeClr val="tx1"/>
                          </a:solidFill>
                          <a:latin typeface="+mn-lt"/>
                          <a:cs typeface="Poppins" pitchFamily="2" charset="77"/>
                          <a:hlinkClick r:id="rId7" action="ppaction://hlinksldjump">
                            <a:extLst>
                              <a:ext uri="{A12FA001-AC4F-418D-AE19-62706E023703}">
                                <ahyp:hlinkClr xmlns:ahyp="http://schemas.microsoft.com/office/drawing/2018/hyperlinkcolor" val="tx"/>
                              </a:ext>
                            </a:extLst>
                          </a:hlinkClick>
                        </a:rPr>
                        <a:t>NSCLC_HI_05</a:t>
                      </a:r>
                      <a:r>
                        <a:rPr lang="en-US" sz="1000" b="0" i="0">
                          <a:solidFill>
                            <a:schemeClr val="tx1"/>
                          </a:solidFill>
                          <a:latin typeface="+mn-lt"/>
                          <a:cs typeface="Poppins" pitchFamily="2" charset="77"/>
                        </a:rPr>
                        <a:t>: BGB-58067's efficacy and toxicity profile in MTAP-del population compared to emerging MTA-cooperative PRMT5i and other potential SoC</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r>
                        <a:rPr lang="en-US" sz="1000" b="1" i="0" u="none" strike="noStrike" kern="1200" noProof="0">
                          <a:solidFill>
                            <a:schemeClr val="tx1"/>
                          </a:solidFill>
                          <a:effectLst/>
                          <a:latin typeface="+mn-lt"/>
                          <a:ea typeface="+mn-ea"/>
                          <a:cs typeface="Poppins"/>
                        </a:rPr>
                        <a:t>Design considerations:</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Registry data availability varies by market, which may limit the geographies and HTA bodies for which the evidence is relevant/acceptable</a:t>
                      </a:r>
                    </a:p>
                    <a:p>
                      <a:pPr marL="628650" marR="0" lvl="1"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Potential to leverage nNGM (Germany) and ATLAS (Italy)</a:t>
                      </a:r>
                    </a:p>
                    <a:p>
                      <a:pPr marL="628650" marR="0" lvl="1"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Chart review study design should be considered if limited access to claims and registry data</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Evidence crucial for following re-negotiations after reimbursement</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Study design may be further informed/enriched by insights from post-hoc analysis for CE_01</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35542715"/>
                  </a:ext>
                </a:extLst>
              </a:tr>
            </a:tbl>
          </a:graphicData>
        </a:graphic>
      </p:graphicFrame>
      <p:sp>
        <p:nvSpPr>
          <p:cNvPr id="20" name="Title 19">
            <a:extLst>
              <a:ext uri="{FF2B5EF4-FFF2-40B4-BE49-F238E27FC236}">
                <a16:creationId xmlns:a16="http://schemas.microsoft.com/office/drawing/2014/main" id="{AC119591-688D-BD63-FC0A-3F7ADCFE4ED4}"/>
              </a:ext>
            </a:extLst>
          </p:cNvPr>
          <p:cNvSpPr>
            <a:spLocks noGrp="1"/>
          </p:cNvSpPr>
          <p:nvPr>
            <p:ph type="title"/>
          </p:nvPr>
        </p:nvSpPr>
        <p:spPr>
          <a:xfrm>
            <a:off x="358337" y="338328"/>
            <a:ext cx="11470125" cy="738664"/>
          </a:xfrm>
        </p:spPr>
        <p:txBody>
          <a:bodyPr vert="horz" rIns="0">
            <a:spAutoFit/>
          </a:bodyPr>
          <a:lstStyle/>
          <a:p>
            <a:r>
              <a:rPr lang="en-US" sz="2400"/>
              <a:t>Six </a:t>
            </a:r>
            <a:r>
              <a:rPr lang="en-US" sz="2400" b="1">
                <a:solidFill>
                  <a:schemeClr val="accent6"/>
                </a:solidFill>
              </a:rPr>
              <a:t>RWE studies </a:t>
            </a:r>
            <a:r>
              <a:rPr lang="en-US" sz="2400"/>
              <a:t>establish unmet need in MTAP-del NSCLC and contextualize real-world clinical benefit of BGB-58067 (2/3)</a:t>
            </a:r>
          </a:p>
        </p:txBody>
      </p:sp>
      <p:sp>
        <p:nvSpPr>
          <p:cNvPr id="46" name="Arrow: Pentagon 45">
            <a:extLst>
              <a:ext uri="{FF2B5EF4-FFF2-40B4-BE49-F238E27FC236}">
                <a16:creationId xmlns:a16="http://schemas.microsoft.com/office/drawing/2014/main" id="{67DDADB0-56FE-6F24-6094-BDA7F39B1286}"/>
              </a:ext>
            </a:extLst>
          </p:cNvPr>
          <p:cNvSpPr/>
          <p:nvPr/>
        </p:nvSpPr>
        <p:spPr>
          <a:xfrm>
            <a:off x="10537830" y="2406251"/>
            <a:ext cx="1065220" cy="388620"/>
          </a:xfrm>
          <a:prstGeom prst="homePlat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48" name="Diamond 47">
            <a:extLst>
              <a:ext uri="{FF2B5EF4-FFF2-40B4-BE49-F238E27FC236}">
                <a16:creationId xmlns:a16="http://schemas.microsoft.com/office/drawing/2014/main" id="{B9CF43C0-9C28-A4B8-75CD-1AE4DC0D2255}"/>
              </a:ext>
            </a:extLst>
          </p:cNvPr>
          <p:cNvSpPr/>
          <p:nvPr/>
        </p:nvSpPr>
        <p:spPr>
          <a:xfrm>
            <a:off x="11119247" y="2498505"/>
            <a:ext cx="228600" cy="22860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50" name="Rectangle 49">
            <a:extLst>
              <a:ext uri="{FF2B5EF4-FFF2-40B4-BE49-F238E27FC236}">
                <a16:creationId xmlns:a16="http://schemas.microsoft.com/office/drawing/2014/main" id="{F4D1BA13-35BD-F97F-11E8-05C20FDEDDBE}"/>
              </a:ext>
            </a:extLst>
          </p:cNvPr>
          <p:cNvSpPr/>
          <p:nvPr/>
        </p:nvSpPr>
        <p:spPr>
          <a:xfrm>
            <a:off x="10007892" y="2110649"/>
            <a:ext cx="1656000" cy="388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r>
              <a:rPr lang="en-US" sz="900" b="1">
                <a:solidFill>
                  <a:schemeClr val="tx1"/>
                </a:solidFill>
              </a:rPr>
              <a:t>Anticipated Launch: </a:t>
            </a:r>
            <a:r>
              <a:rPr lang="en-US" sz="900">
                <a:solidFill>
                  <a:schemeClr val="tx1"/>
                </a:solidFill>
              </a:rPr>
              <a:t>2032+</a:t>
            </a:r>
          </a:p>
        </p:txBody>
      </p:sp>
      <p:sp>
        <p:nvSpPr>
          <p:cNvPr id="84" name="Rectangle 83">
            <a:extLst>
              <a:ext uri="{FF2B5EF4-FFF2-40B4-BE49-F238E27FC236}">
                <a16:creationId xmlns:a16="http://schemas.microsoft.com/office/drawing/2014/main" id="{E730ABBC-3B69-B3EF-05AD-B53F8ED2BE6D}"/>
              </a:ext>
            </a:extLst>
          </p:cNvPr>
          <p:cNvSpPr/>
          <p:nvPr/>
        </p:nvSpPr>
        <p:spPr>
          <a:xfrm>
            <a:off x="10767771" y="4646546"/>
            <a:ext cx="1037929" cy="928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r>
              <a:rPr lang="en-US" sz="900" b="1">
                <a:solidFill>
                  <a:schemeClr val="tx1"/>
                </a:solidFill>
              </a:rPr>
              <a:t>Start: </a:t>
            </a:r>
          </a:p>
          <a:p>
            <a:r>
              <a:rPr lang="en-US" sz="900">
                <a:solidFill>
                  <a:schemeClr val="tx1"/>
                </a:solidFill>
              </a:rPr>
              <a:t>Dependent on launch</a:t>
            </a:r>
          </a:p>
          <a:p>
            <a:r>
              <a:rPr lang="en-US" sz="900">
                <a:solidFill>
                  <a:schemeClr val="tx1"/>
                </a:solidFill>
              </a:rPr>
              <a:t>Long-term </a:t>
            </a:r>
          </a:p>
          <a:p>
            <a:r>
              <a:rPr lang="en-US" sz="900">
                <a:solidFill>
                  <a:schemeClr val="tx1"/>
                </a:solidFill>
              </a:rPr>
              <a:t>analysis</a:t>
            </a:r>
            <a:br>
              <a:rPr lang="en-US" sz="900">
                <a:solidFill>
                  <a:schemeClr val="tx1"/>
                </a:solidFill>
              </a:rPr>
            </a:br>
            <a:r>
              <a:rPr lang="en-US" sz="900">
                <a:solidFill>
                  <a:schemeClr val="tx1"/>
                </a:solidFill>
              </a:rPr>
              <a:t>post 2033+</a:t>
            </a:r>
          </a:p>
          <a:p>
            <a:endParaRPr lang="en-US" sz="900">
              <a:solidFill>
                <a:schemeClr val="tx1"/>
              </a:solidFill>
            </a:endParaRPr>
          </a:p>
        </p:txBody>
      </p:sp>
      <p:sp>
        <p:nvSpPr>
          <p:cNvPr id="86" name="Arrow: Pentagon 85">
            <a:extLst>
              <a:ext uri="{FF2B5EF4-FFF2-40B4-BE49-F238E27FC236}">
                <a16:creationId xmlns:a16="http://schemas.microsoft.com/office/drawing/2014/main" id="{DB56FED3-AE0E-17BC-8641-D566C7109D49}"/>
              </a:ext>
            </a:extLst>
          </p:cNvPr>
          <p:cNvSpPr/>
          <p:nvPr/>
        </p:nvSpPr>
        <p:spPr>
          <a:xfrm>
            <a:off x="11277598" y="4219746"/>
            <a:ext cx="550863" cy="388620"/>
          </a:xfrm>
          <a:prstGeom prst="homePlat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88" name="Diamond 87">
            <a:extLst>
              <a:ext uri="{FF2B5EF4-FFF2-40B4-BE49-F238E27FC236}">
                <a16:creationId xmlns:a16="http://schemas.microsoft.com/office/drawing/2014/main" id="{7D2EF461-E131-3540-16AB-145147453049}"/>
              </a:ext>
            </a:extLst>
          </p:cNvPr>
          <p:cNvSpPr/>
          <p:nvPr/>
        </p:nvSpPr>
        <p:spPr>
          <a:xfrm>
            <a:off x="11157587" y="4312839"/>
            <a:ext cx="228600" cy="22860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90" name="Rectangle 89">
            <a:extLst>
              <a:ext uri="{FF2B5EF4-FFF2-40B4-BE49-F238E27FC236}">
                <a16:creationId xmlns:a16="http://schemas.microsoft.com/office/drawing/2014/main" id="{29AAEF3B-FA55-4E39-D28E-E9D20E602AE6}"/>
              </a:ext>
            </a:extLst>
          </p:cNvPr>
          <p:cNvSpPr/>
          <p:nvPr/>
        </p:nvSpPr>
        <p:spPr>
          <a:xfrm>
            <a:off x="10813553" y="3857292"/>
            <a:ext cx="1037930" cy="388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r>
              <a:rPr lang="en-US" sz="900" b="1">
                <a:solidFill>
                  <a:schemeClr val="tx1"/>
                </a:solidFill>
              </a:rPr>
              <a:t>Anticipated Launch: </a:t>
            </a:r>
            <a:r>
              <a:rPr lang="en-US" sz="900">
                <a:solidFill>
                  <a:schemeClr val="tx1"/>
                </a:solidFill>
              </a:rPr>
              <a:t>2032+</a:t>
            </a:r>
          </a:p>
        </p:txBody>
      </p:sp>
      <p:sp>
        <p:nvSpPr>
          <p:cNvPr id="9" name="Footer Placeholder 2">
            <a:extLst>
              <a:ext uri="{FF2B5EF4-FFF2-40B4-BE49-F238E27FC236}">
                <a16:creationId xmlns:a16="http://schemas.microsoft.com/office/drawing/2014/main" id="{BD90DF87-B91B-6A3F-2BCB-33CA4C5F0DAA}"/>
              </a:ext>
            </a:extLst>
          </p:cNvPr>
          <p:cNvSpPr>
            <a:spLocks noGrp="1"/>
          </p:cNvSpPr>
          <p:nvPr>
            <p:ph type="ftr" sz="quarter" idx="10"/>
          </p:nvPr>
        </p:nvSpPr>
        <p:spPr>
          <a:xfrm>
            <a:off x="328864" y="6285180"/>
            <a:ext cx="5681293" cy="526584"/>
          </a:xfrm>
        </p:spPr>
        <p:txBody>
          <a:bodyPr/>
          <a:lstStyle/>
          <a:p>
            <a:pPr>
              <a:defRPr/>
            </a:pPr>
            <a:r>
              <a:rPr lang="en-US">
                <a:solidFill>
                  <a:srgbClr val="000000">
                    <a:lumMod val="65000"/>
                    <a:lumOff val="35000"/>
                  </a:srgbClr>
                </a:solidFill>
              </a:rPr>
              <a:t>Abbreviations: </a:t>
            </a:r>
            <a:r>
              <a:rPr lang="en-US"/>
              <a:t>CCA: Cholangiocarcinoma; CDP: Clinical Development Plan; CE: Critical Priority; GBM: Glioblastoma; HEOR: Health Economics and Outcomes Research; HI: High Priority; HNSCC: Head and Neck Squamous Cell Carcinoma; HTA: Health Technology Assessment; MA: Medical Affairs; MTA: </a:t>
            </a:r>
            <a:r>
              <a:rPr lang="en-US" err="1"/>
              <a:t>Methylthioadenosine</a:t>
            </a:r>
            <a:r>
              <a:rPr lang="en-US"/>
              <a:t>; MTAP: </a:t>
            </a:r>
            <a:r>
              <a:rPr lang="en-US" err="1"/>
              <a:t>Methylthioadenosine</a:t>
            </a:r>
            <a:r>
              <a:rPr lang="en-US"/>
              <a:t> Phosphorylase; </a:t>
            </a:r>
            <a:r>
              <a:rPr lang="en-US" err="1"/>
              <a:t>nNGM</a:t>
            </a:r>
            <a:r>
              <a:rPr lang="en-US"/>
              <a:t>: Network of Genomic Medicine (Germany); NSCLC: Non-Small Cell Lung Cancer; PRMT5i: Protein Arginine Methyltransferase 5 Inhibitor; RWE: Real-World Evidence; SoC: Standard of Care; Tx: Treatment</a:t>
            </a:r>
          </a:p>
        </p:txBody>
      </p:sp>
      <p:sp>
        <p:nvSpPr>
          <p:cNvPr id="11" name="Rectangle 10">
            <a:extLst>
              <a:ext uri="{FF2B5EF4-FFF2-40B4-BE49-F238E27FC236}">
                <a16:creationId xmlns:a16="http://schemas.microsoft.com/office/drawing/2014/main" id="{832F95A7-DE5B-6B24-3FEF-09BFFF86E28B}"/>
              </a:ext>
            </a:extLst>
          </p:cNvPr>
          <p:cNvSpPr/>
          <p:nvPr/>
        </p:nvSpPr>
        <p:spPr>
          <a:xfrm>
            <a:off x="8765796" y="6280266"/>
            <a:ext cx="2242113" cy="3342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92500" lnSpcReduction="10000"/>
          </a:bodyPr>
          <a:lstStyle/>
          <a:p>
            <a:pPr algn="ctr"/>
            <a:endParaRPr lang="en-US" err="1">
              <a:solidFill>
                <a:schemeClr val="bg1"/>
              </a:solidFill>
            </a:endParaRPr>
          </a:p>
        </p:txBody>
      </p:sp>
      <p:grpSp>
        <p:nvGrpSpPr>
          <p:cNvPr id="13" name="Group 12">
            <a:extLst>
              <a:ext uri="{FF2B5EF4-FFF2-40B4-BE49-F238E27FC236}">
                <a16:creationId xmlns:a16="http://schemas.microsoft.com/office/drawing/2014/main" id="{C2522700-D210-6EBE-6CEB-A388D0207F4B}"/>
              </a:ext>
            </a:extLst>
          </p:cNvPr>
          <p:cNvGrpSpPr/>
          <p:nvPr/>
        </p:nvGrpSpPr>
        <p:grpSpPr>
          <a:xfrm>
            <a:off x="8025100" y="6327114"/>
            <a:ext cx="3279572" cy="319473"/>
            <a:chOff x="8676947" y="6306366"/>
            <a:chExt cx="3279572" cy="319473"/>
          </a:xfrm>
        </p:grpSpPr>
        <p:sp>
          <p:nvSpPr>
            <p:cNvPr id="14" name="TextBox 13">
              <a:extLst>
                <a:ext uri="{FF2B5EF4-FFF2-40B4-BE49-F238E27FC236}">
                  <a16:creationId xmlns:a16="http://schemas.microsoft.com/office/drawing/2014/main" id="{CA89A8E2-842D-2089-E888-FBD1C8E58051}"/>
                </a:ext>
              </a:extLst>
            </p:cNvPr>
            <p:cNvSpPr txBox="1"/>
            <p:nvPr/>
          </p:nvSpPr>
          <p:spPr>
            <a:xfrm>
              <a:off x="8676947" y="6318062"/>
              <a:ext cx="470764" cy="307777"/>
            </a:xfrm>
            <a:prstGeom prst="rect">
              <a:avLst/>
            </a:prstGeom>
            <a:noFill/>
          </p:spPr>
          <p:txBody>
            <a:bodyPr wrap="square" lIns="91440" tIns="91440" rIns="91440" bIns="91440"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Poppins"/>
                  <a:ea typeface="+mn-ea"/>
                  <a:cs typeface="+mn-cs"/>
                </a:rPr>
                <a:t>Key:</a:t>
              </a:r>
            </a:p>
          </p:txBody>
        </p:sp>
        <p:grpSp>
          <p:nvGrpSpPr>
            <p:cNvPr id="16" name="Group 15">
              <a:extLst>
                <a:ext uri="{FF2B5EF4-FFF2-40B4-BE49-F238E27FC236}">
                  <a16:creationId xmlns:a16="http://schemas.microsoft.com/office/drawing/2014/main" id="{4124C922-0138-C7EE-802B-187FF8346479}"/>
                </a:ext>
              </a:extLst>
            </p:cNvPr>
            <p:cNvGrpSpPr/>
            <p:nvPr/>
          </p:nvGrpSpPr>
          <p:grpSpPr>
            <a:xfrm>
              <a:off x="8743681" y="6306366"/>
              <a:ext cx="3212838" cy="307777"/>
              <a:chOff x="6686281" y="6344466"/>
              <a:chExt cx="3212838" cy="307777"/>
            </a:xfrm>
          </p:grpSpPr>
          <p:sp>
            <p:nvSpPr>
              <p:cNvPr id="18" name="Diamond 17">
                <a:extLst>
                  <a:ext uri="{FF2B5EF4-FFF2-40B4-BE49-F238E27FC236}">
                    <a16:creationId xmlns:a16="http://schemas.microsoft.com/office/drawing/2014/main" id="{471DF635-20F8-5066-2C18-63366C270E89}"/>
                  </a:ext>
                </a:extLst>
              </p:cNvPr>
              <p:cNvSpPr/>
              <p:nvPr/>
            </p:nvSpPr>
            <p:spPr>
              <a:xfrm>
                <a:off x="8778716" y="6409851"/>
                <a:ext cx="175330" cy="177007"/>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19" name="TextBox 18">
                <a:extLst>
                  <a:ext uri="{FF2B5EF4-FFF2-40B4-BE49-F238E27FC236}">
                    <a16:creationId xmlns:a16="http://schemas.microsoft.com/office/drawing/2014/main" id="{FEA3870A-5765-B753-3495-A8773E3B607B}"/>
                  </a:ext>
                </a:extLst>
              </p:cNvPr>
              <p:cNvSpPr txBox="1"/>
              <p:nvPr/>
            </p:nvSpPr>
            <p:spPr>
              <a:xfrm>
                <a:off x="8910524" y="6344466"/>
                <a:ext cx="988595"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Milestone</a:t>
                </a:r>
              </a:p>
            </p:txBody>
          </p:sp>
          <p:sp>
            <p:nvSpPr>
              <p:cNvPr id="21" name="TextBox 20">
                <a:extLst>
                  <a:ext uri="{FF2B5EF4-FFF2-40B4-BE49-F238E27FC236}">
                    <a16:creationId xmlns:a16="http://schemas.microsoft.com/office/drawing/2014/main" id="{CC737B38-44E7-203B-9794-7F64D6E855D2}"/>
                  </a:ext>
                </a:extLst>
              </p:cNvPr>
              <p:cNvSpPr txBox="1"/>
              <p:nvPr/>
            </p:nvSpPr>
            <p:spPr>
              <a:xfrm>
                <a:off x="7292815" y="6344466"/>
                <a:ext cx="1632109"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Start of study to </a:t>
                </a:r>
                <a:r>
                  <a:rPr kumimoji="0" lang="en-US" sz="800" b="0" i="0" u="none" strike="noStrike" kern="1200" cap="none" spc="0" normalizeH="0" baseline="0" noProof="0" err="1">
                    <a:ln>
                      <a:noFill/>
                    </a:ln>
                    <a:solidFill>
                      <a:srgbClr val="000000"/>
                    </a:solidFill>
                    <a:effectLst/>
                    <a:uLnTx/>
                    <a:uFillTx/>
                    <a:latin typeface="Poppins"/>
                    <a:ea typeface="+mn-ea"/>
                    <a:cs typeface="+mn-cs"/>
                  </a:rPr>
                  <a:t>en</a:t>
                </a:r>
                <a:r>
                  <a:rPr lang="en-US" sz="800">
                    <a:solidFill>
                      <a:srgbClr val="000000"/>
                    </a:solidFill>
                    <a:latin typeface="Poppins"/>
                  </a:rPr>
                  <a:t>d/DRO</a:t>
                </a:r>
                <a:endParaRPr kumimoji="0" 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22" name="Arrow: Pentagon 21">
                <a:extLst>
                  <a:ext uri="{FF2B5EF4-FFF2-40B4-BE49-F238E27FC236}">
                    <a16:creationId xmlns:a16="http://schemas.microsoft.com/office/drawing/2014/main" id="{EEE1BFC4-27B8-D0B8-FF92-8D4B1887E886}"/>
                  </a:ext>
                </a:extLst>
              </p:cNvPr>
              <p:cNvSpPr/>
              <p:nvPr/>
            </p:nvSpPr>
            <p:spPr>
              <a:xfrm>
                <a:off x="7133798" y="6422147"/>
                <a:ext cx="182880" cy="182880"/>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algn="ctr"/>
                <a:endParaRPr lang="en-US">
                  <a:solidFill>
                    <a:schemeClr val="bg1"/>
                  </a:solidFill>
                </a:endParaRPr>
              </a:p>
            </p:txBody>
          </p:sp>
          <p:sp>
            <p:nvSpPr>
              <p:cNvPr id="23" name="Rectangle: Rounded Corners 22">
                <a:extLst>
                  <a:ext uri="{FF2B5EF4-FFF2-40B4-BE49-F238E27FC236}">
                    <a16:creationId xmlns:a16="http://schemas.microsoft.com/office/drawing/2014/main" id="{A227733F-7CB4-D97B-3C55-5116446C4BA4}"/>
                  </a:ext>
                </a:extLst>
              </p:cNvPr>
              <p:cNvSpPr/>
              <p:nvPr/>
            </p:nvSpPr>
            <p:spPr>
              <a:xfrm>
                <a:off x="6686281" y="6365302"/>
                <a:ext cx="2924444" cy="28150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algn="ctr"/>
                <a:endParaRPr lang="en-US">
                  <a:solidFill>
                    <a:schemeClr val="bg1"/>
                  </a:solidFill>
                </a:endParaRPr>
              </a:p>
            </p:txBody>
          </p:sp>
        </p:grpSp>
      </p:grpSp>
      <p:grpSp>
        <p:nvGrpSpPr>
          <p:cNvPr id="24" name="Group 23">
            <a:extLst>
              <a:ext uri="{FF2B5EF4-FFF2-40B4-BE49-F238E27FC236}">
                <a16:creationId xmlns:a16="http://schemas.microsoft.com/office/drawing/2014/main" id="{79332501-91FF-ADA0-F53C-41957BE0F574}"/>
              </a:ext>
            </a:extLst>
          </p:cNvPr>
          <p:cNvGrpSpPr/>
          <p:nvPr/>
        </p:nvGrpSpPr>
        <p:grpSpPr>
          <a:xfrm>
            <a:off x="6044154" y="6332843"/>
            <a:ext cx="2001488" cy="395710"/>
            <a:chOff x="9984926" y="1221638"/>
            <a:chExt cx="2001488" cy="395710"/>
          </a:xfrm>
        </p:grpSpPr>
        <p:sp>
          <p:nvSpPr>
            <p:cNvPr id="25" name="Rectangle 24">
              <a:extLst>
                <a:ext uri="{FF2B5EF4-FFF2-40B4-BE49-F238E27FC236}">
                  <a16:creationId xmlns:a16="http://schemas.microsoft.com/office/drawing/2014/main" id="{1EFCC971-677D-0DB9-821E-A0D74B064CA2}"/>
                </a:ext>
              </a:extLst>
            </p:cNvPr>
            <p:cNvSpPr/>
            <p:nvPr/>
          </p:nvSpPr>
          <p:spPr>
            <a:xfrm>
              <a:off x="10122616" y="1221638"/>
              <a:ext cx="1863798" cy="3957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800">
                  <a:solidFill>
                    <a:schemeClr val="tx1"/>
                  </a:solidFill>
                </a:rPr>
                <a:t>Click the </a:t>
              </a:r>
              <a:r>
                <a:rPr lang="en-US" sz="800" b="1">
                  <a:solidFill>
                    <a:schemeClr val="tx1"/>
                  </a:solidFill>
                </a:rPr>
                <a:t>gap  ID to return to gap overview</a:t>
              </a:r>
              <a:endParaRPr lang="en-US" sz="800">
                <a:solidFill>
                  <a:schemeClr val="tx1"/>
                </a:solidFill>
              </a:endParaRPr>
            </a:p>
          </p:txBody>
        </p:sp>
        <p:pic>
          <p:nvPicPr>
            <p:cNvPr id="26" name="Graphic 25" descr="Cursor with solid fill">
              <a:extLst>
                <a:ext uri="{FF2B5EF4-FFF2-40B4-BE49-F238E27FC236}">
                  <a16:creationId xmlns:a16="http://schemas.microsoft.com/office/drawing/2014/main" id="{7BAB198D-1782-F7CF-8327-75FCFDAB7F8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984926" y="1302723"/>
              <a:ext cx="216000" cy="216000"/>
            </a:xfrm>
            <a:prstGeom prst="rect">
              <a:avLst/>
            </a:prstGeom>
          </p:spPr>
        </p:pic>
      </p:grpSp>
      <p:grpSp>
        <p:nvGrpSpPr>
          <p:cNvPr id="2" name="Group 1">
            <a:extLst>
              <a:ext uri="{FF2B5EF4-FFF2-40B4-BE49-F238E27FC236}">
                <a16:creationId xmlns:a16="http://schemas.microsoft.com/office/drawing/2014/main" id="{475CE91A-D185-8C82-9B67-2F1B9102CAD6}"/>
              </a:ext>
            </a:extLst>
          </p:cNvPr>
          <p:cNvGrpSpPr/>
          <p:nvPr/>
        </p:nvGrpSpPr>
        <p:grpSpPr>
          <a:xfrm>
            <a:off x="362743" y="10216"/>
            <a:ext cx="10042505" cy="252000"/>
            <a:chOff x="362743" y="10216"/>
            <a:chExt cx="10042505" cy="252000"/>
          </a:xfrm>
        </p:grpSpPr>
        <p:sp>
          <p:nvSpPr>
            <p:cNvPr id="4" name="Pentagon 47">
              <a:extLst>
                <a:ext uri="{FF2B5EF4-FFF2-40B4-BE49-F238E27FC236}">
                  <a16:creationId xmlns:a16="http://schemas.microsoft.com/office/drawing/2014/main" id="{6458A05E-62AC-55E4-4E4E-378DCE0DB38F}"/>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6" name="Chevron 48">
              <a:extLst>
                <a:ext uri="{FF2B5EF4-FFF2-40B4-BE49-F238E27FC236}">
                  <a16:creationId xmlns:a16="http://schemas.microsoft.com/office/drawing/2014/main" id="{A2076F1D-D5DE-6069-FE00-B4E3B85B1969}"/>
                </a:ext>
              </a:extLst>
            </p:cNvPr>
            <p:cNvSpPr/>
            <p:nvPr/>
          </p:nvSpPr>
          <p:spPr>
            <a:xfrm>
              <a:off x="5371087"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7" name="Chevron 52">
              <a:extLst>
                <a:ext uri="{FF2B5EF4-FFF2-40B4-BE49-F238E27FC236}">
                  <a16:creationId xmlns:a16="http://schemas.microsoft.com/office/drawing/2014/main" id="{BCF9189B-08D4-714D-0E1E-4BC1D12CAAE2}"/>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8" name="Chevron 54">
              <a:extLst>
                <a:ext uri="{FF2B5EF4-FFF2-40B4-BE49-F238E27FC236}">
                  <a16:creationId xmlns:a16="http://schemas.microsoft.com/office/drawing/2014/main" id="{68B1654A-3DAF-67ED-B6C1-98C486B2C114}"/>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0" name="Chevron 48">
              <a:extLst>
                <a:ext uri="{FF2B5EF4-FFF2-40B4-BE49-F238E27FC236}">
                  <a16:creationId xmlns:a16="http://schemas.microsoft.com/office/drawing/2014/main" id="{1AEC52EA-319B-8D75-069F-DCB31B9D1357}"/>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5" name="Chevron 48">
              <a:extLst>
                <a:ext uri="{FF2B5EF4-FFF2-40B4-BE49-F238E27FC236}">
                  <a16:creationId xmlns:a16="http://schemas.microsoft.com/office/drawing/2014/main" id="{A7DFD37A-D39D-55B4-DA8F-0DA35A116B9D}"/>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22137733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C12F1-C6A1-4ED2-6D77-AC4905E9AA0F}"/>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AC8A063-A4C7-8E0B-DECD-C604C483698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think-cell data - do not delete" hidden="1">
                        <a:extLst>
                          <a:ext uri="{FF2B5EF4-FFF2-40B4-BE49-F238E27FC236}">
                            <a16:creationId xmlns:a16="http://schemas.microsoft.com/office/drawing/2014/main" id="{4AC8A063-A4C7-8E0B-DECD-C604C483698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 name="Table 2">
            <a:extLst>
              <a:ext uri="{FF2B5EF4-FFF2-40B4-BE49-F238E27FC236}">
                <a16:creationId xmlns:a16="http://schemas.microsoft.com/office/drawing/2014/main" id="{E93F0C66-B598-1D37-5FAD-C89EF1412905}"/>
              </a:ext>
            </a:extLst>
          </p:cNvPr>
          <p:cNvGraphicFramePr>
            <a:graphicFrameLocks noGrp="1"/>
          </p:cNvGraphicFramePr>
          <p:nvPr>
            <p:extLst>
              <p:ext uri="{D42A27DB-BD31-4B8C-83A1-F6EECF244321}">
                <p14:modId xmlns:p14="http://schemas.microsoft.com/office/powerpoint/2010/main" val="2547630630"/>
              </p:ext>
            </p:extLst>
          </p:nvPr>
        </p:nvGraphicFramePr>
        <p:xfrm>
          <a:off x="360936" y="1361962"/>
          <a:ext cx="11466575" cy="2831532"/>
        </p:xfrm>
        <a:graphic>
          <a:graphicData uri="http://schemas.openxmlformats.org/drawingml/2006/table">
            <a:tbl>
              <a:tblPr bandRow="1">
                <a:tableStyleId>{5C22544A-7EE6-4342-B048-85BDC9FD1C3A}</a:tableStyleId>
              </a:tblPr>
              <a:tblGrid>
                <a:gridCol w="1844312">
                  <a:extLst>
                    <a:ext uri="{9D8B030D-6E8A-4147-A177-3AD203B41FA5}">
                      <a16:colId xmlns:a16="http://schemas.microsoft.com/office/drawing/2014/main" val="1362236069"/>
                    </a:ext>
                  </a:extLst>
                </a:gridCol>
                <a:gridCol w="2568114">
                  <a:extLst>
                    <a:ext uri="{9D8B030D-6E8A-4147-A177-3AD203B41FA5}">
                      <a16:colId xmlns:a16="http://schemas.microsoft.com/office/drawing/2014/main" val="366937182"/>
                    </a:ext>
                  </a:extLst>
                </a:gridCol>
                <a:gridCol w="3807893">
                  <a:extLst>
                    <a:ext uri="{9D8B030D-6E8A-4147-A177-3AD203B41FA5}">
                      <a16:colId xmlns:a16="http://schemas.microsoft.com/office/drawing/2014/main" val="3093558049"/>
                    </a:ext>
                  </a:extLst>
                </a:gridCol>
                <a:gridCol w="405782">
                  <a:extLst>
                    <a:ext uri="{9D8B030D-6E8A-4147-A177-3AD203B41FA5}">
                      <a16:colId xmlns:a16="http://schemas.microsoft.com/office/drawing/2014/main" val="320023064"/>
                    </a:ext>
                  </a:extLst>
                </a:gridCol>
                <a:gridCol w="405782">
                  <a:extLst>
                    <a:ext uri="{9D8B030D-6E8A-4147-A177-3AD203B41FA5}">
                      <a16:colId xmlns:a16="http://schemas.microsoft.com/office/drawing/2014/main" val="1426101900"/>
                    </a:ext>
                  </a:extLst>
                </a:gridCol>
                <a:gridCol w="405782">
                  <a:extLst>
                    <a:ext uri="{9D8B030D-6E8A-4147-A177-3AD203B41FA5}">
                      <a16:colId xmlns:a16="http://schemas.microsoft.com/office/drawing/2014/main" val="3689681127"/>
                    </a:ext>
                  </a:extLst>
                </a:gridCol>
                <a:gridCol w="405782">
                  <a:extLst>
                    <a:ext uri="{9D8B030D-6E8A-4147-A177-3AD203B41FA5}">
                      <a16:colId xmlns:a16="http://schemas.microsoft.com/office/drawing/2014/main" val="2083152798"/>
                    </a:ext>
                  </a:extLst>
                </a:gridCol>
                <a:gridCol w="405782">
                  <a:extLst>
                    <a:ext uri="{9D8B030D-6E8A-4147-A177-3AD203B41FA5}">
                      <a16:colId xmlns:a16="http://schemas.microsoft.com/office/drawing/2014/main" val="3966416640"/>
                    </a:ext>
                  </a:extLst>
                </a:gridCol>
                <a:gridCol w="405782">
                  <a:extLst>
                    <a:ext uri="{9D8B030D-6E8A-4147-A177-3AD203B41FA5}">
                      <a16:colId xmlns:a16="http://schemas.microsoft.com/office/drawing/2014/main" val="3189174259"/>
                    </a:ext>
                  </a:extLst>
                </a:gridCol>
                <a:gridCol w="405782">
                  <a:extLst>
                    <a:ext uri="{9D8B030D-6E8A-4147-A177-3AD203B41FA5}">
                      <a16:colId xmlns:a16="http://schemas.microsoft.com/office/drawing/2014/main" val="2611606897"/>
                    </a:ext>
                  </a:extLst>
                </a:gridCol>
                <a:gridCol w="405782">
                  <a:extLst>
                    <a:ext uri="{9D8B030D-6E8A-4147-A177-3AD203B41FA5}">
                      <a16:colId xmlns:a16="http://schemas.microsoft.com/office/drawing/2014/main" val="2639392978"/>
                    </a:ext>
                  </a:extLst>
                </a:gridCol>
              </a:tblGrid>
              <a:tr h="0">
                <a:tc rowSpan="2">
                  <a:txBody>
                    <a:bodyPr/>
                    <a:lstStyle/>
                    <a:p>
                      <a:pPr algn="ctr">
                        <a:spcBef>
                          <a:spcPts val="300"/>
                        </a:spcBef>
                      </a:pPr>
                      <a:r>
                        <a:rPr lang="en-US" sz="1200" b="1" i="0">
                          <a:solidFill>
                            <a:schemeClr val="bg1"/>
                          </a:solidFill>
                          <a:latin typeface="+mn-lt"/>
                          <a:cs typeface="Poppins" pitchFamily="2" charset="77"/>
                        </a:rPr>
                        <a:t>Tactic</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algn="ctr">
                        <a:spcBef>
                          <a:spcPts val="300"/>
                        </a:spcBef>
                      </a:pPr>
                      <a:r>
                        <a:rPr lang="en-US" sz="1200" b="1" i="0">
                          <a:solidFill>
                            <a:schemeClr val="bg1"/>
                          </a:solidFill>
                          <a:latin typeface="+mn-lt"/>
                          <a:cs typeface="Poppins" pitchFamily="2" charset="77"/>
                        </a:rPr>
                        <a:t>Gaps addressed</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lang="en-US" sz="1200" b="1" i="0">
                          <a:solidFill>
                            <a:schemeClr val="bg1"/>
                          </a:solidFill>
                          <a:latin typeface="+mn-lt"/>
                          <a:cs typeface="Poppins" pitchFamily="2" charset="77"/>
                        </a:rPr>
                        <a:t>Rationale and design considerations</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gridSpan="8">
                  <a:txBody>
                    <a:bodyPr/>
                    <a:lstStyle/>
                    <a:p>
                      <a:pPr algn="ctr">
                        <a:spcBef>
                          <a:spcPts val="300"/>
                        </a:spcBef>
                      </a:pPr>
                      <a:r>
                        <a:rPr lang="en-US" sz="1200" b="1" i="0">
                          <a:solidFill>
                            <a:schemeClr val="bg1"/>
                          </a:solidFill>
                          <a:latin typeface="+mn-lt"/>
                          <a:cs typeface="Poppins" pitchFamily="2" charset="77"/>
                        </a:rPr>
                        <a:t>Timing</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pPr algn="ctr">
                        <a:spcBef>
                          <a:spcPts val="300"/>
                        </a:spcBef>
                      </a:pP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2323510155"/>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spcBef>
                          <a:spcPts val="300"/>
                        </a:spcBef>
                      </a:pPr>
                      <a:r>
                        <a:rPr lang="en-US" sz="1000" b="1" i="0">
                          <a:solidFill>
                            <a:schemeClr val="bg1"/>
                          </a:solidFill>
                          <a:latin typeface="+mn-lt"/>
                          <a:cs typeface="Poppins" pitchFamily="2" charset="77"/>
                        </a:rPr>
                        <a:t>2026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2027</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2028</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2029</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2030</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2031</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2032</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2033+</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1184289703"/>
                  </a:ext>
                </a:extLst>
              </a:tr>
              <a:tr h="2402652">
                <a:tc>
                  <a:txBody>
                    <a:bodyPr/>
                    <a:lstStyle/>
                    <a:p>
                      <a:pPr algn="l">
                        <a:spcBef>
                          <a:spcPts val="300"/>
                        </a:spcBef>
                      </a:pPr>
                      <a:r>
                        <a:rPr lang="en-US" sz="1000" b="0" i="0">
                          <a:solidFill>
                            <a:schemeClr val="tx1"/>
                          </a:solidFill>
                          <a:latin typeface="+mn-lt"/>
                          <a:cs typeface="Poppins" pitchFamily="2" charset="77"/>
                        </a:rPr>
                        <a:t>20. Post-approval retrospective comparative RWE of HCRU and costs vs. SoC</a:t>
                      </a:r>
                      <a:endParaRPr lang="en-US" sz="1000" b="1" i="0">
                        <a:solidFill>
                          <a:schemeClr val="tx1"/>
                        </a:solidFill>
                        <a:highlight>
                          <a:srgbClr val="FFFF00"/>
                        </a:highlight>
                        <a:latin typeface="+mn-lt"/>
                        <a:cs typeface="Poppins" pitchFamily="2" charset="77"/>
                      </a:endParaRPr>
                    </a:p>
                    <a:p>
                      <a:pPr marL="0" marR="0" lvl="0" indent="0" algn="l" defTabSz="914400" rtl="0" eaLnBrk="1" fontAlgn="auto" latinLnBrk="0" hangingPunct="1">
                        <a:lnSpc>
                          <a:spcPct val="100000"/>
                        </a:lnSpc>
                        <a:spcBef>
                          <a:spcPts val="300"/>
                        </a:spcBef>
                        <a:spcAft>
                          <a:spcPts val="0"/>
                        </a:spcAft>
                        <a:buClrTx/>
                        <a:buSzTx/>
                        <a:buFontTx/>
                        <a:buNone/>
                        <a:tabLst/>
                        <a:defRPr/>
                      </a:pPr>
                      <a:r>
                        <a:rPr lang="en-US" sz="1000" b="1" i="0">
                          <a:solidFill>
                            <a:schemeClr val="tx1"/>
                          </a:solidFill>
                          <a:latin typeface="+mn-lt"/>
                          <a:cs typeface="Poppins" pitchFamily="2" charset="77"/>
                        </a:rPr>
                        <a:t>Lead: </a:t>
                      </a:r>
                      <a:r>
                        <a:rPr lang="en-US" sz="1000" b="0" i="0">
                          <a:solidFill>
                            <a:schemeClr val="tx1"/>
                          </a:solidFill>
                          <a:latin typeface="+mn-lt"/>
                          <a:cs typeface="Poppins" pitchFamily="2" charset="77"/>
                        </a:rPr>
                        <a:t>HEOR</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1" i="0">
                          <a:solidFill>
                            <a:schemeClr val="tx1"/>
                          </a:solidFill>
                          <a:latin typeface="+mn-lt"/>
                          <a:cs typeface="Poppins" pitchFamily="2" charset="77"/>
                          <a:hlinkClick r:id="rId6" action="ppaction://hlinksldjump">
                            <a:extLst>
                              <a:ext uri="{A12FA001-AC4F-418D-AE19-62706E023703}">
                                <ahyp:hlinkClr xmlns:ahyp="http://schemas.microsoft.com/office/drawing/2018/hyperlinkcolor" val="tx"/>
                              </a:ext>
                            </a:extLst>
                          </a:hlinkClick>
                        </a:rPr>
                        <a:t>NSCLC_HI_07</a:t>
                      </a:r>
                      <a:r>
                        <a:rPr lang="en-US" sz="1000" b="0" i="0">
                          <a:solidFill>
                            <a:schemeClr val="tx1"/>
                          </a:solidFill>
                          <a:latin typeface="+mn-lt"/>
                          <a:cs typeface="Poppins" pitchFamily="2" charset="77"/>
                        </a:rPr>
                        <a:t>: Impact of BGB-58067 on healthcare resource utilization (HCRU) and cost vs. SoC</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mn-lt"/>
                          <a:cs typeface="Poppins" pitchFamily="2" charset="77"/>
                        </a:rPr>
                        <a:t>Design considerations:</a:t>
                      </a:r>
                      <a:endParaRPr kumimoji="0" lang="en-US" sz="1000" b="0" i="0" u="none" strike="noStrike" kern="1200" cap="none" spc="0" normalizeH="0" baseline="0" noProof="0">
                        <a:ln>
                          <a:noFill/>
                        </a:ln>
                        <a:solidFill>
                          <a:schemeClr val="tx1"/>
                        </a:solidFill>
                        <a:effectLst/>
                        <a:uLnTx/>
                        <a:uFillTx/>
                        <a:latin typeface="+mn-lt"/>
                        <a:cs typeface="Poppins" pitchFamily="2" charset="77"/>
                      </a:endParaRP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May be limited by data availability across geographies and HTA bodies for which the data would be acceptable </a:t>
                      </a:r>
                    </a:p>
                    <a:p>
                      <a:pPr marL="628650" marR="0" lvl="1"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Potential to leverage nNGM (Germany) and ATLAS (Italy)</a:t>
                      </a:r>
                      <a:endParaRPr kumimoji="0" lang="en-US" sz="1000" b="0" i="0" u="none" strike="noStrike" kern="1200" cap="none" spc="0" normalizeH="0" baseline="0" noProof="0">
                        <a:ln>
                          <a:noFill/>
                        </a:ln>
                        <a:solidFill>
                          <a:schemeClr val="tx1"/>
                        </a:solidFill>
                        <a:effectLst/>
                        <a:highlight>
                          <a:srgbClr val="FFFF00"/>
                        </a:highlight>
                        <a:uLnTx/>
                        <a:uFillTx/>
                        <a:latin typeface="+mn-lt"/>
                        <a:cs typeface="Poppins" pitchFamily="2" charset="77"/>
                      </a:endParaRPr>
                    </a:p>
                    <a:p>
                      <a:pPr marL="628650" marR="0" lvl="1"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Chart review study design should be considered if limited access to claims and registry data</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Study design may be further informed/enriched by insights from post-hoc analysis for HI_07</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Evidence crucial for following re-negotiations after reimbursement </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29043126"/>
                  </a:ext>
                </a:extLst>
              </a:tr>
            </a:tbl>
          </a:graphicData>
        </a:graphic>
      </p:graphicFrame>
      <p:sp>
        <p:nvSpPr>
          <p:cNvPr id="20" name="Title 19">
            <a:extLst>
              <a:ext uri="{FF2B5EF4-FFF2-40B4-BE49-F238E27FC236}">
                <a16:creationId xmlns:a16="http://schemas.microsoft.com/office/drawing/2014/main" id="{66BC17A9-37A7-ACFD-D202-012664221629}"/>
              </a:ext>
            </a:extLst>
          </p:cNvPr>
          <p:cNvSpPr>
            <a:spLocks noGrp="1"/>
          </p:cNvSpPr>
          <p:nvPr>
            <p:ph type="title"/>
          </p:nvPr>
        </p:nvSpPr>
        <p:spPr>
          <a:xfrm>
            <a:off x="358337" y="338328"/>
            <a:ext cx="11470125" cy="738664"/>
          </a:xfrm>
        </p:spPr>
        <p:txBody>
          <a:bodyPr vert="horz" rIns="0">
            <a:spAutoFit/>
          </a:bodyPr>
          <a:lstStyle/>
          <a:p>
            <a:r>
              <a:rPr lang="en-US" sz="2400"/>
              <a:t>Six </a:t>
            </a:r>
            <a:r>
              <a:rPr lang="en-US" sz="2400" b="1">
                <a:solidFill>
                  <a:schemeClr val="accent6"/>
                </a:solidFill>
              </a:rPr>
              <a:t>RWE studies </a:t>
            </a:r>
            <a:r>
              <a:rPr lang="en-US" sz="2400"/>
              <a:t>establish unmet need in MTAP-del NSCLC and contextualize real-world clinical benefit of BGB-58067 (3/3)</a:t>
            </a:r>
          </a:p>
        </p:txBody>
      </p:sp>
      <p:sp>
        <p:nvSpPr>
          <p:cNvPr id="18" name="Rectangle 17">
            <a:extLst>
              <a:ext uri="{FF2B5EF4-FFF2-40B4-BE49-F238E27FC236}">
                <a16:creationId xmlns:a16="http://schemas.microsoft.com/office/drawing/2014/main" id="{7C834981-AC8E-ADF0-F1AD-D18F5491CDD0}"/>
              </a:ext>
            </a:extLst>
          </p:cNvPr>
          <p:cNvSpPr/>
          <p:nvPr/>
        </p:nvSpPr>
        <p:spPr>
          <a:xfrm>
            <a:off x="10721988" y="3004265"/>
            <a:ext cx="1037929" cy="887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lnSpcReduction="10000"/>
          </a:bodyPr>
          <a:lstStyle/>
          <a:p>
            <a:r>
              <a:rPr lang="en-US" sz="900" b="1">
                <a:solidFill>
                  <a:schemeClr val="tx1"/>
                </a:solidFill>
              </a:rPr>
              <a:t>Start: </a:t>
            </a:r>
          </a:p>
          <a:p>
            <a:r>
              <a:rPr lang="en-US" sz="900">
                <a:solidFill>
                  <a:schemeClr val="tx1"/>
                </a:solidFill>
              </a:rPr>
              <a:t>Dependent on launch</a:t>
            </a:r>
          </a:p>
          <a:p>
            <a:r>
              <a:rPr lang="en-US" sz="900">
                <a:solidFill>
                  <a:schemeClr val="tx1"/>
                </a:solidFill>
              </a:rPr>
              <a:t>Long-term </a:t>
            </a:r>
          </a:p>
          <a:p>
            <a:r>
              <a:rPr lang="en-US" sz="900">
                <a:solidFill>
                  <a:schemeClr val="tx1"/>
                </a:solidFill>
              </a:rPr>
              <a:t>analysis</a:t>
            </a:r>
            <a:br>
              <a:rPr lang="en-US" sz="900">
                <a:solidFill>
                  <a:schemeClr val="tx1"/>
                </a:solidFill>
              </a:rPr>
            </a:br>
            <a:r>
              <a:rPr lang="en-US" sz="900">
                <a:solidFill>
                  <a:schemeClr val="tx1"/>
                </a:solidFill>
              </a:rPr>
              <a:t>post 2033+</a:t>
            </a:r>
          </a:p>
          <a:p>
            <a:endParaRPr lang="en-US" sz="900">
              <a:solidFill>
                <a:schemeClr val="tx1"/>
              </a:solidFill>
            </a:endParaRPr>
          </a:p>
        </p:txBody>
      </p:sp>
      <p:sp>
        <p:nvSpPr>
          <p:cNvPr id="22" name="Arrow: Pentagon 21">
            <a:extLst>
              <a:ext uri="{FF2B5EF4-FFF2-40B4-BE49-F238E27FC236}">
                <a16:creationId xmlns:a16="http://schemas.microsoft.com/office/drawing/2014/main" id="{333A7503-3B64-888A-47C3-9117E5D106DD}"/>
              </a:ext>
            </a:extLst>
          </p:cNvPr>
          <p:cNvSpPr/>
          <p:nvPr/>
        </p:nvSpPr>
        <p:spPr>
          <a:xfrm>
            <a:off x="11277599" y="2577465"/>
            <a:ext cx="505079" cy="388620"/>
          </a:xfrm>
          <a:prstGeom prst="homePlat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24" name="Diamond 23">
            <a:extLst>
              <a:ext uri="{FF2B5EF4-FFF2-40B4-BE49-F238E27FC236}">
                <a16:creationId xmlns:a16="http://schemas.microsoft.com/office/drawing/2014/main" id="{5FBA654B-6A00-A576-CA17-30B7B67099F4}"/>
              </a:ext>
            </a:extLst>
          </p:cNvPr>
          <p:cNvSpPr/>
          <p:nvPr/>
        </p:nvSpPr>
        <p:spPr>
          <a:xfrm>
            <a:off x="11157587" y="2670558"/>
            <a:ext cx="228600" cy="22860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26" name="Rectangle 25">
            <a:extLst>
              <a:ext uri="{FF2B5EF4-FFF2-40B4-BE49-F238E27FC236}">
                <a16:creationId xmlns:a16="http://schemas.microsoft.com/office/drawing/2014/main" id="{71A02C97-B4B0-5F27-5235-B7A3B76AA66C}"/>
              </a:ext>
            </a:extLst>
          </p:cNvPr>
          <p:cNvSpPr/>
          <p:nvPr/>
        </p:nvSpPr>
        <p:spPr>
          <a:xfrm>
            <a:off x="10813553" y="2215011"/>
            <a:ext cx="992148" cy="388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r>
              <a:rPr lang="en-US" sz="900" b="1">
                <a:solidFill>
                  <a:schemeClr val="tx1"/>
                </a:solidFill>
              </a:rPr>
              <a:t>Anticipated Launch: </a:t>
            </a:r>
            <a:r>
              <a:rPr lang="en-US" sz="900">
                <a:solidFill>
                  <a:schemeClr val="tx1"/>
                </a:solidFill>
              </a:rPr>
              <a:t>2032+</a:t>
            </a:r>
          </a:p>
        </p:txBody>
      </p:sp>
      <p:sp>
        <p:nvSpPr>
          <p:cNvPr id="13" name="Footer Placeholder 2">
            <a:extLst>
              <a:ext uri="{FF2B5EF4-FFF2-40B4-BE49-F238E27FC236}">
                <a16:creationId xmlns:a16="http://schemas.microsoft.com/office/drawing/2014/main" id="{90C5852D-AB27-1071-51C7-42B8BB26E79C}"/>
              </a:ext>
            </a:extLst>
          </p:cNvPr>
          <p:cNvSpPr>
            <a:spLocks noGrp="1"/>
          </p:cNvSpPr>
          <p:nvPr>
            <p:ph type="ftr" sz="quarter" idx="10"/>
          </p:nvPr>
        </p:nvSpPr>
        <p:spPr>
          <a:xfrm>
            <a:off x="328864" y="6347252"/>
            <a:ext cx="5681293" cy="388311"/>
          </a:xfrm>
        </p:spPr>
        <p:txBody>
          <a:bodyPr/>
          <a:lstStyle/>
          <a:p>
            <a:pPr>
              <a:defRPr/>
            </a:pPr>
            <a:r>
              <a:rPr lang="en-US">
                <a:solidFill>
                  <a:srgbClr val="000000">
                    <a:lumMod val="65000"/>
                    <a:lumOff val="35000"/>
                  </a:srgbClr>
                </a:solidFill>
              </a:rPr>
              <a:t>Abbreviations: </a:t>
            </a:r>
            <a:r>
              <a:rPr lang="en-US"/>
              <a:t>HCRU: Healthcare Resource Utilization; HEOR: Health Economics and Outcomes Research; HI: High Priority; HTA: Health Technology Assessment; </a:t>
            </a:r>
            <a:r>
              <a:rPr lang="en-US" err="1"/>
              <a:t>nNGM</a:t>
            </a:r>
            <a:r>
              <a:rPr lang="en-US"/>
              <a:t>: Network of Genomic Medicine (Germany); NSCLC: Non-Small Cell Lung Cancer; RWE: Real-World Evidence; SoC: Standard of Care</a:t>
            </a:r>
          </a:p>
        </p:txBody>
      </p:sp>
      <p:sp>
        <p:nvSpPr>
          <p:cNvPr id="14" name="Rectangle 13">
            <a:extLst>
              <a:ext uri="{FF2B5EF4-FFF2-40B4-BE49-F238E27FC236}">
                <a16:creationId xmlns:a16="http://schemas.microsoft.com/office/drawing/2014/main" id="{35E7A737-67D3-3551-A175-2CC83723DFB3}"/>
              </a:ext>
            </a:extLst>
          </p:cNvPr>
          <p:cNvSpPr/>
          <p:nvPr/>
        </p:nvSpPr>
        <p:spPr>
          <a:xfrm>
            <a:off x="8765796" y="6280266"/>
            <a:ext cx="2242113" cy="3342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92500" lnSpcReduction="10000"/>
          </a:bodyPr>
          <a:lstStyle/>
          <a:p>
            <a:pPr algn="ctr"/>
            <a:endParaRPr lang="en-US" err="1">
              <a:solidFill>
                <a:schemeClr val="bg1"/>
              </a:solidFill>
            </a:endParaRPr>
          </a:p>
        </p:txBody>
      </p:sp>
      <p:grpSp>
        <p:nvGrpSpPr>
          <p:cNvPr id="16" name="Group 15">
            <a:extLst>
              <a:ext uri="{FF2B5EF4-FFF2-40B4-BE49-F238E27FC236}">
                <a16:creationId xmlns:a16="http://schemas.microsoft.com/office/drawing/2014/main" id="{494073C9-A3E7-3B17-E273-93C584E6413A}"/>
              </a:ext>
            </a:extLst>
          </p:cNvPr>
          <p:cNvGrpSpPr/>
          <p:nvPr/>
        </p:nvGrpSpPr>
        <p:grpSpPr>
          <a:xfrm>
            <a:off x="8025100" y="6327114"/>
            <a:ext cx="3279572" cy="319473"/>
            <a:chOff x="8676947" y="6306366"/>
            <a:chExt cx="3279572" cy="319473"/>
          </a:xfrm>
        </p:grpSpPr>
        <p:sp>
          <p:nvSpPr>
            <p:cNvPr id="19" name="TextBox 18">
              <a:extLst>
                <a:ext uri="{FF2B5EF4-FFF2-40B4-BE49-F238E27FC236}">
                  <a16:creationId xmlns:a16="http://schemas.microsoft.com/office/drawing/2014/main" id="{FCB2EC4A-838C-319B-432B-9F11025DA34C}"/>
                </a:ext>
              </a:extLst>
            </p:cNvPr>
            <p:cNvSpPr txBox="1"/>
            <p:nvPr/>
          </p:nvSpPr>
          <p:spPr>
            <a:xfrm>
              <a:off x="8676947" y="6318062"/>
              <a:ext cx="470764" cy="307777"/>
            </a:xfrm>
            <a:prstGeom prst="rect">
              <a:avLst/>
            </a:prstGeom>
            <a:noFill/>
          </p:spPr>
          <p:txBody>
            <a:bodyPr wrap="square" lIns="91440" tIns="91440" rIns="91440" bIns="91440"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Poppins"/>
                  <a:ea typeface="+mn-ea"/>
                  <a:cs typeface="+mn-cs"/>
                </a:rPr>
                <a:t>Key:</a:t>
              </a:r>
            </a:p>
          </p:txBody>
        </p:sp>
        <p:grpSp>
          <p:nvGrpSpPr>
            <p:cNvPr id="21" name="Group 20">
              <a:extLst>
                <a:ext uri="{FF2B5EF4-FFF2-40B4-BE49-F238E27FC236}">
                  <a16:creationId xmlns:a16="http://schemas.microsoft.com/office/drawing/2014/main" id="{E0836869-F34D-D04E-1C3A-97A15FA640A4}"/>
                </a:ext>
              </a:extLst>
            </p:cNvPr>
            <p:cNvGrpSpPr/>
            <p:nvPr/>
          </p:nvGrpSpPr>
          <p:grpSpPr>
            <a:xfrm>
              <a:off x="8743681" y="6306366"/>
              <a:ext cx="3212838" cy="307777"/>
              <a:chOff x="6686281" y="6344466"/>
              <a:chExt cx="3212838" cy="307777"/>
            </a:xfrm>
          </p:grpSpPr>
          <p:sp>
            <p:nvSpPr>
              <p:cNvPr id="23" name="Diamond 22">
                <a:extLst>
                  <a:ext uri="{FF2B5EF4-FFF2-40B4-BE49-F238E27FC236}">
                    <a16:creationId xmlns:a16="http://schemas.microsoft.com/office/drawing/2014/main" id="{D44E3E0D-BC41-CFCB-374E-BA962EFE521A}"/>
                  </a:ext>
                </a:extLst>
              </p:cNvPr>
              <p:cNvSpPr/>
              <p:nvPr/>
            </p:nvSpPr>
            <p:spPr>
              <a:xfrm>
                <a:off x="8778716" y="6409851"/>
                <a:ext cx="175330" cy="177007"/>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25" name="TextBox 24">
                <a:extLst>
                  <a:ext uri="{FF2B5EF4-FFF2-40B4-BE49-F238E27FC236}">
                    <a16:creationId xmlns:a16="http://schemas.microsoft.com/office/drawing/2014/main" id="{250B8DDB-9C5C-D8DE-260F-F2133ECE6389}"/>
                  </a:ext>
                </a:extLst>
              </p:cNvPr>
              <p:cNvSpPr txBox="1"/>
              <p:nvPr/>
            </p:nvSpPr>
            <p:spPr>
              <a:xfrm>
                <a:off x="8910524" y="6344466"/>
                <a:ext cx="988595"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Milestone</a:t>
                </a:r>
              </a:p>
            </p:txBody>
          </p:sp>
          <p:sp>
            <p:nvSpPr>
              <p:cNvPr id="27" name="TextBox 26">
                <a:extLst>
                  <a:ext uri="{FF2B5EF4-FFF2-40B4-BE49-F238E27FC236}">
                    <a16:creationId xmlns:a16="http://schemas.microsoft.com/office/drawing/2014/main" id="{30294C10-7613-2EAF-E137-AB796E8D561A}"/>
                  </a:ext>
                </a:extLst>
              </p:cNvPr>
              <p:cNvSpPr txBox="1"/>
              <p:nvPr/>
            </p:nvSpPr>
            <p:spPr>
              <a:xfrm>
                <a:off x="7292815" y="6344466"/>
                <a:ext cx="1632109"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Start of study to </a:t>
                </a:r>
                <a:r>
                  <a:rPr kumimoji="0" lang="en-US" sz="800" b="0" i="0" u="none" strike="noStrike" kern="1200" cap="none" spc="0" normalizeH="0" baseline="0" noProof="0" err="1">
                    <a:ln>
                      <a:noFill/>
                    </a:ln>
                    <a:solidFill>
                      <a:srgbClr val="000000"/>
                    </a:solidFill>
                    <a:effectLst/>
                    <a:uLnTx/>
                    <a:uFillTx/>
                    <a:latin typeface="Poppins"/>
                    <a:ea typeface="+mn-ea"/>
                    <a:cs typeface="+mn-cs"/>
                  </a:rPr>
                  <a:t>en</a:t>
                </a:r>
                <a:r>
                  <a:rPr lang="en-US" sz="800">
                    <a:solidFill>
                      <a:srgbClr val="000000"/>
                    </a:solidFill>
                    <a:latin typeface="Poppins"/>
                  </a:rPr>
                  <a:t>d/DRO</a:t>
                </a:r>
                <a:endParaRPr kumimoji="0" 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28" name="Arrow: Pentagon 27">
                <a:extLst>
                  <a:ext uri="{FF2B5EF4-FFF2-40B4-BE49-F238E27FC236}">
                    <a16:creationId xmlns:a16="http://schemas.microsoft.com/office/drawing/2014/main" id="{28B3E1AF-F116-CC07-27BC-26DC5756EC10}"/>
                  </a:ext>
                </a:extLst>
              </p:cNvPr>
              <p:cNvSpPr/>
              <p:nvPr/>
            </p:nvSpPr>
            <p:spPr>
              <a:xfrm>
                <a:off x="7133798" y="6422147"/>
                <a:ext cx="182880" cy="182880"/>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algn="ctr"/>
                <a:endParaRPr lang="en-US">
                  <a:solidFill>
                    <a:schemeClr val="bg1"/>
                  </a:solidFill>
                </a:endParaRPr>
              </a:p>
            </p:txBody>
          </p:sp>
          <p:sp>
            <p:nvSpPr>
              <p:cNvPr id="40" name="Rectangle: Rounded Corners 39">
                <a:extLst>
                  <a:ext uri="{FF2B5EF4-FFF2-40B4-BE49-F238E27FC236}">
                    <a16:creationId xmlns:a16="http://schemas.microsoft.com/office/drawing/2014/main" id="{449F8972-5998-0A5A-5FFE-251CA20666F9}"/>
                  </a:ext>
                </a:extLst>
              </p:cNvPr>
              <p:cNvSpPr/>
              <p:nvPr/>
            </p:nvSpPr>
            <p:spPr>
              <a:xfrm>
                <a:off x="6686281" y="6365302"/>
                <a:ext cx="2924444" cy="28150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algn="ctr"/>
                <a:endParaRPr lang="en-US">
                  <a:solidFill>
                    <a:schemeClr val="bg1"/>
                  </a:solidFill>
                </a:endParaRPr>
              </a:p>
            </p:txBody>
          </p:sp>
        </p:grpSp>
      </p:grpSp>
      <p:grpSp>
        <p:nvGrpSpPr>
          <p:cNvPr id="42" name="Group 41">
            <a:extLst>
              <a:ext uri="{FF2B5EF4-FFF2-40B4-BE49-F238E27FC236}">
                <a16:creationId xmlns:a16="http://schemas.microsoft.com/office/drawing/2014/main" id="{7ECE1D4D-0B0E-36F1-E23D-CFF7E91531F7}"/>
              </a:ext>
            </a:extLst>
          </p:cNvPr>
          <p:cNvGrpSpPr/>
          <p:nvPr/>
        </p:nvGrpSpPr>
        <p:grpSpPr>
          <a:xfrm>
            <a:off x="6044154" y="6332843"/>
            <a:ext cx="2001488" cy="395710"/>
            <a:chOff x="9984926" y="1221638"/>
            <a:chExt cx="2001488" cy="395710"/>
          </a:xfrm>
        </p:grpSpPr>
        <p:sp>
          <p:nvSpPr>
            <p:cNvPr id="43" name="Rectangle 42">
              <a:extLst>
                <a:ext uri="{FF2B5EF4-FFF2-40B4-BE49-F238E27FC236}">
                  <a16:creationId xmlns:a16="http://schemas.microsoft.com/office/drawing/2014/main" id="{C96A331F-078B-B525-F3D9-FA105936A3F0}"/>
                </a:ext>
              </a:extLst>
            </p:cNvPr>
            <p:cNvSpPr/>
            <p:nvPr/>
          </p:nvSpPr>
          <p:spPr>
            <a:xfrm>
              <a:off x="10122616" y="1221638"/>
              <a:ext cx="1863798" cy="3957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800">
                  <a:solidFill>
                    <a:schemeClr val="tx1"/>
                  </a:solidFill>
                </a:rPr>
                <a:t>Click the </a:t>
              </a:r>
              <a:r>
                <a:rPr lang="en-US" sz="800" b="1">
                  <a:solidFill>
                    <a:schemeClr val="tx1"/>
                  </a:solidFill>
                </a:rPr>
                <a:t>gap  ID to return to gap overview</a:t>
              </a:r>
              <a:endParaRPr lang="en-US" sz="800">
                <a:solidFill>
                  <a:schemeClr val="tx1"/>
                </a:solidFill>
              </a:endParaRPr>
            </a:p>
          </p:txBody>
        </p:sp>
        <p:pic>
          <p:nvPicPr>
            <p:cNvPr id="45" name="Graphic 44" descr="Cursor with solid fill">
              <a:extLst>
                <a:ext uri="{FF2B5EF4-FFF2-40B4-BE49-F238E27FC236}">
                  <a16:creationId xmlns:a16="http://schemas.microsoft.com/office/drawing/2014/main" id="{5DEEB4E6-FAA0-67A1-AE00-34579CDD87B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984926" y="1302723"/>
              <a:ext cx="216000" cy="216000"/>
            </a:xfrm>
            <a:prstGeom prst="rect">
              <a:avLst/>
            </a:prstGeom>
          </p:spPr>
        </p:pic>
      </p:grpSp>
      <p:grpSp>
        <p:nvGrpSpPr>
          <p:cNvPr id="2" name="Group 1">
            <a:extLst>
              <a:ext uri="{FF2B5EF4-FFF2-40B4-BE49-F238E27FC236}">
                <a16:creationId xmlns:a16="http://schemas.microsoft.com/office/drawing/2014/main" id="{45DBC15F-6E2A-AD07-38B2-E2B11DACF18A}"/>
              </a:ext>
            </a:extLst>
          </p:cNvPr>
          <p:cNvGrpSpPr/>
          <p:nvPr/>
        </p:nvGrpSpPr>
        <p:grpSpPr>
          <a:xfrm>
            <a:off x="362743" y="10216"/>
            <a:ext cx="10042505" cy="252000"/>
            <a:chOff x="362743" y="10216"/>
            <a:chExt cx="10042505" cy="252000"/>
          </a:xfrm>
        </p:grpSpPr>
        <p:sp>
          <p:nvSpPr>
            <p:cNvPr id="4" name="Pentagon 47">
              <a:extLst>
                <a:ext uri="{FF2B5EF4-FFF2-40B4-BE49-F238E27FC236}">
                  <a16:creationId xmlns:a16="http://schemas.microsoft.com/office/drawing/2014/main" id="{12EDFD34-6536-3BC9-D766-88CB35210527}"/>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6" name="Chevron 48">
              <a:extLst>
                <a:ext uri="{FF2B5EF4-FFF2-40B4-BE49-F238E27FC236}">
                  <a16:creationId xmlns:a16="http://schemas.microsoft.com/office/drawing/2014/main" id="{AE1BF8E2-FEE5-FD66-C133-F40BB71D322D}"/>
                </a:ext>
              </a:extLst>
            </p:cNvPr>
            <p:cNvSpPr/>
            <p:nvPr/>
          </p:nvSpPr>
          <p:spPr>
            <a:xfrm>
              <a:off x="5371087"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7" name="Chevron 52">
              <a:extLst>
                <a:ext uri="{FF2B5EF4-FFF2-40B4-BE49-F238E27FC236}">
                  <a16:creationId xmlns:a16="http://schemas.microsoft.com/office/drawing/2014/main" id="{77C06764-447A-CC44-1835-7ADD55D259E5}"/>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8" name="Chevron 54">
              <a:extLst>
                <a:ext uri="{FF2B5EF4-FFF2-40B4-BE49-F238E27FC236}">
                  <a16:creationId xmlns:a16="http://schemas.microsoft.com/office/drawing/2014/main" id="{2B401E65-DE65-DD18-9DB9-EC279656ACF0}"/>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9" name="Chevron 48">
              <a:extLst>
                <a:ext uri="{FF2B5EF4-FFF2-40B4-BE49-F238E27FC236}">
                  <a16:creationId xmlns:a16="http://schemas.microsoft.com/office/drawing/2014/main" id="{C72D1505-7ECA-ABBD-695A-FB2FE82714A1}"/>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1" name="Chevron 48">
              <a:extLst>
                <a:ext uri="{FF2B5EF4-FFF2-40B4-BE49-F238E27FC236}">
                  <a16:creationId xmlns:a16="http://schemas.microsoft.com/office/drawing/2014/main" id="{4E551CD7-3DD5-8760-C41C-4C4C099AE3DA}"/>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41557108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BF3EC-62EC-A746-64D1-22CDDF51668B}"/>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BC0AD23D-4375-10BB-B2FE-67FA030C20BA}"/>
              </a:ext>
            </a:extLst>
          </p:cNvPr>
          <p:cNvGraphicFramePr>
            <a:graphicFrameLocks noGrp="1"/>
          </p:cNvGraphicFramePr>
          <p:nvPr>
            <p:extLst>
              <p:ext uri="{D42A27DB-BD31-4B8C-83A1-F6EECF244321}">
                <p14:modId xmlns:p14="http://schemas.microsoft.com/office/powerpoint/2010/main" val="1146561881"/>
              </p:ext>
            </p:extLst>
          </p:nvPr>
        </p:nvGraphicFramePr>
        <p:xfrm>
          <a:off x="360936" y="1361964"/>
          <a:ext cx="11466577" cy="4710180"/>
        </p:xfrm>
        <a:graphic>
          <a:graphicData uri="http://schemas.openxmlformats.org/drawingml/2006/table">
            <a:tbl>
              <a:tblPr bandRow="1">
                <a:tableStyleId>{5C22544A-7EE6-4342-B048-85BDC9FD1C3A}</a:tableStyleId>
              </a:tblPr>
              <a:tblGrid>
                <a:gridCol w="1848492">
                  <a:extLst>
                    <a:ext uri="{9D8B030D-6E8A-4147-A177-3AD203B41FA5}">
                      <a16:colId xmlns:a16="http://schemas.microsoft.com/office/drawing/2014/main" val="1362236069"/>
                    </a:ext>
                  </a:extLst>
                </a:gridCol>
                <a:gridCol w="2658679">
                  <a:extLst>
                    <a:ext uri="{9D8B030D-6E8A-4147-A177-3AD203B41FA5}">
                      <a16:colId xmlns:a16="http://schemas.microsoft.com/office/drawing/2014/main" val="366937182"/>
                    </a:ext>
                  </a:extLst>
                </a:gridCol>
                <a:gridCol w="3712110">
                  <a:extLst>
                    <a:ext uri="{9D8B030D-6E8A-4147-A177-3AD203B41FA5}">
                      <a16:colId xmlns:a16="http://schemas.microsoft.com/office/drawing/2014/main" val="3093558049"/>
                    </a:ext>
                  </a:extLst>
                </a:gridCol>
                <a:gridCol w="405912">
                  <a:extLst>
                    <a:ext uri="{9D8B030D-6E8A-4147-A177-3AD203B41FA5}">
                      <a16:colId xmlns:a16="http://schemas.microsoft.com/office/drawing/2014/main" val="320023064"/>
                    </a:ext>
                  </a:extLst>
                </a:gridCol>
                <a:gridCol w="405912">
                  <a:extLst>
                    <a:ext uri="{9D8B030D-6E8A-4147-A177-3AD203B41FA5}">
                      <a16:colId xmlns:a16="http://schemas.microsoft.com/office/drawing/2014/main" val="1426101900"/>
                    </a:ext>
                  </a:extLst>
                </a:gridCol>
                <a:gridCol w="405912">
                  <a:extLst>
                    <a:ext uri="{9D8B030D-6E8A-4147-A177-3AD203B41FA5}">
                      <a16:colId xmlns:a16="http://schemas.microsoft.com/office/drawing/2014/main" val="3689681127"/>
                    </a:ext>
                  </a:extLst>
                </a:gridCol>
                <a:gridCol w="405912">
                  <a:extLst>
                    <a:ext uri="{9D8B030D-6E8A-4147-A177-3AD203B41FA5}">
                      <a16:colId xmlns:a16="http://schemas.microsoft.com/office/drawing/2014/main" val="2083152798"/>
                    </a:ext>
                  </a:extLst>
                </a:gridCol>
                <a:gridCol w="405912">
                  <a:extLst>
                    <a:ext uri="{9D8B030D-6E8A-4147-A177-3AD203B41FA5}">
                      <a16:colId xmlns:a16="http://schemas.microsoft.com/office/drawing/2014/main" val="3966416640"/>
                    </a:ext>
                  </a:extLst>
                </a:gridCol>
                <a:gridCol w="405912">
                  <a:extLst>
                    <a:ext uri="{9D8B030D-6E8A-4147-A177-3AD203B41FA5}">
                      <a16:colId xmlns:a16="http://schemas.microsoft.com/office/drawing/2014/main" val="3189174259"/>
                    </a:ext>
                  </a:extLst>
                </a:gridCol>
                <a:gridCol w="405912">
                  <a:extLst>
                    <a:ext uri="{9D8B030D-6E8A-4147-A177-3AD203B41FA5}">
                      <a16:colId xmlns:a16="http://schemas.microsoft.com/office/drawing/2014/main" val="2611606897"/>
                    </a:ext>
                  </a:extLst>
                </a:gridCol>
                <a:gridCol w="405912">
                  <a:extLst>
                    <a:ext uri="{9D8B030D-6E8A-4147-A177-3AD203B41FA5}">
                      <a16:colId xmlns:a16="http://schemas.microsoft.com/office/drawing/2014/main" val="320137629"/>
                    </a:ext>
                  </a:extLst>
                </a:gridCol>
              </a:tblGrid>
              <a:tr h="0">
                <a:tc rowSpan="2">
                  <a:txBody>
                    <a:bodyPr/>
                    <a:lstStyle/>
                    <a:p>
                      <a:pPr algn="ctr">
                        <a:spcBef>
                          <a:spcPts val="300"/>
                        </a:spcBef>
                      </a:pPr>
                      <a:r>
                        <a:rPr lang="en-US" sz="1200" b="1" i="0">
                          <a:solidFill>
                            <a:schemeClr val="bg1"/>
                          </a:solidFill>
                          <a:latin typeface="+mn-lt"/>
                          <a:cs typeface="Poppins" pitchFamily="2" charset="77"/>
                        </a:rPr>
                        <a:t>Tactic</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algn="ctr">
                        <a:spcBef>
                          <a:spcPts val="300"/>
                        </a:spcBef>
                      </a:pPr>
                      <a:r>
                        <a:rPr lang="en-US" sz="1200" b="1" i="0">
                          <a:solidFill>
                            <a:schemeClr val="bg1"/>
                          </a:solidFill>
                          <a:latin typeface="+mn-lt"/>
                          <a:cs typeface="Poppins" pitchFamily="2" charset="77"/>
                        </a:rPr>
                        <a:t>Gaps addressed</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lang="en-US" sz="1200" b="1" i="0">
                          <a:solidFill>
                            <a:schemeClr val="bg1"/>
                          </a:solidFill>
                          <a:latin typeface="+mn-lt"/>
                          <a:cs typeface="Poppins" pitchFamily="2" charset="77"/>
                        </a:rPr>
                        <a:t>Rationale and design considerations</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gridSpan="8">
                  <a:txBody>
                    <a:bodyPr/>
                    <a:lstStyle/>
                    <a:p>
                      <a:pPr algn="ctr">
                        <a:spcBef>
                          <a:spcPts val="300"/>
                        </a:spcBef>
                      </a:pPr>
                      <a:r>
                        <a:rPr lang="en-US" sz="1200" b="1" i="0">
                          <a:solidFill>
                            <a:schemeClr val="bg1"/>
                          </a:solidFill>
                          <a:latin typeface="+mn-lt"/>
                          <a:cs typeface="Poppins" pitchFamily="2" charset="77"/>
                        </a:rPr>
                        <a:t>Timing</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pPr algn="ctr">
                        <a:spcBef>
                          <a:spcPts val="300"/>
                        </a:spcBef>
                      </a:pP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2323510155"/>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spcBef>
                          <a:spcPts val="300"/>
                        </a:spcBef>
                      </a:pPr>
                      <a:r>
                        <a:rPr lang="en-US" sz="1000" b="1" i="0">
                          <a:solidFill>
                            <a:schemeClr val="bg1"/>
                          </a:solidFill>
                          <a:latin typeface="+mn-lt"/>
                          <a:cs typeface="Poppins" pitchFamily="2" charset="77"/>
                        </a:rPr>
                        <a:t>2026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2027</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2028</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2029</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2030</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2031</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2032</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2033+</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1184289703"/>
                  </a:ext>
                </a:extLst>
              </a:tr>
              <a:tr h="1427100">
                <a:tc>
                  <a:txBody>
                    <a:bodyPr/>
                    <a:lstStyle/>
                    <a:p>
                      <a:pPr marL="0" indent="0" algn="l">
                        <a:spcBef>
                          <a:spcPts val="300"/>
                        </a:spcBef>
                        <a:buFont typeface="Arial" panose="020B0604020202020204" pitchFamily="34" charset="0"/>
                        <a:buNone/>
                      </a:pPr>
                      <a:r>
                        <a:rPr lang="en-US" sz="1000" b="0" i="0">
                          <a:solidFill>
                            <a:schemeClr val="tx1"/>
                          </a:solidFill>
                          <a:latin typeface="+mn-lt"/>
                          <a:cs typeface="Poppins" pitchFamily="2" charset="77"/>
                        </a:rPr>
                        <a:t>21. Expanded tumor-types IIT</a:t>
                      </a:r>
                    </a:p>
                    <a:p>
                      <a:pPr marL="0" indent="0" algn="l">
                        <a:spcBef>
                          <a:spcPts val="300"/>
                        </a:spcBef>
                        <a:buFont typeface="Arial" panose="020B0604020202020204" pitchFamily="34" charset="0"/>
                        <a:buNone/>
                      </a:pPr>
                      <a:endParaRPr lang="en-US" sz="1000" b="0" i="0">
                        <a:solidFill>
                          <a:schemeClr val="tx1"/>
                        </a:solidFill>
                        <a:latin typeface="+mn-lt"/>
                        <a:cs typeface="Poppins" pitchFamily="2" charset="77"/>
                      </a:endParaRPr>
                    </a:p>
                    <a:p>
                      <a:pPr marL="0" indent="0" algn="l">
                        <a:spcBef>
                          <a:spcPts val="300"/>
                        </a:spcBef>
                        <a:buFont typeface="Arial" panose="020B0604020202020204" pitchFamily="34" charset="0"/>
                        <a:buNone/>
                      </a:pPr>
                      <a:r>
                        <a:rPr lang="en-US" sz="1000" b="1" i="0">
                          <a:solidFill>
                            <a:schemeClr val="tx1"/>
                          </a:solidFill>
                          <a:latin typeface="+mn-lt"/>
                          <a:cs typeface="Poppins" pitchFamily="2" charset="77"/>
                        </a:rPr>
                        <a:t>Lead:</a:t>
                      </a:r>
                      <a:r>
                        <a:rPr lang="en-US" sz="1000" b="0" i="0">
                          <a:solidFill>
                            <a:schemeClr val="tx1"/>
                          </a:solidFill>
                          <a:latin typeface="+mn-lt"/>
                          <a:cs typeface="Poppins" pitchFamily="2" charset="77"/>
                        </a:rPr>
                        <a:t> Medical</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2D1D9"/>
                    </a:solidFill>
                  </a:tcPr>
                </a:tc>
                <a:tc>
                  <a:txBody>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000" b="1" i="0">
                          <a:solidFill>
                            <a:schemeClr val="tx1"/>
                          </a:solidFill>
                          <a:latin typeface="+mn-lt"/>
                          <a:cs typeface="Poppins"/>
                          <a:hlinkClick r:id="rId4" action="ppaction://hlinksldjump">
                            <a:extLst>
                              <a:ext uri="{A12FA001-AC4F-418D-AE19-62706E023703}">
                                <ahyp:hlinkClr xmlns:ahyp="http://schemas.microsoft.com/office/drawing/2018/hyperlinkcolor" val="tx"/>
                              </a:ext>
                            </a:extLst>
                          </a:hlinkClick>
                        </a:rPr>
                        <a:t>NSCLC_CE_02</a:t>
                      </a:r>
                      <a:r>
                        <a:rPr lang="en-US" sz="1000" b="0" i="0">
                          <a:solidFill>
                            <a:schemeClr val="tx1"/>
                          </a:solidFill>
                          <a:latin typeface="+mn-lt"/>
                          <a:cs typeface="Poppins"/>
                        </a:rPr>
                        <a:t>: Efficacy and safety in MTAP-del tumor types beyond CDP (GBM, HNSCC, Mesothelioma, </a:t>
                      </a:r>
                      <a:r>
                        <a:rPr lang="en-US" sz="1000" b="0" kern="1200">
                          <a:solidFill>
                            <a:schemeClr val="tx1"/>
                          </a:solidFill>
                          <a:latin typeface="+mn-lt"/>
                          <a:ea typeface="+mn-ea"/>
                          <a:cs typeface="Poppins"/>
                        </a:rPr>
                        <a:t>CCA, rare tumors)</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None/>
                        <a:tabLst/>
                        <a:defRPr/>
                      </a:pPr>
                      <a:r>
                        <a:rPr lang="en-US" sz="1000" b="1" i="0" u="none" strike="noStrike" kern="1200" noProof="0">
                          <a:solidFill>
                            <a:schemeClr val="tx1"/>
                          </a:solidFill>
                          <a:effectLst/>
                          <a:latin typeface="+mn-lt"/>
                          <a:ea typeface="+mn-ea"/>
                          <a:cs typeface="Poppins"/>
                        </a:rPr>
                        <a:t>Design considerations:</a:t>
                      </a:r>
                      <a:endParaRPr kumimoji="0" lang="en-US" sz="1000" b="0" i="0" u="none" strike="noStrike" kern="1200" cap="none" spc="0" normalizeH="0" baseline="0" noProof="0">
                        <a:ln>
                          <a:noFill/>
                        </a:ln>
                        <a:solidFill>
                          <a:schemeClr val="tx1"/>
                        </a:solidFill>
                        <a:effectLst/>
                        <a:uLnTx/>
                        <a:uFillTx/>
                        <a:latin typeface="+mn-lt"/>
                        <a:cs typeface="Poppins" pitchFamily="2" charset="77"/>
                      </a:endParaRP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GBM IIT should focus on newly diagnosed vs. recurrent/brain-met populations</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Site/investigator selection should prioritize regions with strong KOL-recognized unmet need (incl. Spain/Germany/US for mesothelioma, GBM)</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Design may include a basket study design or multiple IITs, depending on proposals</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74479344"/>
                  </a:ext>
                </a:extLst>
              </a:tr>
              <a:tr h="1427100">
                <a:tc>
                  <a:txBody>
                    <a:bodyPr/>
                    <a:lstStyle/>
                    <a:p>
                      <a:pPr algn="l">
                        <a:spcBef>
                          <a:spcPts val="300"/>
                        </a:spcBef>
                      </a:pPr>
                      <a:r>
                        <a:rPr lang="en-US" sz="1000" b="0" i="0">
                          <a:solidFill>
                            <a:schemeClr val="tx1"/>
                          </a:solidFill>
                          <a:latin typeface="+mn-lt"/>
                          <a:cs typeface="Poppins" pitchFamily="2" charset="77"/>
                        </a:rPr>
                        <a:t>22. CNS outcomes in patients with untreated, symptomatic (active), stable/treated or asymptomatic brain </a:t>
                      </a:r>
                      <a:r>
                        <a:rPr lang="en-US" sz="1000" b="0" i="0" err="1">
                          <a:solidFill>
                            <a:schemeClr val="tx1"/>
                          </a:solidFill>
                          <a:latin typeface="+mn-lt"/>
                          <a:cs typeface="Poppins" pitchFamily="2" charset="77"/>
                        </a:rPr>
                        <a:t>mets</a:t>
                      </a:r>
                      <a:r>
                        <a:rPr lang="en-US" sz="1000" b="0" i="0">
                          <a:solidFill>
                            <a:schemeClr val="tx1"/>
                          </a:solidFill>
                          <a:latin typeface="+mn-lt"/>
                          <a:cs typeface="Poppins" pitchFamily="2" charset="77"/>
                        </a:rPr>
                        <a:t> at baseline</a:t>
                      </a:r>
                    </a:p>
                    <a:p>
                      <a:pPr algn="l">
                        <a:spcBef>
                          <a:spcPts val="300"/>
                        </a:spcBef>
                      </a:pPr>
                      <a:endParaRPr lang="en-US" sz="1000" b="0" i="0">
                        <a:solidFill>
                          <a:schemeClr val="tx1"/>
                        </a:solidFill>
                        <a:latin typeface="+mn-lt"/>
                        <a:cs typeface="Poppins" pitchFamily="2" charset="77"/>
                      </a:endParaRPr>
                    </a:p>
                    <a:p>
                      <a:pPr algn="l">
                        <a:spcBef>
                          <a:spcPts val="300"/>
                        </a:spcBef>
                      </a:pPr>
                      <a:r>
                        <a:rPr lang="en-US" sz="1000" b="1" i="0">
                          <a:solidFill>
                            <a:schemeClr val="tx1"/>
                          </a:solidFill>
                          <a:latin typeface="+mn-lt"/>
                          <a:cs typeface="Poppins" pitchFamily="2" charset="77"/>
                        </a:rPr>
                        <a:t>Lead: </a:t>
                      </a:r>
                      <a:r>
                        <a:rPr lang="en-US" sz="1000" b="0" i="0">
                          <a:solidFill>
                            <a:schemeClr val="tx1"/>
                          </a:solidFill>
                          <a:latin typeface="+mn-lt"/>
                          <a:cs typeface="Poppins" pitchFamily="2" charset="77"/>
                        </a:rPr>
                        <a:t>Medical</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2D1D9"/>
                    </a:solidFill>
                  </a:tcPr>
                </a:tc>
                <a:tc>
                  <a:txBody>
                    <a:bodyPr/>
                    <a:lstStyle/>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1" i="0" kern="1200">
                          <a:solidFill>
                            <a:schemeClr val="tx1"/>
                          </a:solidFill>
                          <a:latin typeface="+mn-lt"/>
                          <a:ea typeface="+mn-ea"/>
                          <a:cs typeface="Poppins"/>
                          <a:hlinkClick r:id="rId5" action="ppaction://hlinksldjump">
                            <a:extLst>
                              <a:ext uri="{A12FA001-AC4F-418D-AE19-62706E023703}">
                                <ahyp:hlinkClr xmlns:ahyp="http://schemas.microsoft.com/office/drawing/2018/hyperlinkcolor" val="tx"/>
                              </a:ext>
                            </a:extLst>
                          </a:hlinkClick>
                        </a:rPr>
                        <a:t>NSCLC_CE_04</a:t>
                      </a:r>
                      <a:r>
                        <a:rPr lang="en-US" sz="1000" b="0" i="0" kern="1200">
                          <a:solidFill>
                            <a:schemeClr val="tx1"/>
                          </a:solidFill>
                          <a:latin typeface="+mn-lt"/>
                          <a:ea typeface="+mn-ea"/>
                          <a:cs typeface="Poppins"/>
                        </a:rPr>
                        <a:t>: BGB-58067's impact on CNS metastases relative to control arm and competitor PRMT5i in MTAP-deleted NSCLC or other tumors</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r>
                        <a:rPr lang="en-US" sz="1000" b="1" i="0" u="none" strike="noStrike" kern="1200" noProof="0">
                          <a:solidFill>
                            <a:schemeClr val="tx1"/>
                          </a:solidFill>
                          <a:effectLst/>
                          <a:latin typeface="+mn-lt"/>
                          <a:ea typeface="+mn-ea"/>
                          <a:cs typeface="Poppins"/>
                        </a:rPr>
                        <a:t>Design considerations:</a:t>
                      </a:r>
                    </a:p>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0" i="0" u="none" strike="noStrike" kern="1200" noProof="0">
                          <a:solidFill>
                            <a:schemeClr val="tx1"/>
                          </a:solidFill>
                          <a:effectLst/>
                          <a:latin typeface="+mn-lt"/>
                          <a:ea typeface="+mn-ea"/>
                          <a:cs typeface="Poppins"/>
                        </a:rPr>
                        <a:t>There is a need for a consistent CNS imaging schedule within the IIT protocol</a:t>
                      </a:r>
                    </a:p>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0" i="0" u="none" strike="noStrike" kern="1200" noProof="0">
                          <a:solidFill>
                            <a:schemeClr val="tx1"/>
                          </a:solidFill>
                          <a:effectLst/>
                          <a:latin typeface="+mn-lt"/>
                          <a:ea typeface="+mn-ea"/>
                          <a:cs typeface="Poppins"/>
                        </a:rPr>
                        <a:t>Endpoints may include </a:t>
                      </a:r>
                      <a:r>
                        <a:rPr lang="en-US" sz="1000" b="0" i="0" u="none" strike="noStrike" kern="1200" noProof="0" err="1">
                          <a:solidFill>
                            <a:schemeClr val="tx1"/>
                          </a:solidFill>
                          <a:effectLst/>
                          <a:latin typeface="+mn-lt"/>
                          <a:ea typeface="+mn-ea"/>
                          <a:cs typeface="Poppins"/>
                        </a:rPr>
                        <a:t>iORR</a:t>
                      </a:r>
                      <a:r>
                        <a:rPr lang="en-US" sz="1000" b="0" i="0" u="none" strike="noStrike" kern="1200" noProof="0">
                          <a:solidFill>
                            <a:schemeClr val="tx1"/>
                          </a:solidFill>
                          <a:effectLst/>
                          <a:latin typeface="+mn-lt"/>
                          <a:ea typeface="+mn-ea"/>
                          <a:cs typeface="Poppins"/>
                        </a:rPr>
                        <a:t>, </a:t>
                      </a:r>
                      <a:r>
                        <a:rPr lang="en-US" sz="1000" b="0" i="0" u="none" strike="noStrike" kern="1200" noProof="0" err="1">
                          <a:solidFill>
                            <a:schemeClr val="tx1"/>
                          </a:solidFill>
                          <a:effectLst/>
                          <a:latin typeface="+mn-lt"/>
                          <a:ea typeface="+mn-ea"/>
                          <a:cs typeface="Poppins"/>
                        </a:rPr>
                        <a:t>iPFS</a:t>
                      </a:r>
                      <a:r>
                        <a:rPr lang="en-US" sz="1000" b="0" i="0" u="none" strike="noStrike" kern="1200" noProof="0">
                          <a:solidFill>
                            <a:schemeClr val="tx1"/>
                          </a:solidFill>
                          <a:effectLst/>
                          <a:latin typeface="+mn-lt"/>
                          <a:ea typeface="+mn-ea"/>
                          <a:cs typeface="Poppins"/>
                        </a:rPr>
                        <a:t>, </a:t>
                      </a:r>
                      <a:r>
                        <a:rPr lang="en-US" sz="1000" b="0" i="0" u="none" strike="noStrike" kern="1200" noProof="0" err="1">
                          <a:solidFill>
                            <a:schemeClr val="tx1"/>
                          </a:solidFill>
                          <a:effectLst/>
                          <a:latin typeface="+mn-lt"/>
                          <a:ea typeface="+mn-ea"/>
                          <a:cs typeface="Poppins"/>
                        </a:rPr>
                        <a:t>iDoR</a:t>
                      </a:r>
                      <a:r>
                        <a:rPr lang="en-US" sz="1000" b="0" i="0" u="none" strike="noStrike" kern="1200" noProof="0">
                          <a:solidFill>
                            <a:schemeClr val="tx1"/>
                          </a:solidFill>
                          <a:effectLst/>
                          <a:latin typeface="+mn-lt"/>
                          <a:ea typeface="+mn-ea"/>
                          <a:cs typeface="Poppins"/>
                        </a:rPr>
                        <a:t>, time to new CNS mets, time to neurological worsening, CNS-specific HRQoL</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83635208"/>
                  </a:ext>
                </a:extLst>
              </a:tr>
              <a:tr h="1427100">
                <a:tc>
                  <a:txBody>
                    <a:bodyPr/>
                    <a:lstStyle/>
                    <a:p>
                      <a:pPr algn="l">
                        <a:spcBef>
                          <a:spcPts val="300"/>
                        </a:spcBef>
                      </a:pPr>
                      <a:r>
                        <a:rPr lang="en-US" sz="1000" b="0" i="0">
                          <a:solidFill>
                            <a:schemeClr val="tx1"/>
                          </a:solidFill>
                          <a:latin typeface="+mn-lt"/>
                          <a:cs typeface="Poppins" pitchFamily="2" charset="77"/>
                        </a:rPr>
                        <a:t>23. Combinations with targeted therapied beyond CDP</a:t>
                      </a:r>
                    </a:p>
                    <a:p>
                      <a:pPr algn="l">
                        <a:spcBef>
                          <a:spcPts val="300"/>
                        </a:spcBef>
                      </a:pPr>
                      <a:endParaRPr lang="en-US" sz="1000" b="0" i="0">
                        <a:solidFill>
                          <a:schemeClr val="tx1"/>
                        </a:solidFill>
                        <a:latin typeface="+mn-lt"/>
                        <a:cs typeface="Poppins" pitchFamily="2" charset="77"/>
                      </a:endParaRPr>
                    </a:p>
                    <a:p>
                      <a:pPr algn="l">
                        <a:spcBef>
                          <a:spcPts val="300"/>
                        </a:spcBef>
                      </a:pPr>
                      <a:r>
                        <a:rPr lang="en-US" sz="1000" b="1" i="0">
                          <a:solidFill>
                            <a:schemeClr val="tx1"/>
                          </a:solidFill>
                          <a:latin typeface="+mn-lt"/>
                          <a:cs typeface="Poppins" pitchFamily="2" charset="77"/>
                        </a:rPr>
                        <a:t>Lead: </a:t>
                      </a:r>
                      <a:r>
                        <a:rPr lang="en-US" sz="1000" b="0" i="0">
                          <a:solidFill>
                            <a:schemeClr val="tx1"/>
                          </a:solidFill>
                          <a:latin typeface="+mn-lt"/>
                          <a:cs typeface="Poppins" pitchFamily="2" charset="77"/>
                        </a:rPr>
                        <a:t>Medical</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2D1D9"/>
                    </a:solidFill>
                  </a:tcPr>
                </a:tc>
                <a:tc>
                  <a:txBody>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000" b="1" i="0" kern="1200">
                          <a:solidFill>
                            <a:schemeClr val="tx1"/>
                          </a:solidFill>
                          <a:latin typeface="+mn-lt"/>
                          <a:ea typeface="+mn-ea"/>
                          <a:cs typeface="Poppins" pitchFamily="2" charset="77"/>
                          <a:hlinkClick r:id="rId6" action="ppaction://hlinksldjump">
                            <a:extLst>
                              <a:ext uri="{A12FA001-AC4F-418D-AE19-62706E023703}">
                                <ahyp:hlinkClr xmlns:ahyp="http://schemas.microsoft.com/office/drawing/2018/hyperlinkcolor" val="tx"/>
                              </a:ext>
                            </a:extLst>
                          </a:hlinkClick>
                        </a:rPr>
                        <a:t>NSCLC_HI_15</a:t>
                      </a:r>
                      <a:r>
                        <a:rPr lang="en-US" sz="1000" b="0" i="0" kern="1200">
                          <a:solidFill>
                            <a:schemeClr val="tx1"/>
                          </a:solidFill>
                          <a:latin typeface="+mn-lt"/>
                          <a:ea typeface="+mn-ea"/>
                          <a:cs typeface="Poppins" pitchFamily="2" charset="77"/>
                        </a:rPr>
                        <a:t>: Efficacy and safety in combination with targeted therapies (e.g., TKI)</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r>
                        <a:rPr lang="en-US" sz="1000" b="1" i="0" u="none" strike="noStrike" kern="1200" noProof="0">
                          <a:solidFill>
                            <a:schemeClr val="tx1"/>
                          </a:solidFill>
                          <a:effectLst/>
                          <a:latin typeface="+mn-lt"/>
                          <a:ea typeface="+mn-ea"/>
                          <a:cs typeface="Poppins"/>
                        </a:rPr>
                        <a:t>Design considerations:</a:t>
                      </a:r>
                    </a:p>
                    <a:p>
                      <a:pPr marL="171450" lvl="0" indent="-171450">
                        <a:spcBef>
                          <a:spcPts val="300"/>
                        </a:spcBef>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Priority combinations: BGB-58067 + Osimertinib: EGFRm co-mutated MTAP-del NSCLC; BGB-58067 + sotorasib or </a:t>
                      </a:r>
                      <a:r>
                        <a:rPr lang="en-US" sz="1000" b="0" i="0" u="none" strike="noStrike" kern="1200" noProof="0" err="1">
                          <a:solidFill>
                            <a:schemeClr val="tx1"/>
                          </a:solidFill>
                          <a:effectLst/>
                          <a:latin typeface="+mn-lt"/>
                          <a:ea typeface="+mn-ea"/>
                          <a:cs typeface="Poppins"/>
                        </a:rPr>
                        <a:t>adagrasib</a:t>
                      </a:r>
                      <a:r>
                        <a:rPr lang="en-US" sz="1000" b="0" i="0" u="none" strike="noStrike" kern="1200" noProof="0">
                          <a:solidFill>
                            <a:schemeClr val="tx1"/>
                          </a:solidFill>
                          <a:effectLst/>
                          <a:latin typeface="+mn-lt"/>
                          <a:ea typeface="+mn-ea"/>
                          <a:cs typeface="Poppins"/>
                        </a:rPr>
                        <a:t>: KRAS G12C MTAP-del NSCLC </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48992036"/>
                  </a:ext>
                </a:extLst>
              </a:tr>
            </a:tbl>
          </a:graphicData>
        </a:graphic>
      </p:graphicFrame>
      <p:graphicFrame>
        <p:nvGraphicFramePr>
          <p:cNvPr id="5" name="think-cell data - do not delete" hidden="1">
            <a:extLst>
              <a:ext uri="{FF2B5EF4-FFF2-40B4-BE49-F238E27FC236}">
                <a16:creationId xmlns:a16="http://schemas.microsoft.com/office/drawing/2014/main" id="{EB17FBE8-AF5F-0678-CE4E-A154480968F0}"/>
              </a:ext>
            </a:extLst>
          </p:cNvPr>
          <p:cNvGraphicFramePr>
            <a:graphicFrameLocks/>
          </p:cNvGraphicFramePr>
          <p:nvPr>
            <p:custDataLst>
              <p:tags r:id="rId1"/>
            </p:custDataLst>
            <p:extLst>
              <p:ext uri="{D42A27DB-BD31-4B8C-83A1-F6EECF244321}">
                <p14:modId xmlns:p14="http://schemas.microsoft.com/office/powerpoint/2010/main" val="35896990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6" progId="TCLayout.ActiveDocument.1">
                  <p:embed/>
                </p:oleObj>
              </mc:Choice>
              <mc:Fallback>
                <p:oleObj name="think-cell Slide" r:id="rId7" imgW="395" imgH="396" progId="TCLayout.ActiveDocument.1">
                  <p:embed/>
                  <p:pic>
                    <p:nvPicPr>
                      <p:cNvPr id="5" name="think-cell data - do not delete" hidden="1">
                        <a:extLst>
                          <a:ext uri="{FF2B5EF4-FFF2-40B4-BE49-F238E27FC236}">
                            <a16:creationId xmlns:a16="http://schemas.microsoft.com/office/drawing/2014/main" id="{EB17FBE8-AF5F-0678-CE4E-A154480968F0}"/>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0" name="Title 19">
            <a:extLst>
              <a:ext uri="{FF2B5EF4-FFF2-40B4-BE49-F238E27FC236}">
                <a16:creationId xmlns:a16="http://schemas.microsoft.com/office/drawing/2014/main" id="{4F5C038E-E64A-A101-BE3D-9CD272979FAB}"/>
              </a:ext>
            </a:extLst>
          </p:cNvPr>
          <p:cNvSpPr>
            <a:spLocks noGrp="1"/>
          </p:cNvSpPr>
          <p:nvPr>
            <p:ph type="title"/>
          </p:nvPr>
        </p:nvSpPr>
        <p:spPr>
          <a:xfrm>
            <a:off x="358337" y="338328"/>
            <a:ext cx="11470125" cy="738664"/>
          </a:xfrm>
        </p:spPr>
        <p:txBody>
          <a:bodyPr vert="horz" rIns="0">
            <a:spAutoFit/>
          </a:bodyPr>
          <a:lstStyle/>
          <a:p>
            <a:r>
              <a:rPr lang="en-US" sz="2400">
                <a:solidFill>
                  <a:schemeClr val="accent3"/>
                </a:solidFill>
              </a:rPr>
              <a:t>Fourteen </a:t>
            </a:r>
            <a:r>
              <a:rPr lang="en-US" sz="2400" b="1">
                <a:solidFill>
                  <a:srgbClr val="7CB0BE"/>
                </a:solidFill>
              </a:rPr>
              <a:t>IIT programs</a:t>
            </a:r>
            <a:r>
              <a:rPr lang="en-US" sz="2400"/>
              <a:t> expand evidence generation beyond the registrational program (1/5)</a:t>
            </a:r>
            <a:endParaRPr lang="en-US" sz="2400">
              <a:highlight>
                <a:srgbClr val="FFFF00"/>
              </a:highlight>
            </a:endParaRPr>
          </a:p>
        </p:txBody>
      </p:sp>
      <p:sp>
        <p:nvSpPr>
          <p:cNvPr id="19" name="Arrow: Pentagon 18">
            <a:extLst>
              <a:ext uri="{FF2B5EF4-FFF2-40B4-BE49-F238E27FC236}">
                <a16:creationId xmlns:a16="http://schemas.microsoft.com/office/drawing/2014/main" id="{85FB8737-E8C2-4799-7B9E-1BD9BBDA83FA}"/>
              </a:ext>
            </a:extLst>
          </p:cNvPr>
          <p:cNvSpPr/>
          <p:nvPr/>
        </p:nvSpPr>
        <p:spPr>
          <a:xfrm>
            <a:off x="9022413" y="2135933"/>
            <a:ext cx="1959698" cy="388620"/>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37" name="Arrow: Pentagon 36">
            <a:extLst>
              <a:ext uri="{FF2B5EF4-FFF2-40B4-BE49-F238E27FC236}">
                <a16:creationId xmlns:a16="http://schemas.microsoft.com/office/drawing/2014/main" id="{48980537-8DA0-FEBC-A4AE-F745308123DD}"/>
              </a:ext>
            </a:extLst>
          </p:cNvPr>
          <p:cNvSpPr/>
          <p:nvPr/>
        </p:nvSpPr>
        <p:spPr>
          <a:xfrm>
            <a:off x="8994538" y="3554079"/>
            <a:ext cx="1225846" cy="388620"/>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39" name="Arrow: Pentagon 38">
            <a:extLst>
              <a:ext uri="{FF2B5EF4-FFF2-40B4-BE49-F238E27FC236}">
                <a16:creationId xmlns:a16="http://schemas.microsoft.com/office/drawing/2014/main" id="{9FB9F85E-B1D8-20A7-C358-F31463CFBA13}"/>
              </a:ext>
            </a:extLst>
          </p:cNvPr>
          <p:cNvSpPr/>
          <p:nvPr/>
        </p:nvSpPr>
        <p:spPr>
          <a:xfrm>
            <a:off x="8993620" y="5212519"/>
            <a:ext cx="1225846" cy="388620"/>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13" name="Footer Placeholder 2">
            <a:extLst>
              <a:ext uri="{FF2B5EF4-FFF2-40B4-BE49-F238E27FC236}">
                <a16:creationId xmlns:a16="http://schemas.microsoft.com/office/drawing/2014/main" id="{5DD497BB-B48C-3C63-7B9F-330C7411ECE6}"/>
              </a:ext>
            </a:extLst>
          </p:cNvPr>
          <p:cNvSpPr>
            <a:spLocks noGrp="1"/>
          </p:cNvSpPr>
          <p:nvPr>
            <p:ph type="ftr" sz="quarter" idx="10"/>
          </p:nvPr>
        </p:nvSpPr>
        <p:spPr>
          <a:xfrm>
            <a:off x="328864" y="6285180"/>
            <a:ext cx="5681293" cy="526584"/>
          </a:xfrm>
        </p:spPr>
        <p:txBody>
          <a:bodyPr/>
          <a:lstStyle/>
          <a:p>
            <a:pPr>
              <a:defRPr/>
            </a:pPr>
            <a:r>
              <a:rPr lang="en-US">
                <a:solidFill>
                  <a:srgbClr val="000000">
                    <a:lumMod val="65000"/>
                    <a:lumOff val="35000"/>
                  </a:srgbClr>
                </a:solidFill>
              </a:rPr>
              <a:t>Note: Timeline for when IIT programs have access to BGB-58067 will impact study initiation; Abbreviations: </a:t>
            </a:r>
            <a:r>
              <a:rPr lang="en-US"/>
              <a:t>CCA: Cholangiocarcinoma; CDP: Clinical Development Plan; CE: Critical Priority; CNS: Central Nervous System; EGFRm: Epidermal Growth Factor Receptor Mutation; GBM: Glioblastoma; HI: High Priority; HNSCC: Head and Neck Squamous Cell Carcinoma; IIT: Investigator-Initiated Trial; KOL: Key Opinion Leader; KRAS G12C: KRAS Glycine 12 to Cysteine Mutation; MTAP-del: </a:t>
            </a:r>
            <a:r>
              <a:rPr lang="en-US" err="1"/>
              <a:t>Methylthioadenosine</a:t>
            </a:r>
            <a:r>
              <a:rPr lang="en-US"/>
              <a:t> Phosphorylase-deleted; NSCLC: Non-Small Cell Lung Cancer; TKI: Tyrosine Kinase Inhibitor</a:t>
            </a:r>
          </a:p>
        </p:txBody>
      </p:sp>
      <p:sp>
        <p:nvSpPr>
          <p:cNvPr id="22" name="Rectangle 21">
            <a:extLst>
              <a:ext uri="{FF2B5EF4-FFF2-40B4-BE49-F238E27FC236}">
                <a16:creationId xmlns:a16="http://schemas.microsoft.com/office/drawing/2014/main" id="{6372D09C-1B1C-DAF9-A6C3-4337AE315A94}"/>
              </a:ext>
            </a:extLst>
          </p:cNvPr>
          <p:cNvSpPr/>
          <p:nvPr/>
        </p:nvSpPr>
        <p:spPr>
          <a:xfrm>
            <a:off x="8765796" y="6280266"/>
            <a:ext cx="2242113" cy="3342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92500" lnSpcReduction="10000"/>
          </a:bodyPr>
          <a:lstStyle/>
          <a:p>
            <a:pPr algn="ctr"/>
            <a:endParaRPr lang="en-US" err="1">
              <a:solidFill>
                <a:schemeClr val="bg1"/>
              </a:solidFill>
            </a:endParaRPr>
          </a:p>
        </p:txBody>
      </p:sp>
      <p:grpSp>
        <p:nvGrpSpPr>
          <p:cNvPr id="23" name="Group 22">
            <a:extLst>
              <a:ext uri="{FF2B5EF4-FFF2-40B4-BE49-F238E27FC236}">
                <a16:creationId xmlns:a16="http://schemas.microsoft.com/office/drawing/2014/main" id="{DF64E0A2-1CA8-96B4-FF11-41B3E6C0CA96}"/>
              </a:ext>
            </a:extLst>
          </p:cNvPr>
          <p:cNvGrpSpPr/>
          <p:nvPr/>
        </p:nvGrpSpPr>
        <p:grpSpPr>
          <a:xfrm>
            <a:off x="8025100" y="6327114"/>
            <a:ext cx="3279572" cy="319473"/>
            <a:chOff x="8676947" y="6306366"/>
            <a:chExt cx="3279572" cy="319473"/>
          </a:xfrm>
        </p:grpSpPr>
        <p:sp>
          <p:nvSpPr>
            <p:cNvPr id="25" name="TextBox 24">
              <a:extLst>
                <a:ext uri="{FF2B5EF4-FFF2-40B4-BE49-F238E27FC236}">
                  <a16:creationId xmlns:a16="http://schemas.microsoft.com/office/drawing/2014/main" id="{687F30DE-13FD-581B-B8F5-9751A027FE9C}"/>
                </a:ext>
              </a:extLst>
            </p:cNvPr>
            <p:cNvSpPr txBox="1"/>
            <p:nvPr/>
          </p:nvSpPr>
          <p:spPr>
            <a:xfrm>
              <a:off x="8676947" y="6318062"/>
              <a:ext cx="470764" cy="307777"/>
            </a:xfrm>
            <a:prstGeom prst="rect">
              <a:avLst/>
            </a:prstGeom>
            <a:noFill/>
          </p:spPr>
          <p:txBody>
            <a:bodyPr wrap="square" lIns="91440" tIns="91440" rIns="91440" bIns="91440"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Poppins"/>
                  <a:ea typeface="+mn-ea"/>
                  <a:cs typeface="+mn-cs"/>
                </a:rPr>
                <a:t>Key:</a:t>
              </a:r>
            </a:p>
          </p:txBody>
        </p:sp>
        <p:grpSp>
          <p:nvGrpSpPr>
            <p:cNvPr id="27" name="Group 26">
              <a:extLst>
                <a:ext uri="{FF2B5EF4-FFF2-40B4-BE49-F238E27FC236}">
                  <a16:creationId xmlns:a16="http://schemas.microsoft.com/office/drawing/2014/main" id="{11534DE0-8D05-E43A-8E84-BDB723308D3B}"/>
                </a:ext>
              </a:extLst>
            </p:cNvPr>
            <p:cNvGrpSpPr/>
            <p:nvPr/>
          </p:nvGrpSpPr>
          <p:grpSpPr>
            <a:xfrm>
              <a:off x="8743681" y="6306366"/>
              <a:ext cx="3212838" cy="307777"/>
              <a:chOff x="6686281" y="6344466"/>
              <a:chExt cx="3212838" cy="307777"/>
            </a:xfrm>
          </p:grpSpPr>
          <p:sp>
            <p:nvSpPr>
              <p:cNvPr id="34" name="Diamond 33">
                <a:extLst>
                  <a:ext uri="{FF2B5EF4-FFF2-40B4-BE49-F238E27FC236}">
                    <a16:creationId xmlns:a16="http://schemas.microsoft.com/office/drawing/2014/main" id="{02230CB0-55B4-18F8-6B4A-A7D2BDD69645}"/>
                  </a:ext>
                </a:extLst>
              </p:cNvPr>
              <p:cNvSpPr/>
              <p:nvPr/>
            </p:nvSpPr>
            <p:spPr>
              <a:xfrm>
                <a:off x="8778716" y="6409851"/>
                <a:ext cx="175330" cy="177007"/>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36" name="TextBox 35">
                <a:extLst>
                  <a:ext uri="{FF2B5EF4-FFF2-40B4-BE49-F238E27FC236}">
                    <a16:creationId xmlns:a16="http://schemas.microsoft.com/office/drawing/2014/main" id="{38C0903B-E071-0CE6-8940-584FB3822E35}"/>
                  </a:ext>
                </a:extLst>
              </p:cNvPr>
              <p:cNvSpPr txBox="1"/>
              <p:nvPr/>
            </p:nvSpPr>
            <p:spPr>
              <a:xfrm>
                <a:off x="8910524" y="6344466"/>
                <a:ext cx="988595"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Milestone</a:t>
                </a:r>
              </a:p>
            </p:txBody>
          </p:sp>
          <p:sp>
            <p:nvSpPr>
              <p:cNvPr id="38" name="TextBox 37">
                <a:extLst>
                  <a:ext uri="{FF2B5EF4-FFF2-40B4-BE49-F238E27FC236}">
                    <a16:creationId xmlns:a16="http://schemas.microsoft.com/office/drawing/2014/main" id="{444D60E0-E061-642C-B856-0DCDFF2FFB2C}"/>
                  </a:ext>
                </a:extLst>
              </p:cNvPr>
              <p:cNvSpPr txBox="1"/>
              <p:nvPr/>
            </p:nvSpPr>
            <p:spPr>
              <a:xfrm>
                <a:off x="7292815" y="6344466"/>
                <a:ext cx="1632109"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Start of study to </a:t>
                </a:r>
                <a:r>
                  <a:rPr kumimoji="0" lang="en-US" sz="800" b="0" i="0" u="none" strike="noStrike" kern="1200" cap="none" spc="0" normalizeH="0" baseline="0" noProof="0" err="1">
                    <a:ln>
                      <a:noFill/>
                    </a:ln>
                    <a:solidFill>
                      <a:srgbClr val="000000"/>
                    </a:solidFill>
                    <a:effectLst/>
                    <a:uLnTx/>
                    <a:uFillTx/>
                    <a:latin typeface="Poppins"/>
                    <a:ea typeface="+mn-ea"/>
                    <a:cs typeface="+mn-cs"/>
                  </a:rPr>
                  <a:t>en</a:t>
                </a:r>
                <a:r>
                  <a:rPr lang="en-US" sz="800">
                    <a:solidFill>
                      <a:srgbClr val="000000"/>
                    </a:solidFill>
                    <a:latin typeface="Poppins"/>
                  </a:rPr>
                  <a:t>d/DRO</a:t>
                </a:r>
                <a:endParaRPr kumimoji="0" 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40" name="Arrow: Pentagon 39">
                <a:extLst>
                  <a:ext uri="{FF2B5EF4-FFF2-40B4-BE49-F238E27FC236}">
                    <a16:creationId xmlns:a16="http://schemas.microsoft.com/office/drawing/2014/main" id="{85907EC2-5013-B326-C403-BF27412DC4C1}"/>
                  </a:ext>
                </a:extLst>
              </p:cNvPr>
              <p:cNvSpPr/>
              <p:nvPr/>
            </p:nvSpPr>
            <p:spPr>
              <a:xfrm>
                <a:off x="7133798" y="6422147"/>
                <a:ext cx="182880" cy="182880"/>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algn="ctr"/>
                <a:endParaRPr lang="en-US">
                  <a:solidFill>
                    <a:schemeClr val="bg1"/>
                  </a:solidFill>
                </a:endParaRPr>
              </a:p>
            </p:txBody>
          </p:sp>
          <p:sp>
            <p:nvSpPr>
              <p:cNvPr id="41" name="Rectangle: Rounded Corners 40">
                <a:extLst>
                  <a:ext uri="{FF2B5EF4-FFF2-40B4-BE49-F238E27FC236}">
                    <a16:creationId xmlns:a16="http://schemas.microsoft.com/office/drawing/2014/main" id="{4D7B90AD-AE9E-60E6-51C3-D10546C8BB1D}"/>
                  </a:ext>
                </a:extLst>
              </p:cNvPr>
              <p:cNvSpPr/>
              <p:nvPr/>
            </p:nvSpPr>
            <p:spPr>
              <a:xfrm>
                <a:off x="6686281" y="6365302"/>
                <a:ext cx="2924444" cy="28150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algn="ctr"/>
                <a:endParaRPr lang="en-US">
                  <a:solidFill>
                    <a:schemeClr val="bg1"/>
                  </a:solidFill>
                </a:endParaRPr>
              </a:p>
            </p:txBody>
          </p:sp>
        </p:grpSp>
      </p:grpSp>
      <p:grpSp>
        <p:nvGrpSpPr>
          <p:cNvPr id="42" name="Group 41">
            <a:extLst>
              <a:ext uri="{FF2B5EF4-FFF2-40B4-BE49-F238E27FC236}">
                <a16:creationId xmlns:a16="http://schemas.microsoft.com/office/drawing/2014/main" id="{EE428887-3BCC-7B3C-DA86-59EE99332CD2}"/>
              </a:ext>
            </a:extLst>
          </p:cNvPr>
          <p:cNvGrpSpPr/>
          <p:nvPr/>
        </p:nvGrpSpPr>
        <p:grpSpPr>
          <a:xfrm>
            <a:off x="6044154" y="6332843"/>
            <a:ext cx="2001488" cy="395710"/>
            <a:chOff x="9984926" y="1221638"/>
            <a:chExt cx="2001488" cy="395710"/>
          </a:xfrm>
        </p:grpSpPr>
        <p:sp>
          <p:nvSpPr>
            <p:cNvPr id="43" name="Rectangle 42">
              <a:extLst>
                <a:ext uri="{FF2B5EF4-FFF2-40B4-BE49-F238E27FC236}">
                  <a16:creationId xmlns:a16="http://schemas.microsoft.com/office/drawing/2014/main" id="{B4DE69A7-279F-083D-F20D-13B457717ED2}"/>
                </a:ext>
              </a:extLst>
            </p:cNvPr>
            <p:cNvSpPr/>
            <p:nvPr/>
          </p:nvSpPr>
          <p:spPr>
            <a:xfrm>
              <a:off x="10122616" y="1221638"/>
              <a:ext cx="1863798" cy="3957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800">
                  <a:solidFill>
                    <a:schemeClr val="tx1"/>
                  </a:solidFill>
                </a:rPr>
                <a:t>Click the </a:t>
              </a:r>
              <a:r>
                <a:rPr lang="en-US" sz="800" b="1">
                  <a:solidFill>
                    <a:schemeClr val="tx1"/>
                  </a:solidFill>
                </a:rPr>
                <a:t>gap  ID to return to gap overview</a:t>
              </a:r>
              <a:endParaRPr lang="en-US" sz="800">
                <a:solidFill>
                  <a:schemeClr val="tx1"/>
                </a:solidFill>
              </a:endParaRPr>
            </a:p>
          </p:txBody>
        </p:sp>
        <p:pic>
          <p:nvPicPr>
            <p:cNvPr id="44" name="Graphic 43" descr="Cursor with solid fill">
              <a:extLst>
                <a:ext uri="{FF2B5EF4-FFF2-40B4-BE49-F238E27FC236}">
                  <a16:creationId xmlns:a16="http://schemas.microsoft.com/office/drawing/2014/main" id="{5C42629F-3067-6E63-7106-484EE24BDD1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984926" y="1302723"/>
              <a:ext cx="216000" cy="216000"/>
            </a:xfrm>
            <a:prstGeom prst="rect">
              <a:avLst/>
            </a:prstGeom>
          </p:spPr>
        </p:pic>
      </p:grpSp>
      <p:grpSp>
        <p:nvGrpSpPr>
          <p:cNvPr id="2" name="Group 1">
            <a:extLst>
              <a:ext uri="{FF2B5EF4-FFF2-40B4-BE49-F238E27FC236}">
                <a16:creationId xmlns:a16="http://schemas.microsoft.com/office/drawing/2014/main" id="{A5D00955-8E4A-C26F-60A7-1AA8BDD34D0C}"/>
              </a:ext>
            </a:extLst>
          </p:cNvPr>
          <p:cNvGrpSpPr/>
          <p:nvPr/>
        </p:nvGrpSpPr>
        <p:grpSpPr>
          <a:xfrm>
            <a:off x="362743" y="10216"/>
            <a:ext cx="10042505" cy="252000"/>
            <a:chOff x="362743" y="10216"/>
            <a:chExt cx="10042505" cy="252000"/>
          </a:xfrm>
        </p:grpSpPr>
        <p:sp>
          <p:nvSpPr>
            <p:cNvPr id="4" name="Pentagon 47">
              <a:extLst>
                <a:ext uri="{FF2B5EF4-FFF2-40B4-BE49-F238E27FC236}">
                  <a16:creationId xmlns:a16="http://schemas.microsoft.com/office/drawing/2014/main" id="{A5DF6A41-F869-F265-48A2-438BC12EBCCD}"/>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6" name="Chevron 48">
              <a:extLst>
                <a:ext uri="{FF2B5EF4-FFF2-40B4-BE49-F238E27FC236}">
                  <a16:creationId xmlns:a16="http://schemas.microsoft.com/office/drawing/2014/main" id="{F3447AD0-569A-18B9-F32B-8C3631D259BD}"/>
                </a:ext>
              </a:extLst>
            </p:cNvPr>
            <p:cNvSpPr/>
            <p:nvPr/>
          </p:nvSpPr>
          <p:spPr>
            <a:xfrm>
              <a:off x="5371087"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7" name="Chevron 52">
              <a:extLst>
                <a:ext uri="{FF2B5EF4-FFF2-40B4-BE49-F238E27FC236}">
                  <a16:creationId xmlns:a16="http://schemas.microsoft.com/office/drawing/2014/main" id="{49F18927-14D3-E369-B172-57166620F3E1}"/>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8" name="Chevron 54">
              <a:extLst>
                <a:ext uri="{FF2B5EF4-FFF2-40B4-BE49-F238E27FC236}">
                  <a16:creationId xmlns:a16="http://schemas.microsoft.com/office/drawing/2014/main" id="{A12C3003-00C1-5F51-2170-03BD26613763}"/>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9" name="Chevron 48">
              <a:extLst>
                <a:ext uri="{FF2B5EF4-FFF2-40B4-BE49-F238E27FC236}">
                  <a16:creationId xmlns:a16="http://schemas.microsoft.com/office/drawing/2014/main" id="{4AACCDC7-E180-0AB3-1BCC-88C4CF26A5B5}"/>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1" name="Chevron 48">
              <a:extLst>
                <a:ext uri="{FF2B5EF4-FFF2-40B4-BE49-F238E27FC236}">
                  <a16:creationId xmlns:a16="http://schemas.microsoft.com/office/drawing/2014/main" id="{CC26C3CF-0A55-E799-AA7D-AA0A402B0FC8}"/>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28580332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726AB-DABB-5D05-1754-08A83BF517B4}"/>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DE7D287F-78E6-4291-6122-310B4F9E2B1B}"/>
              </a:ext>
            </a:extLst>
          </p:cNvPr>
          <p:cNvGraphicFramePr>
            <a:graphicFrameLocks noGrp="1"/>
          </p:cNvGraphicFramePr>
          <p:nvPr>
            <p:extLst>
              <p:ext uri="{D42A27DB-BD31-4B8C-83A1-F6EECF244321}">
                <p14:modId xmlns:p14="http://schemas.microsoft.com/office/powerpoint/2010/main" val="188663613"/>
              </p:ext>
            </p:extLst>
          </p:nvPr>
        </p:nvGraphicFramePr>
        <p:xfrm>
          <a:off x="360936" y="1361965"/>
          <a:ext cx="11467528" cy="4828733"/>
        </p:xfrm>
        <a:graphic>
          <a:graphicData uri="http://schemas.openxmlformats.org/drawingml/2006/table">
            <a:tbl>
              <a:tblPr bandRow="1">
                <a:tableStyleId>{5C22544A-7EE6-4342-B048-85BDC9FD1C3A}</a:tableStyleId>
              </a:tblPr>
              <a:tblGrid>
                <a:gridCol w="1846236">
                  <a:extLst>
                    <a:ext uri="{9D8B030D-6E8A-4147-A177-3AD203B41FA5}">
                      <a16:colId xmlns:a16="http://schemas.microsoft.com/office/drawing/2014/main" val="1362236069"/>
                    </a:ext>
                  </a:extLst>
                </a:gridCol>
                <a:gridCol w="2667170">
                  <a:extLst>
                    <a:ext uri="{9D8B030D-6E8A-4147-A177-3AD203B41FA5}">
                      <a16:colId xmlns:a16="http://schemas.microsoft.com/office/drawing/2014/main" val="366937182"/>
                    </a:ext>
                  </a:extLst>
                </a:gridCol>
                <a:gridCol w="3709290">
                  <a:extLst>
                    <a:ext uri="{9D8B030D-6E8A-4147-A177-3AD203B41FA5}">
                      <a16:colId xmlns:a16="http://schemas.microsoft.com/office/drawing/2014/main" val="3093558049"/>
                    </a:ext>
                  </a:extLst>
                </a:gridCol>
                <a:gridCol w="405604">
                  <a:extLst>
                    <a:ext uri="{9D8B030D-6E8A-4147-A177-3AD203B41FA5}">
                      <a16:colId xmlns:a16="http://schemas.microsoft.com/office/drawing/2014/main" val="320023064"/>
                    </a:ext>
                  </a:extLst>
                </a:gridCol>
                <a:gridCol w="405604">
                  <a:extLst>
                    <a:ext uri="{9D8B030D-6E8A-4147-A177-3AD203B41FA5}">
                      <a16:colId xmlns:a16="http://schemas.microsoft.com/office/drawing/2014/main" val="1426101900"/>
                    </a:ext>
                  </a:extLst>
                </a:gridCol>
                <a:gridCol w="405604">
                  <a:extLst>
                    <a:ext uri="{9D8B030D-6E8A-4147-A177-3AD203B41FA5}">
                      <a16:colId xmlns:a16="http://schemas.microsoft.com/office/drawing/2014/main" val="3689681127"/>
                    </a:ext>
                  </a:extLst>
                </a:gridCol>
                <a:gridCol w="405604">
                  <a:extLst>
                    <a:ext uri="{9D8B030D-6E8A-4147-A177-3AD203B41FA5}">
                      <a16:colId xmlns:a16="http://schemas.microsoft.com/office/drawing/2014/main" val="2083152798"/>
                    </a:ext>
                  </a:extLst>
                </a:gridCol>
                <a:gridCol w="405604">
                  <a:extLst>
                    <a:ext uri="{9D8B030D-6E8A-4147-A177-3AD203B41FA5}">
                      <a16:colId xmlns:a16="http://schemas.microsoft.com/office/drawing/2014/main" val="3966416640"/>
                    </a:ext>
                  </a:extLst>
                </a:gridCol>
                <a:gridCol w="405604">
                  <a:extLst>
                    <a:ext uri="{9D8B030D-6E8A-4147-A177-3AD203B41FA5}">
                      <a16:colId xmlns:a16="http://schemas.microsoft.com/office/drawing/2014/main" val="3189174259"/>
                    </a:ext>
                  </a:extLst>
                </a:gridCol>
                <a:gridCol w="405604">
                  <a:extLst>
                    <a:ext uri="{9D8B030D-6E8A-4147-A177-3AD203B41FA5}">
                      <a16:colId xmlns:a16="http://schemas.microsoft.com/office/drawing/2014/main" val="2611606897"/>
                    </a:ext>
                  </a:extLst>
                </a:gridCol>
                <a:gridCol w="405604">
                  <a:extLst>
                    <a:ext uri="{9D8B030D-6E8A-4147-A177-3AD203B41FA5}">
                      <a16:colId xmlns:a16="http://schemas.microsoft.com/office/drawing/2014/main" val="1476692316"/>
                    </a:ext>
                  </a:extLst>
                </a:gridCol>
              </a:tblGrid>
              <a:tr h="0">
                <a:tc rowSpan="2">
                  <a:txBody>
                    <a:bodyPr/>
                    <a:lstStyle/>
                    <a:p>
                      <a:pPr algn="ctr">
                        <a:spcBef>
                          <a:spcPts val="300"/>
                        </a:spcBef>
                      </a:pPr>
                      <a:r>
                        <a:rPr lang="en-US" sz="1200" b="1" i="0">
                          <a:solidFill>
                            <a:schemeClr val="bg1"/>
                          </a:solidFill>
                          <a:latin typeface="+mn-lt"/>
                          <a:cs typeface="Poppins" pitchFamily="2" charset="77"/>
                        </a:rPr>
                        <a:t>Tactic</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algn="ctr">
                        <a:spcBef>
                          <a:spcPts val="300"/>
                        </a:spcBef>
                      </a:pPr>
                      <a:r>
                        <a:rPr lang="en-US" sz="1200" b="1" i="0">
                          <a:solidFill>
                            <a:schemeClr val="bg1"/>
                          </a:solidFill>
                          <a:latin typeface="+mn-lt"/>
                          <a:cs typeface="Poppins" pitchFamily="2" charset="77"/>
                        </a:rPr>
                        <a:t>Gaps addressed</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lang="en-US" sz="1200" b="1" i="0">
                          <a:solidFill>
                            <a:schemeClr val="bg1"/>
                          </a:solidFill>
                          <a:latin typeface="+mn-lt"/>
                          <a:cs typeface="Poppins" pitchFamily="2" charset="77"/>
                        </a:rPr>
                        <a:t>Rationale and design considerations</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gridSpan="8">
                  <a:txBody>
                    <a:bodyPr/>
                    <a:lstStyle/>
                    <a:p>
                      <a:pPr algn="ctr">
                        <a:spcBef>
                          <a:spcPts val="300"/>
                        </a:spcBef>
                      </a:pPr>
                      <a:r>
                        <a:rPr lang="en-US" sz="1200" b="1" i="0">
                          <a:solidFill>
                            <a:schemeClr val="bg1"/>
                          </a:solidFill>
                          <a:latin typeface="+mn-lt"/>
                          <a:cs typeface="Poppins" pitchFamily="2" charset="77"/>
                        </a:rPr>
                        <a:t>Timing</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pPr algn="ctr">
                        <a:spcBef>
                          <a:spcPts val="300"/>
                        </a:spcBef>
                      </a:pP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2323510155"/>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spcBef>
                          <a:spcPts val="300"/>
                        </a:spcBef>
                      </a:pPr>
                      <a:r>
                        <a:rPr lang="en-US" sz="1000" b="1" i="0">
                          <a:solidFill>
                            <a:schemeClr val="bg1"/>
                          </a:solidFill>
                          <a:latin typeface="+mn-lt"/>
                          <a:cs typeface="Poppins" pitchFamily="2" charset="77"/>
                        </a:rPr>
                        <a:t>2026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2027</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2028</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2029</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2030</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2031</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2032</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2033+</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1184289703"/>
                  </a:ext>
                </a:extLst>
              </a:tr>
              <a:tr h="1212533">
                <a:tc>
                  <a:txBody>
                    <a:bodyPr/>
                    <a:lstStyle/>
                    <a:p>
                      <a:pPr marL="0" indent="0" algn="l">
                        <a:spcBef>
                          <a:spcPts val="300"/>
                        </a:spcBef>
                        <a:buFont typeface="Arial" panose="020B0604020202020204" pitchFamily="34" charset="0"/>
                        <a:buNone/>
                      </a:pPr>
                      <a:r>
                        <a:rPr lang="en-US" sz="1000" b="0" i="0">
                          <a:solidFill>
                            <a:schemeClr val="tx1"/>
                          </a:solidFill>
                          <a:latin typeface="+mn-lt"/>
                          <a:cs typeface="Poppins" pitchFamily="2" charset="77"/>
                        </a:rPr>
                        <a:t>24. Efficacy / safety in priority co-mutation-defined MTAP-del populations </a:t>
                      </a:r>
                    </a:p>
                    <a:p>
                      <a:pPr marL="0" indent="0" algn="l">
                        <a:spcBef>
                          <a:spcPts val="300"/>
                        </a:spcBef>
                        <a:buFont typeface="Arial" panose="020B0604020202020204" pitchFamily="34" charset="0"/>
                        <a:buNone/>
                      </a:pPr>
                      <a:endParaRPr lang="en-US" sz="1000" b="0" i="0">
                        <a:solidFill>
                          <a:schemeClr val="tx1"/>
                        </a:solidFill>
                        <a:latin typeface="+mn-lt"/>
                        <a:cs typeface="Poppins" pitchFamily="2" charset="77"/>
                      </a:endParaRPr>
                    </a:p>
                    <a:p>
                      <a:pPr marL="0" indent="0" algn="l">
                        <a:spcBef>
                          <a:spcPts val="300"/>
                        </a:spcBef>
                        <a:buFont typeface="Arial" panose="020B0604020202020204" pitchFamily="34" charset="0"/>
                        <a:buNone/>
                      </a:pPr>
                      <a:r>
                        <a:rPr lang="en-US" sz="1000" b="1" i="0">
                          <a:solidFill>
                            <a:schemeClr val="tx1"/>
                          </a:solidFill>
                          <a:latin typeface="+mn-lt"/>
                          <a:cs typeface="Poppins" pitchFamily="2" charset="77"/>
                        </a:rPr>
                        <a:t>Lead:</a:t>
                      </a:r>
                      <a:r>
                        <a:rPr lang="en-US" sz="1000" b="0" i="0">
                          <a:solidFill>
                            <a:schemeClr val="tx1"/>
                          </a:solidFill>
                          <a:latin typeface="+mn-lt"/>
                          <a:cs typeface="Poppins" pitchFamily="2" charset="77"/>
                        </a:rPr>
                        <a:t> Medical</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2D1D9"/>
                    </a:solidFill>
                  </a:tcPr>
                </a:tc>
                <a:tc>
                  <a:txBody>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000" b="1" i="0">
                          <a:solidFill>
                            <a:schemeClr val="tx1"/>
                          </a:solidFill>
                          <a:latin typeface="+mn-lt"/>
                          <a:cs typeface="Poppins"/>
                          <a:hlinkClick r:id="rId4" action="ppaction://hlinksldjump">
                            <a:extLst>
                              <a:ext uri="{A12FA001-AC4F-418D-AE19-62706E023703}">
                                <ahyp:hlinkClr xmlns:ahyp="http://schemas.microsoft.com/office/drawing/2018/hyperlinkcolor" val="tx"/>
                              </a:ext>
                            </a:extLst>
                          </a:hlinkClick>
                        </a:rPr>
                        <a:t>NSCLC_HI_13</a:t>
                      </a:r>
                      <a:r>
                        <a:rPr lang="en-US" sz="1000" b="0" i="0">
                          <a:solidFill>
                            <a:schemeClr val="tx1"/>
                          </a:solidFill>
                          <a:latin typeface="+mn-lt"/>
                          <a:cs typeface="Poppins"/>
                        </a:rPr>
                        <a:t>: BGB-58067’s efficacy/safety in co-mutation-defined populations (STK11, KEAP1, TP53)</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r>
                        <a:rPr lang="en-US" sz="1000" b="1" i="0" u="none" strike="noStrike" kern="1200" noProof="0">
                          <a:solidFill>
                            <a:schemeClr val="tx1"/>
                          </a:solidFill>
                          <a:effectLst/>
                          <a:latin typeface="+mn-lt"/>
                          <a:ea typeface="+mn-ea"/>
                          <a:cs typeface="Poppins"/>
                        </a:rPr>
                        <a:t>Design considerations:</a:t>
                      </a:r>
                    </a:p>
                    <a:p>
                      <a:pPr marL="171450" lvl="0" indent="-171450">
                        <a:spcBef>
                          <a:spcPts val="300"/>
                        </a:spcBef>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Potential feasibility challenges with low “n”</a:t>
                      </a:r>
                    </a:p>
                    <a:p>
                      <a:pPr marL="171450" lvl="0" indent="-171450">
                        <a:spcBef>
                          <a:spcPts val="300"/>
                        </a:spcBef>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STK11/KEAP1 population is most relevant due to high IO resistance, unmet need, and co-occurrence with KRASm</a:t>
                      </a:r>
                      <a:endParaRPr lang="en-US" sz="1000" b="0" i="0" u="none" strike="noStrike" kern="1200" noProof="0">
                        <a:solidFill>
                          <a:schemeClr val="tx1"/>
                        </a:solidFill>
                        <a:effectLst/>
                        <a:highlight>
                          <a:srgbClr val="FFFF00"/>
                        </a:highligh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74479344"/>
                  </a:ext>
                </a:extLst>
              </a:tr>
              <a:tr h="1361967">
                <a:tc>
                  <a:txBody>
                    <a:bodyPr/>
                    <a:lstStyle/>
                    <a:p>
                      <a:pPr algn="l">
                        <a:spcBef>
                          <a:spcPts val="300"/>
                        </a:spcBef>
                      </a:pPr>
                      <a:r>
                        <a:rPr lang="en-US" sz="1000" b="0" i="0">
                          <a:solidFill>
                            <a:schemeClr val="tx1"/>
                          </a:solidFill>
                          <a:latin typeface="+mn-lt"/>
                          <a:cs typeface="Poppins" pitchFamily="2" charset="77"/>
                        </a:rPr>
                        <a:t>25. Efficacy /safety in priority co-mutation-defined MTAP-del populations beyond CDP</a:t>
                      </a:r>
                    </a:p>
                    <a:p>
                      <a:pPr algn="l">
                        <a:spcBef>
                          <a:spcPts val="300"/>
                        </a:spcBef>
                      </a:pPr>
                      <a:endParaRPr lang="en-US" sz="1000" b="0" i="0">
                        <a:solidFill>
                          <a:schemeClr val="tx1"/>
                        </a:solidFill>
                        <a:latin typeface="+mn-lt"/>
                        <a:cs typeface="Poppins" pitchFamily="2" charset="77"/>
                      </a:endParaRPr>
                    </a:p>
                    <a:p>
                      <a:pPr algn="l">
                        <a:spcBef>
                          <a:spcPts val="300"/>
                        </a:spcBef>
                      </a:pPr>
                      <a:r>
                        <a:rPr lang="en-US" sz="1000" b="1" i="0">
                          <a:solidFill>
                            <a:schemeClr val="tx1"/>
                          </a:solidFill>
                          <a:latin typeface="+mn-lt"/>
                          <a:cs typeface="Poppins" pitchFamily="2" charset="77"/>
                        </a:rPr>
                        <a:t>Lead: </a:t>
                      </a:r>
                      <a:r>
                        <a:rPr lang="en-US" sz="1000" b="0" i="0">
                          <a:solidFill>
                            <a:schemeClr val="tx1"/>
                          </a:solidFill>
                          <a:latin typeface="+mn-lt"/>
                          <a:cs typeface="Poppins" pitchFamily="2" charset="77"/>
                        </a:rPr>
                        <a:t>Medical</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2D1D9"/>
                    </a:solidFill>
                  </a:tcPr>
                </a:tc>
                <a:tc>
                  <a:txBody>
                    <a:bodyPr/>
                    <a:lstStyle/>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1" i="0" kern="1200">
                          <a:solidFill>
                            <a:schemeClr val="tx1"/>
                          </a:solidFill>
                          <a:latin typeface="+mn-lt"/>
                          <a:ea typeface="+mn-ea"/>
                          <a:cs typeface="Poppins"/>
                          <a:hlinkClick r:id="rId4" action="ppaction://hlinksldjump">
                            <a:extLst>
                              <a:ext uri="{A12FA001-AC4F-418D-AE19-62706E023703}">
                                <ahyp:hlinkClr xmlns:ahyp="http://schemas.microsoft.com/office/drawing/2018/hyperlinkcolor" val="tx"/>
                              </a:ext>
                            </a:extLst>
                          </a:hlinkClick>
                        </a:rPr>
                        <a:t>NSCLC_HI_12</a:t>
                      </a:r>
                      <a:r>
                        <a:rPr lang="en-US" sz="1000" b="0" i="0" kern="1200">
                          <a:solidFill>
                            <a:schemeClr val="tx1"/>
                          </a:solidFill>
                          <a:latin typeface="+mn-lt"/>
                          <a:ea typeface="+mn-ea"/>
                          <a:cs typeface="Poppins"/>
                        </a:rPr>
                        <a:t>: BGB-58067’s clinical outcomes in MTAP-del NSCLC patient populations with co-occurring actionable genetic alterations (e.g., EGFR, ALK, KRAS) </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r>
                        <a:rPr lang="en-US" sz="1000" b="1" i="0" u="none" strike="noStrike" kern="1200" noProof="0">
                          <a:solidFill>
                            <a:schemeClr val="tx1"/>
                          </a:solidFill>
                          <a:effectLst/>
                          <a:latin typeface="+mn-lt"/>
                          <a:ea typeface="+mn-ea"/>
                          <a:cs typeface="Poppins"/>
                        </a:rPr>
                        <a:t>Design considerations:</a:t>
                      </a:r>
                    </a:p>
                    <a:p>
                      <a:pPr marL="171450" lvl="0" indent="-171450">
                        <a:spcBef>
                          <a:spcPts val="300"/>
                        </a:spcBef>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Prevalence data of co-occurring actionable mutations may inform prioritization of patient populations for IITs</a:t>
                      </a:r>
                    </a:p>
                    <a:p>
                      <a:pPr marL="171450" lvl="0" indent="-171450">
                        <a:spcBef>
                          <a:spcPts val="300"/>
                        </a:spcBef>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Mechanistic understanding of how MTAP deletion ay interact with EGFR, ALK, and KRAS pathways and evidence of additive, synergistic, or antagonistic effects may inform study design in co-mutated populations</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83635208"/>
                  </a:ext>
                </a:extLst>
              </a:tr>
              <a:tr h="1645920">
                <a:tc>
                  <a:txBody>
                    <a:bodyPr/>
                    <a:lstStyle/>
                    <a:p>
                      <a:pPr marL="0" indent="0" algn="l">
                        <a:spcBef>
                          <a:spcPts val="300"/>
                        </a:spcBef>
                        <a:buFont typeface="Arial" panose="020B0604020202020204" pitchFamily="34" charset="0"/>
                        <a:buNone/>
                      </a:pPr>
                      <a:r>
                        <a:rPr lang="en-US" sz="1000" b="0" i="0">
                          <a:solidFill>
                            <a:schemeClr val="tx1"/>
                          </a:solidFill>
                          <a:latin typeface="+mn-lt"/>
                          <a:cs typeface="Poppins" pitchFamily="2" charset="77"/>
                        </a:rPr>
                        <a:t>26. Comparative IIT exploring concurrent vs. sequential administration in SoC combinations</a:t>
                      </a:r>
                    </a:p>
                    <a:p>
                      <a:pPr marL="0" indent="0" algn="l">
                        <a:spcBef>
                          <a:spcPts val="300"/>
                        </a:spcBef>
                        <a:buFont typeface="Arial" panose="020B0604020202020204" pitchFamily="34" charset="0"/>
                        <a:buNone/>
                      </a:pPr>
                      <a:endParaRPr lang="en-US" sz="1000" b="0" i="0">
                        <a:solidFill>
                          <a:schemeClr val="tx1"/>
                        </a:solidFill>
                        <a:latin typeface="+mn-lt"/>
                        <a:cs typeface="Poppins" pitchFamily="2" charset="77"/>
                      </a:endParaRPr>
                    </a:p>
                    <a:p>
                      <a:pPr marL="0" indent="0" algn="l">
                        <a:spcBef>
                          <a:spcPts val="300"/>
                        </a:spcBef>
                        <a:buFont typeface="Arial" panose="020B0604020202020204" pitchFamily="34" charset="0"/>
                        <a:buNone/>
                      </a:pPr>
                      <a:r>
                        <a:rPr lang="en-US" sz="1000" b="1" i="0">
                          <a:solidFill>
                            <a:schemeClr val="tx1"/>
                          </a:solidFill>
                          <a:latin typeface="+mn-lt"/>
                          <a:cs typeface="Poppins" pitchFamily="2" charset="77"/>
                        </a:rPr>
                        <a:t>Lead:</a:t>
                      </a:r>
                      <a:r>
                        <a:rPr lang="en-US" sz="1000" b="0" i="0">
                          <a:solidFill>
                            <a:schemeClr val="tx1"/>
                          </a:solidFill>
                          <a:latin typeface="+mn-lt"/>
                          <a:cs typeface="Poppins" pitchFamily="2" charset="77"/>
                        </a:rPr>
                        <a:t> Medical</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2D1D9"/>
                    </a:solidFill>
                  </a:tcPr>
                </a:tc>
                <a:tc>
                  <a:txBody>
                    <a:bodyPr/>
                    <a:lstStyle/>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1" i="0">
                          <a:solidFill>
                            <a:schemeClr val="tx1"/>
                          </a:solidFill>
                          <a:latin typeface="+mn-lt"/>
                          <a:cs typeface="Poppins" pitchFamily="2" charset="77"/>
                          <a:hlinkClick r:id="rId5" action="ppaction://hlinksldjump">
                            <a:extLst>
                              <a:ext uri="{A12FA001-AC4F-418D-AE19-62706E023703}">
                                <ahyp:hlinkClr xmlns:ahyp="http://schemas.microsoft.com/office/drawing/2018/hyperlinkcolor" val="tx"/>
                              </a:ext>
                            </a:extLst>
                          </a:hlinkClick>
                        </a:rPr>
                        <a:t>NSCLC_CE_05</a:t>
                      </a:r>
                      <a:r>
                        <a:rPr lang="en-US" sz="1000" b="0" i="0">
                          <a:solidFill>
                            <a:schemeClr val="tx1"/>
                          </a:solidFill>
                          <a:latin typeface="+mn-lt"/>
                          <a:cs typeface="Poppins" pitchFamily="2" charset="77"/>
                        </a:rPr>
                        <a:t>: Efficacy, safety, and tolerability with concurrent vs. sequential administration in SoC combinations</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mn-lt"/>
                          <a:cs typeface="Poppins" pitchFamily="2" charset="77"/>
                        </a:rPr>
                        <a:t>Design considerations:</a:t>
                      </a:r>
                      <a:endParaRPr kumimoji="0" lang="en-US" sz="1000" b="0" i="0" u="none" strike="noStrike" kern="1200" cap="none" spc="0" normalizeH="0" baseline="0" noProof="0">
                        <a:ln>
                          <a:noFill/>
                        </a:ln>
                        <a:solidFill>
                          <a:schemeClr val="tx1"/>
                        </a:solidFill>
                        <a:effectLst/>
                        <a:uLnTx/>
                        <a:uFillTx/>
                        <a:latin typeface="+mn-lt"/>
                        <a:cs typeface="Poppins" pitchFamily="2" charset="77"/>
                      </a:endParaRP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Design dependent on SoC by the time of launch </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48992036"/>
                  </a:ext>
                </a:extLst>
              </a:tr>
            </a:tbl>
          </a:graphicData>
        </a:graphic>
      </p:graphicFrame>
      <p:graphicFrame>
        <p:nvGraphicFramePr>
          <p:cNvPr id="5" name="think-cell data - do not delete" hidden="1">
            <a:extLst>
              <a:ext uri="{FF2B5EF4-FFF2-40B4-BE49-F238E27FC236}">
                <a16:creationId xmlns:a16="http://schemas.microsoft.com/office/drawing/2014/main" id="{B968C90D-2783-51E6-4E7C-5C41CFDCA2F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6" progId="TCLayout.ActiveDocument.1">
                  <p:embed/>
                </p:oleObj>
              </mc:Choice>
              <mc:Fallback>
                <p:oleObj name="think-cell Slide" r:id="rId6" imgW="395" imgH="396" progId="TCLayout.ActiveDocument.1">
                  <p:embed/>
                  <p:pic>
                    <p:nvPicPr>
                      <p:cNvPr id="5" name="think-cell data - do not delete" hidden="1">
                        <a:extLst>
                          <a:ext uri="{FF2B5EF4-FFF2-40B4-BE49-F238E27FC236}">
                            <a16:creationId xmlns:a16="http://schemas.microsoft.com/office/drawing/2014/main" id="{B968C90D-2783-51E6-4E7C-5C41CFDCA2F0}"/>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0" name="Title 19">
            <a:extLst>
              <a:ext uri="{FF2B5EF4-FFF2-40B4-BE49-F238E27FC236}">
                <a16:creationId xmlns:a16="http://schemas.microsoft.com/office/drawing/2014/main" id="{039439B4-925B-E974-29D3-DC0265FF9202}"/>
              </a:ext>
            </a:extLst>
          </p:cNvPr>
          <p:cNvSpPr>
            <a:spLocks noGrp="1"/>
          </p:cNvSpPr>
          <p:nvPr>
            <p:ph type="title"/>
          </p:nvPr>
        </p:nvSpPr>
        <p:spPr>
          <a:xfrm>
            <a:off x="358337" y="338328"/>
            <a:ext cx="11470125" cy="738664"/>
          </a:xfrm>
        </p:spPr>
        <p:txBody>
          <a:bodyPr vert="horz" rIns="0">
            <a:spAutoFit/>
          </a:bodyPr>
          <a:lstStyle/>
          <a:p>
            <a:r>
              <a:rPr lang="en-US" sz="2400">
                <a:solidFill>
                  <a:schemeClr val="accent3"/>
                </a:solidFill>
              </a:rPr>
              <a:t>Fourteen </a:t>
            </a:r>
            <a:r>
              <a:rPr lang="en-US" sz="2400" b="1">
                <a:solidFill>
                  <a:srgbClr val="7CB0BE"/>
                </a:solidFill>
              </a:rPr>
              <a:t>IIT programs</a:t>
            </a:r>
            <a:r>
              <a:rPr lang="en-US" sz="2400"/>
              <a:t> expand evidence generation beyond the registrational program (2/5)</a:t>
            </a:r>
            <a:endParaRPr lang="en-US" sz="2400">
              <a:highlight>
                <a:srgbClr val="FFFF00"/>
              </a:highlight>
            </a:endParaRPr>
          </a:p>
        </p:txBody>
      </p:sp>
      <p:sp>
        <p:nvSpPr>
          <p:cNvPr id="37" name="Arrow: Pentagon 36">
            <a:extLst>
              <a:ext uri="{FF2B5EF4-FFF2-40B4-BE49-F238E27FC236}">
                <a16:creationId xmlns:a16="http://schemas.microsoft.com/office/drawing/2014/main" id="{CBEDE659-C8D0-A7FA-0D63-C218FB224406}"/>
              </a:ext>
            </a:extLst>
          </p:cNvPr>
          <p:cNvSpPr/>
          <p:nvPr/>
        </p:nvSpPr>
        <p:spPr>
          <a:xfrm>
            <a:off x="9393927" y="3554079"/>
            <a:ext cx="1226764" cy="388620"/>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7" name="Arrow: Pentagon 6">
            <a:extLst>
              <a:ext uri="{FF2B5EF4-FFF2-40B4-BE49-F238E27FC236}">
                <a16:creationId xmlns:a16="http://schemas.microsoft.com/office/drawing/2014/main" id="{727D66ED-6438-BA98-5884-532FAF24F057}"/>
              </a:ext>
            </a:extLst>
          </p:cNvPr>
          <p:cNvSpPr/>
          <p:nvPr/>
        </p:nvSpPr>
        <p:spPr>
          <a:xfrm>
            <a:off x="8993620" y="2208711"/>
            <a:ext cx="1226764" cy="388620"/>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25" name="Arrow: Pentagon 24">
            <a:extLst>
              <a:ext uri="{FF2B5EF4-FFF2-40B4-BE49-F238E27FC236}">
                <a16:creationId xmlns:a16="http://schemas.microsoft.com/office/drawing/2014/main" id="{9523F884-A468-CB3B-5BD3-AA9DA4A3981D}"/>
              </a:ext>
            </a:extLst>
          </p:cNvPr>
          <p:cNvSpPr/>
          <p:nvPr/>
        </p:nvSpPr>
        <p:spPr>
          <a:xfrm>
            <a:off x="10220384" y="5107415"/>
            <a:ext cx="1226764" cy="388620"/>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19" name="Footer Placeholder 2">
            <a:extLst>
              <a:ext uri="{FF2B5EF4-FFF2-40B4-BE49-F238E27FC236}">
                <a16:creationId xmlns:a16="http://schemas.microsoft.com/office/drawing/2014/main" id="{9590E48F-2E8E-AD55-916F-887DDA6D1791}"/>
              </a:ext>
            </a:extLst>
          </p:cNvPr>
          <p:cNvSpPr>
            <a:spLocks noGrp="1"/>
          </p:cNvSpPr>
          <p:nvPr>
            <p:ph type="ftr" sz="quarter" idx="10"/>
          </p:nvPr>
        </p:nvSpPr>
        <p:spPr>
          <a:xfrm>
            <a:off x="328864" y="6285180"/>
            <a:ext cx="5681293" cy="526584"/>
          </a:xfrm>
        </p:spPr>
        <p:txBody>
          <a:bodyPr/>
          <a:lstStyle/>
          <a:p>
            <a:pPr>
              <a:defRPr/>
            </a:pPr>
            <a:r>
              <a:rPr lang="en-US">
                <a:solidFill>
                  <a:srgbClr val="000000">
                    <a:lumMod val="65000"/>
                    <a:lumOff val="35000"/>
                  </a:srgbClr>
                </a:solidFill>
              </a:rPr>
              <a:t>Note: Timeline for when IIT programs have access to BGB-58067 will impact study initiation; Abbreviations: </a:t>
            </a:r>
            <a:r>
              <a:rPr lang="en-US"/>
              <a:t>ALK: Anaplastic Lymphoma Kinase; CDP: Clinical Development Plan; CE: Critical Priority; EGFR: Epidermal Growth Factor Receptor; HI: High Priority; IIT: Investigator-Initiated Trial; IO: Immuno-Oncology; KEAP1: Kelch-Like ECH-Associated Protein 1; KRAS: Kirsten Rat Sarcoma Viral Oncogene Homolog; </a:t>
            </a:r>
            <a:r>
              <a:rPr lang="en-US" err="1"/>
              <a:t>KRASm</a:t>
            </a:r>
            <a:r>
              <a:rPr lang="en-US"/>
              <a:t>: KRAS Mutation; MTAP-del: </a:t>
            </a:r>
            <a:r>
              <a:rPr lang="en-US" err="1"/>
              <a:t>Methylthioadenosine</a:t>
            </a:r>
            <a:r>
              <a:rPr lang="en-US"/>
              <a:t> Phosphorylase-deleted; NSCLC: Non-Small Cell Lung Cancer; SoC: Standard of Care; STK11: Serine/Threonine Kinase 11; TP53: Tumor Protein P53</a:t>
            </a:r>
          </a:p>
        </p:txBody>
      </p:sp>
      <p:sp>
        <p:nvSpPr>
          <p:cNvPr id="22" name="Rectangle 21">
            <a:extLst>
              <a:ext uri="{FF2B5EF4-FFF2-40B4-BE49-F238E27FC236}">
                <a16:creationId xmlns:a16="http://schemas.microsoft.com/office/drawing/2014/main" id="{A55DDC48-5DDE-0556-8624-8C5BF7C462BD}"/>
              </a:ext>
            </a:extLst>
          </p:cNvPr>
          <p:cNvSpPr/>
          <p:nvPr/>
        </p:nvSpPr>
        <p:spPr>
          <a:xfrm>
            <a:off x="8765796" y="6280266"/>
            <a:ext cx="2242113" cy="3342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92500" lnSpcReduction="10000"/>
          </a:bodyPr>
          <a:lstStyle/>
          <a:p>
            <a:pPr algn="ctr"/>
            <a:endParaRPr lang="en-US" err="1">
              <a:solidFill>
                <a:schemeClr val="bg1"/>
              </a:solidFill>
            </a:endParaRPr>
          </a:p>
        </p:txBody>
      </p:sp>
      <p:grpSp>
        <p:nvGrpSpPr>
          <p:cNvPr id="23" name="Group 22">
            <a:extLst>
              <a:ext uri="{FF2B5EF4-FFF2-40B4-BE49-F238E27FC236}">
                <a16:creationId xmlns:a16="http://schemas.microsoft.com/office/drawing/2014/main" id="{877AA24E-ACFA-10A1-A3C2-C363A0095645}"/>
              </a:ext>
            </a:extLst>
          </p:cNvPr>
          <p:cNvGrpSpPr/>
          <p:nvPr/>
        </p:nvGrpSpPr>
        <p:grpSpPr>
          <a:xfrm>
            <a:off x="8025100" y="6327114"/>
            <a:ext cx="3279572" cy="319473"/>
            <a:chOff x="8676947" y="6306366"/>
            <a:chExt cx="3279572" cy="319473"/>
          </a:xfrm>
        </p:grpSpPr>
        <p:sp>
          <p:nvSpPr>
            <p:cNvPr id="24" name="TextBox 23">
              <a:extLst>
                <a:ext uri="{FF2B5EF4-FFF2-40B4-BE49-F238E27FC236}">
                  <a16:creationId xmlns:a16="http://schemas.microsoft.com/office/drawing/2014/main" id="{7D613F04-0D99-099A-98A8-ECF396795F65}"/>
                </a:ext>
              </a:extLst>
            </p:cNvPr>
            <p:cNvSpPr txBox="1"/>
            <p:nvPr/>
          </p:nvSpPr>
          <p:spPr>
            <a:xfrm>
              <a:off x="8676947" y="6318062"/>
              <a:ext cx="470764" cy="307777"/>
            </a:xfrm>
            <a:prstGeom prst="rect">
              <a:avLst/>
            </a:prstGeom>
            <a:noFill/>
          </p:spPr>
          <p:txBody>
            <a:bodyPr wrap="square" lIns="91440" tIns="91440" rIns="91440" bIns="91440"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Poppins"/>
                  <a:ea typeface="+mn-ea"/>
                  <a:cs typeface="+mn-cs"/>
                </a:rPr>
                <a:t>Key:</a:t>
              </a:r>
            </a:p>
          </p:txBody>
        </p:sp>
        <p:grpSp>
          <p:nvGrpSpPr>
            <p:cNvPr id="26" name="Group 25">
              <a:extLst>
                <a:ext uri="{FF2B5EF4-FFF2-40B4-BE49-F238E27FC236}">
                  <a16:creationId xmlns:a16="http://schemas.microsoft.com/office/drawing/2014/main" id="{CC9D7D82-A4CE-BC6D-2E76-52AB12877E1E}"/>
                </a:ext>
              </a:extLst>
            </p:cNvPr>
            <p:cNvGrpSpPr/>
            <p:nvPr/>
          </p:nvGrpSpPr>
          <p:grpSpPr>
            <a:xfrm>
              <a:off x="8743681" y="6306366"/>
              <a:ext cx="3212838" cy="307777"/>
              <a:chOff x="6686281" y="6344466"/>
              <a:chExt cx="3212838" cy="307777"/>
            </a:xfrm>
          </p:grpSpPr>
          <p:sp>
            <p:nvSpPr>
              <p:cNvPr id="27" name="Diamond 26">
                <a:extLst>
                  <a:ext uri="{FF2B5EF4-FFF2-40B4-BE49-F238E27FC236}">
                    <a16:creationId xmlns:a16="http://schemas.microsoft.com/office/drawing/2014/main" id="{B34B73A2-B2DE-2564-CBE9-F28E60821747}"/>
                  </a:ext>
                </a:extLst>
              </p:cNvPr>
              <p:cNvSpPr/>
              <p:nvPr/>
            </p:nvSpPr>
            <p:spPr>
              <a:xfrm>
                <a:off x="8778716" y="6409851"/>
                <a:ext cx="175330" cy="177007"/>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33" name="TextBox 32">
                <a:extLst>
                  <a:ext uri="{FF2B5EF4-FFF2-40B4-BE49-F238E27FC236}">
                    <a16:creationId xmlns:a16="http://schemas.microsoft.com/office/drawing/2014/main" id="{62767739-9DB4-06B0-46D4-C4C6845036E1}"/>
                  </a:ext>
                </a:extLst>
              </p:cNvPr>
              <p:cNvSpPr txBox="1"/>
              <p:nvPr/>
            </p:nvSpPr>
            <p:spPr>
              <a:xfrm>
                <a:off x="8910524" y="6344466"/>
                <a:ext cx="988595"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Milestone</a:t>
                </a:r>
              </a:p>
            </p:txBody>
          </p:sp>
          <p:sp>
            <p:nvSpPr>
              <p:cNvPr id="34" name="TextBox 33">
                <a:extLst>
                  <a:ext uri="{FF2B5EF4-FFF2-40B4-BE49-F238E27FC236}">
                    <a16:creationId xmlns:a16="http://schemas.microsoft.com/office/drawing/2014/main" id="{F3BEE614-9B99-D1B8-B3F9-593B3A79124C}"/>
                  </a:ext>
                </a:extLst>
              </p:cNvPr>
              <p:cNvSpPr txBox="1"/>
              <p:nvPr/>
            </p:nvSpPr>
            <p:spPr>
              <a:xfrm>
                <a:off x="7292815" y="6344466"/>
                <a:ext cx="1632109"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Start of study to </a:t>
                </a:r>
                <a:r>
                  <a:rPr kumimoji="0" lang="en-US" sz="800" b="0" i="0" u="none" strike="noStrike" kern="1200" cap="none" spc="0" normalizeH="0" baseline="0" noProof="0" err="1">
                    <a:ln>
                      <a:noFill/>
                    </a:ln>
                    <a:solidFill>
                      <a:srgbClr val="000000"/>
                    </a:solidFill>
                    <a:effectLst/>
                    <a:uLnTx/>
                    <a:uFillTx/>
                    <a:latin typeface="Poppins"/>
                    <a:ea typeface="+mn-ea"/>
                    <a:cs typeface="+mn-cs"/>
                  </a:rPr>
                  <a:t>en</a:t>
                </a:r>
                <a:r>
                  <a:rPr lang="en-US" sz="800">
                    <a:solidFill>
                      <a:srgbClr val="000000"/>
                    </a:solidFill>
                    <a:latin typeface="Poppins"/>
                  </a:rPr>
                  <a:t>d/DRO</a:t>
                </a:r>
                <a:endParaRPr kumimoji="0" 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35" name="Arrow: Pentagon 34">
                <a:extLst>
                  <a:ext uri="{FF2B5EF4-FFF2-40B4-BE49-F238E27FC236}">
                    <a16:creationId xmlns:a16="http://schemas.microsoft.com/office/drawing/2014/main" id="{ACFCC9FB-F6B1-11B9-613D-1AF4033BDB0B}"/>
                  </a:ext>
                </a:extLst>
              </p:cNvPr>
              <p:cNvSpPr/>
              <p:nvPr/>
            </p:nvSpPr>
            <p:spPr>
              <a:xfrm>
                <a:off x="7133798" y="6422147"/>
                <a:ext cx="182880" cy="182880"/>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algn="ctr"/>
                <a:endParaRPr lang="en-US">
                  <a:solidFill>
                    <a:schemeClr val="bg1"/>
                  </a:solidFill>
                </a:endParaRPr>
              </a:p>
            </p:txBody>
          </p:sp>
          <p:sp>
            <p:nvSpPr>
              <p:cNvPr id="36" name="Rectangle: Rounded Corners 35">
                <a:extLst>
                  <a:ext uri="{FF2B5EF4-FFF2-40B4-BE49-F238E27FC236}">
                    <a16:creationId xmlns:a16="http://schemas.microsoft.com/office/drawing/2014/main" id="{DC648810-0085-5DAB-D3D3-AB8C78E4696E}"/>
                  </a:ext>
                </a:extLst>
              </p:cNvPr>
              <p:cNvSpPr/>
              <p:nvPr/>
            </p:nvSpPr>
            <p:spPr>
              <a:xfrm>
                <a:off x="6686281" y="6365302"/>
                <a:ext cx="2924444" cy="28150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algn="ctr"/>
                <a:endParaRPr lang="en-US">
                  <a:solidFill>
                    <a:schemeClr val="bg1"/>
                  </a:solidFill>
                </a:endParaRPr>
              </a:p>
            </p:txBody>
          </p:sp>
        </p:grpSp>
      </p:grpSp>
      <p:grpSp>
        <p:nvGrpSpPr>
          <p:cNvPr id="38" name="Group 37">
            <a:extLst>
              <a:ext uri="{FF2B5EF4-FFF2-40B4-BE49-F238E27FC236}">
                <a16:creationId xmlns:a16="http://schemas.microsoft.com/office/drawing/2014/main" id="{98D45AC6-F25F-683D-8498-9C58B7DD07A8}"/>
              </a:ext>
            </a:extLst>
          </p:cNvPr>
          <p:cNvGrpSpPr/>
          <p:nvPr/>
        </p:nvGrpSpPr>
        <p:grpSpPr>
          <a:xfrm>
            <a:off x="6044154" y="6332843"/>
            <a:ext cx="2001488" cy="395710"/>
            <a:chOff x="9984926" y="1221638"/>
            <a:chExt cx="2001488" cy="395710"/>
          </a:xfrm>
        </p:grpSpPr>
        <p:sp>
          <p:nvSpPr>
            <p:cNvPr id="39" name="Rectangle 38">
              <a:extLst>
                <a:ext uri="{FF2B5EF4-FFF2-40B4-BE49-F238E27FC236}">
                  <a16:creationId xmlns:a16="http://schemas.microsoft.com/office/drawing/2014/main" id="{91F56F27-373B-8BC1-AEA4-208A914F12CC}"/>
                </a:ext>
              </a:extLst>
            </p:cNvPr>
            <p:cNvSpPr/>
            <p:nvPr/>
          </p:nvSpPr>
          <p:spPr>
            <a:xfrm>
              <a:off x="10122616" y="1221638"/>
              <a:ext cx="1863798" cy="3957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800">
                  <a:solidFill>
                    <a:schemeClr val="tx1"/>
                  </a:solidFill>
                </a:rPr>
                <a:t>Click the </a:t>
              </a:r>
              <a:r>
                <a:rPr lang="en-US" sz="800" b="1">
                  <a:solidFill>
                    <a:schemeClr val="tx1"/>
                  </a:solidFill>
                </a:rPr>
                <a:t>gap  ID to return to gap overview</a:t>
              </a:r>
              <a:endParaRPr lang="en-US" sz="800">
                <a:solidFill>
                  <a:schemeClr val="tx1"/>
                </a:solidFill>
              </a:endParaRPr>
            </a:p>
          </p:txBody>
        </p:sp>
        <p:pic>
          <p:nvPicPr>
            <p:cNvPr id="40" name="Graphic 39" descr="Cursor with solid fill">
              <a:extLst>
                <a:ext uri="{FF2B5EF4-FFF2-40B4-BE49-F238E27FC236}">
                  <a16:creationId xmlns:a16="http://schemas.microsoft.com/office/drawing/2014/main" id="{9EC6BBDD-8914-D688-5080-CF524827345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984926" y="1302723"/>
              <a:ext cx="216000" cy="216000"/>
            </a:xfrm>
            <a:prstGeom prst="rect">
              <a:avLst/>
            </a:prstGeom>
          </p:spPr>
        </p:pic>
      </p:grpSp>
      <p:grpSp>
        <p:nvGrpSpPr>
          <p:cNvPr id="2" name="Group 1">
            <a:extLst>
              <a:ext uri="{FF2B5EF4-FFF2-40B4-BE49-F238E27FC236}">
                <a16:creationId xmlns:a16="http://schemas.microsoft.com/office/drawing/2014/main" id="{D84E6532-B760-447C-49E5-23D414AF7D8A}"/>
              </a:ext>
            </a:extLst>
          </p:cNvPr>
          <p:cNvGrpSpPr/>
          <p:nvPr/>
        </p:nvGrpSpPr>
        <p:grpSpPr>
          <a:xfrm>
            <a:off x="362743" y="10216"/>
            <a:ext cx="10042505" cy="252000"/>
            <a:chOff x="362743" y="10216"/>
            <a:chExt cx="10042505" cy="252000"/>
          </a:xfrm>
        </p:grpSpPr>
        <p:sp>
          <p:nvSpPr>
            <p:cNvPr id="4" name="Pentagon 47">
              <a:extLst>
                <a:ext uri="{FF2B5EF4-FFF2-40B4-BE49-F238E27FC236}">
                  <a16:creationId xmlns:a16="http://schemas.microsoft.com/office/drawing/2014/main" id="{DC02CEE2-7EA2-CC98-AAEC-4831D02B0774}"/>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6" name="Chevron 48">
              <a:extLst>
                <a:ext uri="{FF2B5EF4-FFF2-40B4-BE49-F238E27FC236}">
                  <a16:creationId xmlns:a16="http://schemas.microsoft.com/office/drawing/2014/main" id="{A052CD7F-F0C2-3A0E-998F-FFD34968F2DB}"/>
                </a:ext>
              </a:extLst>
            </p:cNvPr>
            <p:cNvSpPr/>
            <p:nvPr/>
          </p:nvSpPr>
          <p:spPr>
            <a:xfrm>
              <a:off x="5371087"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8" name="Chevron 52">
              <a:extLst>
                <a:ext uri="{FF2B5EF4-FFF2-40B4-BE49-F238E27FC236}">
                  <a16:creationId xmlns:a16="http://schemas.microsoft.com/office/drawing/2014/main" id="{6553C158-CB1C-8A3C-1B3B-41E74A9EF89A}"/>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9" name="Chevron 54">
              <a:extLst>
                <a:ext uri="{FF2B5EF4-FFF2-40B4-BE49-F238E27FC236}">
                  <a16:creationId xmlns:a16="http://schemas.microsoft.com/office/drawing/2014/main" id="{2A6AC399-83CF-A2B6-FE3A-AA1B28647491}"/>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0" name="Chevron 48">
              <a:extLst>
                <a:ext uri="{FF2B5EF4-FFF2-40B4-BE49-F238E27FC236}">
                  <a16:creationId xmlns:a16="http://schemas.microsoft.com/office/drawing/2014/main" id="{7D438347-17D1-75BD-9AE8-1F90B164DF35}"/>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2" name="Chevron 48">
              <a:extLst>
                <a:ext uri="{FF2B5EF4-FFF2-40B4-BE49-F238E27FC236}">
                  <a16:creationId xmlns:a16="http://schemas.microsoft.com/office/drawing/2014/main" id="{DE49EF03-E8F0-8C5A-F79C-FD02502DA089}"/>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25514245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F20E2-E0E9-6BF9-F2EF-511FC472EE41}"/>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A7C85D09-5BE0-53C3-15D6-2A834625C3E2}"/>
              </a:ext>
            </a:extLst>
          </p:cNvPr>
          <p:cNvGraphicFramePr>
            <a:graphicFrameLocks noGrp="1"/>
          </p:cNvGraphicFramePr>
          <p:nvPr>
            <p:extLst>
              <p:ext uri="{D42A27DB-BD31-4B8C-83A1-F6EECF244321}">
                <p14:modId xmlns:p14="http://schemas.microsoft.com/office/powerpoint/2010/main" val="3731041897"/>
              </p:ext>
            </p:extLst>
          </p:nvPr>
        </p:nvGraphicFramePr>
        <p:xfrm>
          <a:off x="360936" y="1361966"/>
          <a:ext cx="11467528" cy="4790602"/>
        </p:xfrm>
        <a:graphic>
          <a:graphicData uri="http://schemas.openxmlformats.org/drawingml/2006/table">
            <a:tbl>
              <a:tblPr bandRow="1">
                <a:tableStyleId>{5C22544A-7EE6-4342-B048-85BDC9FD1C3A}</a:tableStyleId>
              </a:tblPr>
              <a:tblGrid>
                <a:gridCol w="1846236">
                  <a:extLst>
                    <a:ext uri="{9D8B030D-6E8A-4147-A177-3AD203B41FA5}">
                      <a16:colId xmlns:a16="http://schemas.microsoft.com/office/drawing/2014/main" val="1362236069"/>
                    </a:ext>
                  </a:extLst>
                </a:gridCol>
                <a:gridCol w="2667170">
                  <a:extLst>
                    <a:ext uri="{9D8B030D-6E8A-4147-A177-3AD203B41FA5}">
                      <a16:colId xmlns:a16="http://schemas.microsoft.com/office/drawing/2014/main" val="366937182"/>
                    </a:ext>
                  </a:extLst>
                </a:gridCol>
                <a:gridCol w="3709290">
                  <a:extLst>
                    <a:ext uri="{9D8B030D-6E8A-4147-A177-3AD203B41FA5}">
                      <a16:colId xmlns:a16="http://schemas.microsoft.com/office/drawing/2014/main" val="3093558049"/>
                    </a:ext>
                  </a:extLst>
                </a:gridCol>
                <a:gridCol w="405604">
                  <a:extLst>
                    <a:ext uri="{9D8B030D-6E8A-4147-A177-3AD203B41FA5}">
                      <a16:colId xmlns:a16="http://schemas.microsoft.com/office/drawing/2014/main" val="320023064"/>
                    </a:ext>
                  </a:extLst>
                </a:gridCol>
                <a:gridCol w="405604">
                  <a:extLst>
                    <a:ext uri="{9D8B030D-6E8A-4147-A177-3AD203B41FA5}">
                      <a16:colId xmlns:a16="http://schemas.microsoft.com/office/drawing/2014/main" val="1426101900"/>
                    </a:ext>
                  </a:extLst>
                </a:gridCol>
                <a:gridCol w="405604">
                  <a:extLst>
                    <a:ext uri="{9D8B030D-6E8A-4147-A177-3AD203B41FA5}">
                      <a16:colId xmlns:a16="http://schemas.microsoft.com/office/drawing/2014/main" val="3689681127"/>
                    </a:ext>
                  </a:extLst>
                </a:gridCol>
                <a:gridCol w="405604">
                  <a:extLst>
                    <a:ext uri="{9D8B030D-6E8A-4147-A177-3AD203B41FA5}">
                      <a16:colId xmlns:a16="http://schemas.microsoft.com/office/drawing/2014/main" val="2083152798"/>
                    </a:ext>
                  </a:extLst>
                </a:gridCol>
                <a:gridCol w="405604">
                  <a:extLst>
                    <a:ext uri="{9D8B030D-6E8A-4147-A177-3AD203B41FA5}">
                      <a16:colId xmlns:a16="http://schemas.microsoft.com/office/drawing/2014/main" val="3966416640"/>
                    </a:ext>
                  </a:extLst>
                </a:gridCol>
                <a:gridCol w="405604">
                  <a:extLst>
                    <a:ext uri="{9D8B030D-6E8A-4147-A177-3AD203B41FA5}">
                      <a16:colId xmlns:a16="http://schemas.microsoft.com/office/drawing/2014/main" val="3189174259"/>
                    </a:ext>
                  </a:extLst>
                </a:gridCol>
                <a:gridCol w="405604">
                  <a:extLst>
                    <a:ext uri="{9D8B030D-6E8A-4147-A177-3AD203B41FA5}">
                      <a16:colId xmlns:a16="http://schemas.microsoft.com/office/drawing/2014/main" val="2611606897"/>
                    </a:ext>
                  </a:extLst>
                </a:gridCol>
                <a:gridCol w="405604">
                  <a:extLst>
                    <a:ext uri="{9D8B030D-6E8A-4147-A177-3AD203B41FA5}">
                      <a16:colId xmlns:a16="http://schemas.microsoft.com/office/drawing/2014/main" val="699499043"/>
                    </a:ext>
                  </a:extLst>
                </a:gridCol>
              </a:tblGrid>
              <a:tr h="0">
                <a:tc rowSpan="2">
                  <a:txBody>
                    <a:bodyPr/>
                    <a:lstStyle/>
                    <a:p>
                      <a:pPr algn="ctr">
                        <a:spcBef>
                          <a:spcPts val="300"/>
                        </a:spcBef>
                      </a:pPr>
                      <a:r>
                        <a:rPr lang="en-US" sz="1200" b="1" i="0">
                          <a:solidFill>
                            <a:schemeClr val="bg1"/>
                          </a:solidFill>
                          <a:latin typeface="+mn-lt"/>
                          <a:cs typeface="Poppins" pitchFamily="2" charset="77"/>
                        </a:rPr>
                        <a:t>Tactic</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algn="ctr">
                        <a:spcBef>
                          <a:spcPts val="300"/>
                        </a:spcBef>
                      </a:pPr>
                      <a:r>
                        <a:rPr lang="en-US" sz="1200" b="1" i="0">
                          <a:solidFill>
                            <a:schemeClr val="bg1"/>
                          </a:solidFill>
                          <a:latin typeface="+mn-lt"/>
                          <a:cs typeface="Poppins" pitchFamily="2" charset="77"/>
                        </a:rPr>
                        <a:t>Gaps addressed</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lang="en-US" sz="1200" b="1" i="0">
                          <a:solidFill>
                            <a:schemeClr val="bg1"/>
                          </a:solidFill>
                          <a:latin typeface="+mn-lt"/>
                          <a:cs typeface="Poppins" pitchFamily="2" charset="77"/>
                        </a:rPr>
                        <a:t>Rationale and design considerations</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gridSpan="8">
                  <a:txBody>
                    <a:bodyPr/>
                    <a:lstStyle/>
                    <a:p>
                      <a:pPr algn="ctr">
                        <a:spcBef>
                          <a:spcPts val="300"/>
                        </a:spcBef>
                      </a:pPr>
                      <a:r>
                        <a:rPr lang="en-US" sz="1200" b="1" i="0">
                          <a:solidFill>
                            <a:schemeClr val="bg1"/>
                          </a:solidFill>
                          <a:latin typeface="+mn-lt"/>
                          <a:cs typeface="Poppins" pitchFamily="2" charset="77"/>
                        </a:rPr>
                        <a:t>Timing</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pPr algn="ctr">
                        <a:spcBef>
                          <a:spcPts val="300"/>
                        </a:spcBef>
                      </a:pP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2323510155"/>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spcBef>
                          <a:spcPts val="300"/>
                        </a:spcBef>
                      </a:pPr>
                      <a:r>
                        <a:rPr lang="en-US" sz="1000" b="1" i="0">
                          <a:solidFill>
                            <a:schemeClr val="bg1"/>
                          </a:solidFill>
                          <a:latin typeface="+mn-lt"/>
                          <a:cs typeface="Poppins" pitchFamily="2" charset="77"/>
                        </a:rPr>
                        <a:t>2026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2027</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2028</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2029</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2030</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2031</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2032</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2033+</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1184289703"/>
                  </a:ext>
                </a:extLst>
              </a:tr>
              <a:tr h="1527082">
                <a:tc>
                  <a:txBody>
                    <a:bodyPr/>
                    <a:lstStyle/>
                    <a:p>
                      <a:pPr algn="l">
                        <a:spcBef>
                          <a:spcPts val="300"/>
                        </a:spcBef>
                      </a:pPr>
                      <a:r>
                        <a:rPr lang="en-US" sz="1000" b="0" i="0">
                          <a:solidFill>
                            <a:schemeClr val="tx1"/>
                          </a:solidFill>
                          <a:latin typeface="+mn-lt"/>
                          <a:cs typeface="Poppins" pitchFamily="2" charset="77"/>
                        </a:rPr>
                        <a:t>27. Combinations beyond CDP</a:t>
                      </a:r>
                    </a:p>
                    <a:p>
                      <a:pPr algn="l">
                        <a:spcBef>
                          <a:spcPts val="300"/>
                        </a:spcBef>
                      </a:pPr>
                      <a:endParaRPr lang="en-US" sz="1000" b="0" i="0">
                        <a:solidFill>
                          <a:schemeClr val="tx1"/>
                        </a:solidFill>
                        <a:latin typeface="+mn-lt"/>
                        <a:cs typeface="Poppins" pitchFamily="2" charset="77"/>
                      </a:endParaRPr>
                    </a:p>
                    <a:p>
                      <a:pPr algn="l">
                        <a:spcBef>
                          <a:spcPts val="300"/>
                        </a:spcBef>
                      </a:pPr>
                      <a:r>
                        <a:rPr lang="en-US" sz="1000" b="1" i="0">
                          <a:solidFill>
                            <a:schemeClr val="tx1"/>
                          </a:solidFill>
                          <a:latin typeface="+mn-lt"/>
                          <a:cs typeface="Poppins" pitchFamily="2" charset="77"/>
                        </a:rPr>
                        <a:t>Lead: </a:t>
                      </a:r>
                      <a:r>
                        <a:rPr lang="en-US" sz="1000" b="0" i="0">
                          <a:solidFill>
                            <a:schemeClr val="tx1"/>
                          </a:solidFill>
                          <a:latin typeface="+mn-lt"/>
                          <a:cs typeface="Poppins" pitchFamily="2" charset="77"/>
                        </a:rPr>
                        <a:t>Medical</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2D1D9"/>
                    </a:solidFill>
                  </a:tcPr>
                </a:tc>
                <a:tc>
                  <a:txBody>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000" b="1" i="0">
                          <a:solidFill>
                            <a:schemeClr val="tx1"/>
                          </a:solidFill>
                          <a:latin typeface="+mn-lt"/>
                          <a:cs typeface="Poppins" pitchFamily="2" charset="77"/>
                          <a:hlinkClick r:id="rId4" action="ppaction://hlinksldjump">
                            <a:extLst>
                              <a:ext uri="{A12FA001-AC4F-418D-AE19-62706E023703}">
                                <ahyp:hlinkClr xmlns:ahyp="http://schemas.microsoft.com/office/drawing/2018/hyperlinkcolor" val="tx"/>
                              </a:ext>
                            </a:extLst>
                          </a:hlinkClick>
                        </a:rPr>
                        <a:t>NSCLC_HI_03</a:t>
                      </a:r>
                      <a:r>
                        <a:rPr lang="en-US" sz="1000" b="0" i="0">
                          <a:solidFill>
                            <a:schemeClr val="tx1"/>
                          </a:solidFill>
                          <a:latin typeface="+mn-lt"/>
                          <a:cs typeface="Poppins" pitchFamily="2" charset="77"/>
                        </a:rPr>
                        <a:t>: Efficacy and safety interaction profile when combined with SoC regimens beyond the CDP</a:t>
                      </a:r>
                      <a:endParaRPr lang="en-US" sz="1000" b="1" i="0" kern="1200">
                        <a:solidFill>
                          <a:schemeClr val="accent1"/>
                        </a:solidFill>
                        <a:latin typeface="+mn-lt"/>
                        <a:ea typeface="+mn-ea"/>
                        <a:cs typeface="Poppins" pitchFamily="2" charset="77"/>
                      </a:endParaRP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r>
                        <a:rPr lang="en-US" sz="1000" b="1" i="0" u="none" strike="noStrike" kern="1200" noProof="0">
                          <a:solidFill>
                            <a:schemeClr val="tx1"/>
                          </a:solidFill>
                          <a:effectLst/>
                          <a:latin typeface="+mn-lt"/>
                          <a:ea typeface="+mn-ea"/>
                          <a:cs typeface="Poppins"/>
                        </a:rPr>
                        <a:t>Design considerations:</a:t>
                      </a:r>
                    </a:p>
                    <a:p>
                      <a:pPr marL="171450" lvl="0" indent="-171450">
                        <a:spcBef>
                          <a:spcPts val="300"/>
                        </a:spcBef>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Priority combinations: </a:t>
                      </a:r>
                      <a:r>
                        <a:rPr lang="en-US" sz="1000" b="0" i="0">
                          <a:solidFill>
                            <a:schemeClr val="tx1"/>
                          </a:solidFill>
                          <a:latin typeface="+mn-lt"/>
                          <a:cs typeface="Poppins" pitchFamily="2" charset="77"/>
                        </a:rPr>
                        <a:t>ivonescimab, PD-1/VEGF bispecific doublets</a:t>
                      </a: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74479344"/>
                  </a:ext>
                </a:extLst>
              </a:tr>
              <a:tr h="1463040">
                <a:tc>
                  <a:txBody>
                    <a:bodyPr/>
                    <a:lstStyle/>
                    <a:p>
                      <a:pPr algn="l">
                        <a:spcBef>
                          <a:spcPts val="300"/>
                        </a:spcBef>
                      </a:pPr>
                      <a:r>
                        <a:rPr lang="en-US" sz="1000" b="0" i="0">
                          <a:solidFill>
                            <a:schemeClr val="tx1"/>
                          </a:solidFill>
                          <a:latin typeface="+mn-lt"/>
                          <a:cs typeface="Poppins" pitchFamily="2" charset="77"/>
                        </a:rPr>
                        <a:t>28. </a:t>
                      </a:r>
                      <a:r>
                        <a:rPr lang="en-US" sz="1000" b="0" i="0" u="none" strike="noStrike" kern="1200" noProof="0">
                          <a:solidFill>
                            <a:schemeClr val="tx1"/>
                          </a:solidFill>
                          <a:effectLst/>
                          <a:latin typeface="+mn-lt"/>
                          <a:ea typeface="+mn-ea"/>
                          <a:cs typeface="Poppins"/>
                        </a:rPr>
                        <a:t>Exploring CNS tumor populations with embedded PK sampling</a:t>
                      </a:r>
                    </a:p>
                    <a:p>
                      <a:pPr algn="l">
                        <a:spcBef>
                          <a:spcPts val="300"/>
                        </a:spcBef>
                      </a:pPr>
                      <a:endParaRPr lang="en-US" sz="1000" b="0" i="0">
                        <a:solidFill>
                          <a:schemeClr val="tx1"/>
                        </a:solidFill>
                        <a:latin typeface="+mn-lt"/>
                        <a:cs typeface="Poppins" pitchFamily="2" charset="77"/>
                      </a:endParaRPr>
                    </a:p>
                    <a:p>
                      <a:pPr algn="l">
                        <a:spcBef>
                          <a:spcPts val="300"/>
                        </a:spcBef>
                      </a:pPr>
                      <a:r>
                        <a:rPr lang="en-US" sz="1000" b="1" i="0">
                          <a:solidFill>
                            <a:schemeClr val="tx1"/>
                          </a:solidFill>
                          <a:latin typeface="+mn-lt"/>
                          <a:cs typeface="Poppins" pitchFamily="2" charset="77"/>
                        </a:rPr>
                        <a:t>Lead: </a:t>
                      </a:r>
                      <a:r>
                        <a:rPr lang="en-US" sz="1000" b="0" i="0">
                          <a:solidFill>
                            <a:schemeClr val="tx1"/>
                          </a:solidFill>
                          <a:latin typeface="+mn-lt"/>
                          <a:cs typeface="Poppins" pitchFamily="2" charset="77"/>
                        </a:rPr>
                        <a:t>Medical</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2D1D9"/>
                    </a:solidFill>
                  </a:tcPr>
                </a:tc>
                <a:tc>
                  <a:txBody>
                    <a:bodyPr/>
                    <a:lstStyle/>
                    <a:p>
                      <a:pPr marL="171450" indent="-171450" algn="l" defTabSz="914400" rtl="0" eaLnBrk="1" latinLnBrk="0" hangingPunct="1">
                        <a:spcBef>
                          <a:spcPts val="300"/>
                        </a:spcBef>
                        <a:buFont typeface="Arial" panose="020B0604020202020204" pitchFamily="34" charset="0"/>
                        <a:buChar char="•"/>
                      </a:pPr>
                      <a:r>
                        <a:rPr lang="en-US" sz="1000" b="1" i="0" kern="1200">
                          <a:solidFill>
                            <a:schemeClr val="tx1"/>
                          </a:solidFill>
                          <a:latin typeface="+mn-lt"/>
                          <a:ea typeface="+mn-ea"/>
                          <a:cs typeface="Poppins"/>
                          <a:hlinkClick r:id="rId5" action="ppaction://hlinksldjump">
                            <a:extLst>
                              <a:ext uri="{A12FA001-AC4F-418D-AE19-62706E023703}">
                                <ahyp:hlinkClr xmlns:ahyp="http://schemas.microsoft.com/office/drawing/2018/hyperlinkcolor" val="tx"/>
                              </a:ext>
                            </a:extLst>
                          </a:hlinkClick>
                        </a:rPr>
                        <a:t>NSCLC_HI_06</a:t>
                      </a:r>
                      <a:r>
                        <a:rPr lang="en-US" sz="1000" b="0" i="0" kern="1200">
                          <a:solidFill>
                            <a:schemeClr val="tx1"/>
                          </a:solidFill>
                          <a:latin typeface="+mn-lt"/>
                          <a:ea typeface="+mn-ea"/>
                          <a:cs typeface="Poppins"/>
                        </a:rPr>
                        <a:t>: BBB penetration profile and CSF pharmacokinetics vs. existing PRMT5i</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r>
                        <a:rPr lang="en-US" sz="1000" b="1" i="0" u="none" strike="noStrike" kern="1200" noProof="0">
                          <a:solidFill>
                            <a:schemeClr val="tx1"/>
                          </a:solidFill>
                          <a:effectLst/>
                          <a:latin typeface="+mn-lt"/>
                          <a:ea typeface="+mn-ea"/>
                          <a:cs typeface="Poppins"/>
                        </a:rPr>
                        <a:t>Design considerations:</a:t>
                      </a:r>
                    </a:p>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0" i="0" u="none" strike="noStrike" kern="1200" noProof="0">
                          <a:solidFill>
                            <a:schemeClr val="tx1"/>
                          </a:solidFill>
                          <a:effectLst/>
                          <a:latin typeface="+mn-lt"/>
                          <a:ea typeface="+mn-ea"/>
                          <a:cs typeface="Poppins"/>
                        </a:rPr>
                        <a:t>Safety at CNS-eligible doses must be confirmed in Ph. 1 before IIT initiation</a:t>
                      </a:r>
                    </a:p>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0" i="0" u="none" strike="noStrike" kern="1200" noProof="0">
                          <a:solidFill>
                            <a:schemeClr val="tx1"/>
                          </a:solidFill>
                          <a:effectLst/>
                          <a:latin typeface="+mn-lt"/>
                          <a:ea typeface="+mn-ea"/>
                          <a:cs typeface="Poppins"/>
                        </a:rPr>
                        <a:t>Published CSF penetration data indicate that vopimetostat is non-brain-penetrant (CSF/plasma ratio &lt;0.05); corresponding data for TNG456 and BAY3713372 have not yet been reported</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83635208"/>
                  </a:ext>
                </a:extLst>
              </a:tr>
              <a:tr h="1371600">
                <a:tc>
                  <a:txBody>
                    <a:bodyPr/>
                    <a:lstStyle/>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r>
                        <a:rPr lang="en-US" sz="1000" b="0" i="0">
                          <a:solidFill>
                            <a:schemeClr val="tx1"/>
                          </a:solidFill>
                          <a:latin typeface="+mn-lt"/>
                          <a:cs typeface="Poppins" pitchFamily="2" charset="77"/>
                        </a:rPr>
                        <a:t>29. Efficacy across MTAP-deletion heterogeneity levels and clonality</a:t>
                      </a:r>
                    </a:p>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endParaRPr lang="en-US" sz="1000" b="0" i="0">
                        <a:solidFill>
                          <a:schemeClr val="tx1"/>
                        </a:solidFill>
                        <a:latin typeface="+mn-lt"/>
                        <a:cs typeface="Poppins" pitchFamily="2" charset="77"/>
                      </a:endParaRPr>
                    </a:p>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r>
                        <a:rPr lang="en-US" sz="1000" b="1" i="0">
                          <a:solidFill>
                            <a:schemeClr val="tx1"/>
                          </a:solidFill>
                          <a:latin typeface="+mn-lt"/>
                          <a:cs typeface="Poppins" pitchFamily="2" charset="77"/>
                        </a:rPr>
                        <a:t>Lead: </a:t>
                      </a:r>
                      <a:r>
                        <a:rPr lang="en-US" sz="1000" b="0" i="0">
                          <a:solidFill>
                            <a:schemeClr val="tx1"/>
                          </a:solidFill>
                          <a:latin typeface="+mn-lt"/>
                          <a:cs typeface="Poppins" pitchFamily="2" charset="77"/>
                        </a:rPr>
                        <a:t>Medical</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2D1D9"/>
                    </a:solidFill>
                  </a:tcPr>
                </a:tc>
                <a:tc>
                  <a:txBody>
                    <a:bodyPr/>
                    <a:lstStyle/>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1" i="0">
                          <a:solidFill>
                            <a:schemeClr val="tx1"/>
                          </a:solidFill>
                          <a:latin typeface="+mn-lt"/>
                          <a:cs typeface="Poppins" pitchFamily="2" charset="77"/>
                          <a:hlinkClick r:id="rId6" action="ppaction://hlinksldjump">
                            <a:extLst>
                              <a:ext uri="{A12FA001-AC4F-418D-AE19-62706E023703}">
                                <ahyp:hlinkClr xmlns:ahyp="http://schemas.microsoft.com/office/drawing/2018/hyperlinkcolor" val="tx"/>
                              </a:ext>
                            </a:extLst>
                          </a:hlinkClick>
                        </a:rPr>
                        <a:t>NSCLC_HI_10</a:t>
                      </a:r>
                      <a:r>
                        <a:rPr lang="en-US" sz="1000" b="0" i="0">
                          <a:solidFill>
                            <a:schemeClr val="tx1"/>
                          </a:solidFill>
                          <a:latin typeface="+mn-lt"/>
                          <a:cs typeface="Poppins" pitchFamily="2" charset="77"/>
                        </a:rPr>
                        <a:t>: BGB-58067's response rates across MTAP-deletion heterogeneity levels </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None/>
                        <a:tabLst/>
                        <a:defRPr/>
                      </a:pPr>
                      <a:r>
                        <a:rPr lang="en-US" sz="1000" b="1">
                          <a:solidFill>
                            <a:schemeClr val="tx1"/>
                          </a:solidFill>
                          <a:latin typeface="+mn-lt"/>
                        </a:rPr>
                        <a:t>Design considerations:</a:t>
                      </a:r>
                    </a:p>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strike="noStrike">
                          <a:solidFill>
                            <a:schemeClr val="tx1"/>
                          </a:solidFill>
                          <a:latin typeface="+mn-lt"/>
                        </a:rPr>
                        <a:t>Potential challenges due to complexity of testing nuances + translation into the community</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48992036"/>
                  </a:ext>
                </a:extLst>
              </a:tr>
            </a:tbl>
          </a:graphicData>
        </a:graphic>
      </p:graphicFrame>
      <p:graphicFrame>
        <p:nvGraphicFramePr>
          <p:cNvPr id="5" name="think-cell data - do not delete" hidden="1">
            <a:extLst>
              <a:ext uri="{FF2B5EF4-FFF2-40B4-BE49-F238E27FC236}">
                <a16:creationId xmlns:a16="http://schemas.microsoft.com/office/drawing/2014/main" id="{3F675978-5CA1-33EB-2A83-7DDC1825638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6" progId="TCLayout.ActiveDocument.1">
                  <p:embed/>
                </p:oleObj>
              </mc:Choice>
              <mc:Fallback>
                <p:oleObj name="think-cell Slide" r:id="rId7" imgW="395" imgH="396" progId="TCLayout.ActiveDocument.1">
                  <p:embed/>
                  <p:pic>
                    <p:nvPicPr>
                      <p:cNvPr id="5" name="think-cell data - do not delete" hidden="1">
                        <a:extLst>
                          <a:ext uri="{FF2B5EF4-FFF2-40B4-BE49-F238E27FC236}">
                            <a16:creationId xmlns:a16="http://schemas.microsoft.com/office/drawing/2014/main" id="{3F675978-5CA1-33EB-2A83-7DDC18256380}"/>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0" name="Title 19">
            <a:extLst>
              <a:ext uri="{FF2B5EF4-FFF2-40B4-BE49-F238E27FC236}">
                <a16:creationId xmlns:a16="http://schemas.microsoft.com/office/drawing/2014/main" id="{61F2E813-5C9F-9610-481C-A14DA3152EBD}"/>
              </a:ext>
            </a:extLst>
          </p:cNvPr>
          <p:cNvSpPr>
            <a:spLocks noGrp="1"/>
          </p:cNvSpPr>
          <p:nvPr>
            <p:ph type="title"/>
          </p:nvPr>
        </p:nvSpPr>
        <p:spPr>
          <a:xfrm>
            <a:off x="358337" y="338328"/>
            <a:ext cx="11470125" cy="738664"/>
          </a:xfrm>
        </p:spPr>
        <p:txBody>
          <a:bodyPr vert="horz" rIns="0">
            <a:spAutoFit/>
          </a:bodyPr>
          <a:lstStyle/>
          <a:p>
            <a:r>
              <a:rPr lang="en-US" sz="2400">
                <a:solidFill>
                  <a:schemeClr val="accent3"/>
                </a:solidFill>
              </a:rPr>
              <a:t>Fourteen </a:t>
            </a:r>
            <a:r>
              <a:rPr lang="en-US" sz="2400" b="1">
                <a:solidFill>
                  <a:srgbClr val="7CB0BE"/>
                </a:solidFill>
              </a:rPr>
              <a:t>IIT programs</a:t>
            </a:r>
            <a:r>
              <a:rPr lang="en-US" sz="2400"/>
              <a:t> expand evidence generation beyond the registrational program (3/5)</a:t>
            </a:r>
            <a:endParaRPr lang="en-US" sz="2400">
              <a:highlight>
                <a:srgbClr val="FFFF00"/>
              </a:highlight>
            </a:endParaRPr>
          </a:p>
        </p:txBody>
      </p:sp>
      <p:sp>
        <p:nvSpPr>
          <p:cNvPr id="37" name="Arrow: Pentagon 36">
            <a:extLst>
              <a:ext uri="{FF2B5EF4-FFF2-40B4-BE49-F238E27FC236}">
                <a16:creationId xmlns:a16="http://schemas.microsoft.com/office/drawing/2014/main" id="{4E10BA82-15C8-AE59-BB1A-8E64EE990309}"/>
              </a:ext>
            </a:extLst>
          </p:cNvPr>
          <p:cNvSpPr/>
          <p:nvPr/>
        </p:nvSpPr>
        <p:spPr>
          <a:xfrm>
            <a:off x="9403516" y="3848368"/>
            <a:ext cx="1226764" cy="388620"/>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7" name="Arrow: Pentagon 6">
            <a:extLst>
              <a:ext uri="{FF2B5EF4-FFF2-40B4-BE49-F238E27FC236}">
                <a16:creationId xmlns:a16="http://schemas.microsoft.com/office/drawing/2014/main" id="{EF104691-D6A6-6FD2-73EA-5C5CF8E2C732}"/>
              </a:ext>
            </a:extLst>
          </p:cNvPr>
          <p:cNvSpPr/>
          <p:nvPr/>
        </p:nvSpPr>
        <p:spPr>
          <a:xfrm>
            <a:off x="9403516" y="2208711"/>
            <a:ext cx="1226764" cy="388620"/>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26" name="Arrow: Pentagon 25">
            <a:extLst>
              <a:ext uri="{FF2B5EF4-FFF2-40B4-BE49-F238E27FC236}">
                <a16:creationId xmlns:a16="http://schemas.microsoft.com/office/drawing/2014/main" id="{BE98D16A-0D97-FA94-5A85-B0BE8C890C49}"/>
              </a:ext>
            </a:extLst>
          </p:cNvPr>
          <p:cNvSpPr/>
          <p:nvPr/>
        </p:nvSpPr>
        <p:spPr>
          <a:xfrm>
            <a:off x="9414947" y="5256753"/>
            <a:ext cx="1226764" cy="388620"/>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19" name="Footer Placeholder 2">
            <a:extLst>
              <a:ext uri="{FF2B5EF4-FFF2-40B4-BE49-F238E27FC236}">
                <a16:creationId xmlns:a16="http://schemas.microsoft.com/office/drawing/2014/main" id="{454DEB61-1593-7ABE-9B06-015F2A80B08F}"/>
              </a:ext>
            </a:extLst>
          </p:cNvPr>
          <p:cNvSpPr>
            <a:spLocks noGrp="1"/>
          </p:cNvSpPr>
          <p:nvPr>
            <p:ph type="ftr" sz="quarter" idx="10"/>
          </p:nvPr>
        </p:nvSpPr>
        <p:spPr>
          <a:xfrm>
            <a:off x="328864" y="6285180"/>
            <a:ext cx="5681293" cy="526584"/>
          </a:xfrm>
        </p:spPr>
        <p:txBody>
          <a:bodyPr/>
          <a:lstStyle/>
          <a:p>
            <a:pPr>
              <a:defRPr/>
            </a:pPr>
            <a:r>
              <a:rPr lang="en-US">
                <a:solidFill>
                  <a:srgbClr val="000000">
                    <a:lumMod val="65000"/>
                    <a:lumOff val="35000"/>
                  </a:srgbClr>
                </a:solidFill>
              </a:rPr>
              <a:t>Note: Timeline for when IIT programs have access to BGB-58067 will impact study initiation; Abbreviations: </a:t>
            </a:r>
            <a:r>
              <a:rPr lang="en-US"/>
              <a:t>BBB: Blood–Brain Barrier; CDP: Clinical Development Plan; CNS: Central Nervous System; CSF: Cerebrospinal Fluid; HI: High Priority; IIT: Investigator-Initiated Trial; MTAP: </a:t>
            </a:r>
            <a:r>
              <a:rPr lang="en-US" err="1"/>
              <a:t>Methylthioadenosine</a:t>
            </a:r>
            <a:r>
              <a:rPr lang="en-US"/>
              <a:t> Phosphorylase; NSCLC: Non-Small Cell Lung Cancer; PD-1: Programmed Cell Death Protein 1; PK: Pharmacokinetics; PRMT5i: Protein Arginine Methyltransferase 5 Inhibitor; SoC: Standard of Care; VEGF: Vascular Endothelial Growth Factor</a:t>
            </a:r>
          </a:p>
        </p:txBody>
      </p:sp>
      <p:sp>
        <p:nvSpPr>
          <p:cNvPr id="22" name="Rectangle 21">
            <a:extLst>
              <a:ext uri="{FF2B5EF4-FFF2-40B4-BE49-F238E27FC236}">
                <a16:creationId xmlns:a16="http://schemas.microsoft.com/office/drawing/2014/main" id="{5EB5B566-1868-68F6-046A-46EE1F088AA3}"/>
              </a:ext>
            </a:extLst>
          </p:cNvPr>
          <p:cNvSpPr/>
          <p:nvPr/>
        </p:nvSpPr>
        <p:spPr>
          <a:xfrm>
            <a:off x="8765796" y="6280266"/>
            <a:ext cx="2242113" cy="3342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92500" lnSpcReduction="10000"/>
          </a:bodyPr>
          <a:lstStyle/>
          <a:p>
            <a:pPr algn="ctr"/>
            <a:endParaRPr lang="en-US" err="1">
              <a:solidFill>
                <a:schemeClr val="bg1"/>
              </a:solidFill>
            </a:endParaRPr>
          </a:p>
        </p:txBody>
      </p:sp>
      <p:grpSp>
        <p:nvGrpSpPr>
          <p:cNvPr id="23" name="Group 22">
            <a:extLst>
              <a:ext uri="{FF2B5EF4-FFF2-40B4-BE49-F238E27FC236}">
                <a16:creationId xmlns:a16="http://schemas.microsoft.com/office/drawing/2014/main" id="{7766DFC2-56DA-3B3F-E940-866C98653C43}"/>
              </a:ext>
            </a:extLst>
          </p:cNvPr>
          <p:cNvGrpSpPr/>
          <p:nvPr/>
        </p:nvGrpSpPr>
        <p:grpSpPr>
          <a:xfrm>
            <a:off x="8025100" y="6327114"/>
            <a:ext cx="3279572" cy="319473"/>
            <a:chOff x="8676947" y="6306366"/>
            <a:chExt cx="3279572" cy="319473"/>
          </a:xfrm>
        </p:grpSpPr>
        <p:sp>
          <p:nvSpPr>
            <p:cNvPr id="24" name="TextBox 23">
              <a:extLst>
                <a:ext uri="{FF2B5EF4-FFF2-40B4-BE49-F238E27FC236}">
                  <a16:creationId xmlns:a16="http://schemas.microsoft.com/office/drawing/2014/main" id="{1DA39532-1688-04E9-D376-3C3FB5357425}"/>
                </a:ext>
              </a:extLst>
            </p:cNvPr>
            <p:cNvSpPr txBox="1"/>
            <p:nvPr/>
          </p:nvSpPr>
          <p:spPr>
            <a:xfrm>
              <a:off x="8676947" y="6318062"/>
              <a:ext cx="470764" cy="307777"/>
            </a:xfrm>
            <a:prstGeom prst="rect">
              <a:avLst/>
            </a:prstGeom>
            <a:noFill/>
          </p:spPr>
          <p:txBody>
            <a:bodyPr wrap="square" lIns="91440" tIns="91440" rIns="91440" bIns="91440"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Poppins"/>
                  <a:ea typeface="+mn-ea"/>
                  <a:cs typeface="+mn-cs"/>
                </a:rPr>
                <a:t>Key:</a:t>
              </a:r>
            </a:p>
          </p:txBody>
        </p:sp>
        <p:grpSp>
          <p:nvGrpSpPr>
            <p:cNvPr id="25" name="Group 24">
              <a:extLst>
                <a:ext uri="{FF2B5EF4-FFF2-40B4-BE49-F238E27FC236}">
                  <a16:creationId xmlns:a16="http://schemas.microsoft.com/office/drawing/2014/main" id="{5B507B43-1268-0341-3E7F-301B6131E85F}"/>
                </a:ext>
              </a:extLst>
            </p:cNvPr>
            <p:cNvGrpSpPr/>
            <p:nvPr/>
          </p:nvGrpSpPr>
          <p:grpSpPr>
            <a:xfrm>
              <a:off x="8743681" y="6306366"/>
              <a:ext cx="3212838" cy="307777"/>
              <a:chOff x="6686281" y="6344466"/>
              <a:chExt cx="3212838" cy="307777"/>
            </a:xfrm>
          </p:grpSpPr>
          <p:sp>
            <p:nvSpPr>
              <p:cNvPr id="27" name="Diamond 26">
                <a:extLst>
                  <a:ext uri="{FF2B5EF4-FFF2-40B4-BE49-F238E27FC236}">
                    <a16:creationId xmlns:a16="http://schemas.microsoft.com/office/drawing/2014/main" id="{2212BBF4-19BA-8AA6-A7A0-F63DB862AE41}"/>
                  </a:ext>
                </a:extLst>
              </p:cNvPr>
              <p:cNvSpPr/>
              <p:nvPr/>
            </p:nvSpPr>
            <p:spPr>
              <a:xfrm>
                <a:off x="8778716" y="6409851"/>
                <a:ext cx="175330" cy="177007"/>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33" name="TextBox 32">
                <a:extLst>
                  <a:ext uri="{FF2B5EF4-FFF2-40B4-BE49-F238E27FC236}">
                    <a16:creationId xmlns:a16="http://schemas.microsoft.com/office/drawing/2014/main" id="{553ACC4D-876D-4D2C-11C3-C1249FDE1695}"/>
                  </a:ext>
                </a:extLst>
              </p:cNvPr>
              <p:cNvSpPr txBox="1"/>
              <p:nvPr/>
            </p:nvSpPr>
            <p:spPr>
              <a:xfrm>
                <a:off x="8910524" y="6344466"/>
                <a:ext cx="988595"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Milestone</a:t>
                </a:r>
              </a:p>
            </p:txBody>
          </p:sp>
          <p:sp>
            <p:nvSpPr>
              <p:cNvPr id="34" name="TextBox 33">
                <a:extLst>
                  <a:ext uri="{FF2B5EF4-FFF2-40B4-BE49-F238E27FC236}">
                    <a16:creationId xmlns:a16="http://schemas.microsoft.com/office/drawing/2014/main" id="{9F1C59A6-EF22-C4D3-D7BA-5937325C210D}"/>
                  </a:ext>
                </a:extLst>
              </p:cNvPr>
              <p:cNvSpPr txBox="1"/>
              <p:nvPr/>
            </p:nvSpPr>
            <p:spPr>
              <a:xfrm>
                <a:off x="7292815" y="6344466"/>
                <a:ext cx="1632109"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Start of study to </a:t>
                </a:r>
                <a:r>
                  <a:rPr kumimoji="0" lang="en-US" sz="800" b="0" i="0" u="none" strike="noStrike" kern="1200" cap="none" spc="0" normalizeH="0" baseline="0" noProof="0" err="1">
                    <a:ln>
                      <a:noFill/>
                    </a:ln>
                    <a:solidFill>
                      <a:srgbClr val="000000"/>
                    </a:solidFill>
                    <a:effectLst/>
                    <a:uLnTx/>
                    <a:uFillTx/>
                    <a:latin typeface="Poppins"/>
                    <a:ea typeface="+mn-ea"/>
                    <a:cs typeface="+mn-cs"/>
                  </a:rPr>
                  <a:t>en</a:t>
                </a:r>
                <a:r>
                  <a:rPr lang="en-US" sz="800">
                    <a:solidFill>
                      <a:srgbClr val="000000"/>
                    </a:solidFill>
                    <a:latin typeface="Poppins"/>
                  </a:rPr>
                  <a:t>d/DRO</a:t>
                </a:r>
                <a:endParaRPr kumimoji="0" 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35" name="Arrow: Pentagon 34">
                <a:extLst>
                  <a:ext uri="{FF2B5EF4-FFF2-40B4-BE49-F238E27FC236}">
                    <a16:creationId xmlns:a16="http://schemas.microsoft.com/office/drawing/2014/main" id="{784ACC6D-1CD4-CFF4-929C-20F1E7CB5EA5}"/>
                  </a:ext>
                </a:extLst>
              </p:cNvPr>
              <p:cNvSpPr/>
              <p:nvPr/>
            </p:nvSpPr>
            <p:spPr>
              <a:xfrm>
                <a:off x="7133798" y="6422147"/>
                <a:ext cx="182880" cy="182880"/>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algn="ctr"/>
                <a:endParaRPr lang="en-US">
                  <a:solidFill>
                    <a:schemeClr val="bg1"/>
                  </a:solidFill>
                </a:endParaRPr>
              </a:p>
            </p:txBody>
          </p:sp>
          <p:sp>
            <p:nvSpPr>
              <p:cNvPr id="36" name="Rectangle: Rounded Corners 35">
                <a:extLst>
                  <a:ext uri="{FF2B5EF4-FFF2-40B4-BE49-F238E27FC236}">
                    <a16:creationId xmlns:a16="http://schemas.microsoft.com/office/drawing/2014/main" id="{84CD419B-CC7F-0C22-5975-1E0E37BF8E86}"/>
                  </a:ext>
                </a:extLst>
              </p:cNvPr>
              <p:cNvSpPr/>
              <p:nvPr/>
            </p:nvSpPr>
            <p:spPr>
              <a:xfrm>
                <a:off x="6686281" y="6365302"/>
                <a:ext cx="2924444" cy="28150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algn="ctr"/>
                <a:endParaRPr lang="en-US">
                  <a:solidFill>
                    <a:schemeClr val="bg1"/>
                  </a:solidFill>
                </a:endParaRPr>
              </a:p>
            </p:txBody>
          </p:sp>
        </p:grpSp>
      </p:grpSp>
      <p:grpSp>
        <p:nvGrpSpPr>
          <p:cNvPr id="38" name="Group 37">
            <a:extLst>
              <a:ext uri="{FF2B5EF4-FFF2-40B4-BE49-F238E27FC236}">
                <a16:creationId xmlns:a16="http://schemas.microsoft.com/office/drawing/2014/main" id="{5F1BFEBC-CFDD-3576-C002-5A826C07EC69}"/>
              </a:ext>
            </a:extLst>
          </p:cNvPr>
          <p:cNvGrpSpPr/>
          <p:nvPr/>
        </p:nvGrpSpPr>
        <p:grpSpPr>
          <a:xfrm>
            <a:off x="6044154" y="6332843"/>
            <a:ext cx="2001488" cy="395710"/>
            <a:chOff x="9984926" y="1221638"/>
            <a:chExt cx="2001488" cy="395710"/>
          </a:xfrm>
        </p:grpSpPr>
        <p:sp>
          <p:nvSpPr>
            <p:cNvPr id="39" name="Rectangle 38">
              <a:extLst>
                <a:ext uri="{FF2B5EF4-FFF2-40B4-BE49-F238E27FC236}">
                  <a16:creationId xmlns:a16="http://schemas.microsoft.com/office/drawing/2014/main" id="{ECEE1344-34DC-F5AB-D814-51175D95B23F}"/>
                </a:ext>
              </a:extLst>
            </p:cNvPr>
            <p:cNvSpPr/>
            <p:nvPr/>
          </p:nvSpPr>
          <p:spPr>
            <a:xfrm>
              <a:off x="10122616" y="1221638"/>
              <a:ext cx="1863798" cy="3957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800">
                  <a:solidFill>
                    <a:schemeClr val="tx1"/>
                  </a:solidFill>
                </a:rPr>
                <a:t>Click the </a:t>
              </a:r>
              <a:r>
                <a:rPr lang="en-US" sz="800" b="1">
                  <a:solidFill>
                    <a:schemeClr val="tx1"/>
                  </a:solidFill>
                </a:rPr>
                <a:t>gap  ID to return to gap overview</a:t>
              </a:r>
              <a:endParaRPr lang="en-US" sz="800">
                <a:solidFill>
                  <a:schemeClr val="tx1"/>
                </a:solidFill>
              </a:endParaRPr>
            </a:p>
          </p:txBody>
        </p:sp>
        <p:pic>
          <p:nvPicPr>
            <p:cNvPr id="40" name="Graphic 39" descr="Cursor with solid fill">
              <a:extLst>
                <a:ext uri="{FF2B5EF4-FFF2-40B4-BE49-F238E27FC236}">
                  <a16:creationId xmlns:a16="http://schemas.microsoft.com/office/drawing/2014/main" id="{1EB143F7-2858-A31D-17A2-CFD66395AF8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984926" y="1302723"/>
              <a:ext cx="216000" cy="216000"/>
            </a:xfrm>
            <a:prstGeom prst="rect">
              <a:avLst/>
            </a:prstGeom>
          </p:spPr>
        </p:pic>
      </p:grpSp>
      <p:grpSp>
        <p:nvGrpSpPr>
          <p:cNvPr id="2" name="Group 1">
            <a:extLst>
              <a:ext uri="{FF2B5EF4-FFF2-40B4-BE49-F238E27FC236}">
                <a16:creationId xmlns:a16="http://schemas.microsoft.com/office/drawing/2014/main" id="{144848EB-EDBB-2617-C161-2429FA51A400}"/>
              </a:ext>
            </a:extLst>
          </p:cNvPr>
          <p:cNvGrpSpPr/>
          <p:nvPr/>
        </p:nvGrpSpPr>
        <p:grpSpPr>
          <a:xfrm>
            <a:off x="362743" y="10216"/>
            <a:ext cx="10042505" cy="252000"/>
            <a:chOff x="362743" y="10216"/>
            <a:chExt cx="10042505" cy="252000"/>
          </a:xfrm>
        </p:grpSpPr>
        <p:sp>
          <p:nvSpPr>
            <p:cNvPr id="4" name="Pentagon 47">
              <a:extLst>
                <a:ext uri="{FF2B5EF4-FFF2-40B4-BE49-F238E27FC236}">
                  <a16:creationId xmlns:a16="http://schemas.microsoft.com/office/drawing/2014/main" id="{E11AAA71-855F-F555-C1C7-C9A26654EC71}"/>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6" name="Chevron 48">
              <a:extLst>
                <a:ext uri="{FF2B5EF4-FFF2-40B4-BE49-F238E27FC236}">
                  <a16:creationId xmlns:a16="http://schemas.microsoft.com/office/drawing/2014/main" id="{314C7650-396F-24D6-174E-711AFD2A21A2}"/>
                </a:ext>
              </a:extLst>
            </p:cNvPr>
            <p:cNvSpPr/>
            <p:nvPr/>
          </p:nvSpPr>
          <p:spPr>
            <a:xfrm>
              <a:off x="5371087"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8" name="Chevron 52">
              <a:extLst>
                <a:ext uri="{FF2B5EF4-FFF2-40B4-BE49-F238E27FC236}">
                  <a16:creationId xmlns:a16="http://schemas.microsoft.com/office/drawing/2014/main" id="{1006661A-2A99-4D70-C32C-DAA2BBBAD73F}"/>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9" name="Chevron 54">
              <a:extLst>
                <a:ext uri="{FF2B5EF4-FFF2-40B4-BE49-F238E27FC236}">
                  <a16:creationId xmlns:a16="http://schemas.microsoft.com/office/drawing/2014/main" id="{209291FC-DCE6-C6FC-4A6D-E86B32393E9D}"/>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0" name="Chevron 48">
              <a:extLst>
                <a:ext uri="{FF2B5EF4-FFF2-40B4-BE49-F238E27FC236}">
                  <a16:creationId xmlns:a16="http://schemas.microsoft.com/office/drawing/2014/main" id="{7262F35F-5D4E-761A-8CDF-CDEB99BEDF1C}"/>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2" name="Chevron 48">
              <a:extLst>
                <a:ext uri="{FF2B5EF4-FFF2-40B4-BE49-F238E27FC236}">
                  <a16:creationId xmlns:a16="http://schemas.microsoft.com/office/drawing/2014/main" id="{2D859B65-546B-9415-DDDB-339E2906C145}"/>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30169534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2E40A-AEBE-5421-166B-FA1E0BECAC47}"/>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43E97B8E-237B-F2F6-2F65-90E02E2ACCC6}"/>
              </a:ext>
            </a:extLst>
          </p:cNvPr>
          <p:cNvGraphicFramePr>
            <a:graphicFrameLocks noGrp="1"/>
          </p:cNvGraphicFramePr>
          <p:nvPr>
            <p:extLst>
              <p:ext uri="{D42A27DB-BD31-4B8C-83A1-F6EECF244321}">
                <p14:modId xmlns:p14="http://schemas.microsoft.com/office/powerpoint/2010/main" val="2375584943"/>
              </p:ext>
            </p:extLst>
          </p:nvPr>
        </p:nvGraphicFramePr>
        <p:xfrm>
          <a:off x="360936" y="1361967"/>
          <a:ext cx="11467528" cy="4385256"/>
        </p:xfrm>
        <a:graphic>
          <a:graphicData uri="http://schemas.openxmlformats.org/drawingml/2006/table">
            <a:tbl>
              <a:tblPr bandRow="1">
                <a:tableStyleId>{5C22544A-7EE6-4342-B048-85BDC9FD1C3A}</a:tableStyleId>
              </a:tblPr>
              <a:tblGrid>
                <a:gridCol w="1846236">
                  <a:extLst>
                    <a:ext uri="{9D8B030D-6E8A-4147-A177-3AD203B41FA5}">
                      <a16:colId xmlns:a16="http://schemas.microsoft.com/office/drawing/2014/main" val="1362236069"/>
                    </a:ext>
                  </a:extLst>
                </a:gridCol>
                <a:gridCol w="2667170">
                  <a:extLst>
                    <a:ext uri="{9D8B030D-6E8A-4147-A177-3AD203B41FA5}">
                      <a16:colId xmlns:a16="http://schemas.microsoft.com/office/drawing/2014/main" val="366937182"/>
                    </a:ext>
                  </a:extLst>
                </a:gridCol>
                <a:gridCol w="3709290">
                  <a:extLst>
                    <a:ext uri="{9D8B030D-6E8A-4147-A177-3AD203B41FA5}">
                      <a16:colId xmlns:a16="http://schemas.microsoft.com/office/drawing/2014/main" val="3093558049"/>
                    </a:ext>
                  </a:extLst>
                </a:gridCol>
                <a:gridCol w="405604">
                  <a:extLst>
                    <a:ext uri="{9D8B030D-6E8A-4147-A177-3AD203B41FA5}">
                      <a16:colId xmlns:a16="http://schemas.microsoft.com/office/drawing/2014/main" val="320023064"/>
                    </a:ext>
                  </a:extLst>
                </a:gridCol>
                <a:gridCol w="405604">
                  <a:extLst>
                    <a:ext uri="{9D8B030D-6E8A-4147-A177-3AD203B41FA5}">
                      <a16:colId xmlns:a16="http://schemas.microsoft.com/office/drawing/2014/main" val="1426101900"/>
                    </a:ext>
                  </a:extLst>
                </a:gridCol>
                <a:gridCol w="405604">
                  <a:extLst>
                    <a:ext uri="{9D8B030D-6E8A-4147-A177-3AD203B41FA5}">
                      <a16:colId xmlns:a16="http://schemas.microsoft.com/office/drawing/2014/main" val="3689681127"/>
                    </a:ext>
                  </a:extLst>
                </a:gridCol>
                <a:gridCol w="405604">
                  <a:extLst>
                    <a:ext uri="{9D8B030D-6E8A-4147-A177-3AD203B41FA5}">
                      <a16:colId xmlns:a16="http://schemas.microsoft.com/office/drawing/2014/main" val="2083152798"/>
                    </a:ext>
                  </a:extLst>
                </a:gridCol>
                <a:gridCol w="405604">
                  <a:extLst>
                    <a:ext uri="{9D8B030D-6E8A-4147-A177-3AD203B41FA5}">
                      <a16:colId xmlns:a16="http://schemas.microsoft.com/office/drawing/2014/main" val="3966416640"/>
                    </a:ext>
                  </a:extLst>
                </a:gridCol>
                <a:gridCol w="405604">
                  <a:extLst>
                    <a:ext uri="{9D8B030D-6E8A-4147-A177-3AD203B41FA5}">
                      <a16:colId xmlns:a16="http://schemas.microsoft.com/office/drawing/2014/main" val="3189174259"/>
                    </a:ext>
                  </a:extLst>
                </a:gridCol>
                <a:gridCol w="405604">
                  <a:extLst>
                    <a:ext uri="{9D8B030D-6E8A-4147-A177-3AD203B41FA5}">
                      <a16:colId xmlns:a16="http://schemas.microsoft.com/office/drawing/2014/main" val="2611606897"/>
                    </a:ext>
                  </a:extLst>
                </a:gridCol>
                <a:gridCol w="405604">
                  <a:extLst>
                    <a:ext uri="{9D8B030D-6E8A-4147-A177-3AD203B41FA5}">
                      <a16:colId xmlns:a16="http://schemas.microsoft.com/office/drawing/2014/main" val="4049848284"/>
                    </a:ext>
                  </a:extLst>
                </a:gridCol>
              </a:tblGrid>
              <a:tr h="0">
                <a:tc rowSpan="2">
                  <a:txBody>
                    <a:bodyPr/>
                    <a:lstStyle/>
                    <a:p>
                      <a:pPr algn="ctr">
                        <a:spcBef>
                          <a:spcPts val="300"/>
                        </a:spcBef>
                      </a:pPr>
                      <a:r>
                        <a:rPr lang="en-US" sz="1200" b="1" i="0">
                          <a:solidFill>
                            <a:schemeClr val="bg1"/>
                          </a:solidFill>
                          <a:latin typeface="+mn-lt"/>
                          <a:cs typeface="Poppins" pitchFamily="2" charset="77"/>
                        </a:rPr>
                        <a:t>Tactic</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algn="ctr">
                        <a:spcBef>
                          <a:spcPts val="300"/>
                        </a:spcBef>
                      </a:pPr>
                      <a:r>
                        <a:rPr lang="en-US" sz="1200" b="1" i="0">
                          <a:solidFill>
                            <a:schemeClr val="bg1"/>
                          </a:solidFill>
                          <a:latin typeface="+mn-lt"/>
                          <a:cs typeface="Poppins" pitchFamily="2" charset="77"/>
                        </a:rPr>
                        <a:t>Gaps addressed</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lang="en-US" sz="1200" b="1" i="0">
                          <a:solidFill>
                            <a:schemeClr val="bg1"/>
                          </a:solidFill>
                          <a:latin typeface="+mn-lt"/>
                          <a:cs typeface="Poppins" pitchFamily="2" charset="77"/>
                        </a:rPr>
                        <a:t>Rationale and design considerations</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gridSpan="8">
                  <a:txBody>
                    <a:bodyPr/>
                    <a:lstStyle/>
                    <a:p>
                      <a:pPr algn="ctr">
                        <a:spcBef>
                          <a:spcPts val="300"/>
                        </a:spcBef>
                      </a:pPr>
                      <a:r>
                        <a:rPr lang="en-US" sz="1200" b="1" i="0">
                          <a:solidFill>
                            <a:schemeClr val="bg1"/>
                          </a:solidFill>
                          <a:latin typeface="+mn-lt"/>
                          <a:cs typeface="Poppins" pitchFamily="2" charset="77"/>
                        </a:rPr>
                        <a:t>Timing</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pPr algn="ctr">
                        <a:spcBef>
                          <a:spcPts val="300"/>
                        </a:spcBef>
                      </a:pP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2323510155"/>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spcBef>
                          <a:spcPts val="300"/>
                        </a:spcBef>
                      </a:pPr>
                      <a:r>
                        <a:rPr lang="en-US" sz="1000" b="1" i="0">
                          <a:solidFill>
                            <a:schemeClr val="bg1"/>
                          </a:solidFill>
                          <a:latin typeface="+mn-lt"/>
                          <a:cs typeface="Poppins" pitchFamily="2" charset="77"/>
                        </a:rPr>
                        <a:t>2026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2027</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2028</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2029</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2030</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2031</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2032</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2033+</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1184289703"/>
                  </a:ext>
                </a:extLst>
              </a:tr>
              <a:tr h="1188438">
                <a:tc>
                  <a:txBody>
                    <a:bodyPr/>
                    <a:lstStyle/>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r>
                        <a:rPr lang="en-US" sz="1000" b="0" i="0">
                          <a:solidFill>
                            <a:schemeClr val="tx1"/>
                          </a:solidFill>
                          <a:latin typeface="+mn-lt"/>
                          <a:cs typeface="Poppins" pitchFamily="2" charset="77"/>
                        </a:rPr>
                        <a:t>30. Demographic Subgroup IIT</a:t>
                      </a:r>
                    </a:p>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endParaRPr lang="en-US" sz="1000" b="0" i="0">
                        <a:solidFill>
                          <a:schemeClr val="tx1"/>
                        </a:solidFill>
                        <a:latin typeface="+mn-lt"/>
                        <a:cs typeface="Poppins" pitchFamily="2" charset="77"/>
                      </a:endParaRPr>
                    </a:p>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r>
                        <a:rPr lang="en-US" sz="1000" b="1" i="0">
                          <a:solidFill>
                            <a:schemeClr val="tx1"/>
                          </a:solidFill>
                          <a:latin typeface="+mn-lt"/>
                          <a:cs typeface="Poppins" pitchFamily="2" charset="77"/>
                        </a:rPr>
                        <a:t>Lead: </a:t>
                      </a:r>
                      <a:r>
                        <a:rPr lang="en-US" sz="1000" b="0" i="0">
                          <a:solidFill>
                            <a:schemeClr val="tx1"/>
                          </a:solidFill>
                          <a:latin typeface="+mn-lt"/>
                          <a:cs typeface="Poppins" pitchFamily="2" charset="77"/>
                        </a:rPr>
                        <a:t>Medical</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2D1D9"/>
                    </a:solidFill>
                  </a:tcPr>
                </a:tc>
                <a:tc>
                  <a:txBody>
                    <a:bodyPr/>
                    <a:lstStyle/>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1" i="0">
                          <a:solidFill>
                            <a:schemeClr val="tx1"/>
                          </a:solidFill>
                          <a:latin typeface="+mn-lt"/>
                          <a:cs typeface="Poppins" pitchFamily="2" charset="77"/>
                          <a:hlinkClick r:id="rId4" action="ppaction://hlinksldjump">
                            <a:extLst>
                              <a:ext uri="{A12FA001-AC4F-418D-AE19-62706E023703}">
                                <ahyp:hlinkClr xmlns:ahyp="http://schemas.microsoft.com/office/drawing/2018/hyperlinkcolor" val="tx"/>
                              </a:ext>
                            </a:extLst>
                          </a:hlinkClick>
                        </a:rPr>
                        <a:t>NSCLC_HI_04</a:t>
                      </a:r>
                      <a:r>
                        <a:rPr lang="en-US" sz="1000" b="0" i="0">
                          <a:solidFill>
                            <a:schemeClr val="tx1"/>
                          </a:solidFill>
                          <a:latin typeface="+mn-lt"/>
                          <a:cs typeface="Poppins" pitchFamily="2" charset="77"/>
                        </a:rPr>
                        <a:t>: BGB-58067's clinical efficacy and safety across  prespecified subgroups </a:t>
                      </a:r>
                      <a:r>
                        <a:rPr lang="en-US" sz="1000" b="0">
                          <a:solidFill>
                            <a:schemeClr val="tx1"/>
                          </a:solidFill>
                          <a:latin typeface="+mn-lt"/>
                          <a:cs typeface="Poppins"/>
                        </a:rPr>
                        <a:t>(i.e., race/ ethnicity (White, Black, Asian), PD-L1, histology, and geographies (e.g., Japan), lines of therapy)</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None/>
                        <a:tabLst/>
                        <a:defRPr/>
                      </a:pPr>
                      <a:r>
                        <a:rPr lang="en-US" sz="1000" b="1">
                          <a:solidFill>
                            <a:schemeClr val="tx1"/>
                          </a:solidFill>
                          <a:latin typeface="+mn-lt"/>
                        </a:rPr>
                        <a:t>Design considerations:</a:t>
                      </a:r>
                    </a:p>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a:solidFill>
                            <a:schemeClr val="tx1"/>
                          </a:solidFill>
                          <a:latin typeface="+mn-lt"/>
                        </a:rPr>
                        <a:t>Post hoc analysis will inform the rationale for this study and priority sub-populations, e.g., evaluating PFS, QoL in elderly</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48992036"/>
                  </a:ext>
                </a:extLst>
              </a:tr>
              <a:tr h="1188438">
                <a:tc>
                  <a:txBody>
                    <a:bodyPr/>
                    <a:lstStyle/>
                    <a:p>
                      <a:pPr marL="0" indent="0" algn="l">
                        <a:spcBef>
                          <a:spcPts val="300"/>
                        </a:spcBef>
                        <a:buFont typeface="Arial" panose="020B0604020202020204" pitchFamily="34" charset="0"/>
                        <a:buNone/>
                      </a:pPr>
                      <a:r>
                        <a:rPr lang="en-US" sz="1000" b="0" i="0">
                          <a:solidFill>
                            <a:schemeClr val="tx1"/>
                          </a:solidFill>
                          <a:latin typeface="+mn-lt"/>
                          <a:cs typeface="Poppins" pitchFamily="2" charset="77"/>
                        </a:rPr>
                        <a:t>31. Exploring efficacy in biomarker-enriched population (e.g., PD-L1 low/negative vs. high)</a:t>
                      </a:r>
                    </a:p>
                    <a:p>
                      <a:pPr marL="0" indent="0" algn="l">
                        <a:spcBef>
                          <a:spcPts val="300"/>
                        </a:spcBef>
                        <a:buFont typeface="Arial" panose="020B0604020202020204" pitchFamily="34" charset="0"/>
                        <a:buNone/>
                      </a:pPr>
                      <a:endParaRPr lang="en-US" sz="1000" b="0" i="0">
                        <a:solidFill>
                          <a:schemeClr val="tx1"/>
                        </a:solidFill>
                        <a:latin typeface="+mn-lt"/>
                        <a:cs typeface="Poppins" pitchFamily="2" charset="77"/>
                      </a:endParaRPr>
                    </a:p>
                    <a:p>
                      <a:pPr marL="0" indent="0" algn="l">
                        <a:spcBef>
                          <a:spcPts val="300"/>
                        </a:spcBef>
                        <a:buFont typeface="Arial" panose="020B0604020202020204" pitchFamily="34" charset="0"/>
                        <a:buNone/>
                      </a:pPr>
                      <a:r>
                        <a:rPr lang="en-US" sz="1000" b="1" i="0">
                          <a:solidFill>
                            <a:schemeClr val="tx1"/>
                          </a:solidFill>
                          <a:latin typeface="+mn-lt"/>
                          <a:cs typeface="Poppins" pitchFamily="2" charset="77"/>
                        </a:rPr>
                        <a:t>Lead:</a:t>
                      </a:r>
                      <a:r>
                        <a:rPr lang="en-US" sz="1000" b="0" i="0">
                          <a:solidFill>
                            <a:schemeClr val="tx1"/>
                          </a:solidFill>
                          <a:latin typeface="+mn-lt"/>
                          <a:cs typeface="Poppins" pitchFamily="2" charset="77"/>
                        </a:rPr>
                        <a:t> Medical</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2D1D9"/>
                    </a:solidFill>
                  </a:tcPr>
                </a:tc>
                <a:tc>
                  <a:txBody>
                    <a:bodyPr/>
                    <a:lstStyle/>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1" i="0" strike="noStrike" kern="1200">
                          <a:solidFill>
                            <a:schemeClr val="tx1"/>
                          </a:solidFill>
                          <a:latin typeface="+mn-lt"/>
                          <a:ea typeface="+mn-ea"/>
                          <a:cs typeface="Poppins" pitchFamily="2" charset="77"/>
                          <a:hlinkClick r:id="rId5" action="ppaction://hlinksldjump">
                            <a:extLst>
                              <a:ext uri="{A12FA001-AC4F-418D-AE19-62706E023703}">
                                <ahyp:hlinkClr xmlns:ahyp="http://schemas.microsoft.com/office/drawing/2018/hyperlinkcolor" val="tx"/>
                              </a:ext>
                            </a:extLst>
                          </a:hlinkClick>
                        </a:rPr>
                        <a:t>NSCLC_HI_11</a:t>
                      </a:r>
                      <a:r>
                        <a:rPr lang="en-US" sz="1000" b="0" i="0" strike="noStrike" kern="1200">
                          <a:solidFill>
                            <a:schemeClr val="tx1"/>
                          </a:solidFill>
                          <a:latin typeface="+mn-lt"/>
                          <a:ea typeface="+mn-ea"/>
                          <a:cs typeface="Poppins" pitchFamily="2" charset="77"/>
                        </a:rPr>
                        <a:t>: Regulation of PD-L1 expression by BGB-58067 and associated efficacy across PD-L1 strata</a:t>
                      </a:r>
                      <a:endParaRPr lang="en-US" sz="1000" b="1" i="0" strike="noStrike" kern="1200">
                        <a:solidFill>
                          <a:schemeClr val="accent1"/>
                        </a:solidFill>
                        <a:latin typeface="+mn-lt"/>
                        <a:ea typeface="+mn-ea"/>
                        <a:cs typeface="Poppins" pitchFamily="2" charset="77"/>
                      </a:endParaRP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mn-lt"/>
                          <a:cs typeface="Poppins" pitchFamily="2" charset="77"/>
                        </a:rPr>
                        <a:t>Design considerations:</a:t>
                      </a:r>
                      <a:endParaRPr kumimoji="0" lang="en-US" sz="1000" b="0" i="0" u="none" strike="noStrike" kern="1200" cap="none" spc="0" normalizeH="0" baseline="0" noProof="0">
                        <a:ln>
                          <a:noFill/>
                        </a:ln>
                        <a:solidFill>
                          <a:schemeClr val="tx1"/>
                        </a:solidFill>
                        <a:effectLst/>
                        <a:uLnTx/>
                        <a:uFillTx/>
                        <a:latin typeface="+mn-lt"/>
                        <a:cs typeface="Poppins" pitchFamily="2" charset="77"/>
                      </a:endParaRP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Regulation of PD-L1 expression analysis is lower priority, gated to pivotal trial enrollment across PD-L1 strata &amp; post-hoc analyses</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18088230"/>
                  </a:ext>
                </a:extLst>
              </a:tr>
              <a:tr h="1188438">
                <a:tc>
                  <a:txBody>
                    <a:bodyPr/>
                    <a:lstStyle/>
                    <a:p>
                      <a:pPr algn="l">
                        <a:spcBef>
                          <a:spcPts val="300"/>
                        </a:spcBef>
                      </a:pPr>
                      <a:r>
                        <a:rPr lang="en-US" sz="1000" b="0" i="0">
                          <a:solidFill>
                            <a:schemeClr val="tx1"/>
                          </a:solidFill>
                          <a:latin typeface="+mn-lt"/>
                          <a:cs typeface="Poppins" pitchFamily="2" charset="77"/>
                        </a:rPr>
                        <a:t>32. Exploring COE across metastatic and neoadjuvant settings</a:t>
                      </a:r>
                    </a:p>
                    <a:p>
                      <a:pPr algn="l">
                        <a:spcBef>
                          <a:spcPts val="300"/>
                        </a:spcBef>
                      </a:pPr>
                      <a:endParaRPr lang="en-US" sz="1000" b="0" i="0">
                        <a:solidFill>
                          <a:schemeClr val="tx1"/>
                        </a:solidFill>
                        <a:latin typeface="+mn-lt"/>
                        <a:cs typeface="Poppins" pitchFamily="2" charset="77"/>
                      </a:endParaRPr>
                    </a:p>
                    <a:p>
                      <a:pPr algn="l">
                        <a:spcBef>
                          <a:spcPts val="300"/>
                        </a:spcBef>
                      </a:pPr>
                      <a:r>
                        <a:rPr lang="en-US" sz="1000" b="1" i="0">
                          <a:solidFill>
                            <a:schemeClr val="tx1"/>
                          </a:solidFill>
                          <a:latin typeface="+mn-lt"/>
                          <a:cs typeface="Poppins" pitchFamily="2" charset="77"/>
                        </a:rPr>
                        <a:t>Lead: </a:t>
                      </a:r>
                      <a:r>
                        <a:rPr lang="en-US" sz="1000" b="0" i="0">
                          <a:solidFill>
                            <a:schemeClr val="tx1"/>
                          </a:solidFill>
                          <a:latin typeface="+mn-lt"/>
                          <a:cs typeface="Poppins" pitchFamily="2" charset="77"/>
                        </a:rPr>
                        <a:t>Medical</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2D1D9"/>
                    </a:solidFill>
                  </a:tcPr>
                </a:tc>
                <a:tc>
                  <a:txBody>
                    <a:bodyPr/>
                    <a:lstStyle/>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1" i="0">
                          <a:solidFill>
                            <a:schemeClr val="tx1"/>
                          </a:solidFill>
                          <a:latin typeface="+mn-lt"/>
                          <a:cs typeface="Poppins" pitchFamily="2" charset="77"/>
                          <a:hlinkClick r:id="rId6" action="ppaction://hlinksldjump">
                            <a:extLst>
                              <a:ext uri="{A12FA001-AC4F-418D-AE19-62706E023703}">
                                <ahyp:hlinkClr xmlns:ahyp="http://schemas.microsoft.com/office/drawing/2018/hyperlinkcolor" val="tx"/>
                              </a:ext>
                            </a:extLst>
                          </a:hlinkClick>
                        </a:rPr>
                        <a:t>NSCLC_CE_03</a:t>
                      </a:r>
                      <a:r>
                        <a:rPr lang="en-US" sz="1000" b="0" i="0">
                          <a:solidFill>
                            <a:schemeClr val="tx1"/>
                          </a:solidFill>
                          <a:latin typeface="+mn-lt"/>
                          <a:cs typeface="Poppins" pitchFamily="2" charset="77"/>
                        </a:rPr>
                        <a:t>: Contribution of effect (CoE) of BGB-58067 beyond or in consideration of PD-1 backbone</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mn-lt"/>
                          <a:cs typeface="Poppins" pitchFamily="2" charset="77"/>
                        </a:rPr>
                        <a:t>Design considerations:</a:t>
                      </a:r>
                      <a:endParaRPr kumimoji="0" lang="en-US" sz="1000" b="0" i="0" u="none" strike="noStrike" kern="1200" cap="none" spc="0" normalizeH="0" baseline="0" noProof="0">
                        <a:ln>
                          <a:noFill/>
                        </a:ln>
                        <a:solidFill>
                          <a:schemeClr val="tx1"/>
                        </a:solidFill>
                        <a:effectLst/>
                        <a:uLnTx/>
                        <a:uFillTx/>
                        <a:latin typeface="+mn-lt"/>
                        <a:cs typeface="Poppins" pitchFamily="2" charset="77"/>
                      </a:endParaRP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Single IIT with modular arms </a:t>
                      </a:r>
                      <a:r>
                        <a:rPr lang="en-US" sz="1000" b="0" i="0" u="none" strike="noStrike" kern="1200" noProof="0">
                          <a:solidFill>
                            <a:schemeClr val="tx1"/>
                          </a:solidFill>
                          <a:effectLst/>
                          <a:latin typeface="+mn-lt"/>
                          <a:ea typeface="+mn-ea"/>
                          <a:cs typeface="Poppins"/>
                        </a:rPr>
                        <a:t>(PD-1i combo vs. mono or  fixed-duration of BGB-58067 followed by PD-1i + chemo in metastatic setting or BGB-58067 before PD-1i +/- chemo in neoadjuvant setting)</a:t>
                      </a:r>
                      <a:r>
                        <a:rPr kumimoji="0" lang="en-US" sz="1000" b="0" i="0" u="none" strike="noStrike" kern="1200" cap="none" spc="0" normalizeH="0" baseline="0" noProof="0">
                          <a:ln>
                            <a:noFill/>
                          </a:ln>
                          <a:solidFill>
                            <a:schemeClr val="tx1"/>
                          </a:solidFill>
                          <a:effectLst/>
                          <a:uLnTx/>
                          <a:uFillTx/>
                          <a:latin typeface="+mn-lt"/>
                          <a:ea typeface="+mn-ea"/>
                          <a:cs typeface="Poppins"/>
                        </a:rPr>
                        <a:t> </a:t>
                      </a:r>
                      <a:r>
                        <a:rPr kumimoji="0" lang="en-US" sz="1000" b="0" i="0" u="none" strike="noStrike" kern="1200" cap="none" spc="0" normalizeH="0" baseline="0" noProof="0">
                          <a:ln>
                            <a:noFill/>
                          </a:ln>
                          <a:solidFill>
                            <a:schemeClr val="tx1"/>
                          </a:solidFill>
                          <a:effectLst/>
                          <a:uLnTx/>
                          <a:uFillTx/>
                          <a:latin typeface="+mn-lt"/>
                          <a:cs typeface="Poppins" pitchFamily="2" charset="77"/>
                        </a:rPr>
                        <a:t>creates a platform approach vs. 3 independent studies </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Design dependent on PD-1 SoC by the time of launch </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Need for COE analysis will be informed by class-level ITC</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6452485"/>
                  </a:ext>
                </a:extLst>
              </a:tr>
            </a:tbl>
          </a:graphicData>
        </a:graphic>
      </p:graphicFrame>
      <p:graphicFrame>
        <p:nvGraphicFramePr>
          <p:cNvPr id="5" name="think-cell data - do not delete" hidden="1">
            <a:extLst>
              <a:ext uri="{FF2B5EF4-FFF2-40B4-BE49-F238E27FC236}">
                <a16:creationId xmlns:a16="http://schemas.microsoft.com/office/drawing/2014/main" id="{D5DCC0E3-198F-62AB-AC6E-DA35719250AF}"/>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6" progId="TCLayout.ActiveDocument.1">
                  <p:embed/>
                </p:oleObj>
              </mc:Choice>
              <mc:Fallback>
                <p:oleObj name="think-cell Slide" r:id="rId7" imgW="395" imgH="396" progId="TCLayout.ActiveDocument.1">
                  <p:embed/>
                  <p:pic>
                    <p:nvPicPr>
                      <p:cNvPr id="5" name="think-cell data - do not delete" hidden="1">
                        <a:extLst>
                          <a:ext uri="{FF2B5EF4-FFF2-40B4-BE49-F238E27FC236}">
                            <a16:creationId xmlns:a16="http://schemas.microsoft.com/office/drawing/2014/main" id="{D5DCC0E3-198F-62AB-AC6E-DA35719250AF}"/>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0" name="Title 19">
            <a:extLst>
              <a:ext uri="{FF2B5EF4-FFF2-40B4-BE49-F238E27FC236}">
                <a16:creationId xmlns:a16="http://schemas.microsoft.com/office/drawing/2014/main" id="{223D1528-3B4D-7DFB-95AA-0FCA3E38641A}"/>
              </a:ext>
            </a:extLst>
          </p:cNvPr>
          <p:cNvSpPr>
            <a:spLocks noGrp="1"/>
          </p:cNvSpPr>
          <p:nvPr>
            <p:ph type="title"/>
          </p:nvPr>
        </p:nvSpPr>
        <p:spPr>
          <a:xfrm>
            <a:off x="358337" y="338328"/>
            <a:ext cx="11470125" cy="738664"/>
          </a:xfrm>
        </p:spPr>
        <p:txBody>
          <a:bodyPr vert="horz" rIns="0">
            <a:spAutoFit/>
          </a:bodyPr>
          <a:lstStyle/>
          <a:p>
            <a:r>
              <a:rPr lang="en-US" sz="2400">
                <a:solidFill>
                  <a:schemeClr val="accent3"/>
                </a:solidFill>
              </a:rPr>
              <a:t>Fourteen </a:t>
            </a:r>
            <a:r>
              <a:rPr lang="en-US" sz="2400" b="1">
                <a:solidFill>
                  <a:srgbClr val="7CB0BE"/>
                </a:solidFill>
              </a:rPr>
              <a:t>IIT programs</a:t>
            </a:r>
            <a:r>
              <a:rPr lang="en-US" sz="2400"/>
              <a:t> expand evidence generation beyond the registrational program (4/5)</a:t>
            </a:r>
            <a:endParaRPr lang="en-US" sz="2400">
              <a:highlight>
                <a:srgbClr val="FFFF00"/>
              </a:highlight>
            </a:endParaRPr>
          </a:p>
        </p:txBody>
      </p:sp>
      <p:sp>
        <p:nvSpPr>
          <p:cNvPr id="24" name="Arrow: Pentagon 23">
            <a:extLst>
              <a:ext uri="{FF2B5EF4-FFF2-40B4-BE49-F238E27FC236}">
                <a16:creationId xmlns:a16="http://schemas.microsoft.com/office/drawing/2014/main" id="{23AF5EA1-CCB8-AA8D-83D9-3739AA27E021}"/>
              </a:ext>
            </a:extLst>
          </p:cNvPr>
          <p:cNvSpPr/>
          <p:nvPr/>
        </p:nvSpPr>
        <p:spPr>
          <a:xfrm>
            <a:off x="10780368" y="2140869"/>
            <a:ext cx="1048094" cy="388620"/>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26" name="Rectangle 25">
            <a:extLst>
              <a:ext uri="{FF2B5EF4-FFF2-40B4-BE49-F238E27FC236}">
                <a16:creationId xmlns:a16="http://schemas.microsoft.com/office/drawing/2014/main" id="{6398E097-8AEA-8C26-E4EA-DABFB91BFCE7}"/>
              </a:ext>
            </a:extLst>
          </p:cNvPr>
          <p:cNvSpPr/>
          <p:nvPr/>
        </p:nvSpPr>
        <p:spPr>
          <a:xfrm>
            <a:off x="8747478" y="2139994"/>
            <a:ext cx="2032888" cy="5251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r>
              <a:rPr lang="en-US" sz="900" b="1">
                <a:solidFill>
                  <a:schemeClr val="tx1"/>
                </a:solidFill>
              </a:rPr>
              <a:t>Start: </a:t>
            </a:r>
            <a:r>
              <a:rPr lang="en-US" sz="900">
                <a:solidFill>
                  <a:schemeClr val="tx1"/>
                </a:solidFill>
              </a:rPr>
              <a:t>Dependent on subgroup post-hoc analyses on pivotal trial data</a:t>
            </a:r>
          </a:p>
        </p:txBody>
      </p:sp>
      <p:sp>
        <p:nvSpPr>
          <p:cNvPr id="13" name="Footer Placeholder 2">
            <a:extLst>
              <a:ext uri="{FF2B5EF4-FFF2-40B4-BE49-F238E27FC236}">
                <a16:creationId xmlns:a16="http://schemas.microsoft.com/office/drawing/2014/main" id="{A54593E7-F588-3143-6ED5-28C9A9CA049E}"/>
              </a:ext>
            </a:extLst>
          </p:cNvPr>
          <p:cNvSpPr>
            <a:spLocks noGrp="1"/>
          </p:cNvSpPr>
          <p:nvPr>
            <p:ph type="ftr" sz="quarter" idx="10"/>
          </p:nvPr>
        </p:nvSpPr>
        <p:spPr>
          <a:xfrm>
            <a:off x="328864" y="6266130"/>
            <a:ext cx="5681293" cy="526584"/>
          </a:xfrm>
        </p:spPr>
        <p:txBody>
          <a:bodyPr/>
          <a:lstStyle/>
          <a:p>
            <a:pPr>
              <a:defRPr/>
            </a:pPr>
            <a:r>
              <a:rPr lang="en-US">
                <a:solidFill>
                  <a:srgbClr val="000000">
                    <a:lumMod val="65000"/>
                    <a:lumOff val="35000"/>
                  </a:srgbClr>
                </a:solidFill>
              </a:rPr>
              <a:t>Note: Timeline for when IIT programs have access to BGB-58067 will impact study initiation; Abbreviations: </a:t>
            </a:r>
            <a:r>
              <a:rPr lang="en-US"/>
              <a:t>CE: Critical Priority; </a:t>
            </a:r>
            <a:r>
              <a:rPr lang="en-US" err="1"/>
              <a:t>CoE</a:t>
            </a:r>
            <a:r>
              <a:rPr lang="en-US"/>
              <a:t>: Contribution of Effect; DRO: Data Readout; HI: High Priority; IIT: Investigator-Initiated Trial; ITC: Indirect Treatment Comparison; NSCLC: Non-Small Cell Lung Cancer; PD-1: Programmed Cell Death Protein 1; PD-L1: Programmed Death-Ligand 1; PFS: Progression-Free Survival; QoL: Quality of Life; SoC: Standard of Care</a:t>
            </a:r>
          </a:p>
        </p:txBody>
      </p:sp>
      <p:sp>
        <p:nvSpPr>
          <p:cNvPr id="19" name="Rectangle 18">
            <a:extLst>
              <a:ext uri="{FF2B5EF4-FFF2-40B4-BE49-F238E27FC236}">
                <a16:creationId xmlns:a16="http://schemas.microsoft.com/office/drawing/2014/main" id="{DFC9D3DB-6A26-56FB-32E1-9751EFADA998}"/>
              </a:ext>
            </a:extLst>
          </p:cNvPr>
          <p:cNvSpPr/>
          <p:nvPr/>
        </p:nvSpPr>
        <p:spPr>
          <a:xfrm>
            <a:off x="8765796" y="6280266"/>
            <a:ext cx="2242113" cy="3342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92500" lnSpcReduction="10000"/>
          </a:bodyPr>
          <a:lstStyle/>
          <a:p>
            <a:pPr algn="ctr"/>
            <a:endParaRPr lang="en-US" err="1">
              <a:solidFill>
                <a:schemeClr val="bg1"/>
              </a:solidFill>
            </a:endParaRPr>
          </a:p>
        </p:txBody>
      </p:sp>
      <p:grpSp>
        <p:nvGrpSpPr>
          <p:cNvPr id="23" name="Group 22">
            <a:extLst>
              <a:ext uri="{FF2B5EF4-FFF2-40B4-BE49-F238E27FC236}">
                <a16:creationId xmlns:a16="http://schemas.microsoft.com/office/drawing/2014/main" id="{8BABAB29-DEDD-7BB0-4A9F-838AAFEC9B0F}"/>
              </a:ext>
            </a:extLst>
          </p:cNvPr>
          <p:cNvGrpSpPr/>
          <p:nvPr/>
        </p:nvGrpSpPr>
        <p:grpSpPr>
          <a:xfrm>
            <a:off x="8025100" y="6327114"/>
            <a:ext cx="3279572" cy="319473"/>
            <a:chOff x="8676947" y="6306366"/>
            <a:chExt cx="3279572" cy="319473"/>
          </a:xfrm>
        </p:grpSpPr>
        <p:sp>
          <p:nvSpPr>
            <p:cNvPr id="25" name="TextBox 24">
              <a:extLst>
                <a:ext uri="{FF2B5EF4-FFF2-40B4-BE49-F238E27FC236}">
                  <a16:creationId xmlns:a16="http://schemas.microsoft.com/office/drawing/2014/main" id="{05F5D9F3-C773-F8AA-541E-69BEAA7CA152}"/>
                </a:ext>
              </a:extLst>
            </p:cNvPr>
            <p:cNvSpPr txBox="1"/>
            <p:nvPr/>
          </p:nvSpPr>
          <p:spPr>
            <a:xfrm>
              <a:off x="8676947" y="6318062"/>
              <a:ext cx="470764" cy="307777"/>
            </a:xfrm>
            <a:prstGeom prst="rect">
              <a:avLst/>
            </a:prstGeom>
            <a:noFill/>
          </p:spPr>
          <p:txBody>
            <a:bodyPr wrap="square" lIns="91440" tIns="91440" rIns="91440" bIns="91440"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Poppins"/>
                  <a:ea typeface="+mn-ea"/>
                  <a:cs typeface="+mn-cs"/>
                </a:rPr>
                <a:t>Key:</a:t>
              </a:r>
            </a:p>
          </p:txBody>
        </p:sp>
        <p:grpSp>
          <p:nvGrpSpPr>
            <p:cNvPr id="27" name="Group 26">
              <a:extLst>
                <a:ext uri="{FF2B5EF4-FFF2-40B4-BE49-F238E27FC236}">
                  <a16:creationId xmlns:a16="http://schemas.microsoft.com/office/drawing/2014/main" id="{33B1DCA2-2F16-3318-53FF-7B0A906AAAD6}"/>
                </a:ext>
              </a:extLst>
            </p:cNvPr>
            <p:cNvGrpSpPr/>
            <p:nvPr/>
          </p:nvGrpSpPr>
          <p:grpSpPr>
            <a:xfrm>
              <a:off x="8743681" y="6306366"/>
              <a:ext cx="3212838" cy="307777"/>
              <a:chOff x="6686281" y="6344466"/>
              <a:chExt cx="3212838" cy="307777"/>
            </a:xfrm>
          </p:grpSpPr>
          <p:sp>
            <p:nvSpPr>
              <p:cNvPr id="33" name="Diamond 32">
                <a:extLst>
                  <a:ext uri="{FF2B5EF4-FFF2-40B4-BE49-F238E27FC236}">
                    <a16:creationId xmlns:a16="http://schemas.microsoft.com/office/drawing/2014/main" id="{6404732D-9393-2204-A185-F3EB0D567904}"/>
                  </a:ext>
                </a:extLst>
              </p:cNvPr>
              <p:cNvSpPr/>
              <p:nvPr/>
            </p:nvSpPr>
            <p:spPr>
              <a:xfrm>
                <a:off x="8778716" y="6409851"/>
                <a:ext cx="175330" cy="177007"/>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34" name="TextBox 33">
                <a:extLst>
                  <a:ext uri="{FF2B5EF4-FFF2-40B4-BE49-F238E27FC236}">
                    <a16:creationId xmlns:a16="http://schemas.microsoft.com/office/drawing/2014/main" id="{8C505B90-EAC8-19C1-0921-0771F31461B3}"/>
                  </a:ext>
                </a:extLst>
              </p:cNvPr>
              <p:cNvSpPr txBox="1"/>
              <p:nvPr/>
            </p:nvSpPr>
            <p:spPr>
              <a:xfrm>
                <a:off x="8910524" y="6344466"/>
                <a:ext cx="988595"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Milestone</a:t>
                </a:r>
              </a:p>
            </p:txBody>
          </p:sp>
          <p:sp>
            <p:nvSpPr>
              <p:cNvPr id="35" name="TextBox 34">
                <a:extLst>
                  <a:ext uri="{FF2B5EF4-FFF2-40B4-BE49-F238E27FC236}">
                    <a16:creationId xmlns:a16="http://schemas.microsoft.com/office/drawing/2014/main" id="{1F8E4E23-654A-1467-DA46-1A344236DAF9}"/>
                  </a:ext>
                </a:extLst>
              </p:cNvPr>
              <p:cNvSpPr txBox="1"/>
              <p:nvPr/>
            </p:nvSpPr>
            <p:spPr>
              <a:xfrm>
                <a:off x="7292815" y="6344466"/>
                <a:ext cx="1632109"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Start of study to </a:t>
                </a:r>
                <a:r>
                  <a:rPr kumimoji="0" lang="en-US" sz="800" b="0" i="0" u="none" strike="noStrike" kern="1200" cap="none" spc="0" normalizeH="0" baseline="0" noProof="0" err="1">
                    <a:ln>
                      <a:noFill/>
                    </a:ln>
                    <a:solidFill>
                      <a:srgbClr val="000000"/>
                    </a:solidFill>
                    <a:effectLst/>
                    <a:uLnTx/>
                    <a:uFillTx/>
                    <a:latin typeface="Poppins"/>
                    <a:ea typeface="+mn-ea"/>
                    <a:cs typeface="+mn-cs"/>
                  </a:rPr>
                  <a:t>en</a:t>
                </a:r>
                <a:r>
                  <a:rPr lang="en-US" sz="800">
                    <a:solidFill>
                      <a:srgbClr val="000000"/>
                    </a:solidFill>
                    <a:latin typeface="Poppins"/>
                  </a:rPr>
                  <a:t>d/DRO</a:t>
                </a:r>
                <a:endParaRPr kumimoji="0" 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36" name="Arrow: Pentagon 35">
                <a:extLst>
                  <a:ext uri="{FF2B5EF4-FFF2-40B4-BE49-F238E27FC236}">
                    <a16:creationId xmlns:a16="http://schemas.microsoft.com/office/drawing/2014/main" id="{32363332-582E-38B0-5552-A0069A8EDEBF}"/>
                  </a:ext>
                </a:extLst>
              </p:cNvPr>
              <p:cNvSpPr/>
              <p:nvPr/>
            </p:nvSpPr>
            <p:spPr>
              <a:xfrm>
                <a:off x="7133798" y="6422147"/>
                <a:ext cx="182880" cy="182880"/>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algn="ctr"/>
                <a:endParaRPr lang="en-US">
                  <a:solidFill>
                    <a:schemeClr val="bg1"/>
                  </a:solidFill>
                </a:endParaRPr>
              </a:p>
            </p:txBody>
          </p:sp>
          <p:sp>
            <p:nvSpPr>
              <p:cNvPr id="38" name="Rectangle: Rounded Corners 37">
                <a:extLst>
                  <a:ext uri="{FF2B5EF4-FFF2-40B4-BE49-F238E27FC236}">
                    <a16:creationId xmlns:a16="http://schemas.microsoft.com/office/drawing/2014/main" id="{995218F7-E541-4934-89DF-BB55705AD5C6}"/>
                  </a:ext>
                </a:extLst>
              </p:cNvPr>
              <p:cNvSpPr/>
              <p:nvPr/>
            </p:nvSpPr>
            <p:spPr>
              <a:xfrm>
                <a:off x="6686281" y="6365302"/>
                <a:ext cx="2924444" cy="28150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algn="ctr"/>
                <a:endParaRPr lang="en-US">
                  <a:solidFill>
                    <a:schemeClr val="bg1"/>
                  </a:solidFill>
                </a:endParaRPr>
              </a:p>
            </p:txBody>
          </p:sp>
        </p:grpSp>
      </p:grpSp>
      <p:grpSp>
        <p:nvGrpSpPr>
          <p:cNvPr id="39" name="Group 38">
            <a:extLst>
              <a:ext uri="{FF2B5EF4-FFF2-40B4-BE49-F238E27FC236}">
                <a16:creationId xmlns:a16="http://schemas.microsoft.com/office/drawing/2014/main" id="{9F694EF5-5966-4202-2719-873D49AF47E3}"/>
              </a:ext>
            </a:extLst>
          </p:cNvPr>
          <p:cNvGrpSpPr/>
          <p:nvPr/>
        </p:nvGrpSpPr>
        <p:grpSpPr>
          <a:xfrm>
            <a:off x="6044154" y="6332843"/>
            <a:ext cx="2001488" cy="395710"/>
            <a:chOff x="9984926" y="1221638"/>
            <a:chExt cx="2001488" cy="395710"/>
          </a:xfrm>
        </p:grpSpPr>
        <p:sp>
          <p:nvSpPr>
            <p:cNvPr id="40" name="Rectangle 39">
              <a:extLst>
                <a:ext uri="{FF2B5EF4-FFF2-40B4-BE49-F238E27FC236}">
                  <a16:creationId xmlns:a16="http://schemas.microsoft.com/office/drawing/2014/main" id="{617C3B05-312A-9262-3A72-2C70DC6A8C1A}"/>
                </a:ext>
              </a:extLst>
            </p:cNvPr>
            <p:cNvSpPr/>
            <p:nvPr/>
          </p:nvSpPr>
          <p:spPr>
            <a:xfrm>
              <a:off x="10122616" y="1221638"/>
              <a:ext cx="1863798" cy="3957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800">
                  <a:solidFill>
                    <a:schemeClr val="tx1"/>
                  </a:solidFill>
                </a:rPr>
                <a:t>Click the </a:t>
              </a:r>
              <a:r>
                <a:rPr lang="en-US" sz="800" b="1">
                  <a:solidFill>
                    <a:schemeClr val="tx1"/>
                  </a:solidFill>
                </a:rPr>
                <a:t>gap  ID to return to gap overview</a:t>
              </a:r>
              <a:endParaRPr lang="en-US" sz="800">
                <a:solidFill>
                  <a:schemeClr val="tx1"/>
                </a:solidFill>
              </a:endParaRPr>
            </a:p>
          </p:txBody>
        </p:sp>
        <p:pic>
          <p:nvPicPr>
            <p:cNvPr id="41" name="Graphic 40" descr="Cursor with solid fill">
              <a:extLst>
                <a:ext uri="{FF2B5EF4-FFF2-40B4-BE49-F238E27FC236}">
                  <a16:creationId xmlns:a16="http://schemas.microsoft.com/office/drawing/2014/main" id="{AB981792-750B-484D-1BA2-9CB33A421F8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984926" y="1302723"/>
              <a:ext cx="216000" cy="216000"/>
            </a:xfrm>
            <a:prstGeom prst="rect">
              <a:avLst/>
            </a:prstGeom>
          </p:spPr>
        </p:pic>
      </p:grpSp>
      <p:grpSp>
        <p:nvGrpSpPr>
          <p:cNvPr id="2" name="Group 1">
            <a:extLst>
              <a:ext uri="{FF2B5EF4-FFF2-40B4-BE49-F238E27FC236}">
                <a16:creationId xmlns:a16="http://schemas.microsoft.com/office/drawing/2014/main" id="{BB524EEE-5371-CBCD-ED92-D4CFD61F42B7}"/>
              </a:ext>
            </a:extLst>
          </p:cNvPr>
          <p:cNvGrpSpPr/>
          <p:nvPr/>
        </p:nvGrpSpPr>
        <p:grpSpPr>
          <a:xfrm>
            <a:off x="362743" y="10216"/>
            <a:ext cx="10042505" cy="252000"/>
            <a:chOff x="362743" y="10216"/>
            <a:chExt cx="10042505" cy="252000"/>
          </a:xfrm>
        </p:grpSpPr>
        <p:sp>
          <p:nvSpPr>
            <p:cNvPr id="4" name="Pentagon 47">
              <a:extLst>
                <a:ext uri="{FF2B5EF4-FFF2-40B4-BE49-F238E27FC236}">
                  <a16:creationId xmlns:a16="http://schemas.microsoft.com/office/drawing/2014/main" id="{91ED2E58-E584-F26B-1AD2-81C174EA87F5}"/>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6" name="Chevron 48">
              <a:extLst>
                <a:ext uri="{FF2B5EF4-FFF2-40B4-BE49-F238E27FC236}">
                  <a16:creationId xmlns:a16="http://schemas.microsoft.com/office/drawing/2014/main" id="{70826099-CE54-2315-91B6-CAAAFB2E34A4}"/>
                </a:ext>
              </a:extLst>
            </p:cNvPr>
            <p:cNvSpPr/>
            <p:nvPr/>
          </p:nvSpPr>
          <p:spPr>
            <a:xfrm>
              <a:off x="5371087"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7" name="Chevron 52">
              <a:extLst>
                <a:ext uri="{FF2B5EF4-FFF2-40B4-BE49-F238E27FC236}">
                  <a16:creationId xmlns:a16="http://schemas.microsoft.com/office/drawing/2014/main" id="{D30061E3-B7AB-0BB5-6FF1-DF88905B9216}"/>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8" name="Chevron 54">
              <a:extLst>
                <a:ext uri="{FF2B5EF4-FFF2-40B4-BE49-F238E27FC236}">
                  <a16:creationId xmlns:a16="http://schemas.microsoft.com/office/drawing/2014/main" id="{2888B8C5-1798-D79D-EC9D-91A2B3F01BAD}"/>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9" name="Chevron 48">
              <a:extLst>
                <a:ext uri="{FF2B5EF4-FFF2-40B4-BE49-F238E27FC236}">
                  <a16:creationId xmlns:a16="http://schemas.microsoft.com/office/drawing/2014/main" id="{C0A5999F-7752-2526-DBE8-F0F3F168A41C}"/>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1" name="Chevron 48">
              <a:extLst>
                <a:ext uri="{FF2B5EF4-FFF2-40B4-BE49-F238E27FC236}">
                  <a16:creationId xmlns:a16="http://schemas.microsoft.com/office/drawing/2014/main" id="{8A162CC1-E673-43A4-C7DF-A8EF9CC7AF2F}"/>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
        <p:nvSpPr>
          <p:cNvPr id="12" name="Arrow: Pentagon 11">
            <a:extLst>
              <a:ext uri="{FF2B5EF4-FFF2-40B4-BE49-F238E27FC236}">
                <a16:creationId xmlns:a16="http://schemas.microsoft.com/office/drawing/2014/main" id="{57509BE7-0445-0AA5-EF47-6C75C839E2D6}"/>
              </a:ext>
            </a:extLst>
          </p:cNvPr>
          <p:cNvSpPr/>
          <p:nvPr/>
        </p:nvSpPr>
        <p:spPr>
          <a:xfrm>
            <a:off x="10811903" y="3351711"/>
            <a:ext cx="1023098" cy="388620"/>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15" name="Rectangle 14">
            <a:extLst>
              <a:ext uri="{FF2B5EF4-FFF2-40B4-BE49-F238E27FC236}">
                <a16:creationId xmlns:a16="http://schemas.microsoft.com/office/drawing/2014/main" id="{B27EB445-4508-7906-32D9-DA2E8C02B555}"/>
              </a:ext>
            </a:extLst>
          </p:cNvPr>
          <p:cNvSpPr/>
          <p:nvPr/>
        </p:nvSpPr>
        <p:spPr>
          <a:xfrm>
            <a:off x="9476257" y="3380567"/>
            <a:ext cx="1341090" cy="388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r>
              <a:rPr lang="en-US" sz="900" b="1">
                <a:solidFill>
                  <a:schemeClr val="tx1"/>
                </a:solidFill>
              </a:rPr>
              <a:t>Start: </a:t>
            </a:r>
            <a:r>
              <a:rPr lang="en-US" sz="900">
                <a:solidFill>
                  <a:schemeClr val="tx1"/>
                </a:solidFill>
              </a:rPr>
              <a:t>Dependent on post-hoc analyses across PD-L1 strata</a:t>
            </a:r>
          </a:p>
        </p:txBody>
      </p:sp>
      <p:sp>
        <p:nvSpPr>
          <p:cNvPr id="17" name="Arrow: Pentagon 16">
            <a:extLst>
              <a:ext uri="{FF2B5EF4-FFF2-40B4-BE49-F238E27FC236}">
                <a16:creationId xmlns:a16="http://schemas.microsoft.com/office/drawing/2014/main" id="{FF2347D6-6638-64A1-8BF8-B47127275086}"/>
              </a:ext>
            </a:extLst>
          </p:cNvPr>
          <p:cNvSpPr/>
          <p:nvPr/>
        </p:nvSpPr>
        <p:spPr>
          <a:xfrm>
            <a:off x="11183007" y="4736602"/>
            <a:ext cx="635856" cy="388620"/>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21" name="Rectangle 20">
            <a:extLst>
              <a:ext uri="{FF2B5EF4-FFF2-40B4-BE49-F238E27FC236}">
                <a16:creationId xmlns:a16="http://schemas.microsoft.com/office/drawing/2014/main" id="{9105FE05-0FFC-9957-78E7-ACAE4B552882}"/>
              </a:ext>
            </a:extLst>
          </p:cNvPr>
          <p:cNvSpPr/>
          <p:nvPr/>
        </p:nvSpPr>
        <p:spPr>
          <a:xfrm>
            <a:off x="9591472" y="4736602"/>
            <a:ext cx="1591535" cy="388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r>
              <a:rPr lang="en-US" sz="900" b="1">
                <a:solidFill>
                  <a:schemeClr val="tx1"/>
                </a:solidFill>
              </a:rPr>
              <a:t>Start: </a:t>
            </a:r>
            <a:r>
              <a:rPr lang="en-US" sz="900">
                <a:solidFill>
                  <a:schemeClr val="tx1"/>
                </a:solidFill>
              </a:rPr>
              <a:t>Dependent on PD-1i class-level ITC DRO</a:t>
            </a:r>
          </a:p>
        </p:txBody>
      </p:sp>
    </p:spTree>
    <p:extLst>
      <p:ext uri="{BB962C8B-B14F-4D97-AF65-F5344CB8AC3E}">
        <p14:creationId xmlns:p14="http://schemas.microsoft.com/office/powerpoint/2010/main" val="42026073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D5DD9-0D19-DF4D-2E86-E62B1E67D47D}"/>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0236B00A-6D01-1FCB-DAC9-5FF43CB93FC2}"/>
              </a:ext>
            </a:extLst>
          </p:cNvPr>
          <p:cNvGraphicFramePr>
            <a:graphicFrameLocks noGrp="1"/>
          </p:cNvGraphicFramePr>
          <p:nvPr>
            <p:extLst>
              <p:ext uri="{D42A27DB-BD31-4B8C-83A1-F6EECF244321}">
                <p14:modId xmlns:p14="http://schemas.microsoft.com/office/powerpoint/2010/main" val="31756520"/>
              </p:ext>
            </p:extLst>
          </p:nvPr>
        </p:nvGraphicFramePr>
        <p:xfrm>
          <a:off x="360936" y="1361965"/>
          <a:ext cx="11466574" cy="3740280"/>
        </p:xfrm>
        <a:graphic>
          <a:graphicData uri="http://schemas.openxmlformats.org/drawingml/2006/table">
            <a:tbl>
              <a:tblPr bandRow="1">
                <a:tableStyleId>{5C22544A-7EE6-4342-B048-85BDC9FD1C3A}</a:tableStyleId>
              </a:tblPr>
              <a:tblGrid>
                <a:gridCol w="1841714">
                  <a:extLst>
                    <a:ext uri="{9D8B030D-6E8A-4147-A177-3AD203B41FA5}">
                      <a16:colId xmlns:a16="http://schemas.microsoft.com/office/drawing/2014/main" val="1362236069"/>
                    </a:ext>
                  </a:extLst>
                </a:gridCol>
                <a:gridCol w="2634045">
                  <a:extLst>
                    <a:ext uri="{9D8B030D-6E8A-4147-A177-3AD203B41FA5}">
                      <a16:colId xmlns:a16="http://schemas.microsoft.com/office/drawing/2014/main" val="366937182"/>
                    </a:ext>
                  </a:extLst>
                </a:gridCol>
                <a:gridCol w="3754014">
                  <a:extLst>
                    <a:ext uri="{9D8B030D-6E8A-4147-A177-3AD203B41FA5}">
                      <a16:colId xmlns:a16="http://schemas.microsoft.com/office/drawing/2014/main" val="3093558049"/>
                    </a:ext>
                  </a:extLst>
                </a:gridCol>
                <a:gridCol w="404644">
                  <a:extLst>
                    <a:ext uri="{9D8B030D-6E8A-4147-A177-3AD203B41FA5}">
                      <a16:colId xmlns:a16="http://schemas.microsoft.com/office/drawing/2014/main" val="320023064"/>
                    </a:ext>
                  </a:extLst>
                </a:gridCol>
                <a:gridCol w="404644">
                  <a:extLst>
                    <a:ext uri="{9D8B030D-6E8A-4147-A177-3AD203B41FA5}">
                      <a16:colId xmlns:a16="http://schemas.microsoft.com/office/drawing/2014/main" val="1426101900"/>
                    </a:ext>
                  </a:extLst>
                </a:gridCol>
                <a:gridCol w="404644">
                  <a:extLst>
                    <a:ext uri="{9D8B030D-6E8A-4147-A177-3AD203B41FA5}">
                      <a16:colId xmlns:a16="http://schemas.microsoft.com/office/drawing/2014/main" val="3689681127"/>
                    </a:ext>
                  </a:extLst>
                </a:gridCol>
                <a:gridCol w="404644">
                  <a:extLst>
                    <a:ext uri="{9D8B030D-6E8A-4147-A177-3AD203B41FA5}">
                      <a16:colId xmlns:a16="http://schemas.microsoft.com/office/drawing/2014/main" val="2083152798"/>
                    </a:ext>
                  </a:extLst>
                </a:gridCol>
                <a:gridCol w="404644">
                  <a:extLst>
                    <a:ext uri="{9D8B030D-6E8A-4147-A177-3AD203B41FA5}">
                      <a16:colId xmlns:a16="http://schemas.microsoft.com/office/drawing/2014/main" val="3966416640"/>
                    </a:ext>
                  </a:extLst>
                </a:gridCol>
                <a:gridCol w="404644">
                  <a:extLst>
                    <a:ext uri="{9D8B030D-6E8A-4147-A177-3AD203B41FA5}">
                      <a16:colId xmlns:a16="http://schemas.microsoft.com/office/drawing/2014/main" val="3189174259"/>
                    </a:ext>
                  </a:extLst>
                </a:gridCol>
                <a:gridCol w="404644">
                  <a:extLst>
                    <a:ext uri="{9D8B030D-6E8A-4147-A177-3AD203B41FA5}">
                      <a16:colId xmlns:a16="http://schemas.microsoft.com/office/drawing/2014/main" val="2611606897"/>
                    </a:ext>
                  </a:extLst>
                </a:gridCol>
                <a:gridCol w="404293">
                  <a:extLst>
                    <a:ext uri="{9D8B030D-6E8A-4147-A177-3AD203B41FA5}">
                      <a16:colId xmlns:a16="http://schemas.microsoft.com/office/drawing/2014/main" val="3124240647"/>
                    </a:ext>
                  </a:extLst>
                </a:gridCol>
              </a:tblGrid>
              <a:tr h="0">
                <a:tc rowSpan="2">
                  <a:txBody>
                    <a:bodyPr/>
                    <a:lstStyle/>
                    <a:p>
                      <a:pPr algn="ctr">
                        <a:spcBef>
                          <a:spcPts val="300"/>
                        </a:spcBef>
                      </a:pPr>
                      <a:r>
                        <a:rPr lang="en-US" sz="1200" b="1" i="0">
                          <a:solidFill>
                            <a:schemeClr val="bg1"/>
                          </a:solidFill>
                          <a:latin typeface="+mn-lt"/>
                          <a:cs typeface="Poppins" pitchFamily="2" charset="77"/>
                        </a:rPr>
                        <a:t>Tactic</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algn="ctr">
                        <a:spcBef>
                          <a:spcPts val="300"/>
                        </a:spcBef>
                      </a:pPr>
                      <a:r>
                        <a:rPr lang="en-US" sz="1200" b="1" i="0">
                          <a:solidFill>
                            <a:schemeClr val="bg1"/>
                          </a:solidFill>
                          <a:latin typeface="+mn-lt"/>
                          <a:cs typeface="Poppins" pitchFamily="2" charset="77"/>
                        </a:rPr>
                        <a:t>Gaps addressed</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lang="en-US" sz="1200" b="1" i="0">
                          <a:solidFill>
                            <a:schemeClr val="bg1"/>
                          </a:solidFill>
                          <a:latin typeface="+mn-lt"/>
                          <a:cs typeface="Poppins" pitchFamily="2" charset="77"/>
                        </a:rPr>
                        <a:t>Rationale and design considerations</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gridSpan="8">
                  <a:txBody>
                    <a:bodyPr/>
                    <a:lstStyle/>
                    <a:p>
                      <a:pPr algn="ctr">
                        <a:spcBef>
                          <a:spcPts val="300"/>
                        </a:spcBef>
                      </a:pPr>
                      <a:r>
                        <a:rPr lang="en-US" sz="1200" b="1" i="0">
                          <a:solidFill>
                            <a:schemeClr val="bg1"/>
                          </a:solidFill>
                          <a:latin typeface="+mn-lt"/>
                          <a:cs typeface="Poppins" pitchFamily="2" charset="77"/>
                        </a:rPr>
                        <a:t>Timing</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pPr algn="ctr">
                        <a:spcBef>
                          <a:spcPts val="300"/>
                        </a:spcBef>
                      </a:pP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2323510155"/>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spcBef>
                          <a:spcPts val="300"/>
                        </a:spcBef>
                      </a:pPr>
                      <a:r>
                        <a:rPr lang="en-US" sz="1000" b="1" i="0">
                          <a:solidFill>
                            <a:schemeClr val="bg1"/>
                          </a:solidFill>
                          <a:latin typeface="+mn-lt"/>
                          <a:cs typeface="Poppins" pitchFamily="2" charset="77"/>
                        </a:rPr>
                        <a:t>2026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2027</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2028</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2029</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2030</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2031</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2032</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2033+</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1184289703"/>
                  </a:ext>
                </a:extLst>
              </a:tr>
              <a:tr h="0">
                <a:tc>
                  <a:txBody>
                    <a:bodyPr/>
                    <a:lstStyle/>
                    <a:p>
                      <a:pPr marL="0" indent="0" algn="l">
                        <a:spcBef>
                          <a:spcPts val="300"/>
                        </a:spcBef>
                        <a:buFont typeface="Arial" panose="020B0604020202020204" pitchFamily="34" charset="0"/>
                        <a:buNone/>
                      </a:pPr>
                      <a:r>
                        <a:rPr lang="en-US" sz="1000" b="0" i="0">
                          <a:solidFill>
                            <a:schemeClr val="tx1"/>
                          </a:solidFill>
                          <a:latin typeface="+mn-lt"/>
                          <a:cs typeface="Poppins" pitchFamily="2" charset="77"/>
                        </a:rPr>
                        <a:t>33. Comparative IIT exploring safety / efficacy vs. emerging therapies</a:t>
                      </a:r>
                    </a:p>
                    <a:p>
                      <a:pPr marL="0" indent="0" algn="l">
                        <a:spcBef>
                          <a:spcPts val="300"/>
                        </a:spcBef>
                        <a:buFont typeface="Arial" panose="020B0604020202020204" pitchFamily="34" charset="0"/>
                        <a:buNone/>
                      </a:pPr>
                      <a:endParaRPr lang="en-US" sz="1000" b="0" i="0">
                        <a:solidFill>
                          <a:schemeClr val="tx1"/>
                        </a:solidFill>
                        <a:latin typeface="+mn-lt"/>
                        <a:cs typeface="Poppins" pitchFamily="2" charset="77"/>
                      </a:endParaRPr>
                    </a:p>
                    <a:p>
                      <a:pPr marL="0" indent="0" algn="l">
                        <a:spcBef>
                          <a:spcPts val="300"/>
                        </a:spcBef>
                        <a:buFont typeface="Arial" panose="020B0604020202020204" pitchFamily="34" charset="0"/>
                        <a:buNone/>
                      </a:pPr>
                      <a:r>
                        <a:rPr lang="en-US" sz="1000" b="1" i="0">
                          <a:solidFill>
                            <a:schemeClr val="tx1"/>
                          </a:solidFill>
                          <a:latin typeface="+mn-lt"/>
                          <a:cs typeface="Poppins" pitchFamily="2" charset="77"/>
                        </a:rPr>
                        <a:t>Lead:</a:t>
                      </a:r>
                      <a:r>
                        <a:rPr lang="en-US" sz="1000" b="0" i="0">
                          <a:solidFill>
                            <a:schemeClr val="tx1"/>
                          </a:solidFill>
                          <a:latin typeface="+mn-lt"/>
                          <a:cs typeface="Poppins" pitchFamily="2" charset="77"/>
                        </a:rPr>
                        <a:t> Medical</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2D1D9"/>
                    </a:solidFill>
                  </a:tcPr>
                </a:tc>
                <a:tc>
                  <a:txBody>
                    <a:bodyPr/>
                    <a:lstStyle/>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1" i="0">
                          <a:solidFill>
                            <a:schemeClr val="tx1"/>
                          </a:solidFill>
                          <a:latin typeface="+mn-lt"/>
                          <a:cs typeface="Poppins"/>
                          <a:hlinkClick r:id="rId4" action="ppaction://hlinksldjump">
                            <a:extLst>
                              <a:ext uri="{A12FA001-AC4F-418D-AE19-62706E023703}">
                                <ahyp:hlinkClr xmlns:ahyp="http://schemas.microsoft.com/office/drawing/2018/hyperlinkcolor" val="tx"/>
                              </a:ext>
                            </a:extLst>
                          </a:hlinkClick>
                        </a:rPr>
                        <a:t>NSCLC_HI_05</a:t>
                      </a:r>
                      <a:r>
                        <a:rPr lang="en-US" sz="1000" b="0" i="0">
                          <a:solidFill>
                            <a:schemeClr val="tx1"/>
                          </a:solidFill>
                          <a:latin typeface="+mn-lt"/>
                          <a:cs typeface="Poppins"/>
                        </a:rPr>
                        <a:t>: BGB-58067's efficacy and toxicity profile in MTAP-del population compared to emerging MTA-cooperative PRMT5i, and other SoC</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mn-lt"/>
                          <a:cs typeface="Poppins" pitchFamily="2" charset="77"/>
                        </a:rPr>
                        <a:t>Design considerations:</a:t>
                      </a:r>
                      <a:endParaRPr kumimoji="0" lang="en-US" sz="1000" b="0" i="0" u="none" strike="noStrike" kern="1200" cap="none" spc="0" normalizeH="0" baseline="0" noProof="0">
                        <a:ln>
                          <a:noFill/>
                        </a:ln>
                        <a:solidFill>
                          <a:schemeClr val="tx1"/>
                        </a:solidFill>
                        <a:effectLst/>
                        <a:uLnTx/>
                        <a:uFillTx/>
                        <a:latin typeface="+mn-lt"/>
                        <a:cs typeface="Poppins" pitchFamily="2" charset="77"/>
                      </a:endParaRP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Design dependent on SoC and emerging PRMT5i by the time of launch (e.g., </a:t>
                      </a:r>
                      <a:r>
                        <a:rPr kumimoji="0" lang="en-US" sz="1000" b="0" i="0" u="none" strike="noStrike" kern="1200" cap="none" spc="0" normalizeH="0" baseline="0" noProof="0" err="1">
                          <a:ln>
                            <a:noFill/>
                          </a:ln>
                          <a:solidFill>
                            <a:schemeClr val="tx1"/>
                          </a:solidFill>
                          <a:effectLst/>
                          <a:uLnTx/>
                          <a:uFillTx/>
                          <a:latin typeface="+mn-lt"/>
                          <a:cs typeface="Poppins" pitchFamily="2" charset="77"/>
                        </a:rPr>
                        <a:t>ivonescimab</a:t>
                      </a:r>
                      <a:r>
                        <a:rPr kumimoji="0" lang="en-US" sz="1000" b="0" i="0" u="none" strike="noStrike" kern="1200" cap="none" spc="0" normalizeH="0" baseline="0" noProof="0">
                          <a:ln>
                            <a:noFill/>
                          </a:ln>
                          <a:solidFill>
                            <a:schemeClr val="tx1"/>
                          </a:solidFill>
                          <a:effectLst/>
                          <a:uLnTx/>
                          <a:uFillTx/>
                          <a:latin typeface="+mn-lt"/>
                          <a:cs typeface="Poppins" pitchFamily="2" charset="77"/>
                        </a:rPr>
                        <a:t>, </a:t>
                      </a:r>
                      <a:r>
                        <a:rPr kumimoji="0" lang="en-US" sz="1000" b="0" i="0" u="none" strike="noStrike" kern="1200" cap="none" spc="0" normalizeH="0" baseline="0" noProof="0" err="1">
                          <a:ln>
                            <a:noFill/>
                          </a:ln>
                          <a:solidFill>
                            <a:schemeClr val="tx1"/>
                          </a:solidFill>
                          <a:effectLst/>
                          <a:uLnTx/>
                          <a:uFillTx/>
                          <a:latin typeface="+mn-lt"/>
                          <a:cs typeface="Poppins" pitchFamily="2" charset="77"/>
                        </a:rPr>
                        <a:t>dato-DXd</a:t>
                      </a:r>
                      <a:r>
                        <a:rPr kumimoji="0" lang="en-US" sz="1000" b="0" i="0" u="none" strike="noStrike" kern="1200" cap="none" spc="0" normalizeH="0" baseline="0" noProof="0">
                          <a:ln>
                            <a:noFill/>
                          </a:ln>
                          <a:solidFill>
                            <a:schemeClr val="tx1"/>
                          </a:solidFill>
                          <a:effectLst/>
                          <a:uLnTx/>
                          <a:uFillTx/>
                          <a:latin typeface="+mn-lt"/>
                          <a:cs typeface="Poppins" pitchFamily="2" charset="77"/>
                        </a:rPr>
                        <a:t>, BMS-986504, </a:t>
                      </a:r>
                      <a:r>
                        <a:rPr kumimoji="0" lang="en-US" sz="1000" b="0" i="0" u="none" strike="noStrike" kern="1200" cap="none" spc="0" normalizeH="0" baseline="0" noProof="0" err="1">
                          <a:ln>
                            <a:noFill/>
                          </a:ln>
                          <a:solidFill>
                            <a:schemeClr val="tx1"/>
                          </a:solidFill>
                          <a:effectLst/>
                          <a:uLnTx/>
                          <a:uFillTx/>
                          <a:latin typeface="+mn-lt"/>
                          <a:cs typeface="Poppins" pitchFamily="2" charset="77"/>
                        </a:rPr>
                        <a:t>vopimetostat</a:t>
                      </a:r>
                      <a:r>
                        <a:rPr kumimoji="0" lang="en-US" sz="1000" b="0" i="0" u="none" strike="noStrike" kern="1200" cap="none" spc="0" normalizeH="0" baseline="0" noProof="0">
                          <a:ln>
                            <a:noFill/>
                          </a:ln>
                          <a:solidFill>
                            <a:schemeClr val="tx1"/>
                          </a:solidFill>
                          <a:effectLst/>
                          <a:uLnTx/>
                          <a:uFillTx/>
                          <a:latin typeface="+mn-lt"/>
                          <a:cs typeface="Poppins" pitchFamily="2" charset="77"/>
                        </a:rPr>
                        <a:t> in 1L and 2L+ settings; N-803+ </a:t>
                      </a:r>
                      <a:r>
                        <a:rPr kumimoji="0" lang="en-US" sz="1000" b="0" i="0" u="none" strike="noStrike" kern="1200" cap="none" spc="0" normalizeH="0" baseline="0" noProof="0" err="1">
                          <a:ln>
                            <a:noFill/>
                          </a:ln>
                          <a:solidFill>
                            <a:schemeClr val="tx1"/>
                          </a:solidFill>
                          <a:effectLst/>
                          <a:uLnTx/>
                          <a:uFillTx/>
                          <a:latin typeface="+mn-lt"/>
                          <a:cs typeface="Poppins" pitchFamily="2" charset="77"/>
                        </a:rPr>
                        <a:t>tisle</a:t>
                      </a:r>
                      <a:r>
                        <a:rPr kumimoji="0" lang="en-US" sz="1000" b="0" i="0" u="none" strike="noStrike" kern="1200" cap="none" spc="0" normalizeH="0" baseline="0" noProof="0">
                          <a:ln>
                            <a:noFill/>
                          </a:ln>
                          <a:solidFill>
                            <a:schemeClr val="tx1"/>
                          </a:solidFill>
                          <a:effectLst/>
                          <a:uLnTx/>
                          <a:uFillTx/>
                          <a:latin typeface="+mn-lt"/>
                          <a:cs typeface="Poppins" pitchFamily="2" charset="77"/>
                        </a:rPr>
                        <a:t> and IBI363 in 2L+ settings only)</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IIT necessity and design may be further informed from ITC and RWE study insights </a:t>
                      </a:r>
                    </a:p>
                    <a:p>
                      <a:pPr marL="171450" marR="0" lvl="0" indent="-171450" algn="l" defTabSz="914400" rtl="0" eaLnBrk="1" fontAlgn="auto" latinLnBrk="0" hangingPunct="1">
                        <a:lnSpc>
                          <a:spcPct val="100000"/>
                        </a:lnSpc>
                        <a:spcBef>
                          <a:spcPts val="300"/>
                        </a:spcBef>
                        <a:spcAft>
                          <a:spcPts val="0"/>
                        </a:spcAft>
                        <a:buClr>
                          <a:schemeClr val="tx2"/>
                        </a:buClr>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cs typeface="Poppins" pitchFamily="2" charset="77"/>
                        </a:rPr>
                        <a:t>Potential to leverage cooperative group or academic network trials involving multiple companies’ marketed assets under separate agreements</a:t>
                      </a:r>
                      <a:endParaRPr kumimoji="0" lang="en-US" sz="1000" b="0" i="0" u="none" strike="noStrike" kern="1200" cap="none" spc="0" normalizeH="0" baseline="0" noProof="0">
                        <a:ln>
                          <a:noFill/>
                        </a:ln>
                        <a:solidFill>
                          <a:schemeClr val="tx1"/>
                        </a:solidFill>
                        <a:effectLst/>
                        <a:highlight>
                          <a:srgbClr val="FFFF00"/>
                        </a:highlight>
                        <a:uLnTx/>
                        <a:uFillTx/>
                        <a:latin typeface="+mn-lt"/>
                        <a:cs typeface="Poppins" pitchFamily="2" charset="77"/>
                      </a:endParaRP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48992036"/>
                  </a:ext>
                </a:extLst>
              </a:tr>
              <a:tr h="0">
                <a:tc>
                  <a:txBody>
                    <a:bodyPr/>
                    <a:lstStyle/>
                    <a:p>
                      <a:pPr algn="l">
                        <a:spcBef>
                          <a:spcPts val="300"/>
                        </a:spcBef>
                      </a:pPr>
                      <a:r>
                        <a:rPr lang="en-US" sz="1000" b="0" i="0">
                          <a:solidFill>
                            <a:schemeClr val="tx1"/>
                          </a:solidFill>
                          <a:latin typeface="+mn-lt"/>
                          <a:cs typeface="Poppins" pitchFamily="2" charset="77"/>
                        </a:rPr>
                        <a:t>34. Bridging studies</a:t>
                      </a:r>
                    </a:p>
                    <a:p>
                      <a:pPr algn="l">
                        <a:spcBef>
                          <a:spcPts val="300"/>
                        </a:spcBef>
                      </a:pPr>
                      <a:endParaRPr lang="en-US" sz="1000" b="0" i="0">
                        <a:solidFill>
                          <a:schemeClr val="tx1"/>
                        </a:solidFill>
                        <a:latin typeface="+mn-lt"/>
                        <a:cs typeface="Poppins" pitchFamily="2" charset="77"/>
                      </a:endParaRPr>
                    </a:p>
                    <a:p>
                      <a:pPr algn="l">
                        <a:spcBef>
                          <a:spcPts val="300"/>
                        </a:spcBef>
                      </a:pPr>
                      <a:r>
                        <a:rPr lang="en-US" sz="1000" b="1" i="0">
                          <a:solidFill>
                            <a:schemeClr val="tx1"/>
                          </a:solidFill>
                          <a:latin typeface="+mn-lt"/>
                          <a:cs typeface="Poppins" pitchFamily="2" charset="77"/>
                        </a:rPr>
                        <a:t>Lead: </a:t>
                      </a:r>
                      <a:r>
                        <a:rPr lang="en-US" sz="1000" b="0" i="0">
                          <a:solidFill>
                            <a:schemeClr val="tx1"/>
                          </a:solidFill>
                          <a:latin typeface="+mn-lt"/>
                          <a:cs typeface="Poppins" pitchFamily="2" charset="77"/>
                        </a:rPr>
                        <a:t>Medical</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indent="-171450" algn="l" defTabSz="914400" rtl="0" eaLnBrk="1" latinLnBrk="0" hangingPunct="1">
                        <a:spcBef>
                          <a:spcPts val="300"/>
                        </a:spcBef>
                        <a:buFont typeface="Arial" panose="020B0604020202020204" pitchFamily="34" charset="0"/>
                        <a:buChar char="•"/>
                      </a:pPr>
                      <a:r>
                        <a:rPr lang="en-US" sz="1000" b="1" i="0" kern="1200">
                          <a:solidFill>
                            <a:schemeClr val="tx1"/>
                          </a:solidFill>
                          <a:latin typeface="+mn-lt"/>
                          <a:ea typeface="+mn-ea"/>
                          <a:cs typeface="Poppins"/>
                          <a:hlinkClick r:id="rId4" action="ppaction://hlinksldjump">
                            <a:extLst>
                              <a:ext uri="{A12FA001-AC4F-418D-AE19-62706E023703}">
                                <ahyp:hlinkClr xmlns:ahyp="http://schemas.microsoft.com/office/drawing/2018/hyperlinkcolor" val="tx"/>
                              </a:ext>
                            </a:extLst>
                          </a:hlinkClick>
                        </a:rPr>
                        <a:t>NSCLC_HI_04</a:t>
                      </a:r>
                      <a:r>
                        <a:rPr lang="en-US" sz="1000" b="0" i="0" kern="1200">
                          <a:solidFill>
                            <a:schemeClr val="tx1"/>
                          </a:solidFill>
                          <a:latin typeface="+mn-lt"/>
                          <a:ea typeface="+mn-ea"/>
                          <a:cs typeface="Poppins"/>
                        </a:rPr>
                        <a:t>:</a:t>
                      </a:r>
                      <a:r>
                        <a:rPr lang="en-US" sz="1000" b="1" i="0" kern="1200">
                          <a:solidFill>
                            <a:schemeClr val="tx1"/>
                          </a:solidFill>
                          <a:latin typeface="+mn-lt"/>
                          <a:ea typeface="+mn-ea"/>
                          <a:cs typeface="Poppins"/>
                        </a:rPr>
                        <a:t> </a:t>
                      </a:r>
                      <a:r>
                        <a:rPr lang="en-US" sz="1000" b="0" i="0" kern="1200">
                          <a:solidFill>
                            <a:schemeClr val="tx1"/>
                          </a:solidFill>
                          <a:latin typeface="+mn-lt"/>
                          <a:ea typeface="+mn-ea"/>
                          <a:cs typeface="Poppins"/>
                        </a:rPr>
                        <a:t>BGB-58067's clinical efficacy and safety across  prespecified subgroups (i.e.. patient race/ ethnicity, PD-L1, histology, and geographies, lines of therapy)</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r>
                        <a:rPr lang="en-US" sz="1000" b="1" i="0" u="none" strike="noStrike" kern="1200" noProof="0">
                          <a:solidFill>
                            <a:schemeClr val="tx1"/>
                          </a:solidFill>
                          <a:effectLst/>
                          <a:latin typeface="+mn-lt"/>
                          <a:ea typeface="+mn-ea"/>
                          <a:cs typeface="Poppins"/>
                        </a:rPr>
                        <a:t>Design considerations:</a:t>
                      </a:r>
                    </a:p>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a:solidFill>
                            <a:schemeClr val="tx1"/>
                          </a:solidFill>
                          <a:latin typeface="+mn-lt"/>
                        </a:rPr>
                        <a:t>The necessity of bridging studies / expansion cohorts is gated to local enrollment in the pivotal trial </a:t>
                      </a:r>
                    </a:p>
                    <a:p>
                      <a:pPr marL="628650" marR="0" lvl="1"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a:solidFill>
                            <a:schemeClr val="tx1"/>
                          </a:solidFill>
                          <a:latin typeface="+mn-lt"/>
                        </a:rPr>
                        <a:t>Consultation with relevant regulatory authorities (e.g., PMDA) may be needed to determine whether local enrollment is sufficient</a:t>
                      </a:r>
                    </a:p>
                    <a:p>
                      <a:pPr marL="171450" lvl="0" indent="-171450">
                        <a:spcBef>
                          <a:spcPts val="300"/>
                        </a:spcBef>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Potential for extension study from safety lead-in cohort </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37459791"/>
                  </a:ext>
                </a:extLst>
              </a:tr>
            </a:tbl>
          </a:graphicData>
        </a:graphic>
      </p:graphicFrame>
      <p:graphicFrame>
        <p:nvGraphicFramePr>
          <p:cNvPr id="5" name="think-cell data - do not delete" hidden="1">
            <a:extLst>
              <a:ext uri="{FF2B5EF4-FFF2-40B4-BE49-F238E27FC236}">
                <a16:creationId xmlns:a16="http://schemas.microsoft.com/office/drawing/2014/main" id="{7D420212-06DA-87CA-1AFA-A9FC5B6C8AD6}"/>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6" progId="TCLayout.ActiveDocument.1">
                  <p:embed/>
                </p:oleObj>
              </mc:Choice>
              <mc:Fallback>
                <p:oleObj name="think-cell Slide" r:id="rId5" imgW="395" imgH="396" progId="TCLayout.ActiveDocument.1">
                  <p:embed/>
                  <p:pic>
                    <p:nvPicPr>
                      <p:cNvPr id="5" name="think-cell data - do not delete" hidden="1">
                        <a:extLst>
                          <a:ext uri="{FF2B5EF4-FFF2-40B4-BE49-F238E27FC236}">
                            <a16:creationId xmlns:a16="http://schemas.microsoft.com/office/drawing/2014/main" id="{7D420212-06DA-87CA-1AFA-A9FC5B6C8AD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0" name="Title 19">
            <a:extLst>
              <a:ext uri="{FF2B5EF4-FFF2-40B4-BE49-F238E27FC236}">
                <a16:creationId xmlns:a16="http://schemas.microsoft.com/office/drawing/2014/main" id="{7FFFB641-368F-EE94-B478-45EFB52BA4CB}"/>
              </a:ext>
            </a:extLst>
          </p:cNvPr>
          <p:cNvSpPr>
            <a:spLocks noGrp="1"/>
          </p:cNvSpPr>
          <p:nvPr>
            <p:ph type="title"/>
          </p:nvPr>
        </p:nvSpPr>
        <p:spPr>
          <a:xfrm>
            <a:off x="358337" y="338328"/>
            <a:ext cx="11470125" cy="738664"/>
          </a:xfrm>
        </p:spPr>
        <p:txBody>
          <a:bodyPr vert="horz" rIns="0">
            <a:spAutoFit/>
          </a:bodyPr>
          <a:lstStyle/>
          <a:p>
            <a:r>
              <a:rPr lang="en-US" sz="2400">
                <a:solidFill>
                  <a:schemeClr val="accent3"/>
                </a:solidFill>
              </a:rPr>
              <a:t>Fourteen </a:t>
            </a:r>
            <a:r>
              <a:rPr lang="en-US" sz="2400" b="1">
                <a:solidFill>
                  <a:srgbClr val="7CB0BE"/>
                </a:solidFill>
              </a:rPr>
              <a:t>IIT programs</a:t>
            </a:r>
            <a:r>
              <a:rPr lang="en-US" sz="2400"/>
              <a:t> expand evidence generation beyond the registrational program (5/5)</a:t>
            </a:r>
            <a:endParaRPr lang="en-US" sz="2400">
              <a:highlight>
                <a:srgbClr val="FFFF00"/>
              </a:highlight>
            </a:endParaRPr>
          </a:p>
        </p:txBody>
      </p:sp>
      <p:sp>
        <p:nvSpPr>
          <p:cNvPr id="26" name="Arrow: Pentagon 25">
            <a:extLst>
              <a:ext uri="{FF2B5EF4-FFF2-40B4-BE49-F238E27FC236}">
                <a16:creationId xmlns:a16="http://schemas.microsoft.com/office/drawing/2014/main" id="{E604FA34-2BB4-60A6-FE37-CD3552A3B4A9}"/>
              </a:ext>
            </a:extLst>
          </p:cNvPr>
          <p:cNvSpPr/>
          <p:nvPr/>
        </p:nvSpPr>
        <p:spPr>
          <a:xfrm>
            <a:off x="11193516" y="2407743"/>
            <a:ext cx="634939" cy="388620"/>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33" name="Rectangle 32">
            <a:extLst>
              <a:ext uri="{FF2B5EF4-FFF2-40B4-BE49-F238E27FC236}">
                <a16:creationId xmlns:a16="http://schemas.microsoft.com/office/drawing/2014/main" id="{2D1A1882-80CB-0B9B-8949-B02B49EC3E2C}"/>
              </a:ext>
            </a:extLst>
          </p:cNvPr>
          <p:cNvSpPr/>
          <p:nvPr/>
        </p:nvSpPr>
        <p:spPr>
          <a:xfrm>
            <a:off x="9476257" y="2407743"/>
            <a:ext cx="1745547" cy="388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r>
              <a:rPr lang="en-US" sz="900" b="1">
                <a:solidFill>
                  <a:schemeClr val="tx1"/>
                </a:solidFill>
              </a:rPr>
              <a:t>Start: </a:t>
            </a:r>
            <a:r>
              <a:rPr lang="en-US" sz="900">
                <a:solidFill>
                  <a:schemeClr val="tx1"/>
                </a:solidFill>
              </a:rPr>
              <a:t>Dependent on comparative ITC readout</a:t>
            </a:r>
          </a:p>
        </p:txBody>
      </p:sp>
      <p:sp>
        <p:nvSpPr>
          <p:cNvPr id="23" name="Footer Placeholder 2">
            <a:extLst>
              <a:ext uri="{FF2B5EF4-FFF2-40B4-BE49-F238E27FC236}">
                <a16:creationId xmlns:a16="http://schemas.microsoft.com/office/drawing/2014/main" id="{488A1184-5288-D0D3-F664-857FE87346E5}"/>
              </a:ext>
            </a:extLst>
          </p:cNvPr>
          <p:cNvSpPr>
            <a:spLocks noGrp="1"/>
          </p:cNvSpPr>
          <p:nvPr>
            <p:ph type="ftr" sz="quarter" idx="10"/>
          </p:nvPr>
        </p:nvSpPr>
        <p:spPr>
          <a:xfrm>
            <a:off x="328864" y="6285180"/>
            <a:ext cx="5681293" cy="526584"/>
          </a:xfrm>
        </p:spPr>
        <p:txBody>
          <a:bodyPr/>
          <a:lstStyle/>
          <a:p>
            <a:pPr>
              <a:defRPr/>
            </a:pPr>
            <a:r>
              <a:rPr lang="en-US">
                <a:solidFill>
                  <a:srgbClr val="000000">
                    <a:lumMod val="65000"/>
                    <a:lumOff val="35000"/>
                  </a:srgbClr>
                </a:solidFill>
              </a:rPr>
              <a:t>Note: Timeline for when IIT programs have access to BGB-58067 will impact study initiation; Abbreviations: </a:t>
            </a:r>
            <a:r>
              <a:rPr lang="en-US"/>
              <a:t>DRO: Data Readout; HI: High Priority; IIT: Investigator-Initiated Trial; ITC: Indirect Treatment Comparison; MTA: </a:t>
            </a:r>
            <a:r>
              <a:rPr lang="en-US" err="1"/>
              <a:t>Methylthioadenosine</a:t>
            </a:r>
            <a:r>
              <a:rPr lang="en-US"/>
              <a:t>; MTAP: </a:t>
            </a:r>
            <a:r>
              <a:rPr lang="en-US" err="1"/>
              <a:t>Methylthioadenosine</a:t>
            </a:r>
            <a:r>
              <a:rPr lang="en-US"/>
              <a:t> Phosphorylase; NSCLC: Non-Small Cell Lung Cancer; PD-L1: Programmed Death-Ligand 1; PMDA: Pharmaceuticals and Medical Devices Agency; PRMT5i: Protein Arginine Methyltransferase 5 Inhibitor; RWE: Real-World Evidence; SoC: Standard of Care</a:t>
            </a:r>
          </a:p>
        </p:txBody>
      </p:sp>
      <p:sp>
        <p:nvSpPr>
          <p:cNvPr id="25" name="Rectangle 24">
            <a:extLst>
              <a:ext uri="{FF2B5EF4-FFF2-40B4-BE49-F238E27FC236}">
                <a16:creationId xmlns:a16="http://schemas.microsoft.com/office/drawing/2014/main" id="{8D2BC212-42FD-B90D-BC7A-DDDEC8081191}"/>
              </a:ext>
            </a:extLst>
          </p:cNvPr>
          <p:cNvSpPr/>
          <p:nvPr/>
        </p:nvSpPr>
        <p:spPr>
          <a:xfrm>
            <a:off x="8765796" y="6280266"/>
            <a:ext cx="2242113" cy="3342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92500" lnSpcReduction="10000"/>
          </a:bodyPr>
          <a:lstStyle/>
          <a:p>
            <a:pPr algn="ctr"/>
            <a:endParaRPr lang="en-US" err="1">
              <a:solidFill>
                <a:schemeClr val="bg1"/>
              </a:solidFill>
            </a:endParaRPr>
          </a:p>
        </p:txBody>
      </p:sp>
      <p:grpSp>
        <p:nvGrpSpPr>
          <p:cNvPr id="27" name="Group 26">
            <a:extLst>
              <a:ext uri="{FF2B5EF4-FFF2-40B4-BE49-F238E27FC236}">
                <a16:creationId xmlns:a16="http://schemas.microsoft.com/office/drawing/2014/main" id="{36FFD86C-B139-40FD-C7C4-B3ED7A1EA4BF}"/>
              </a:ext>
            </a:extLst>
          </p:cNvPr>
          <p:cNvGrpSpPr/>
          <p:nvPr/>
        </p:nvGrpSpPr>
        <p:grpSpPr>
          <a:xfrm>
            <a:off x="8025100" y="6327114"/>
            <a:ext cx="3279572" cy="319473"/>
            <a:chOff x="8676947" y="6306366"/>
            <a:chExt cx="3279572" cy="319473"/>
          </a:xfrm>
        </p:grpSpPr>
        <p:sp>
          <p:nvSpPr>
            <p:cNvPr id="34" name="TextBox 33">
              <a:extLst>
                <a:ext uri="{FF2B5EF4-FFF2-40B4-BE49-F238E27FC236}">
                  <a16:creationId xmlns:a16="http://schemas.microsoft.com/office/drawing/2014/main" id="{E12AC84E-241B-8550-CEF8-41061A91D36B}"/>
                </a:ext>
              </a:extLst>
            </p:cNvPr>
            <p:cNvSpPr txBox="1"/>
            <p:nvPr/>
          </p:nvSpPr>
          <p:spPr>
            <a:xfrm>
              <a:off x="8676947" y="6318062"/>
              <a:ext cx="470764" cy="307777"/>
            </a:xfrm>
            <a:prstGeom prst="rect">
              <a:avLst/>
            </a:prstGeom>
            <a:noFill/>
          </p:spPr>
          <p:txBody>
            <a:bodyPr wrap="square" lIns="91440" tIns="91440" rIns="91440" bIns="91440"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Poppins"/>
                  <a:ea typeface="+mn-ea"/>
                  <a:cs typeface="+mn-cs"/>
                </a:rPr>
                <a:t>Key:</a:t>
              </a:r>
            </a:p>
          </p:txBody>
        </p:sp>
        <p:grpSp>
          <p:nvGrpSpPr>
            <p:cNvPr id="35" name="Group 34">
              <a:extLst>
                <a:ext uri="{FF2B5EF4-FFF2-40B4-BE49-F238E27FC236}">
                  <a16:creationId xmlns:a16="http://schemas.microsoft.com/office/drawing/2014/main" id="{39067201-B52D-C584-A44A-D826E6DF7562}"/>
                </a:ext>
              </a:extLst>
            </p:cNvPr>
            <p:cNvGrpSpPr/>
            <p:nvPr/>
          </p:nvGrpSpPr>
          <p:grpSpPr>
            <a:xfrm>
              <a:off x="8743681" y="6306366"/>
              <a:ext cx="3212838" cy="307777"/>
              <a:chOff x="6686281" y="6344466"/>
              <a:chExt cx="3212838" cy="307777"/>
            </a:xfrm>
          </p:grpSpPr>
          <p:sp>
            <p:nvSpPr>
              <p:cNvPr id="36" name="Diamond 35">
                <a:extLst>
                  <a:ext uri="{FF2B5EF4-FFF2-40B4-BE49-F238E27FC236}">
                    <a16:creationId xmlns:a16="http://schemas.microsoft.com/office/drawing/2014/main" id="{25AAE73B-8CBF-78D6-EF20-EF42F6D1A9F9}"/>
                  </a:ext>
                </a:extLst>
              </p:cNvPr>
              <p:cNvSpPr/>
              <p:nvPr/>
            </p:nvSpPr>
            <p:spPr>
              <a:xfrm>
                <a:off x="8778716" y="6409851"/>
                <a:ext cx="175330" cy="177007"/>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37" name="TextBox 36">
                <a:extLst>
                  <a:ext uri="{FF2B5EF4-FFF2-40B4-BE49-F238E27FC236}">
                    <a16:creationId xmlns:a16="http://schemas.microsoft.com/office/drawing/2014/main" id="{AFDC934E-6785-09A0-69B7-1430130B3864}"/>
                  </a:ext>
                </a:extLst>
              </p:cNvPr>
              <p:cNvSpPr txBox="1"/>
              <p:nvPr/>
            </p:nvSpPr>
            <p:spPr>
              <a:xfrm>
                <a:off x="8910524" y="6344466"/>
                <a:ext cx="988595"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Milestone</a:t>
                </a:r>
              </a:p>
            </p:txBody>
          </p:sp>
          <p:sp>
            <p:nvSpPr>
              <p:cNvPr id="38" name="TextBox 37">
                <a:extLst>
                  <a:ext uri="{FF2B5EF4-FFF2-40B4-BE49-F238E27FC236}">
                    <a16:creationId xmlns:a16="http://schemas.microsoft.com/office/drawing/2014/main" id="{3A810F17-B73E-96E8-0205-1D09413AB2A3}"/>
                  </a:ext>
                </a:extLst>
              </p:cNvPr>
              <p:cNvSpPr txBox="1"/>
              <p:nvPr/>
            </p:nvSpPr>
            <p:spPr>
              <a:xfrm>
                <a:off x="7292815" y="6344466"/>
                <a:ext cx="1632109"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Start of study to </a:t>
                </a:r>
                <a:r>
                  <a:rPr kumimoji="0" lang="en-US" sz="800" b="0" i="0" u="none" strike="noStrike" kern="1200" cap="none" spc="0" normalizeH="0" baseline="0" noProof="0" err="1">
                    <a:ln>
                      <a:noFill/>
                    </a:ln>
                    <a:solidFill>
                      <a:srgbClr val="000000"/>
                    </a:solidFill>
                    <a:effectLst/>
                    <a:uLnTx/>
                    <a:uFillTx/>
                    <a:latin typeface="Poppins"/>
                    <a:ea typeface="+mn-ea"/>
                    <a:cs typeface="+mn-cs"/>
                  </a:rPr>
                  <a:t>en</a:t>
                </a:r>
                <a:r>
                  <a:rPr lang="en-US" sz="800">
                    <a:solidFill>
                      <a:srgbClr val="000000"/>
                    </a:solidFill>
                    <a:latin typeface="Poppins"/>
                  </a:rPr>
                  <a:t>d/DRO</a:t>
                </a:r>
                <a:endParaRPr kumimoji="0" 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39" name="Arrow: Pentagon 38">
                <a:extLst>
                  <a:ext uri="{FF2B5EF4-FFF2-40B4-BE49-F238E27FC236}">
                    <a16:creationId xmlns:a16="http://schemas.microsoft.com/office/drawing/2014/main" id="{BEB06743-22D5-4D53-1183-7C1E84E68CC8}"/>
                  </a:ext>
                </a:extLst>
              </p:cNvPr>
              <p:cNvSpPr/>
              <p:nvPr/>
            </p:nvSpPr>
            <p:spPr>
              <a:xfrm>
                <a:off x="7133798" y="6422147"/>
                <a:ext cx="182880" cy="182880"/>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algn="ctr"/>
                <a:endParaRPr lang="en-US">
                  <a:solidFill>
                    <a:schemeClr val="bg1"/>
                  </a:solidFill>
                </a:endParaRPr>
              </a:p>
            </p:txBody>
          </p:sp>
          <p:sp>
            <p:nvSpPr>
              <p:cNvPr id="40" name="Rectangle: Rounded Corners 39">
                <a:extLst>
                  <a:ext uri="{FF2B5EF4-FFF2-40B4-BE49-F238E27FC236}">
                    <a16:creationId xmlns:a16="http://schemas.microsoft.com/office/drawing/2014/main" id="{74F4B52F-4552-76CC-2BD3-0D4D9DEF1171}"/>
                  </a:ext>
                </a:extLst>
              </p:cNvPr>
              <p:cNvSpPr/>
              <p:nvPr/>
            </p:nvSpPr>
            <p:spPr>
              <a:xfrm>
                <a:off x="6686281" y="6365302"/>
                <a:ext cx="2924444" cy="28150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algn="ctr"/>
                <a:endParaRPr lang="en-US">
                  <a:solidFill>
                    <a:schemeClr val="bg1"/>
                  </a:solidFill>
                </a:endParaRPr>
              </a:p>
            </p:txBody>
          </p:sp>
        </p:grpSp>
      </p:grpSp>
      <p:grpSp>
        <p:nvGrpSpPr>
          <p:cNvPr id="41" name="Group 40">
            <a:extLst>
              <a:ext uri="{FF2B5EF4-FFF2-40B4-BE49-F238E27FC236}">
                <a16:creationId xmlns:a16="http://schemas.microsoft.com/office/drawing/2014/main" id="{6ED64767-D399-7E7D-8157-67A6DBCB71F2}"/>
              </a:ext>
            </a:extLst>
          </p:cNvPr>
          <p:cNvGrpSpPr/>
          <p:nvPr/>
        </p:nvGrpSpPr>
        <p:grpSpPr>
          <a:xfrm>
            <a:off x="6044154" y="6332843"/>
            <a:ext cx="2001488" cy="395710"/>
            <a:chOff x="9984926" y="1221638"/>
            <a:chExt cx="2001488" cy="395710"/>
          </a:xfrm>
        </p:grpSpPr>
        <p:sp>
          <p:nvSpPr>
            <p:cNvPr id="42" name="Rectangle 41">
              <a:extLst>
                <a:ext uri="{FF2B5EF4-FFF2-40B4-BE49-F238E27FC236}">
                  <a16:creationId xmlns:a16="http://schemas.microsoft.com/office/drawing/2014/main" id="{B789C450-7B5A-60BF-6AAC-3073879B57E8}"/>
                </a:ext>
              </a:extLst>
            </p:cNvPr>
            <p:cNvSpPr/>
            <p:nvPr/>
          </p:nvSpPr>
          <p:spPr>
            <a:xfrm>
              <a:off x="10122616" y="1221638"/>
              <a:ext cx="1863798" cy="3957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800">
                  <a:solidFill>
                    <a:schemeClr val="tx1"/>
                  </a:solidFill>
                </a:rPr>
                <a:t>Click the </a:t>
              </a:r>
              <a:r>
                <a:rPr lang="en-US" sz="800" b="1">
                  <a:solidFill>
                    <a:schemeClr val="tx1"/>
                  </a:solidFill>
                </a:rPr>
                <a:t>gap  ID to return to gap overview</a:t>
              </a:r>
              <a:endParaRPr lang="en-US" sz="800">
                <a:solidFill>
                  <a:schemeClr val="tx1"/>
                </a:solidFill>
              </a:endParaRPr>
            </a:p>
          </p:txBody>
        </p:sp>
        <p:pic>
          <p:nvPicPr>
            <p:cNvPr id="43" name="Graphic 42" descr="Cursor with solid fill">
              <a:extLst>
                <a:ext uri="{FF2B5EF4-FFF2-40B4-BE49-F238E27FC236}">
                  <a16:creationId xmlns:a16="http://schemas.microsoft.com/office/drawing/2014/main" id="{7B35C4D5-FC59-88F8-DF00-3AB5920550E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984926" y="1302723"/>
              <a:ext cx="216000" cy="216000"/>
            </a:xfrm>
            <a:prstGeom prst="rect">
              <a:avLst/>
            </a:prstGeom>
          </p:spPr>
        </p:pic>
      </p:grpSp>
      <p:grpSp>
        <p:nvGrpSpPr>
          <p:cNvPr id="2" name="Group 1">
            <a:extLst>
              <a:ext uri="{FF2B5EF4-FFF2-40B4-BE49-F238E27FC236}">
                <a16:creationId xmlns:a16="http://schemas.microsoft.com/office/drawing/2014/main" id="{CEB939C3-72C6-AAA3-E6D5-DDC05853DD29}"/>
              </a:ext>
            </a:extLst>
          </p:cNvPr>
          <p:cNvGrpSpPr/>
          <p:nvPr/>
        </p:nvGrpSpPr>
        <p:grpSpPr>
          <a:xfrm>
            <a:off x="362743" y="10216"/>
            <a:ext cx="10042505" cy="252000"/>
            <a:chOff x="362743" y="10216"/>
            <a:chExt cx="10042505" cy="252000"/>
          </a:xfrm>
        </p:grpSpPr>
        <p:sp>
          <p:nvSpPr>
            <p:cNvPr id="4" name="Pentagon 47">
              <a:extLst>
                <a:ext uri="{FF2B5EF4-FFF2-40B4-BE49-F238E27FC236}">
                  <a16:creationId xmlns:a16="http://schemas.microsoft.com/office/drawing/2014/main" id="{10927526-2261-A4E1-EFEA-3F74D8A25931}"/>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6" name="Chevron 48">
              <a:extLst>
                <a:ext uri="{FF2B5EF4-FFF2-40B4-BE49-F238E27FC236}">
                  <a16:creationId xmlns:a16="http://schemas.microsoft.com/office/drawing/2014/main" id="{F2AC33C2-DEB8-F2EA-FECD-B68104B8877C}"/>
                </a:ext>
              </a:extLst>
            </p:cNvPr>
            <p:cNvSpPr/>
            <p:nvPr/>
          </p:nvSpPr>
          <p:spPr>
            <a:xfrm>
              <a:off x="5371087"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8" name="Chevron 52">
              <a:extLst>
                <a:ext uri="{FF2B5EF4-FFF2-40B4-BE49-F238E27FC236}">
                  <a16:creationId xmlns:a16="http://schemas.microsoft.com/office/drawing/2014/main" id="{0044D396-E24D-717D-52CE-15CAB822936A}"/>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9" name="Chevron 54">
              <a:extLst>
                <a:ext uri="{FF2B5EF4-FFF2-40B4-BE49-F238E27FC236}">
                  <a16:creationId xmlns:a16="http://schemas.microsoft.com/office/drawing/2014/main" id="{FDFBA32F-A672-92A5-DA54-6B656D2FCBA0}"/>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0" name="Chevron 48">
              <a:extLst>
                <a:ext uri="{FF2B5EF4-FFF2-40B4-BE49-F238E27FC236}">
                  <a16:creationId xmlns:a16="http://schemas.microsoft.com/office/drawing/2014/main" id="{094BEA97-C51C-BA3D-786C-035EF6D9BE2E}"/>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2" name="Chevron 48">
              <a:extLst>
                <a:ext uri="{FF2B5EF4-FFF2-40B4-BE49-F238E27FC236}">
                  <a16:creationId xmlns:a16="http://schemas.microsoft.com/office/drawing/2014/main" id="{7D88974A-5817-3E9A-E3CB-6AE91DEDA0B9}"/>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
        <p:nvSpPr>
          <p:cNvPr id="14" name="Arrow: Pentagon 13">
            <a:extLst>
              <a:ext uri="{FF2B5EF4-FFF2-40B4-BE49-F238E27FC236}">
                <a16:creationId xmlns:a16="http://schemas.microsoft.com/office/drawing/2014/main" id="{762F8F15-0430-1C28-21A5-6CF5B6A0A0B0}"/>
              </a:ext>
            </a:extLst>
          </p:cNvPr>
          <p:cNvSpPr/>
          <p:nvPr/>
        </p:nvSpPr>
        <p:spPr>
          <a:xfrm>
            <a:off x="10002621" y="3830592"/>
            <a:ext cx="1226764" cy="388620"/>
          </a:xfrm>
          <a:prstGeom prst="homePlate">
            <a:avLst/>
          </a:prstGeom>
          <a:solidFill>
            <a:srgbClr val="B2D1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16" name="Rectangle 15">
            <a:extLst>
              <a:ext uri="{FF2B5EF4-FFF2-40B4-BE49-F238E27FC236}">
                <a16:creationId xmlns:a16="http://schemas.microsoft.com/office/drawing/2014/main" id="{7E853712-6590-A858-7226-0A39D2679708}"/>
              </a:ext>
            </a:extLst>
          </p:cNvPr>
          <p:cNvSpPr/>
          <p:nvPr/>
        </p:nvSpPr>
        <p:spPr>
          <a:xfrm>
            <a:off x="9837681" y="4232428"/>
            <a:ext cx="1444254" cy="5687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r>
              <a:rPr lang="en-US" sz="900" b="1">
                <a:solidFill>
                  <a:schemeClr val="tx1"/>
                </a:solidFill>
              </a:rPr>
              <a:t>Start: </a:t>
            </a:r>
            <a:r>
              <a:rPr lang="en-US" sz="900">
                <a:solidFill>
                  <a:schemeClr val="tx1"/>
                </a:solidFill>
              </a:rPr>
              <a:t>Dependent on local pivotal trial enrollment</a:t>
            </a:r>
          </a:p>
        </p:txBody>
      </p:sp>
    </p:spTree>
    <p:extLst>
      <p:ext uri="{BB962C8B-B14F-4D97-AF65-F5344CB8AC3E}">
        <p14:creationId xmlns:p14="http://schemas.microsoft.com/office/powerpoint/2010/main" val="1178190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09B81-E9BD-4B40-356C-56998B5D0C47}"/>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069FDEDC-9477-985F-0858-75A933D5C164}"/>
              </a:ext>
            </a:extLst>
          </p:cNvPr>
          <p:cNvGraphicFramePr>
            <a:graphicFrameLocks noGrp="1"/>
          </p:cNvGraphicFramePr>
          <p:nvPr>
            <p:extLst>
              <p:ext uri="{D42A27DB-BD31-4B8C-83A1-F6EECF244321}">
                <p14:modId xmlns:p14="http://schemas.microsoft.com/office/powerpoint/2010/main" val="1379598631"/>
              </p:ext>
            </p:extLst>
          </p:nvPr>
        </p:nvGraphicFramePr>
        <p:xfrm>
          <a:off x="360936" y="1361960"/>
          <a:ext cx="11489285" cy="4474074"/>
        </p:xfrm>
        <a:graphic>
          <a:graphicData uri="http://schemas.openxmlformats.org/drawingml/2006/table">
            <a:tbl>
              <a:tblPr bandRow="1">
                <a:tableStyleId>{5C22544A-7EE6-4342-B048-85BDC9FD1C3A}</a:tableStyleId>
              </a:tblPr>
              <a:tblGrid>
                <a:gridCol w="1843653">
                  <a:extLst>
                    <a:ext uri="{9D8B030D-6E8A-4147-A177-3AD203B41FA5}">
                      <a16:colId xmlns:a16="http://schemas.microsoft.com/office/drawing/2014/main" val="1362236069"/>
                    </a:ext>
                  </a:extLst>
                </a:gridCol>
                <a:gridCol w="3291840">
                  <a:extLst>
                    <a:ext uri="{9D8B030D-6E8A-4147-A177-3AD203B41FA5}">
                      <a16:colId xmlns:a16="http://schemas.microsoft.com/office/drawing/2014/main" val="366937182"/>
                    </a:ext>
                  </a:extLst>
                </a:gridCol>
                <a:gridCol w="3108960">
                  <a:extLst>
                    <a:ext uri="{9D8B030D-6E8A-4147-A177-3AD203B41FA5}">
                      <a16:colId xmlns:a16="http://schemas.microsoft.com/office/drawing/2014/main" val="3093558049"/>
                    </a:ext>
                  </a:extLst>
                </a:gridCol>
                <a:gridCol w="405604">
                  <a:extLst>
                    <a:ext uri="{9D8B030D-6E8A-4147-A177-3AD203B41FA5}">
                      <a16:colId xmlns:a16="http://schemas.microsoft.com/office/drawing/2014/main" val="320023064"/>
                    </a:ext>
                  </a:extLst>
                </a:gridCol>
                <a:gridCol w="405604">
                  <a:extLst>
                    <a:ext uri="{9D8B030D-6E8A-4147-A177-3AD203B41FA5}">
                      <a16:colId xmlns:a16="http://schemas.microsoft.com/office/drawing/2014/main" val="1426101900"/>
                    </a:ext>
                  </a:extLst>
                </a:gridCol>
                <a:gridCol w="405604">
                  <a:extLst>
                    <a:ext uri="{9D8B030D-6E8A-4147-A177-3AD203B41FA5}">
                      <a16:colId xmlns:a16="http://schemas.microsoft.com/office/drawing/2014/main" val="3689681127"/>
                    </a:ext>
                  </a:extLst>
                </a:gridCol>
                <a:gridCol w="405604">
                  <a:extLst>
                    <a:ext uri="{9D8B030D-6E8A-4147-A177-3AD203B41FA5}">
                      <a16:colId xmlns:a16="http://schemas.microsoft.com/office/drawing/2014/main" val="2083152798"/>
                    </a:ext>
                  </a:extLst>
                </a:gridCol>
                <a:gridCol w="405604">
                  <a:extLst>
                    <a:ext uri="{9D8B030D-6E8A-4147-A177-3AD203B41FA5}">
                      <a16:colId xmlns:a16="http://schemas.microsoft.com/office/drawing/2014/main" val="3966416640"/>
                    </a:ext>
                  </a:extLst>
                </a:gridCol>
                <a:gridCol w="405604">
                  <a:extLst>
                    <a:ext uri="{9D8B030D-6E8A-4147-A177-3AD203B41FA5}">
                      <a16:colId xmlns:a16="http://schemas.microsoft.com/office/drawing/2014/main" val="3189174259"/>
                    </a:ext>
                  </a:extLst>
                </a:gridCol>
                <a:gridCol w="405604">
                  <a:extLst>
                    <a:ext uri="{9D8B030D-6E8A-4147-A177-3AD203B41FA5}">
                      <a16:colId xmlns:a16="http://schemas.microsoft.com/office/drawing/2014/main" val="2611606897"/>
                    </a:ext>
                  </a:extLst>
                </a:gridCol>
                <a:gridCol w="405604">
                  <a:extLst>
                    <a:ext uri="{9D8B030D-6E8A-4147-A177-3AD203B41FA5}">
                      <a16:colId xmlns:a16="http://schemas.microsoft.com/office/drawing/2014/main" val="2057460769"/>
                    </a:ext>
                  </a:extLst>
                </a:gridCol>
              </a:tblGrid>
              <a:tr h="0">
                <a:tc rowSpan="2">
                  <a:txBody>
                    <a:bodyPr/>
                    <a:lstStyle/>
                    <a:p>
                      <a:pPr algn="ctr">
                        <a:spcBef>
                          <a:spcPts val="300"/>
                        </a:spcBef>
                      </a:pPr>
                      <a:r>
                        <a:rPr lang="en-US" sz="1200" b="1" i="0">
                          <a:solidFill>
                            <a:schemeClr val="bg1"/>
                          </a:solidFill>
                          <a:latin typeface="+mn-lt"/>
                          <a:cs typeface="Poppins" pitchFamily="2" charset="77"/>
                        </a:rPr>
                        <a:t>Consolidated tactic</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algn="ctr">
                        <a:spcBef>
                          <a:spcPts val="300"/>
                        </a:spcBef>
                      </a:pPr>
                      <a:r>
                        <a:rPr lang="en-US" sz="1200" b="1" i="0">
                          <a:solidFill>
                            <a:schemeClr val="bg1"/>
                          </a:solidFill>
                          <a:latin typeface="+mn-lt"/>
                          <a:cs typeface="Poppins" pitchFamily="2" charset="77"/>
                        </a:rPr>
                        <a:t>Gaps addressed</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rowSpan="2">
                  <a:txBody>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lang="en-US" sz="1200" b="1" i="0">
                          <a:solidFill>
                            <a:schemeClr val="bg1"/>
                          </a:solidFill>
                          <a:latin typeface="+mn-lt"/>
                          <a:cs typeface="Poppins" pitchFamily="2" charset="77"/>
                        </a:rPr>
                        <a:t>Rationale and design considerations</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gridSpan="8">
                  <a:txBody>
                    <a:bodyPr/>
                    <a:lstStyle/>
                    <a:p>
                      <a:pPr algn="ctr">
                        <a:spcBef>
                          <a:spcPts val="300"/>
                        </a:spcBef>
                      </a:pPr>
                      <a:r>
                        <a:rPr lang="en-US" sz="1200" b="1" i="0">
                          <a:solidFill>
                            <a:schemeClr val="bg1"/>
                          </a:solidFill>
                          <a:latin typeface="+mn-lt"/>
                          <a:cs typeface="Poppins" pitchFamily="2" charset="77"/>
                        </a:rPr>
                        <a:t>Timing</a:t>
                      </a: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hMerge="1">
                  <a:txBody>
                    <a:bodyPr/>
                    <a:lstStyle/>
                    <a:p>
                      <a:pPr algn="ctr">
                        <a:spcBef>
                          <a:spcPts val="300"/>
                        </a:spcBef>
                      </a:pPr>
                      <a:endParaRPr lang="en-US" sz="1200" b="1" i="0">
                        <a:solidFill>
                          <a:schemeClr val="bg1"/>
                        </a:solidFill>
                        <a:latin typeface="+mn-lt"/>
                        <a:cs typeface="Poppins" pitchFamily="2" charset="77"/>
                      </a:endParaRPr>
                    </a:p>
                  </a:txBody>
                  <a:tcPr marL="90000" marR="90000" marT="46800" marB="4680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2323510155"/>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spcBef>
                          <a:spcPts val="300"/>
                        </a:spcBef>
                      </a:pPr>
                      <a:r>
                        <a:rPr lang="en-US" sz="1000" b="1" i="0">
                          <a:solidFill>
                            <a:schemeClr val="bg1"/>
                          </a:solidFill>
                          <a:latin typeface="+mn-lt"/>
                          <a:cs typeface="Poppins" pitchFamily="2" charset="77"/>
                        </a:rPr>
                        <a:t>2026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2027</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2028</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2029</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2030</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2031</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2032</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300"/>
                        </a:spcBef>
                      </a:pPr>
                      <a:r>
                        <a:rPr lang="en-US" sz="1000" b="1" i="0">
                          <a:solidFill>
                            <a:schemeClr val="bg1"/>
                          </a:solidFill>
                          <a:latin typeface="+mn-lt"/>
                          <a:cs typeface="Poppins" pitchFamily="2" charset="77"/>
                        </a:rPr>
                        <a:t>2033+</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1184289703"/>
                  </a:ext>
                </a:extLst>
              </a:tr>
              <a:tr h="2373246">
                <a:tc>
                  <a:txBody>
                    <a:bodyPr/>
                    <a:lstStyle/>
                    <a:p>
                      <a:pPr algn="l">
                        <a:spcBef>
                          <a:spcPts val="300"/>
                        </a:spcBef>
                      </a:pPr>
                      <a:r>
                        <a:rPr lang="en-US" sz="1000" b="0" i="0">
                          <a:solidFill>
                            <a:schemeClr val="tx1"/>
                          </a:solidFill>
                          <a:latin typeface="+mn-lt"/>
                          <a:cs typeface="Poppins" pitchFamily="2" charset="77"/>
                        </a:rPr>
                        <a:t>35. Integrated Patient Survey</a:t>
                      </a:r>
                    </a:p>
                    <a:p>
                      <a:pPr algn="l">
                        <a:spcBef>
                          <a:spcPts val="300"/>
                        </a:spcBef>
                      </a:pPr>
                      <a:endParaRPr lang="en-US" sz="1000" b="0" i="0">
                        <a:solidFill>
                          <a:schemeClr val="tx1"/>
                        </a:solidFill>
                        <a:latin typeface="+mn-lt"/>
                        <a:cs typeface="Poppins" pitchFamily="2" charset="77"/>
                      </a:endParaRPr>
                    </a:p>
                    <a:p>
                      <a:pPr algn="l">
                        <a:spcBef>
                          <a:spcPts val="300"/>
                        </a:spcBef>
                      </a:pPr>
                      <a:r>
                        <a:rPr lang="en-US" sz="1000" b="1" i="0">
                          <a:solidFill>
                            <a:schemeClr val="tx1"/>
                          </a:solidFill>
                          <a:latin typeface="+mn-lt"/>
                          <a:cs typeface="Poppins" pitchFamily="2" charset="77"/>
                        </a:rPr>
                        <a:t>Lead: </a:t>
                      </a:r>
                      <a:r>
                        <a:rPr lang="en-US" sz="1000" b="0" i="0">
                          <a:solidFill>
                            <a:schemeClr val="tx1"/>
                          </a:solidFill>
                          <a:latin typeface="+mn-lt"/>
                          <a:cs typeface="Poppins" pitchFamily="2" charset="77"/>
                        </a:rPr>
                        <a:t>PRO / HEOR </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C0E2"/>
                    </a:solidFill>
                  </a:tcPr>
                </a:tc>
                <a:tc>
                  <a:txBody>
                    <a:bodyPr/>
                    <a:lstStyle/>
                    <a:p>
                      <a:pPr marL="171450" indent="-171450" algn="l" defTabSz="914400" rtl="0" eaLnBrk="1" latinLnBrk="0" hangingPunct="1">
                        <a:spcBef>
                          <a:spcPts val="300"/>
                        </a:spcBef>
                        <a:buFont typeface="Arial" panose="020B0604020202020204" pitchFamily="34" charset="0"/>
                        <a:buChar char="•"/>
                      </a:pPr>
                      <a:r>
                        <a:rPr lang="en-US" sz="1000" b="1" i="0" kern="1200">
                          <a:solidFill>
                            <a:schemeClr val="tx1"/>
                          </a:solidFill>
                          <a:latin typeface="+mn-lt"/>
                          <a:ea typeface="+mn-ea"/>
                          <a:cs typeface="Poppins" pitchFamily="2" charset="77"/>
                          <a:hlinkClick r:id="rId4" action="ppaction://hlinksldjump">
                            <a:extLst>
                              <a:ext uri="{A12FA001-AC4F-418D-AE19-62706E023703}">
                                <ahyp:hlinkClr xmlns:ahyp="http://schemas.microsoft.com/office/drawing/2018/hyperlinkcolor" val="tx"/>
                              </a:ext>
                            </a:extLst>
                          </a:hlinkClick>
                        </a:rPr>
                        <a:t>NSCLC_CE_01</a:t>
                      </a:r>
                      <a:r>
                        <a:rPr lang="en-US" sz="1000" b="0" i="0" kern="1200">
                          <a:solidFill>
                            <a:schemeClr val="tx1"/>
                          </a:solidFill>
                          <a:latin typeface="+mn-lt"/>
                          <a:ea typeface="+mn-ea"/>
                          <a:cs typeface="Poppins" pitchFamily="2" charset="77"/>
                        </a:rPr>
                        <a:t>: BGB-58067's long-term data on efficacy, quality-adjusted survival outcomes, safety and tolerability profile patterns</a:t>
                      </a:r>
                    </a:p>
                    <a:p>
                      <a:pPr marL="171450" indent="-171450" algn="l" defTabSz="914400" rtl="0" eaLnBrk="1" latinLnBrk="0" hangingPunct="1">
                        <a:spcBef>
                          <a:spcPts val="300"/>
                        </a:spcBef>
                        <a:buFont typeface="Arial" panose="020B0604020202020204" pitchFamily="34" charset="0"/>
                        <a:buChar char="•"/>
                      </a:pPr>
                      <a:r>
                        <a:rPr lang="en-US" sz="1000" b="1" i="0" kern="1200">
                          <a:solidFill>
                            <a:schemeClr val="tx1"/>
                          </a:solidFill>
                          <a:latin typeface="+mn-lt"/>
                          <a:ea typeface="+mn-ea"/>
                          <a:cs typeface="Poppins" pitchFamily="2" charset="77"/>
                          <a:hlinkClick r:id="rId5" action="ppaction://hlinksldjump">
                            <a:extLst>
                              <a:ext uri="{A12FA001-AC4F-418D-AE19-62706E023703}">
                                <ahyp:hlinkClr xmlns:ahyp="http://schemas.microsoft.com/office/drawing/2018/hyperlinkcolor" val="tx"/>
                              </a:ext>
                            </a:extLst>
                          </a:hlinkClick>
                        </a:rPr>
                        <a:t>NSCLC_HI_07</a:t>
                      </a:r>
                      <a:r>
                        <a:rPr lang="en-US" sz="1000" b="0" i="0" kern="1200">
                          <a:solidFill>
                            <a:schemeClr val="tx1"/>
                          </a:solidFill>
                          <a:latin typeface="+mn-lt"/>
                          <a:ea typeface="+mn-ea"/>
                          <a:cs typeface="Poppins" pitchFamily="2" charset="77"/>
                        </a:rPr>
                        <a:t>: Impact of BGB-58067 on healthcare resource utilization (HCRU) and cost vs. SoC</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lvl="0" indent="-171450">
                        <a:spcBef>
                          <a:spcPts val="300"/>
                        </a:spcBef>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Single survey instrument covering time trade-off/DCE attributes for CE_01 and CNS-specific questions for HI_08 can reduce survey fatigue</a:t>
                      </a:r>
                    </a:p>
                    <a:p>
                      <a:pPr marL="0" lvl="0" indent="0">
                        <a:spcBef>
                          <a:spcPts val="300"/>
                        </a:spcBef>
                        <a:buClr>
                          <a:srgbClr val="000000"/>
                        </a:buClr>
                        <a:buFont typeface="Arial" panose="020B0604020202020204" pitchFamily="34" charset="0"/>
                        <a:buNone/>
                      </a:pPr>
                      <a:r>
                        <a:rPr lang="en-US" sz="1000" b="1" i="0" u="none" strike="noStrike" kern="1200" noProof="0">
                          <a:solidFill>
                            <a:schemeClr val="tx1"/>
                          </a:solidFill>
                          <a:effectLst/>
                          <a:latin typeface="+mn-lt"/>
                          <a:ea typeface="+mn-ea"/>
                          <a:cs typeface="Poppins"/>
                        </a:rPr>
                        <a:t>Design considerations:</a:t>
                      </a:r>
                    </a:p>
                    <a:p>
                      <a:pPr marL="171450" lvl="0" indent="-171450">
                        <a:spcBef>
                          <a:spcPts val="300"/>
                        </a:spcBef>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Need to align with PAGs</a:t>
                      </a:r>
                    </a:p>
                    <a:p>
                      <a:pPr marL="171450" lvl="0" indent="-171450">
                        <a:spcBef>
                          <a:spcPts val="300"/>
                        </a:spcBef>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Scientific narrative will be supported by this data</a:t>
                      </a:r>
                    </a:p>
                    <a:p>
                      <a:pPr marL="171450" lvl="0" indent="-171450">
                        <a:spcBef>
                          <a:spcPts val="300"/>
                        </a:spcBef>
                        <a:buClr>
                          <a:srgbClr val="000000"/>
                        </a:buClr>
                        <a:buFont typeface="Arial" panose="020B0604020202020204" pitchFamily="34" charset="0"/>
                        <a:buChar char="•"/>
                      </a:pPr>
                      <a:r>
                        <a:rPr lang="en-US" sz="1000"/>
                        <a:t>Assess gaps in existing validated patient-reported instruments that could support development of a new validated instrument with PAGs</a:t>
                      </a: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1135778"/>
                  </a:ext>
                </a:extLst>
              </a:tr>
              <a:tr h="1671948">
                <a:tc>
                  <a:txBody>
                    <a:bodyPr/>
                    <a:lstStyle/>
                    <a:p>
                      <a:pPr marL="0" indent="0" algn="l">
                        <a:spcBef>
                          <a:spcPts val="300"/>
                        </a:spcBef>
                        <a:buFont typeface="Arial" panose="020B0604020202020204" pitchFamily="34" charset="0"/>
                        <a:buNone/>
                      </a:pPr>
                      <a:r>
                        <a:rPr lang="en-US" sz="1000" b="0" i="0">
                          <a:solidFill>
                            <a:schemeClr val="tx1"/>
                          </a:solidFill>
                          <a:latin typeface="+mn-lt"/>
                          <a:cs typeface="Poppins" pitchFamily="2" charset="77"/>
                        </a:rPr>
                        <a:t>36. HCP and Caregiver Survey </a:t>
                      </a:r>
                    </a:p>
                    <a:p>
                      <a:pPr marL="0" indent="0" algn="l">
                        <a:spcBef>
                          <a:spcPts val="300"/>
                        </a:spcBef>
                        <a:buFont typeface="Arial" panose="020B0604020202020204" pitchFamily="34" charset="0"/>
                        <a:buNone/>
                      </a:pPr>
                      <a:endParaRPr lang="en-US" sz="1000" b="0" i="0">
                        <a:solidFill>
                          <a:schemeClr val="tx1"/>
                        </a:solidFill>
                        <a:latin typeface="+mn-lt"/>
                        <a:cs typeface="Poppins" pitchFamily="2" charset="77"/>
                      </a:endParaRPr>
                    </a:p>
                    <a:p>
                      <a:pPr marL="0" indent="0" algn="l">
                        <a:spcBef>
                          <a:spcPts val="300"/>
                        </a:spcBef>
                        <a:buFont typeface="Arial" panose="020B0604020202020204" pitchFamily="34" charset="0"/>
                        <a:buNone/>
                      </a:pPr>
                      <a:r>
                        <a:rPr lang="en-US" sz="1000" b="1" i="0">
                          <a:solidFill>
                            <a:schemeClr val="tx1"/>
                          </a:solidFill>
                          <a:latin typeface="+mn-lt"/>
                          <a:cs typeface="Poppins" pitchFamily="2" charset="77"/>
                        </a:rPr>
                        <a:t>Lead: </a:t>
                      </a:r>
                      <a:r>
                        <a:rPr lang="en-US" sz="1000" b="0" i="0">
                          <a:solidFill>
                            <a:schemeClr val="tx1"/>
                          </a:solidFill>
                          <a:latin typeface="+mn-lt"/>
                          <a:cs typeface="Poppins" pitchFamily="2" charset="77"/>
                        </a:rPr>
                        <a:t>HEOR</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C0E2"/>
                    </a:solidFill>
                  </a:tcPr>
                </a:tc>
                <a:tc>
                  <a:txBody>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000" b="1" i="0" kern="1200">
                          <a:solidFill>
                            <a:schemeClr val="tx1"/>
                          </a:solidFill>
                          <a:latin typeface="+mn-lt"/>
                          <a:ea typeface="+mn-ea"/>
                          <a:cs typeface="Poppins" pitchFamily="2" charset="77"/>
                          <a:hlinkClick r:id="rId4" action="ppaction://hlinksldjump">
                            <a:extLst>
                              <a:ext uri="{A12FA001-AC4F-418D-AE19-62706E023703}">
                                <ahyp:hlinkClr xmlns:ahyp="http://schemas.microsoft.com/office/drawing/2018/hyperlinkcolor" val="tx"/>
                              </a:ext>
                            </a:extLst>
                          </a:hlinkClick>
                        </a:rPr>
                        <a:t>NSCLC_CE_01</a:t>
                      </a:r>
                      <a:r>
                        <a:rPr lang="en-US" sz="1000" b="0" i="0" kern="1200">
                          <a:solidFill>
                            <a:schemeClr val="tx1"/>
                          </a:solidFill>
                          <a:latin typeface="+mn-lt"/>
                          <a:ea typeface="+mn-ea"/>
                          <a:cs typeface="Poppins" pitchFamily="2" charset="77"/>
                        </a:rPr>
                        <a:t>: BGB-58067's long-term data on efficacy, quality-adjusted survival outcomes, safety and tolerability profile patterns</a:t>
                      </a: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r>
                        <a:rPr lang="en-US" sz="1000" b="1" i="0" u="none" strike="noStrike" kern="1200" noProof="0">
                          <a:solidFill>
                            <a:schemeClr val="tx1"/>
                          </a:solidFill>
                          <a:effectLst/>
                          <a:latin typeface="+mn-lt"/>
                          <a:ea typeface="+mn-ea"/>
                          <a:cs typeface="Poppins"/>
                        </a:rPr>
                        <a:t>Design considerations:</a:t>
                      </a:r>
                    </a:p>
                    <a:p>
                      <a:pPr marL="171450" lvl="0" indent="-171450">
                        <a:spcBef>
                          <a:spcPts val="300"/>
                        </a:spcBef>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New markets may require a separate survey (contingent on budget)</a:t>
                      </a:r>
                    </a:p>
                    <a:p>
                      <a:pPr marL="171450" lvl="0" indent="-171450">
                        <a:spcBef>
                          <a:spcPts val="300"/>
                        </a:spcBef>
                        <a:buClr>
                          <a:srgbClr val="000000"/>
                        </a:buClr>
                        <a:buFont typeface="Arial" panose="020B0604020202020204" pitchFamily="34" charset="0"/>
                        <a:buChar char="•"/>
                      </a:pPr>
                      <a:r>
                        <a:rPr lang="en-US" sz="1000"/>
                        <a:t>Assess gaps in existing validated caregiver/HCP-reported instruments that could support development of a new validated measure with PAGs</a:t>
                      </a: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12700"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spcBef>
                          <a:spcPts val="300"/>
                        </a:spcBef>
                        <a:buClr>
                          <a:srgbClr val="000000"/>
                        </a:buClr>
                        <a:buFont typeface="Arial" panose="020B0604020202020204" pitchFamily="34" charset="0"/>
                        <a:buNone/>
                      </a:pPr>
                      <a:endParaRPr lang="en-US" sz="1000" b="0" i="0" u="none" strike="noStrike" kern="1200" noProof="0">
                        <a:solidFill>
                          <a:schemeClr val="tx1"/>
                        </a:solidFill>
                        <a:effectLst/>
                        <a:latin typeface="+mn-lt"/>
                        <a:ea typeface="+mn-ea"/>
                        <a:cs typeface="Poppins"/>
                      </a:endParaRPr>
                    </a:p>
                  </a:txBody>
                  <a:tcPr marL="90000" marR="90000" marT="46800" marB="46800" anchor="ctr">
                    <a:lnL w="9525"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78272460"/>
                  </a:ext>
                </a:extLst>
              </a:tr>
            </a:tbl>
          </a:graphicData>
        </a:graphic>
      </p:graphicFrame>
      <p:graphicFrame>
        <p:nvGraphicFramePr>
          <p:cNvPr id="5" name="think-cell data - do not delete" hidden="1">
            <a:extLst>
              <a:ext uri="{FF2B5EF4-FFF2-40B4-BE49-F238E27FC236}">
                <a16:creationId xmlns:a16="http://schemas.microsoft.com/office/drawing/2014/main" id="{A2731D89-EB6B-1666-243C-889721BD45D2}"/>
              </a:ext>
            </a:extLst>
          </p:cNvPr>
          <p:cNvGraphicFramePr>
            <a:graphicFrameLocks/>
          </p:cNvGraphicFramePr>
          <p:nvPr>
            <p:custDataLst>
              <p:tags r:id="rId1"/>
            </p:custDataLst>
            <p:extLst>
              <p:ext uri="{D42A27DB-BD31-4B8C-83A1-F6EECF244321}">
                <p14:modId xmlns:p14="http://schemas.microsoft.com/office/powerpoint/2010/main" val="23624779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6" progId="TCLayout.ActiveDocument.1">
                  <p:embed/>
                </p:oleObj>
              </mc:Choice>
              <mc:Fallback>
                <p:oleObj name="think-cell Slide" r:id="rId6" imgW="395" imgH="396" progId="TCLayout.ActiveDocument.1">
                  <p:embed/>
                  <p:pic>
                    <p:nvPicPr>
                      <p:cNvPr id="5" name="think-cell data - do not delete" hidden="1">
                        <a:extLst>
                          <a:ext uri="{FF2B5EF4-FFF2-40B4-BE49-F238E27FC236}">
                            <a16:creationId xmlns:a16="http://schemas.microsoft.com/office/drawing/2014/main" id="{A2731D89-EB6B-1666-243C-889721BD45D2}"/>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0" name="Title 19">
            <a:extLst>
              <a:ext uri="{FF2B5EF4-FFF2-40B4-BE49-F238E27FC236}">
                <a16:creationId xmlns:a16="http://schemas.microsoft.com/office/drawing/2014/main" id="{11D96FA7-9618-087C-54FC-B5C8C7BFFE1B}"/>
              </a:ext>
            </a:extLst>
          </p:cNvPr>
          <p:cNvSpPr>
            <a:spLocks noGrp="1"/>
          </p:cNvSpPr>
          <p:nvPr>
            <p:ph type="title"/>
          </p:nvPr>
        </p:nvSpPr>
        <p:spPr>
          <a:xfrm>
            <a:off x="358337" y="338328"/>
            <a:ext cx="11470125" cy="738664"/>
          </a:xfrm>
        </p:spPr>
        <p:txBody>
          <a:bodyPr vert="horz" rIns="0">
            <a:spAutoFit/>
          </a:bodyPr>
          <a:lstStyle/>
          <a:p>
            <a:r>
              <a:rPr lang="en-US" sz="2400"/>
              <a:t>Two specific </a:t>
            </a:r>
            <a:r>
              <a:rPr lang="en-US" sz="2400" b="1">
                <a:solidFill>
                  <a:srgbClr val="B490CC"/>
                </a:solidFill>
              </a:rPr>
              <a:t>patient and HCP / caregiver surveys </a:t>
            </a:r>
            <a:r>
              <a:rPr lang="en-US" sz="2400"/>
              <a:t>will capture stakeholder perspectives to support the evidence package</a:t>
            </a:r>
          </a:p>
        </p:txBody>
      </p:sp>
      <p:sp>
        <p:nvSpPr>
          <p:cNvPr id="7" name="Arrow: Pentagon 6">
            <a:extLst>
              <a:ext uri="{FF2B5EF4-FFF2-40B4-BE49-F238E27FC236}">
                <a16:creationId xmlns:a16="http://schemas.microsoft.com/office/drawing/2014/main" id="{793578C4-F0EF-096D-8DE1-3CB2EA054F27}"/>
              </a:ext>
            </a:extLst>
          </p:cNvPr>
          <p:cNvSpPr/>
          <p:nvPr/>
        </p:nvSpPr>
        <p:spPr>
          <a:xfrm>
            <a:off x="9845189" y="2841341"/>
            <a:ext cx="760039" cy="388620"/>
          </a:xfrm>
          <a:prstGeom prst="homePlate">
            <a:avLst/>
          </a:prstGeom>
          <a:solidFill>
            <a:srgbClr val="D4C0E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17" name="Diamond 16">
            <a:extLst>
              <a:ext uri="{FF2B5EF4-FFF2-40B4-BE49-F238E27FC236}">
                <a16:creationId xmlns:a16="http://schemas.microsoft.com/office/drawing/2014/main" id="{7AED7B98-68F5-5C00-8175-216F151339E8}"/>
              </a:ext>
            </a:extLst>
          </p:cNvPr>
          <p:cNvSpPr/>
          <p:nvPr/>
        </p:nvSpPr>
        <p:spPr>
          <a:xfrm>
            <a:off x="10307641" y="2927690"/>
            <a:ext cx="228600" cy="22860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24" name="Rectangle 23">
            <a:extLst>
              <a:ext uri="{FF2B5EF4-FFF2-40B4-BE49-F238E27FC236}">
                <a16:creationId xmlns:a16="http://schemas.microsoft.com/office/drawing/2014/main" id="{6BBB8533-F716-7127-61A8-8EC449BE0C7A}"/>
              </a:ext>
            </a:extLst>
          </p:cNvPr>
          <p:cNvSpPr/>
          <p:nvPr/>
        </p:nvSpPr>
        <p:spPr>
          <a:xfrm>
            <a:off x="10194523" y="3244741"/>
            <a:ext cx="821409" cy="3149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92500" lnSpcReduction="10000"/>
          </a:bodyPr>
          <a:lstStyle/>
          <a:p>
            <a:r>
              <a:rPr lang="en-US" sz="900">
                <a:solidFill>
                  <a:schemeClr val="tx1"/>
                </a:solidFill>
              </a:rPr>
              <a:t>IL / 2L+ DRO: 2030+</a:t>
            </a:r>
          </a:p>
        </p:txBody>
      </p:sp>
      <p:sp>
        <p:nvSpPr>
          <p:cNvPr id="31" name="Rectangle 30">
            <a:extLst>
              <a:ext uri="{FF2B5EF4-FFF2-40B4-BE49-F238E27FC236}">
                <a16:creationId xmlns:a16="http://schemas.microsoft.com/office/drawing/2014/main" id="{FFAB27F5-F776-2B64-8D96-DEE47B7A1FEF}"/>
              </a:ext>
            </a:extLst>
          </p:cNvPr>
          <p:cNvSpPr/>
          <p:nvPr/>
        </p:nvSpPr>
        <p:spPr>
          <a:xfrm>
            <a:off x="8957751" y="2554547"/>
            <a:ext cx="1718472" cy="2316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r>
              <a:rPr lang="en-US" sz="900" b="1">
                <a:solidFill>
                  <a:schemeClr val="tx1"/>
                </a:solidFill>
              </a:rPr>
              <a:t>Readout at pivotal DRO</a:t>
            </a:r>
            <a:endParaRPr lang="en-US" sz="900">
              <a:solidFill>
                <a:schemeClr val="tx1"/>
              </a:solidFill>
            </a:endParaRPr>
          </a:p>
        </p:txBody>
      </p:sp>
      <p:sp>
        <p:nvSpPr>
          <p:cNvPr id="35" name="Arrow: Pentagon 34">
            <a:extLst>
              <a:ext uri="{FF2B5EF4-FFF2-40B4-BE49-F238E27FC236}">
                <a16:creationId xmlns:a16="http://schemas.microsoft.com/office/drawing/2014/main" id="{95EE4AF6-8CF9-FF7B-0072-3F5B5F3832BB}"/>
              </a:ext>
            </a:extLst>
          </p:cNvPr>
          <p:cNvSpPr/>
          <p:nvPr/>
        </p:nvSpPr>
        <p:spPr>
          <a:xfrm>
            <a:off x="9863946" y="4854745"/>
            <a:ext cx="760039" cy="388620"/>
          </a:xfrm>
          <a:prstGeom prst="homePlate">
            <a:avLst/>
          </a:prstGeom>
          <a:solidFill>
            <a:srgbClr val="D4C0E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a:solidFill>
                <a:schemeClr val="bg1"/>
              </a:solidFill>
            </a:endParaRPr>
          </a:p>
        </p:txBody>
      </p:sp>
      <p:sp>
        <p:nvSpPr>
          <p:cNvPr id="36" name="Diamond 35">
            <a:extLst>
              <a:ext uri="{FF2B5EF4-FFF2-40B4-BE49-F238E27FC236}">
                <a16:creationId xmlns:a16="http://schemas.microsoft.com/office/drawing/2014/main" id="{BFF50D06-C790-1616-2FF2-4401ADC198D4}"/>
              </a:ext>
            </a:extLst>
          </p:cNvPr>
          <p:cNvSpPr/>
          <p:nvPr/>
        </p:nvSpPr>
        <p:spPr>
          <a:xfrm>
            <a:off x="10326398" y="4941094"/>
            <a:ext cx="228600" cy="22860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37" name="Rectangle 36">
            <a:extLst>
              <a:ext uri="{FF2B5EF4-FFF2-40B4-BE49-F238E27FC236}">
                <a16:creationId xmlns:a16="http://schemas.microsoft.com/office/drawing/2014/main" id="{68B1261E-19FF-F0BB-4790-DB496A70E3B9}"/>
              </a:ext>
            </a:extLst>
          </p:cNvPr>
          <p:cNvSpPr/>
          <p:nvPr/>
        </p:nvSpPr>
        <p:spPr>
          <a:xfrm>
            <a:off x="10213280" y="5258145"/>
            <a:ext cx="821409" cy="3149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92500" lnSpcReduction="10000"/>
          </a:bodyPr>
          <a:lstStyle/>
          <a:p>
            <a:r>
              <a:rPr lang="en-US" sz="900">
                <a:solidFill>
                  <a:schemeClr val="tx1"/>
                </a:solidFill>
              </a:rPr>
              <a:t>IL / 2L+  DRO: 2030+</a:t>
            </a:r>
          </a:p>
        </p:txBody>
      </p:sp>
      <p:sp>
        <p:nvSpPr>
          <p:cNvPr id="38" name="Rectangle 37">
            <a:extLst>
              <a:ext uri="{FF2B5EF4-FFF2-40B4-BE49-F238E27FC236}">
                <a16:creationId xmlns:a16="http://schemas.microsoft.com/office/drawing/2014/main" id="{8582AB9A-9444-FF3A-2FD5-9801A8D5EB06}"/>
              </a:ext>
            </a:extLst>
          </p:cNvPr>
          <p:cNvSpPr/>
          <p:nvPr/>
        </p:nvSpPr>
        <p:spPr>
          <a:xfrm>
            <a:off x="8976508" y="4567951"/>
            <a:ext cx="1718472" cy="2316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r>
              <a:rPr lang="en-US" sz="900" b="1">
                <a:solidFill>
                  <a:schemeClr val="tx1"/>
                </a:solidFill>
              </a:rPr>
              <a:t>Readout at pivotal DRO</a:t>
            </a:r>
            <a:endParaRPr lang="en-US" sz="900">
              <a:solidFill>
                <a:schemeClr val="tx1"/>
              </a:solidFill>
            </a:endParaRPr>
          </a:p>
        </p:txBody>
      </p:sp>
      <p:sp>
        <p:nvSpPr>
          <p:cNvPr id="9" name="Footer Placeholder 2">
            <a:extLst>
              <a:ext uri="{FF2B5EF4-FFF2-40B4-BE49-F238E27FC236}">
                <a16:creationId xmlns:a16="http://schemas.microsoft.com/office/drawing/2014/main" id="{9916EBE8-1058-F138-0F6D-A925E1CD62ED}"/>
              </a:ext>
            </a:extLst>
          </p:cNvPr>
          <p:cNvSpPr>
            <a:spLocks noGrp="1"/>
          </p:cNvSpPr>
          <p:nvPr>
            <p:ph type="ftr" sz="quarter" idx="10"/>
          </p:nvPr>
        </p:nvSpPr>
        <p:spPr>
          <a:xfrm>
            <a:off x="328864" y="6394094"/>
            <a:ext cx="5681293" cy="397836"/>
          </a:xfrm>
        </p:spPr>
        <p:txBody>
          <a:bodyPr/>
          <a:lstStyle/>
          <a:p>
            <a:pPr>
              <a:defRPr/>
            </a:pPr>
            <a:r>
              <a:rPr lang="en-US">
                <a:solidFill>
                  <a:srgbClr val="000000">
                    <a:lumMod val="65000"/>
                    <a:lumOff val="35000"/>
                  </a:srgbClr>
                </a:solidFill>
              </a:rPr>
              <a:t>Abbreviations: </a:t>
            </a:r>
            <a:r>
              <a:rPr lang="en-US"/>
              <a:t>CE: Critical Priority; CNS: Central Nervous System; DCE: Discrete Choice Experiment; DRO: Data Readout; HCP: Healthcare Professional; HCRU: Healthcare Resource Utilization; HEOR: Health Economics and Outcomes Research; HI: High Priority; NSCLC: Non-Small Cell Lung Cancer; PAGs: Patient Advocacy Groups; PRO: Patient-Reported Outcome; SoC: Standard of Care</a:t>
            </a:r>
          </a:p>
        </p:txBody>
      </p:sp>
      <p:sp>
        <p:nvSpPr>
          <p:cNvPr id="16" name="Rectangle 15">
            <a:extLst>
              <a:ext uri="{FF2B5EF4-FFF2-40B4-BE49-F238E27FC236}">
                <a16:creationId xmlns:a16="http://schemas.microsoft.com/office/drawing/2014/main" id="{C8171A37-CE99-4256-EEF4-90427C709534}"/>
              </a:ext>
            </a:extLst>
          </p:cNvPr>
          <p:cNvSpPr/>
          <p:nvPr/>
        </p:nvSpPr>
        <p:spPr>
          <a:xfrm>
            <a:off x="8765796" y="6280266"/>
            <a:ext cx="2242113" cy="3342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92500" lnSpcReduction="10000"/>
          </a:bodyPr>
          <a:lstStyle/>
          <a:p>
            <a:pPr algn="ctr"/>
            <a:endParaRPr lang="en-US" err="1">
              <a:solidFill>
                <a:schemeClr val="bg1"/>
              </a:solidFill>
            </a:endParaRPr>
          </a:p>
        </p:txBody>
      </p:sp>
      <p:grpSp>
        <p:nvGrpSpPr>
          <p:cNvPr id="18" name="Group 17">
            <a:extLst>
              <a:ext uri="{FF2B5EF4-FFF2-40B4-BE49-F238E27FC236}">
                <a16:creationId xmlns:a16="http://schemas.microsoft.com/office/drawing/2014/main" id="{84162A7E-BA26-855E-8497-BA4F170CD8F5}"/>
              </a:ext>
            </a:extLst>
          </p:cNvPr>
          <p:cNvGrpSpPr/>
          <p:nvPr/>
        </p:nvGrpSpPr>
        <p:grpSpPr>
          <a:xfrm>
            <a:off x="8025100" y="6327114"/>
            <a:ext cx="3279572" cy="319473"/>
            <a:chOff x="8676947" y="6306366"/>
            <a:chExt cx="3279572" cy="319473"/>
          </a:xfrm>
        </p:grpSpPr>
        <p:sp>
          <p:nvSpPr>
            <p:cNvPr id="19" name="TextBox 18">
              <a:extLst>
                <a:ext uri="{FF2B5EF4-FFF2-40B4-BE49-F238E27FC236}">
                  <a16:creationId xmlns:a16="http://schemas.microsoft.com/office/drawing/2014/main" id="{41331AC6-1966-F8E7-61C7-59D35690DD97}"/>
                </a:ext>
              </a:extLst>
            </p:cNvPr>
            <p:cNvSpPr txBox="1"/>
            <p:nvPr/>
          </p:nvSpPr>
          <p:spPr>
            <a:xfrm>
              <a:off x="8676947" y="6318062"/>
              <a:ext cx="470764" cy="307777"/>
            </a:xfrm>
            <a:prstGeom prst="rect">
              <a:avLst/>
            </a:prstGeom>
            <a:noFill/>
          </p:spPr>
          <p:txBody>
            <a:bodyPr wrap="square" lIns="91440" tIns="91440" rIns="91440" bIns="91440"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Poppins"/>
                  <a:ea typeface="+mn-ea"/>
                  <a:cs typeface="+mn-cs"/>
                </a:rPr>
                <a:t>Key:</a:t>
              </a:r>
            </a:p>
          </p:txBody>
        </p:sp>
        <p:grpSp>
          <p:nvGrpSpPr>
            <p:cNvPr id="21" name="Group 20">
              <a:extLst>
                <a:ext uri="{FF2B5EF4-FFF2-40B4-BE49-F238E27FC236}">
                  <a16:creationId xmlns:a16="http://schemas.microsoft.com/office/drawing/2014/main" id="{8240E2A9-5F10-54F5-60ED-2575B848B293}"/>
                </a:ext>
              </a:extLst>
            </p:cNvPr>
            <p:cNvGrpSpPr/>
            <p:nvPr/>
          </p:nvGrpSpPr>
          <p:grpSpPr>
            <a:xfrm>
              <a:off x="8743681" y="6306366"/>
              <a:ext cx="3212838" cy="307777"/>
              <a:chOff x="6686281" y="6344466"/>
              <a:chExt cx="3212838" cy="307777"/>
            </a:xfrm>
          </p:grpSpPr>
          <p:sp>
            <p:nvSpPr>
              <p:cNvPr id="22" name="Diamond 21">
                <a:extLst>
                  <a:ext uri="{FF2B5EF4-FFF2-40B4-BE49-F238E27FC236}">
                    <a16:creationId xmlns:a16="http://schemas.microsoft.com/office/drawing/2014/main" id="{34A8CDE3-92BD-3D2B-4B22-613DA8D56393}"/>
                  </a:ext>
                </a:extLst>
              </p:cNvPr>
              <p:cNvSpPr/>
              <p:nvPr/>
            </p:nvSpPr>
            <p:spPr>
              <a:xfrm>
                <a:off x="8778716" y="6409851"/>
                <a:ext cx="175330" cy="177007"/>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23" name="TextBox 22">
                <a:extLst>
                  <a:ext uri="{FF2B5EF4-FFF2-40B4-BE49-F238E27FC236}">
                    <a16:creationId xmlns:a16="http://schemas.microsoft.com/office/drawing/2014/main" id="{3C2511F6-C5E1-3BE6-F410-F87CCAEDCA83}"/>
                  </a:ext>
                </a:extLst>
              </p:cNvPr>
              <p:cNvSpPr txBox="1"/>
              <p:nvPr/>
            </p:nvSpPr>
            <p:spPr>
              <a:xfrm>
                <a:off x="8910524" y="6344466"/>
                <a:ext cx="988595"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Milestone</a:t>
                </a:r>
              </a:p>
            </p:txBody>
          </p:sp>
          <p:sp>
            <p:nvSpPr>
              <p:cNvPr id="25" name="TextBox 24">
                <a:extLst>
                  <a:ext uri="{FF2B5EF4-FFF2-40B4-BE49-F238E27FC236}">
                    <a16:creationId xmlns:a16="http://schemas.microsoft.com/office/drawing/2014/main" id="{B1AC4A27-5F83-12A1-D930-9DAFF4C1456A}"/>
                  </a:ext>
                </a:extLst>
              </p:cNvPr>
              <p:cNvSpPr txBox="1"/>
              <p:nvPr/>
            </p:nvSpPr>
            <p:spPr>
              <a:xfrm>
                <a:off x="7292815" y="6344466"/>
                <a:ext cx="1632109" cy="307777"/>
              </a:xfrm>
              <a:prstGeom prst="rect">
                <a:avLst/>
              </a:prstGeom>
              <a:noFill/>
            </p:spPr>
            <p:txBody>
              <a:bodyPr wrap="square" lIns="91440" tIns="91440" rIns="91440" bIns="91440"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Start of study to </a:t>
                </a:r>
                <a:r>
                  <a:rPr kumimoji="0" lang="en-US" sz="800" b="0" i="0" u="none" strike="noStrike" kern="1200" cap="none" spc="0" normalizeH="0" baseline="0" noProof="0" err="1">
                    <a:ln>
                      <a:noFill/>
                    </a:ln>
                    <a:solidFill>
                      <a:srgbClr val="000000"/>
                    </a:solidFill>
                    <a:effectLst/>
                    <a:uLnTx/>
                    <a:uFillTx/>
                    <a:latin typeface="Poppins"/>
                    <a:ea typeface="+mn-ea"/>
                    <a:cs typeface="+mn-cs"/>
                  </a:rPr>
                  <a:t>en</a:t>
                </a:r>
                <a:r>
                  <a:rPr lang="en-US" sz="800">
                    <a:solidFill>
                      <a:srgbClr val="000000"/>
                    </a:solidFill>
                    <a:latin typeface="Poppins"/>
                  </a:rPr>
                  <a:t>d/DRO</a:t>
                </a:r>
                <a:endParaRPr kumimoji="0" 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26" name="Arrow: Pentagon 25">
                <a:extLst>
                  <a:ext uri="{FF2B5EF4-FFF2-40B4-BE49-F238E27FC236}">
                    <a16:creationId xmlns:a16="http://schemas.microsoft.com/office/drawing/2014/main" id="{8F973EB2-8C89-ED90-2E5B-4F0E558E8821}"/>
                  </a:ext>
                </a:extLst>
              </p:cNvPr>
              <p:cNvSpPr/>
              <p:nvPr/>
            </p:nvSpPr>
            <p:spPr>
              <a:xfrm>
                <a:off x="7133798" y="6422147"/>
                <a:ext cx="182880" cy="182880"/>
              </a:xfrm>
              <a:prstGeom prst="homePlate">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algn="ctr"/>
                <a:endParaRPr lang="en-US">
                  <a:solidFill>
                    <a:schemeClr val="bg1"/>
                  </a:solidFill>
                </a:endParaRPr>
              </a:p>
            </p:txBody>
          </p:sp>
          <p:sp>
            <p:nvSpPr>
              <p:cNvPr id="27" name="Rectangle: Rounded Corners 26">
                <a:extLst>
                  <a:ext uri="{FF2B5EF4-FFF2-40B4-BE49-F238E27FC236}">
                    <a16:creationId xmlns:a16="http://schemas.microsoft.com/office/drawing/2014/main" id="{B976E72F-6706-A72F-CA55-01A55E6F1CD6}"/>
                  </a:ext>
                </a:extLst>
              </p:cNvPr>
              <p:cNvSpPr/>
              <p:nvPr/>
            </p:nvSpPr>
            <p:spPr>
              <a:xfrm>
                <a:off x="6686281" y="6365302"/>
                <a:ext cx="2924444" cy="28150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algn="ctr"/>
                <a:endParaRPr lang="en-US">
                  <a:solidFill>
                    <a:schemeClr val="bg1"/>
                  </a:solidFill>
                </a:endParaRPr>
              </a:p>
            </p:txBody>
          </p:sp>
        </p:grpSp>
      </p:grpSp>
      <p:grpSp>
        <p:nvGrpSpPr>
          <p:cNvPr id="28" name="Group 27">
            <a:extLst>
              <a:ext uri="{FF2B5EF4-FFF2-40B4-BE49-F238E27FC236}">
                <a16:creationId xmlns:a16="http://schemas.microsoft.com/office/drawing/2014/main" id="{FF239AEF-8135-BC2D-6BD9-B689BC65E5C9}"/>
              </a:ext>
            </a:extLst>
          </p:cNvPr>
          <p:cNvGrpSpPr/>
          <p:nvPr/>
        </p:nvGrpSpPr>
        <p:grpSpPr>
          <a:xfrm>
            <a:off x="6044154" y="6332843"/>
            <a:ext cx="2001488" cy="395710"/>
            <a:chOff x="9984926" y="1221638"/>
            <a:chExt cx="2001488" cy="395710"/>
          </a:xfrm>
        </p:grpSpPr>
        <p:sp>
          <p:nvSpPr>
            <p:cNvPr id="29" name="Rectangle 28">
              <a:extLst>
                <a:ext uri="{FF2B5EF4-FFF2-40B4-BE49-F238E27FC236}">
                  <a16:creationId xmlns:a16="http://schemas.microsoft.com/office/drawing/2014/main" id="{1230D798-BFCC-961E-C8C4-3FDA5A8D0F5A}"/>
                </a:ext>
              </a:extLst>
            </p:cNvPr>
            <p:cNvSpPr/>
            <p:nvPr/>
          </p:nvSpPr>
          <p:spPr>
            <a:xfrm>
              <a:off x="10122616" y="1221638"/>
              <a:ext cx="1863798" cy="3957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800">
                  <a:solidFill>
                    <a:schemeClr val="tx1"/>
                  </a:solidFill>
                </a:rPr>
                <a:t>Click the </a:t>
              </a:r>
              <a:r>
                <a:rPr lang="en-US" sz="800" b="1">
                  <a:solidFill>
                    <a:schemeClr val="tx1"/>
                  </a:solidFill>
                </a:rPr>
                <a:t>gap  ID to return to gap overview</a:t>
              </a:r>
              <a:endParaRPr lang="en-US" sz="800">
                <a:solidFill>
                  <a:schemeClr val="tx1"/>
                </a:solidFill>
              </a:endParaRPr>
            </a:p>
          </p:txBody>
        </p:sp>
        <p:pic>
          <p:nvPicPr>
            <p:cNvPr id="30" name="Graphic 29" descr="Cursor with solid fill">
              <a:extLst>
                <a:ext uri="{FF2B5EF4-FFF2-40B4-BE49-F238E27FC236}">
                  <a16:creationId xmlns:a16="http://schemas.microsoft.com/office/drawing/2014/main" id="{91EAB4ED-9D5E-34AB-1D62-E7DBF905F79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984926" y="1302723"/>
              <a:ext cx="216000" cy="216000"/>
            </a:xfrm>
            <a:prstGeom prst="rect">
              <a:avLst/>
            </a:prstGeom>
          </p:spPr>
        </p:pic>
      </p:grpSp>
      <p:grpSp>
        <p:nvGrpSpPr>
          <p:cNvPr id="2" name="Group 1">
            <a:extLst>
              <a:ext uri="{FF2B5EF4-FFF2-40B4-BE49-F238E27FC236}">
                <a16:creationId xmlns:a16="http://schemas.microsoft.com/office/drawing/2014/main" id="{1AA4DD0B-E6EE-5F4D-BF52-CF0A173B73AE}"/>
              </a:ext>
            </a:extLst>
          </p:cNvPr>
          <p:cNvGrpSpPr/>
          <p:nvPr/>
        </p:nvGrpSpPr>
        <p:grpSpPr>
          <a:xfrm>
            <a:off x="362743" y="10216"/>
            <a:ext cx="10042505" cy="252000"/>
            <a:chOff x="362743" y="10216"/>
            <a:chExt cx="10042505" cy="252000"/>
          </a:xfrm>
        </p:grpSpPr>
        <p:sp>
          <p:nvSpPr>
            <p:cNvPr id="4" name="Pentagon 47">
              <a:extLst>
                <a:ext uri="{FF2B5EF4-FFF2-40B4-BE49-F238E27FC236}">
                  <a16:creationId xmlns:a16="http://schemas.microsoft.com/office/drawing/2014/main" id="{C8D43357-DFB9-8CB3-D81A-CE4920A405C4}"/>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6" name="Chevron 48">
              <a:extLst>
                <a:ext uri="{FF2B5EF4-FFF2-40B4-BE49-F238E27FC236}">
                  <a16:creationId xmlns:a16="http://schemas.microsoft.com/office/drawing/2014/main" id="{1D05A51E-06B7-6B33-B580-29857C899586}"/>
                </a:ext>
              </a:extLst>
            </p:cNvPr>
            <p:cNvSpPr/>
            <p:nvPr/>
          </p:nvSpPr>
          <p:spPr>
            <a:xfrm>
              <a:off x="5371087"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8" name="Chevron 52">
              <a:extLst>
                <a:ext uri="{FF2B5EF4-FFF2-40B4-BE49-F238E27FC236}">
                  <a16:creationId xmlns:a16="http://schemas.microsoft.com/office/drawing/2014/main" id="{DFD03EE4-674F-7825-68AA-DCC55F7DE297}"/>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10" name="Chevron 54">
              <a:extLst>
                <a:ext uri="{FF2B5EF4-FFF2-40B4-BE49-F238E27FC236}">
                  <a16:creationId xmlns:a16="http://schemas.microsoft.com/office/drawing/2014/main" id="{E9BF354B-1DDE-066C-760A-A8498B3B5539}"/>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1" name="Chevron 48">
              <a:extLst>
                <a:ext uri="{FF2B5EF4-FFF2-40B4-BE49-F238E27FC236}">
                  <a16:creationId xmlns:a16="http://schemas.microsoft.com/office/drawing/2014/main" id="{186E0A07-3A0F-AD7A-2819-4B0CAE4F876B}"/>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3" name="Chevron 48">
              <a:extLst>
                <a:ext uri="{FF2B5EF4-FFF2-40B4-BE49-F238E27FC236}">
                  <a16:creationId xmlns:a16="http://schemas.microsoft.com/office/drawing/2014/main" id="{1175AC51-456C-1B28-9277-E88DB40251DA}"/>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31093284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1121C-B569-1CC6-9367-830C8572E5B2}"/>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1484387-41EA-41C4-7316-ADF4448B845F}"/>
              </a:ext>
            </a:extLst>
          </p:cNvPr>
          <p:cNvGraphicFramePr>
            <a:graphicFrameLocks/>
          </p:cNvGraphicFramePr>
          <p:nvPr>
            <p:custDataLst>
              <p:tags r:id="rId1"/>
            </p:custDataLst>
            <p:extLst>
              <p:ext uri="{D42A27DB-BD31-4B8C-83A1-F6EECF244321}">
                <p14:modId xmlns:p14="http://schemas.microsoft.com/office/powerpoint/2010/main" val="2246371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think-cell data - do not delete" hidden="1">
                        <a:extLst>
                          <a:ext uri="{FF2B5EF4-FFF2-40B4-BE49-F238E27FC236}">
                            <a16:creationId xmlns:a16="http://schemas.microsoft.com/office/drawing/2014/main" id="{C1484387-41EA-41C4-7316-ADF4448B845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77378D5-5863-9D4D-2C65-91675E94B8D2}"/>
              </a:ext>
            </a:extLst>
          </p:cNvPr>
          <p:cNvSpPr>
            <a:spLocks noGrp="1"/>
          </p:cNvSpPr>
          <p:nvPr>
            <p:ph type="ctrTitle"/>
          </p:nvPr>
        </p:nvSpPr>
        <p:spPr>
          <a:xfrm>
            <a:off x="336165" y="3000231"/>
            <a:ext cx="7031736" cy="738664"/>
          </a:xfrm>
        </p:spPr>
        <p:txBody>
          <a:bodyPr vert="horz" rIns="0">
            <a:spAutoFit/>
          </a:bodyPr>
          <a:lstStyle/>
          <a:p>
            <a:r>
              <a:rPr lang="en-US"/>
              <a:t>Gated Gaps</a:t>
            </a:r>
          </a:p>
        </p:txBody>
      </p:sp>
      <p:grpSp>
        <p:nvGrpSpPr>
          <p:cNvPr id="11" name="Group 10">
            <a:extLst>
              <a:ext uri="{FF2B5EF4-FFF2-40B4-BE49-F238E27FC236}">
                <a16:creationId xmlns:a16="http://schemas.microsoft.com/office/drawing/2014/main" id="{B6648BB5-A6B5-49AE-69F9-CC3C75439E04}"/>
              </a:ext>
            </a:extLst>
          </p:cNvPr>
          <p:cNvGrpSpPr/>
          <p:nvPr/>
        </p:nvGrpSpPr>
        <p:grpSpPr>
          <a:xfrm>
            <a:off x="362743" y="10216"/>
            <a:ext cx="10042505" cy="252000"/>
            <a:chOff x="362743" y="10216"/>
            <a:chExt cx="10042505" cy="252000"/>
          </a:xfrm>
        </p:grpSpPr>
        <p:sp>
          <p:nvSpPr>
            <p:cNvPr id="12" name="Pentagon 47">
              <a:extLst>
                <a:ext uri="{FF2B5EF4-FFF2-40B4-BE49-F238E27FC236}">
                  <a16:creationId xmlns:a16="http://schemas.microsoft.com/office/drawing/2014/main" id="{519A5E74-31EB-95A2-E983-504338BC54D2}"/>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13" name="Chevron 48">
              <a:extLst>
                <a:ext uri="{FF2B5EF4-FFF2-40B4-BE49-F238E27FC236}">
                  <a16:creationId xmlns:a16="http://schemas.microsoft.com/office/drawing/2014/main" id="{07453201-FAEB-91BA-AFBC-A9FAA7D7BFCB}"/>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14" name="Chevron 52">
              <a:extLst>
                <a:ext uri="{FF2B5EF4-FFF2-40B4-BE49-F238E27FC236}">
                  <a16:creationId xmlns:a16="http://schemas.microsoft.com/office/drawing/2014/main" id="{515DC48D-4A41-A4DD-C2FB-EFE4FE0B5D7A}"/>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15" name="Chevron 54">
              <a:extLst>
                <a:ext uri="{FF2B5EF4-FFF2-40B4-BE49-F238E27FC236}">
                  <a16:creationId xmlns:a16="http://schemas.microsoft.com/office/drawing/2014/main" id="{B087D52C-3D65-999E-9369-76C38001CCC4}"/>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6" name="Chevron 48">
              <a:extLst>
                <a:ext uri="{FF2B5EF4-FFF2-40B4-BE49-F238E27FC236}">
                  <a16:creationId xmlns:a16="http://schemas.microsoft.com/office/drawing/2014/main" id="{4BAE3D8F-BF67-9E6C-6137-8BEE9D41D130}"/>
                </a:ext>
              </a:extLst>
            </p:cNvPr>
            <p:cNvSpPr/>
            <p:nvPr/>
          </p:nvSpPr>
          <p:spPr>
            <a:xfrm>
              <a:off x="7040535"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8" name="Chevron 48">
              <a:extLst>
                <a:ext uri="{FF2B5EF4-FFF2-40B4-BE49-F238E27FC236}">
                  <a16:creationId xmlns:a16="http://schemas.microsoft.com/office/drawing/2014/main" id="{709CF253-1282-428E-E402-07E797A69384}"/>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4341198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600BC-34B0-3A41-499C-5A22280257F6}"/>
            </a:ext>
          </a:extLst>
        </p:cNvPr>
        <p:cNvGrpSpPr/>
        <p:nvPr/>
      </p:nvGrpSpPr>
      <p:grpSpPr>
        <a:xfrm>
          <a:off x="0" y="0"/>
          <a:ext cx="0" cy="0"/>
          <a:chOff x="0" y="0"/>
          <a:chExt cx="0" cy="0"/>
        </a:xfrm>
      </p:grpSpPr>
      <p:graphicFrame>
        <p:nvGraphicFramePr>
          <p:cNvPr id="59" name="think-cell data - do not delete" hidden="1">
            <a:extLst>
              <a:ext uri="{FF2B5EF4-FFF2-40B4-BE49-F238E27FC236}">
                <a16:creationId xmlns:a16="http://schemas.microsoft.com/office/drawing/2014/main" id="{0E17D894-DD5E-804A-F129-432660BA5BED}"/>
              </a:ext>
            </a:extLst>
          </p:cNvPr>
          <p:cNvGraphicFramePr>
            <a:graphicFrameLocks/>
          </p:cNvGraphicFramePr>
          <p:nvPr>
            <p:custDataLst>
              <p:tags r:id="rId1"/>
            </p:custDataLst>
            <p:extLst>
              <p:ext uri="{D42A27DB-BD31-4B8C-83A1-F6EECF244321}">
                <p14:modId xmlns:p14="http://schemas.microsoft.com/office/powerpoint/2010/main" val="4147790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59" name="think-cell data - do not delete" hidden="1">
                        <a:extLst>
                          <a:ext uri="{FF2B5EF4-FFF2-40B4-BE49-F238E27FC236}">
                            <a16:creationId xmlns:a16="http://schemas.microsoft.com/office/drawing/2014/main" id="{0E17D894-DD5E-804A-F129-432660BA5BE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8" name="Title 57">
            <a:extLst>
              <a:ext uri="{FF2B5EF4-FFF2-40B4-BE49-F238E27FC236}">
                <a16:creationId xmlns:a16="http://schemas.microsoft.com/office/drawing/2014/main" id="{A1A66C24-9F98-C3FD-07AC-3BCC288D6E8A}"/>
              </a:ext>
            </a:extLst>
          </p:cNvPr>
          <p:cNvSpPr>
            <a:spLocks noGrp="1"/>
          </p:cNvSpPr>
          <p:nvPr>
            <p:ph type="title"/>
          </p:nvPr>
        </p:nvSpPr>
        <p:spPr>
          <a:xfrm>
            <a:off x="358337" y="338328"/>
            <a:ext cx="11470125" cy="369332"/>
          </a:xfrm>
        </p:spPr>
        <p:txBody>
          <a:bodyPr vert="horz" rIns="0">
            <a:spAutoFit/>
          </a:bodyPr>
          <a:lstStyle/>
          <a:p>
            <a:r>
              <a:rPr lang="en-US" sz="2400"/>
              <a:t>Overview of Gated Gaps deprioritized for tactical development (1/5)</a:t>
            </a:r>
          </a:p>
        </p:txBody>
      </p:sp>
      <p:graphicFrame>
        <p:nvGraphicFramePr>
          <p:cNvPr id="3" name="Table 2">
            <a:extLst>
              <a:ext uri="{FF2B5EF4-FFF2-40B4-BE49-F238E27FC236}">
                <a16:creationId xmlns:a16="http://schemas.microsoft.com/office/drawing/2014/main" id="{A04BFD7E-EEFC-36E8-F8CB-8CD08BE63579}"/>
              </a:ext>
            </a:extLst>
          </p:cNvPr>
          <p:cNvGraphicFramePr>
            <a:graphicFrameLocks noGrp="1"/>
          </p:cNvGraphicFramePr>
          <p:nvPr>
            <p:extLst>
              <p:ext uri="{D42A27DB-BD31-4B8C-83A1-F6EECF244321}">
                <p14:modId xmlns:p14="http://schemas.microsoft.com/office/powerpoint/2010/main" val="4061516605"/>
              </p:ext>
            </p:extLst>
          </p:nvPr>
        </p:nvGraphicFramePr>
        <p:xfrm>
          <a:off x="362744" y="1554580"/>
          <a:ext cx="11465718" cy="4032356"/>
        </p:xfrm>
        <a:graphic>
          <a:graphicData uri="http://schemas.openxmlformats.org/drawingml/2006/table">
            <a:tbl>
              <a:tblPr bandRow="1">
                <a:tableStyleId>{5C22544A-7EE6-4342-B048-85BDC9FD1C3A}</a:tableStyleId>
              </a:tblPr>
              <a:tblGrid>
                <a:gridCol w="456122">
                  <a:extLst>
                    <a:ext uri="{9D8B030D-6E8A-4147-A177-3AD203B41FA5}">
                      <a16:colId xmlns:a16="http://schemas.microsoft.com/office/drawing/2014/main" val="3412371623"/>
                    </a:ext>
                  </a:extLst>
                </a:gridCol>
                <a:gridCol w="1723301">
                  <a:extLst>
                    <a:ext uri="{9D8B030D-6E8A-4147-A177-3AD203B41FA5}">
                      <a16:colId xmlns:a16="http://schemas.microsoft.com/office/drawing/2014/main" val="1720362591"/>
                    </a:ext>
                  </a:extLst>
                </a:gridCol>
                <a:gridCol w="3001431">
                  <a:extLst>
                    <a:ext uri="{9D8B030D-6E8A-4147-A177-3AD203B41FA5}">
                      <a16:colId xmlns:a16="http://schemas.microsoft.com/office/drawing/2014/main" val="1362236069"/>
                    </a:ext>
                  </a:extLst>
                </a:gridCol>
                <a:gridCol w="3778646">
                  <a:extLst>
                    <a:ext uri="{9D8B030D-6E8A-4147-A177-3AD203B41FA5}">
                      <a16:colId xmlns:a16="http://schemas.microsoft.com/office/drawing/2014/main" val="366937182"/>
                    </a:ext>
                  </a:extLst>
                </a:gridCol>
                <a:gridCol w="2506218">
                  <a:extLst>
                    <a:ext uri="{9D8B030D-6E8A-4147-A177-3AD203B41FA5}">
                      <a16:colId xmlns:a16="http://schemas.microsoft.com/office/drawing/2014/main" val="320023064"/>
                    </a:ext>
                  </a:extLst>
                </a:gridCol>
              </a:tblGrid>
              <a:tr h="274320">
                <a:tc>
                  <a:txBody>
                    <a:bodyPr/>
                    <a:lstStyle/>
                    <a:p>
                      <a:pPr algn="ctr"/>
                      <a:r>
                        <a:rPr lang="en-US" sz="1200" b="1" i="0">
                          <a:solidFill>
                            <a:schemeClr val="bg1"/>
                          </a:solidFill>
                          <a:latin typeface="+mn-lt"/>
                          <a:cs typeface="Poppins" pitchFamily="2" charset="77"/>
                        </a:rPr>
                        <a:t>SI</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200" b="1" i="0">
                          <a:solidFill>
                            <a:schemeClr val="bg1"/>
                          </a:solidFill>
                          <a:latin typeface="+mn-lt"/>
                          <a:cs typeface="Poppins" pitchFamily="2" charset="77"/>
                        </a:rPr>
                        <a:t>Gap ID  and Theme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200" b="1" i="0">
                          <a:solidFill>
                            <a:schemeClr val="bg1"/>
                          </a:solidFill>
                          <a:latin typeface="+mn-lt"/>
                          <a:cs typeface="Poppins" pitchFamily="2" charset="77"/>
                        </a:rPr>
                        <a:t>Evidence Gap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200" b="1" i="0">
                          <a:solidFill>
                            <a:schemeClr val="bg1"/>
                          </a:solidFill>
                          <a:latin typeface="+mn-lt"/>
                          <a:cs typeface="Poppins" pitchFamily="2" charset="77"/>
                        </a:rPr>
                        <a:t>Rationale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200" b="1" i="0">
                          <a:solidFill>
                            <a:schemeClr val="bg1"/>
                          </a:solidFill>
                          <a:latin typeface="+mn-lt"/>
                          <a:cs typeface="Poppins" pitchFamily="2" charset="77"/>
                        </a:rPr>
                        <a:t>What Gates This Gap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2323510155"/>
                  </a:ext>
                </a:extLst>
              </a:tr>
              <a:tr h="2095944">
                <a:tc>
                  <a:txBody>
                    <a:bodyPr/>
                    <a:lstStyle/>
                    <a:p>
                      <a:pPr algn="l"/>
                      <a:endParaRPr lang="en-US" sz="11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a:solidFill>
                            <a:schemeClr val="tx1"/>
                          </a:solidFill>
                          <a:latin typeface="+mn-lt"/>
                          <a:cs typeface="Poppins" pitchFamily="2" charset="77"/>
                        </a:rPr>
                        <a:t>NSCLC_GA_01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1"/>
                          </a:solidFill>
                          <a:latin typeface="+mn-lt"/>
                          <a:cs typeface="Poppins" pitchFamily="2" charset="77"/>
                        </a:rPr>
                        <a:t>CNS Differentiation</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spcAft>
                          <a:spcPts val="500"/>
                        </a:spcAft>
                      </a:pPr>
                      <a:r>
                        <a:rPr lang="en-US" sz="1000" b="0" i="1">
                          <a:solidFill>
                            <a:schemeClr val="tx1"/>
                          </a:solidFill>
                          <a:latin typeface="+mn-lt"/>
                          <a:cs typeface="Poppins" pitchFamily="2" charset="77"/>
                        </a:rPr>
                        <a:t>(1L and 2L+) </a:t>
                      </a:r>
                      <a:r>
                        <a:rPr lang="en-US" sz="1000" b="0" i="0">
                          <a:solidFill>
                            <a:schemeClr val="tx1"/>
                          </a:solidFill>
                          <a:latin typeface="+mn-lt"/>
                          <a:cs typeface="Poppins" pitchFamily="2" charset="77"/>
                        </a:rPr>
                        <a:t>BGB-58067's intracranial efficacy vs. SoC, including intracranial objective response rate, progression-free survival, duration of response, and PRO (e.g., neurocognitive function)  compared to SoC in patients with brain metastases</a:t>
                      </a:r>
                    </a:p>
                    <a:p>
                      <a:pPr algn="l"/>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  Patients and PAGs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Addresses significant unmet need and potential competitive advantage in CNS-active PRMT5 inhibition</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Supports specialized oncology adoption and guideline inclusion for metastatic NSCLC with brain metastases</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Critical for differentiation from CNS-inactive competitors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lvl="0" indent="-171450">
                        <a:spcAft>
                          <a:spcPts val="600"/>
                        </a:spcAft>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Adequate number of patients enrolled as part of CDP to enable statistically meaningful sub-group analysis of CNS-specific outcomes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74479344"/>
                  </a:ext>
                </a:extLst>
              </a:tr>
              <a:tr h="1659932">
                <a:tc>
                  <a:txBody>
                    <a:bodyPr/>
                    <a:lstStyle/>
                    <a:p>
                      <a:pPr algn="l"/>
                      <a:endParaRPr lang="en-US" sz="1000" b="0"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l"/>
                      <a:r>
                        <a:rPr lang="en-US" sz="1100" b="1" i="0">
                          <a:solidFill>
                            <a:schemeClr val="tx1"/>
                          </a:solidFill>
                          <a:latin typeface="+mn-lt"/>
                          <a:cs typeface="Poppins" pitchFamily="2" charset="77"/>
                        </a:rPr>
                        <a:t>NSCLC_GA_02</a:t>
                      </a:r>
                    </a:p>
                    <a:p>
                      <a:pPr algn="l"/>
                      <a:r>
                        <a:rPr lang="en-US" sz="1000" b="0" i="0">
                          <a:solidFill>
                            <a:schemeClr val="tx1"/>
                          </a:solidFill>
                          <a:latin typeface="+mn-lt"/>
                          <a:cs typeface="Poppins" pitchFamily="2" charset="77"/>
                        </a:rPr>
                        <a:t>CNS Differentiation</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a:spcAft>
                          <a:spcPts val="500"/>
                        </a:spcAft>
                      </a:pPr>
                      <a:r>
                        <a:rPr lang="en-US" sz="1000" b="0" i="1">
                          <a:solidFill>
                            <a:schemeClr val="tx1"/>
                          </a:solidFill>
                          <a:latin typeface="+mn-lt"/>
                          <a:cs typeface="Poppins" pitchFamily="2" charset="77"/>
                        </a:rPr>
                        <a:t>(1L and 2L+) </a:t>
                      </a:r>
                      <a:r>
                        <a:rPr lang="en-US" sz="1000" b="0" i="0">
                          <a:solidFill>
                            <a:schemeClr val="tx1"/>
                          </a:solidFill>
                          <a:latin typeface="+mn-lt"/>
                          <a:cs typeface="Poppins" pitchFamily="2" charset="77"/>
                        </a:rPr>
                        <a:t>BGB-58067's efficacy outcomes in treatment-naive vs. Tx-experienced CNS metastases populations</a:t>
                      </a:r>
                    </a:p>
                    <a:p>
                      <a:pPr algn="l">
                        <a:spcAft>
                          <a:spcPts val="500"/>
                        </a:spcAft>
                      </a:pPr>
                      <a:r>
                        <a:rPr lang="en-US" sz="800" b="1" i="0">
                          <a:solidFill>
                            <a:schemeClr val="tx1"/>
                          </a:solidFill>
                          <a:latin typeface="+mn-lt"/>
                          <a:cs typeface="Poppins" pitchFamily="2" charset="77"/>
                        </a:rPr>
                        <a:t>HCPs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Informs optimal treatment sequencing and timing of BGB-58067 in CNS disease by clarifying activity in untreated and previously managed brain metastases</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Supports evidence-based treatment pathway integration and physician confidence in metastatic NSCLC management</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lvl="0" indent="-171450">
                        <a:spcAft>
                          <a:spcPts val="600"/>
                        </a:spcAft>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Adequate number of patients enrolled in the SAT and confirmatory trial to enable statistically meaningful comparisons between Tx-naïve vs. Tx-experienced groups with CNS mets </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569997677"/>
                  </a:ext>
                </a:extLst>
              </a:tr>
            </a:tbl>
          </a:graphicData>
        </a:graphic>
      </p:graphicFrame>
      <p:sp>
        <p:nvSpPr>
          <p:cNvPr id="51" name="Footer Placeholder 2">
            <a:extLst>
              <a:ext uri="{FF2B5EF4-FFF2-40B4-BE49-F238E27FC236}">
                <a16:creationId xmlns:a16="http://schemas.microsoft.com/office/drawing/2014/main" id="{E467F4E2-0F03-8543-16B2-020F64BC2B39}"/>
              </a:ext>
            </a:extLst>
          </p:cNvPr>
          <p:cNvSpPr>
            <a:spLocks noGrp="1"/>
          </p:cNvSpPr>
          <p:nvPr>
            <p:ph type="ftr" sz="quarter" idx="10"/>
          </p:nvPr>
        </p:nvSpPr>
        <p:spPr>
          <a:xfrm>
            <a:off x="358336" y="6436589"/>
            <a:ext cx="11128813" cy="343096"/>
          </a:xfrm>
        </p:spPr>
        <p:txBody>
          <a:bodyPr/>
          <a:lstStyle/>
          <a:p>
            <a:r>
              <a:rPr lang="en-US">
                <a:solidFill>
                  <a:srgbClr val="595959"/>
                </a:solidFill>
              </a:rPr>
              <a:t>Abbreviations: CDP: Clinical Development Plan; CNS: Central Nervous System; GA: Gated Priority; HCPs: Healthcare Professionals; NSCLC: Non-Small Cell Lung Cancer; PAGs: Patient Advocacy Groups; PRMT5: Protein Arginine Methyltransferase 5; PRO: Patient-Reported Outcome; SAT: Single-Arm Trial; SoC: Standard of Care; Tx: Treatment</a:t>
            </a:r>
          </a:p>
        </p:txBody>
      </p:sp>
      <p:sp>
        <p:nvSpPr>
          <p:cNvPr id="18" name="Rectangle 17">
            <a:extLst>
              <a:ext uri="{FF2B5EF4-FFF2-40B4-BE49-F238E27FC236}">
                <a16:creationId xmlns:a16="http://schemas.microsoft.com/office/drawing/2014/main" id="{CBE51945-0A49-24B7-93FF-5197D898F24F}"/>
              </a:ext>
            </a:extLst>
          </p:cNvPr>
          <p:cNvSpPr/>
          <p:nvPr/>
        </p:nvSpPr>
        <p:spPr>
          <a:xfrm>
            <a:off x="371289" y="1259201"/>
            <a:ext cx="2520000" cy="167267"/>
          </a:xfrm>
          <a:prstGeom prst="rect">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1: Differentiation</a:t>
            </a:r>
          </a:p>
        </p:txBody>
      </p:sp>
      <p:sp>
        <p:nvSpPr>
          <p:cNvPr id="19" name="Rectangle 18">
            <a:extLst>
              <a:ext uri="{FF2B5EF4-FFF2-40B4-BE49-F238E27FC236}">
                <a16:creationId xmlns:a16="http://schemas.microsoft.com/office/drawing/2014/main" id="{2046096B-3448-6AAA-EE78-1F6A3DB24C5D}"/>
              </a:ext>
            </a:extLst>
          </p:cNvPr>
          <p:cNvSpPr/>
          <p:nvPr/>
        </p:nvSpPr>
        <p:spPr>
          <a:xfrm>
            <a:off x="2940417"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2</a:t>
            </a:r>
          </a:p>
        </p:txBody>
      </p:sp>
      <p:sp>
        <p:nvSpPr>
          <p:cNvPr id="20" name="Rectangle 19">
            <a:extLst>
              <a:ext uri="{FF2B5EF4-FFF2-40B4-BE49-F238E27FC236}">
                <a16:creationId xmlns:a16="http://schemas.microsoft.com/office/drawing/2014/main" id="{2D2B43CB-67B0-2F4E-A3CC-CCA221045816}"/>
              </a:ext>
            </a:extLst>
          </p:cNvPr>
          <p:cNvSpPr/>
          <p:nvPr/>
        </p:nvSpPr>
        <p:spPr>
          <a:xfrm>
            <a:off x="3745545"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3</a:t>
            </a:r>
          </a:p>
        </p:txBody>
      </p:sp>
      <p:sp>
        <p:nvSpPr>
          <p:cNvPr id="21" name="Rectangle 20">
            <a:extLst>
              <a:ext uri="{FF2B5EF4-FFF2-40B4-BE49-F238E27FC236}">
                <a16:creationId xmlns:a16="http://schemas.microsoft.com/office/drawing/2014/main" id="{5E4F1AC0-007C-3742-54B4-0AFEF2A3FB23}"/>
              </a:ext>
            </a:extLst>
          </p:cNvPr>
          <p:cNvSpPr/>
          <p:nvPr/>
        </p:nvSpPr>
        <p:spPr>
          <a:xfrm>
            <a:off x="4550674"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4</a:t>
            </a:r>
          </a:p>
        </p:txBody>
      </p:sp>
      <p:sp>
        <p:nvSpPr>
          <p:cNvPr id="4" name="TextBox 3">
            <a:extLst>
              <a:ext uri="{FF2B5EF4-FFF2-40B4-BE49-F238E27FC236}">
                <a16:creationId xmlns:a16="http://schemas.microsoft.com/office/drawing/2014/main" id="{72ECC13D-2BD7-D87B-5A54-A806F1BC4F4B}"/>
              </a:ext>
            </a:extLst>
          </p:cNvPr>
          <p:cNvSpPr txBox="1"/>
          <p:nvPr/>
        </p:nvSpPr>
        <p:spPr>
          <a:xfrm>
            <a:off x="304800" y="6216936"/>
            <a:ext cx="5283720" cy="307777"/>
          </a:xfrm>
          <a:prstGeom prst="rect">
            <a:avLst/>
          </a:prstGeom>
          <a:noFill/>
        </p:spPr>
        <p:txBody>
          <a:bodyPr wrap="square" lIns="36000" tIns="91440" rIns="36000" bIns="91440" rtlCol="0">
            <a:spAutoFit/>
          </a:bodyPr>
          <a:lstStyle/>
          <a:p>
            <a:pPr>
              <a:spcBef>
                <a:spcPts val="600"/>
              </a:spcBef>
            </a:pPr>
            <a:r>
              <a:rPr lang="en-US" sz="800" b="1"/>
              <a:t>Key:  Listed stakeholders represent the primary target audience for the evidence generated</a:t>
            </a:r>
          </a:p>
        </p:txBody>
      </p:sp>
      <p:grpSp>
        <p:nvGrpSpPr>
          <p:cNvPr id="2" name="Group 1">
            <a:extLst>
              <a:ext uri="{FF2B5EF4-FFF2-40B4-BE49-F238E27FC236}">
                <a16:creationId xmlns:a16="http://schemas.microsoft.com/office/drawing/2014/main" id="{D41F8F01-C55E-FC53-2C16-AD2A8E107C32}"/>
              </a:ext>
            </a:extLst>
          </p:cNvPr>
          <p:cNvGrpSpPr/>
          <p:nvPr/>
        </p:nvGrpSpPr>
        <p:grpSpPr>
          <a:xfrm>
            <a:off x="362743" y="10216"/>
            <a:ext cx="10042505" cy="252000"/>
            <a:chOff x="362743" y="10216"/>
            <a:chExt cx="10042505" cy="252000"/>
          </a:xfrm>
        </p:grpSpPr>
        <p:sp>
          <p:nvSpPr>
            <p:cNvPr id="5" name="Pentagon 47">
              <a:extLst>
                <a:ext uri="{FF2B5EF4-FFF2-40B4-BE49-F238E27FC236}">
                  <a16:creationId xmlns:a16="http://schemas.microsoft.com/office/drawing/2014/main" id="{5F5B7B3C-05DF-58A4-01E0-16A2B095D6CD}"/>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6" name="Chevron 48">
              <a:extLst>
                <a:ext uri="{FF2B5EF4-FFF2-40B4-BE49-F238E27FC236}">
                  <a16:creationId xmlns:a16="http://schemas.microsoft.com/office/drawing/2014/main" id="{D76B4328-109E-C561-2AC0-1809737EA7FA}"/>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7" name="Chevron 52">
              <a:extLst>
                <a:ext uri="{FF2B5EF4-FFF2-40B4-BE49-F238E27FC236}">
                  <a16:creationId xmlns:a16="http://schemas.microsoft.com/office/drawing/2014/main" id="{1C3BE4A4-ABA4-89F5-E8B7-962BCCACBFA0}"/>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8" name="Chevron 54">
              <a:extLst>
                <a:ext uri="{FF2B5EF4-FFF2-40B4-BE49-F238E27FC236}">
                  <a16:creationId xmlns:a16="http://schemas.microsoft.com/office/drawing/2014/main" id="{B77F547C-7494-3B5B-BFBB-701CFF25FF4E}"/>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9" name="Chevron 48">
              <a:extLst>
                <a:ext uri="{FF2B5EF4-FFF2-40B4-BE49-F238E27FC236}">
                  <a16:creationId xmlns:a16="http://schemas.microsoft.com/office/drawing/2014/main" id="{C70A6FFB-7789-5EB6-222F-A12A16A0E59E}"/>
                </a:ext>
              </a:extLst>
            </p:cNvPr>
            <p:cNvSpPr/>
            <p:nvPr/>
          </p:nvSpPr>
          <p:spPr>
            <a:xfrm>
              <a:off x="7040535"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1" name="Chevron 48">
              <a:extLst>
                <a:ext uri="{FF2B5EF4-FFF2-40B4-BE49-F238E27FC236}">
                  <a16:creationId xmlns:a16="http://schemas.microsoft.com/office/drawing/2014/main" id="{07503DE0-F934-2B01-2EB6-38F5511FA975}"/>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6043096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49B46-A03A-AB84-E83D-AD6709D57907}"/>
            </a:ext>
          </a:extLst>
        </p:cNvPr>
        <p:cNvGrpSpPr/>
        <p:nvPr/>
      </p:nvGrpSpPr>
      <p:grpSpPr>
        <a:xfrm>
          <a:off x="0" y="0"/>
          <a:ext cx="0" cy="0"/>
          <a:chOff x="0" y="0"/>
          <a:chExt cx="0" cy="0"/>
        </a:xfrm>
      </p:grpSpPr>
      <p:graphicFrame>
        <p:nvGraphicFramePr>
          <p:cNvPr id="59" name="think-cell data - do not delete" hidden="1">
            <a:extLst>
              <a:ext uri="{FF2B5EF4-FFF2-40B4-BE49-F238E27FC236}">
                <a16:creationId xmlns:a16="http://schemas.microsoft.com/office/drawing/2014/main" id="{AF48C25B-7F33-AE33-A19C-5E5ED70834FE}"/>
              </a:ext>
            </a:extLst>
          </p:cNvPr>
          <p:cNvGraphicFramePr>
            <a:graphicFrameLocks/>
          </p:cNvGraphicFramePr>
          <p:nvPr>
            <p:custDataLst>
              <p:tags r:id="rId1"/>
            </p:custDataLst>
            <p:extLst>
              <p:ext uri="{D42A27DB-BD31-4B8C-83A1-F6EECF244321}">
                <p14:modId xmlns:p14="http://schemas.microsoft.com/office/powerpoint/2010/main" val="14798510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59" name="think-cell data - do not delete" hidden="1">
                        <a:extLst>
                          <a:ext uri="{FF2B5EF4-FFF2-40B4-BE49-F238E27FC236}">
                            <a16:creationId xmlns:a16="http://schemas.microsoft.com/office/drawing/2014/main" id="{AF48C25B-7F33-AE33-A19C-5E5ED70834F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8" name="Title 57">
            <a:extLst>
              <a:ext uri="{FF2B5EF4-FFF2-40B4-BE49-F238E27FC236}">
                <a16:creationId xmlns:a16="http://schemas.microsoft.com/office/drawing/2014/main" id="{62A5C41F-6A42-DDD2-56BE-BB03667EAC6F}"/>
              </a:ext>
            </a:extLst>
          </p:cNvPr>
          <p:cNvSpPr>
            <a:spLocks noGrp="1"/>
          </p:cNvSpPr>
          <p:nvPr>
            <p:ph type="title"/>
          </p:nvPr>
        </p:nvSpPr>
        <p:spPr>
          <a:xfrm>
            <a:off x="358337" y="338328"/>
            <a:ext cx="11470125" cy="369332"/>
          </a:xfrm>
        </p:spPr>
        <p:txBody>
          <a:bodyPr vert="horz" rIns="0">
            <a:spAutoFit/>
          </a:bodyPr>
          <a:lstStyle/>
          <a:p>
            <a:r>
              <a:rPr lang="en-US" sz="2400"/>
              <a:t>Overview of Gated Gaps deprioritized for tactical development (2/5)</a:t>
            </a:r>
          </a:p>
        </p:txBody>
      </p:sp>
      <p:graphicFrame>
        <p:nvGraphicFramePr>
          <p:cNvPr id="3" name="Table 2">
            <a:extLst>
              <a:ext uri="{FF2B5EF4-FFF2-40B4-BE49-F238E27FC236}">
                <a16:creationId xmlns:a16="http://schemas.microsoft.com/office/drawing/2014/main" id="{17CB5AE2-1F71-33BC-3FB5-DA83B6DD4B14}"/>
              </a:ext>
            </a:extLst>
          </p:cNvPr>
          <p:cNvGraphicFramePr>
            <a:graphicFrameLocks noGrp="1"/>
          </p:cNvGraphicFramePr>
          <p:nvPr>
            <p:extLst>
              <p:ext uri="{D42A27DB-BD31-4B8C-83A1-F6EECF244321}">
                <p14:modId xmlns:p14="http://schemas.microsoft.com/office/powerpoint/2010/main" val="647437014"/>
              </p:ext>
            </p:extLst>
          </p:nvPr>
        </p:nvGraphicFramePr>
        <p:xfrm>
          <a:off x="362744" y="1554580"/>
          <a:ext cx="11465718" cy="4025520"/>
        </p:xfrm>
        <a:graphic>
          <a:graphicData uri="http://schemas.openxmlformats.org/drawingml/2006/table">
            <a:tbl>
              <a:tblPr bandRow="1">
                <a:tableStyleId>{5C22544A-7EE6-4342-B048-85BDC9FD1C3A}</a:tableStyleId>
              </a:tblPr>
              <a:tblGrid>
                <a:gridCol w="456122">
                  <a:extLst>
                    <a:ext uri="{9D8B030D-6E8A-4147-A177-3AD203B41FA5}">
                      <a16:colId xmlns:a16="http://schemas.microsoft.com/office/drawing/2014/main" val="3412371623"/>
                    </a:ext>
                  </a:extLst>
                </a:gridCol>
                <a:gridCol w="1723301">
                  <a:extLst>
                    <a:ext uri="{9D8B030D-6E8A-4147-A177-3AD203B41FA5}">
                      <a16:colId xmlns:a16="http://schemas.microsoft.com/office/drawing/2014/main" val="1720362591"/>
                    </a:ext>
                  </a:extLst>
                </a:gridCol>
                <a:gridCol w="3001431">
                  <a:extLst>
                    <a:ext uri="{9D8B030D-6E8A-4147-A177-3AD203B41FA5}">
                      <a16:colId xmlns:a16="http://schemas.microsoft.com/office/drawing/2014/main" val="1362236069"/>
                    </a:ext>
                  </a:extLst>
                </a:gridCol>
                <a:gridCol w="3778646">
                  <a:extLst>
                    <a:ext uri="{9D8B030D-6E8A-4147-A177-3AD203B41FA5}">
                      <a16:colId xmlns:a16="http://schemas.microsoft.com/office/drawing/2014/main" val="366937182"/>
                    </a:ext>
                  </a:extLst>
                </a:gridCol>
                <a:gridCol w="2506218">
                  <a:extLst>
                    <a:ext uri="{9D8B030D-6E8A-4147-A177-3AD203B41FA5}">
                      <a16:colId xmlns:a16="http://schemas.microsoft.com/office/drawing/2014/main" val="320023064"/>
                    </a:ext>
                  </a:extLst>
                </a:gridCol>
              </a:tblGrid>
              <a:tr h="274320">
                <a:tc>
                  <a:txBody>
                    <a:bodyPr/>
                    <a:lstStyle/>
                    <a:p>
                      <a:pPr algn="ctr"/>
                      <a:r>
                        <a:rPr lang="en-US" sz="1200" b="1" i="0">
                          <a:solidFill>
                            <a:schemeClr val="bg1"/>
                          </a:solidFill>
                          <a:latin typeface="+mn-lt"/>
                          <a:cs typeface="Poppins" pitchFamily="2" charset="77"/>
                        </a:rPr>
                        <a:t>SI</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200" b="1" i="0">
                          <a:solidFill>
                            <a:schemeClr val="bg1"/>
                          </a:solidFill>
                          <a:latin typeface="+mn-lt"/>
                          <a:cs typeface="Poppins" pitchFamily="2" charset="77"/>
                        </a:rPr>
                        <a:t>Gap ID  and Theme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200" b="1" i="0">
                          <a:solidFill>
                            <a:schemeClr val="bg1"/>
                          </a:solidFill>
                          <a:latin typeface="+mn-lt"/>
                          <a:cs typeface="Poppins" pitchFamily="2" charset="77"/>
                        </a:rPr>
                        <a:t>Evidence Gap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200" b="1" i="0">
                          <a:solidFill>
                            <a:schemeClr val="bg1"/>
                          </a:solidFill>
                          <a:latin typeface="+mn-lt"/>
                          <a:cs typeface="Poppins" pitchFamily="2" charset="77"/>
                        </a:rPr>
                        <a:t>Rationale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200" b="1" i="0">
                          <a:solidFill>
                            <a:schemeClr val="bg1"/>
                          </a:solidFill>
                          <a:latin typeface="+mn-lt"/>
                          <a:cs typeface="Poppins" pitchFamily="2" charset="77"/>
                        </a:rPr>
                        <a:t>What Gates This Gap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2323510155"/>
                  </a:ext>
                </a:extLst>
              </a:tr>
              <a:tr h="2011680">
                <a:tc>
                  <a:txBody>
                    <a:bodyPr/>
                    <a:lstStyle/>
                    <a:p>
                      <a:pPr algn="l"/>
                      <a:endParaRPr lang="en-US" sz="1000" b="0"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l"/>
                      <a:r>
                        <a:rPr lang="en-US" sz="1100" b="1" i="0">
                          <a:solidFill>
                            <a:schemeClr val="tx1"/>
                          </a:solidFill>
                          <a:latin typeface="+mn-lt"/>
                          <a:cs typeface="Poppins" pitchFamily="2" charset="77"/>
                        </a:rPr>
                        <a:t>NSCLC_GA_03</a:t>
                      </a:r>
                    </a:p>
                    <a:p>
                      <a:pPr algn="l"/>
                      <a:r>
                        <a:rPr lang="en-US" sz="1000" b="0" i="0">
                          <a:solidFill>
                            <a:schemeClr val="tx1"/>
                          </a:solidFill>
                          <a:latin typeface="+mn-lt"/>
                          <a:cs typeface="Poppins" pitchFamily="2" charset="77"/>
                        </a:rPr>
                        <a:t>Efficacy/Safety</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spcAft>
                          <a:spcPts val="500"/>
                        </a:spcAft>
                      </a:pPr>
                      <a:r>
                        <a:rPr lang="en-US" sz="1000" b="0" i="1">
                          <a:solidFill>
                            <a:schemeClr val="tx1"/>
                          </a:solidFill>
                          <a:latin typeface="+mn-lt"/>
                          <a:cs typeface="Poppins" pitchFamily="2" charset="77"/>
                        </a:rPr>
                        <a:t>(2L) </a:t>
                      </a:r>
                      <a:r>
                        <a:rPr lang="en-US" sz="1000" b="0" i="0">
                          <a:solidFill>
                            <a:schemeClr val="tx1"/>
                          </a:solidFill>
                          <a:latin typeface="+mn-lt"/>
                          <a:cs typeface="Poppins" pitchFamily="2" charset="77"/>
                        </a:rPr>
                        <a:t>(1L and 2L+) Safety management and dose optimization for PRMT5i class-related toxicities</a:t>
                      </a:r>
                      <a:br>
                        <a:rPr lang="en-US" sz="1000" b="0" i="0">
                          <a:solidFill>
                            <a:schemeClr val="tx1"/>
                          </a:solidFill>
                          <a:latin typeface="+mn-lt"/>
                          <a:cs typeface="Poppins" pitchFamily="2" charset="77"/>
                        </a:rPr>
                      </a:br>
                      <a:r>
                        <a:rPr lang="en-US" sz="1000" b="0" i="0">
                          <a:solidFill>
                            <a:schemeClr val="tx1"/>
                          </a:solidFill>
                          <a:latin typeface="+mn-lt"/>
                          <a:cs typeface="Poppins" pitchFamily="2" charset="77"/>
                        </a:rPr>
                        <a:t>in routine clinical practice</a:t>
                      </a:r>
                    </a:p>
                    <a:p>
                      <a:pPr algn="l">
                        <a:spcAft>
                          <a:spcPts val="500"/>
                        </a:spcAft>
                      </a:pPr>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Patients and PAGs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Establishes practical, evidence-based management protocols for class-related PRMT5 inhibitor toxicities, including dose modification and supportive care strategies that preserve efficacy and patient-reported HRQoL</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Supports prescriber confidence and adoption across lines of therapy</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lvl="0" indent="-171450">
                        <a:spcAft>
                          <a:spcPts val="600"/>
                        </a:spcAft>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Availability of evolving PRMT5i class efficacy and safety benchmarks to define relevant endpoints and enable meaningful differentiation vs. competitors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643963820"/>
                  </a:ext>
                </a:extLst>
              </a:tr>
              <a:tr h="1737360">
                <a:tc>
                  <a:txBody>
                    <a:bodyPr/>
                    <a:lstStyle/>
                    <a:p>
                      <a:pPr algn="l"/>
                      <a:endParaRPr lang="en-US" sz="1000" b="0"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l"/>
                      <a:r>
                        <a:rPr lang="en-US" sz="1100" b="1" i="0">
                          <a:solidFill>
                            <a:schemeClr val="tx1"/>
                          </a:solidFill>
                          <a:latin typeface="+mn-lt"/>
                          <a:cs typeface="Poppins" pitchFamily="2" charset="77"/>
                        </a:rPr>
                        <a:t>NSCLC_GA_04</a:t>
                      </a:r>
                    </a:p>
                    <a:p>
                      <a:pPr algn="l"/>
                      <a:r>
                        <a:rPr lang="en-US" sz="1000" b="0" i="0">
                          <a:solidFill>
                            <a:schemeClr val="tx1"/>
                          </a:solidFill>
                          <a:latin typeface="+mn-lt"/>
                          <a:cs typeface="Poppins" pitchFamily="2" charset="77"/>
                        </a:rPr>
                        <a:t>Patient and Economic Value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a:spcAft>
                          <a:spcPts val="500"/>
                        </a:spcAft>
                      </a:pPr>
                      <a:r>
                        <a:rPr lang="en-US" sz="1000" b="0" i="1">
                          <a:solidFill>
                            <a:schemeClr val="tx1"/>
                          </a:solidFill>
                          <a:latin typeface="+mn-lt"/>
                          <a:cs typeface="Poppins" pitchFamily="2" charset="77"/>
                        </a:rPr>
                        <a:t>(1L and 2L+) </a:t>
                      </a:r>
                      <a:r>
                        <a:rPr lang="en-US" sz="1000" b="0" i="0">
                          <a:solidFill>
                            <a:schemeClr val="tx1"/>
                          </a:solidFill>
                          <a:latin typeface="+mn-lt"/>
                          <a:cs typeface="Poppins" pitchFamily="2" charset="77"/>
                        </a:rPr>
                        <a:t>BGB-58067's long-term data on treatment compliance patterns</a:t>
                      </a:r>
                    </a:p>
                    <a:p>
                      <a:pPr algn="l">
                        <a:spcAft>
                          <a:spcPts val="500"/>
                        </a:spcAft>
                      </a:pPr>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Patients and PAGs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Quantifies variability in treatment compliance across markets and its impact on effectiveness to inform real-world optimization strategies</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Evaluates the impact of cost, access, and system-level factors on treatment adherence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lvl="0" indent="-171450">
                        <a:spcAft>
                          <a:spcPts val="600"/>
                        </a:spcAft>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Prerequisite marketing authorization to collect real world data on treatment compliance patterns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132540175"/>
                  </a:ext>
                </a:extLst>
              </a:tr>
            </a:tbl>
          </a:graphicData>
        </a:graphic>
      </p:graphicFrame>
      <p:sp>
        <p:nvSpPr>
          <p:cNvPr id="51" name="Footer Placeholder 2">
            <a:extLst>
              <a:ext uri="{FF2B5EF4-FFF2-40B4-BE49-F238E27FC236}">
                <a16:creationId xmlns:a16="http://schemas.microsoft.com/office/drawing/2014/main" id="{DEE5E7E8-C802-A800-60EB-5D8A0A1F45B4}"/>
              </a:ext>
            </a:extLst>
          </p:cNvPr>
          <p:cNvSpPr>
            <a:spLocks noGrp="1"/>
          </p:cNvSpPr>
          <p:nvPr>
            <p:ph type="ftr" sz="quarter" idx="10"/>
          </p:nvPr>
        </p:nvSpPr>
        <p:spPr>
          <a:xfrm>
            <a:off x="358336" y="6436589"/>
            <a:ext cx="11128813" cy="343096"/>
          </a:xfrm>
        </p:spPr>
        <p:txBody>
          <a:bodyPr/>
          <a:lstStyle/>
          <a:p>
            <a:r>
              <a:rPr lang="en-US">
                <a:solidFill>
                  <a:srgbClr val="595959"/>
                </a:solidFill>
              </a:rPr>
              <a:t>Abbreviations: GA: Gated Priority; HCP: Healthcare Professional; </a:t>
            </a:r>
            <a:r>
              <a:rPr lang="en-US" err="1">
                <a:solidFill>
                  <a:srgbClr val="595959"/>
                </a:solidFill>
              </a:rPr>
              <a:t>HRQoL</a:t>
            </a:r>
            <a:r>
              <a:rPr lang="en-US">
                <a:solidFill>
                  <a:srgbClr val="595959"/>
                </a:solidFill>
              </a:rPr>
              <a:t>: Health-Related Quality of Life; NSCLC: Non-Small Cell Lung Cancer; PAG: Patient Advocacy Group; PRMT5: Protein Arginine Methyltransferase 5; PRMT5i: Protein Arginine Methyltransferase 5 Inhibitor</a:t>
            </a:r>
          </a:p>
        </p:txBody>
      </p:sp>
      <p:sp>
        <p:nvSpPr>
          <p:cNvPr id="18" name="Rectangle 17">
            <a:extLst>
              <a:ext uri="{FF2B5EF4-FFF2-40B4-BE49-F238E27FC236}">
                <a16:creationId xmlns:a16="http://schemas.microsoft.com/office/drawing/2014/main" id="{945CA2F7-0FE1-CCF0-4194-6EAF1ABD6586}"/>
              </a:ext>
            </a:extLst>
          </p:cNvPr>
          <p:cNvSpPr/>
          <p:nvPr/>
        </p:nvSpPr>
        <p:spPr>
          <a:xfrm>
            <a:off x="371289" y="1259201"/>
            <a:ext cx="2520000" cy="167267"/>
          </a:xfrm>
          <a:prstGeom prst="rect">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1: Differentiation</a:t>
            </a:r>
          </a:p>
        </p:txBody>
      </p:sp>
      <p:sp>
        <p:nvSpPr>
          <p:cNvPr id="19" name="Rectangle 18">
            <a:extLst>
              <a:ext uri="{FF2B5EF4-FFF2-40B4-BE49-F238E27FC236}">
                <a16:creationId xmlns:a16="http://schemas.microsoft.com/office/drawing/2014/main" id="{2C5F0685-A7F8-A88A-2869-E1DB8E00ED0B}"/>
              </a:ext>
            </a:extLst>
          </p:cNvPr>
          <p:cNvSpPr/>
          <p:nvPr/>
        </p:nvSpPr>
        <p:spPr>
          <a:xfrm>
            <a:off x="2940417"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2</a:t>
            </a:r>
          </a:p>
        </p:txBody>
      </p:sp>
      <p:sp>
        <p:nvSpPr>
          <p:cNvPr id="20" name="Rectangle 19">
            <a:extLst>
              <a:ext uri="{FF2B5EF4-FFF2-40B4-BE49-F238E27FC236}">
                <a16:creationId xmlns:a16="http://schemas.microsoft.com/office/drawing/2014/main" id="{1E08DF6B-916F-EBBB-A241-377048B1E556}"/>
              </a:ext>
            </a:extLst>
          </p:cNvPr>
          <p:cNvSpPr/>
          <p:nvPr/>
        </p:nvSpPr>
        <p:spPr>
          <a:xfrm>
            <a:off x="3745545"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3</a:t>
            </a:r>
          </a:p>
        </p:txBody>
      </p:sp>
      <p:sp>
        <p:nvSpPr>
          <p:cNvPr id="21" name="Rectangle 20">
            <a:extLst>
              <a:ext uri="{FF2B5EF4-FFF2-40B4-BE49-F238E27FC236}">
                <a16:creationId xmlns:a16="http://schemas.microsoft.com/office/drawing/2014/main" id="{78402C5D-330A-0F82-9B6F-1258EDFD97ED}"/>
              </a:ext>
            </a:extLst>
          </p:cNvPr>
          <p:cNvSpPr/>
          <p:nvPr/>
        </p:nvSpPr>
        <p:spPr>
          <a:xfrm>
            <a:off x="4550674"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4</a:t>
            </a:r>
          </a:p>
        </p:txBody>
      </p:sp>
      <p:sp>
        <p:nvSpPr>
          <p:cNvPr id="4" name="TextBox 3">
            <a:extLst>
              <a:ext uri="{FF2B5EF4-FFF2-40B4-BE49-F238E27FC236}">
                <a16:creationId xmlns:a16="http://schemas.microsoft.com/office/drawing/2014/main" id="{E7B15AA4-A5F9-E8C0-E8F0-B50C21BC6A4F}"/>
              </a:ext>
            </a:extLst>
          </p:cNvPr>
          <p:cNvSpPr txBox="1"/>
          <p:nvPr/>
        </p:nvSpPr>
        <p:spPr>
          <a:xfrm>
            <a:off x="304800" y="6216936"/>
            <a:ext cx="5283720" cy="307777"/>
          </a:xfrm>
          <a:prstGeom prst="rect">
            <a:avLst/>
          </a:prstGeom>
          <a:noFill/>
        </p:spPr>
        <p:txBody>
          <a:bodyPr wrap="square" lIns="36000" tIns="91440" rIns="36000" bIns="91440" rtlCol="0">
            <a:spAutoFit/>
          </a:bodyPr>
          <a:lstStyle/>
          <a:p>
            <a:pPr>
              <a:spcBef>
                <a:spcPts val="600"/>
              </a:spcBef>
            </a:pPr>
            <a:r>
              <a:rPr lang="en-US" sz="800" b="1"/>
              <a:t>Key:  Listed stakeholders represent the primary target audience for the evidence generated</a:t>
            </a:r>
          </a:p>
        </p:txBody>
      </p:sp>
      <p:grpSp>
        <p:nvGrpSpPr>
          <p:cNvPr id="2" name="Group 1">
            <a:extLst>
              <a:ext uri="{FF2B5EF4-FFF2-40B4-BE49-F238E27FC236}">
                <a16:creationId xmlns:a16="http://schemas.microsoft.com/office/drawing/2014/main" id="{CA33CA9F-D024-8205-B935-02D017C67D9D}"/>
              </a:ext>
            </a:extLst>
          </p:cNvPr>
          <p:cNvGrpSpPr/>
          <p:nvPr/>
        </p:nvGrpSpPr>
        <p:grpSpPr>
          <a:xfrm>
            <a:off x="362743" y="10216"/>
            <a:ext cx="10042505" cy="252000"/>
            <a:chOff x="362743" y="10216"/>
            <a:chExt cx="10042505" cy="252000"/>
          </a:xfrm>
        </p:grpSpPr>
        <p:sp>
          <p:nvSpPr>
            <p:cNvPr id="5" name="Pentagon 47">
              <a:extLst>
                <a:ext uri="{FF2B5EF4-FFF2-40B4-BE49-F238E27FC236}">
                  <a16:creationId xmlns:a16="http://schemas.microsoft.com/office/drawing/2014/main" id="{8C694C74-779D-A53D-906B-AD36A4190815}"/>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6" name="Chevron 48">
              <a:extLst>
                <a:ext uri="{FF2B5EF4-FFF2-40B4-BE49-F238E27FC236}">
                  <a16:creationId xmlns:a16="http://schemas.microsoft.com/office/drawing/2014/main" id="{54F55400-7A4B-56F8-B7AC-029ABCA8D661}"/>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7" name="Chevron 52">
              <a:extLst>
                <a:ext uri="{FF2B5EF4-FFF2-40B4-BE49-F238E27FC236}">
                  <a16:creationId xmlns:a16="http://schemas.microsoft.com/office/drawing/2014/main" id="{45FD9AB7-5309-575A-F247-68E9F7D6CD74}"/>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8" name="Chevron 54">
              <a:extLst>
                <a:ext uri="{FF2B5EF4-FFF2-40B4-BE49-F238E27FC236}">
                  <a16:creationId xmlns:a16="http://schemas.microsoft.com/office/drawing/2014/main" id="{38FEE45B-1CEB-9007-5254-78FB4BF4D83D}"/>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9" name="Chevron 48">
              <a:extLst>
                <a:ext uri="{FF2B5EF4-FFF2-40B4-BE49-F238E27FC236}">
                  <a16:creationId xmlns:a16="http://schemas.microsoft.com/office/drawing/2014/main" id="{699C0C88-BE3E-E382-F0DE-F2671E607ECC}"/>
                </a:ext>
              </a:extLst>
            </p:cNvPr>
            <p:cNvSpPr/>
            <p:nvPr/>
          </p:nvSpPr>
          <p:spPr>
            <a:xfrm>
              <a:off x="7040535"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1" name="Chevron 48">
              <a:extLst>
                <a:ext uri="{FF2B5EF4-FFF2-40B4-BE49-F238E27FC236}">
                  <a16:creationId xmlns:a16="http://schemas.microsoft.com/office/drawing/2014/main" id="{F95C2534-C8D2-EB9F-178C-F9F9178FFDB9}"/>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38015406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94E13-9302-D214-E2ED-71415A153E0F}"/>
            </a:ext>
          </a:extLst>
        </p:cNvPr>
        <p:cNvGrpSpPr/>
        <p:nvPr/>
      </p:nvGrpSpPr>
      <p:grpSpPr>
        <a:xfrm>
          <a:off x="0" y="0"/>
          <a:ext cx="0" cy="0"/>
          <a:chOff x="0" y="0"/>
          <a:chExt cx="0" cy="0"/>
        </a:xfrm>
      </p:grpSpPr>
      <p:graphicFrame>
        <p:nvGraphicFramePr>
          <p:cNvPr id="59" name="think-cell data - do not delete" hidden="1">
            <a:extLst>
              <a:ext uri="{FF2B5EF4-FFF2-40B4-BE49-F238E27FC236}">
                <a16:creationId xmlns:a16="http://schemas.microsoft.com/office/drawing/2014/main" id="{93EB8968-5599-55B8-00C9-08984BBF4DA4}"/>
              </a:ext>
            </a:extLst>
          </p:cNvPr>
          <p:cNvGraphicFramePr>
            <a:graphicFrameLocks/>
          </p:cNvGraphicFramePr>
          <p:nvPr>
            <p:custDataLst>
              <p:tags r:id="rId1"/>
            </p:custDataLst>
            <p:extLst>
              <p:ext uri="{D42A27DB-BD31-4B8C-83A1-F6EECF244321}">
                <p14:modId xmlns:p14="http://schemas.microsoft.com/office/powerpoint/2010/main" val="6181830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59" name="think-cell data - do not delete" hidden="1">
                        <a:extLst>
                          <a:ext uri="{FF2B5EF4-FFF2-40B4-BE49-F238E27FC236}">
                            <a16:creationId xmlns:a16="http://schemas.microsoft.com/office/drawing/2014/main" id="{93EB8968-5599-55B8-00C9-08984BBF4DA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8" name="Title 57">
            <a:extLst>
              <a:ext uri="{FF2B5EF4-FFF2-40B4-BE49-F238E27FC236}">
                <a16:creationId xmlns:a16="http://schemas.microsoft.com/office/drawing/2014/main" id="{CA750194-7D9E-73FF-C484-B5DC433AD8D1}"/>
              </a:ext>
            </a:extLst>
          </p:cNvPr>
          <p:cNvSpPr>
            <a:spLocks noGrp="1"/>
          </p:cNvSpPr>
          <p:nvPr>
            <p:ph type="title"/>
          </p:nvPr>
        </p:nvSpPr>
        <p:spPr>
          <a:xfrm>
            <a:off x="358337" y="338328"/>
            <a:ext cx="11470125" cy="369332"/>
          </a:xfrm>
        </p:spPr>
        <p:txBody>
          <a:bodyPr vert="horz" rIns="0">
            <a:spAutoFit/>
          </a:bodyPr>
          <a:lstStyle/>
          <a:p>
            <a:r>
              <a:rPr lang="en-US" sz="2400"/>
              <a:t>Overview of Gated Gaps deprioritized for tactical development (3/5)</a:t>
            </a:r>
          </a:p>
        </p:txBody>
      </p:sp>
      <p:graphicFrame>
        <p:nvGraphicFramePr>
          <p:cNvPr id="3" name="Table 2">
            <a:extLst>
              <a:ext uri="{FF2B5EF4-FFF2-40B4-BE49-F238E27FC236}">
                <a16:creationId xmlns:a16="http://schemas.microsoft.com/office/drawing/2014/main" id="{C183D201-4ABA-4B59-E857-901456F90A15}"/>
              </a:ext>
            </a:extLst>
          </p:cNvPr>
          <p:cNvGraphicFramePr>
            <a:graphicFrameLocks noGrp="1"/>
          </p:cNvGraphicFramePr>
          <p:nvPr>
            <p:extLst>
              <p:ext uri="{D42A27DB-BD31-4B8C-83A1-F6EECF244321}">
                <p14:modId xmlns:p14="http://schemas.microsoft.com/office/powerpoint/2010/main" val="1201882914"/>
              </p:ext>
            </p:extLst>
          </p:nvPr>
        </p:nvGraphicFramePr>
        <p:xfrm>
          <a:off x="362744" y="1554581"/>
          <a:ext cx="11471711" cy="4705100"/>
        </p:xfrm>
        <a:graphic>
          <a:graphicData uri="http://schemas.openxmlformats.org/drawingml/2006/table">
            <a:tbl>
              <a:tblPr bandRow="1">
                <a:tableStyleId>{5C22544A-7EE6-4342-B048-85BDC9FD1C3A}</a:tableStyleId>
              </a:tblPr>
              <a:tblGrid>
                <a:gridCol w="457200">
                  <a:extLst>
                    <a:ext uri="{9D8B030D-6E8A-4147-A177-3AD203B41FA5}">
                      <a16:colId xmlns:a16="http://schemas.microsoft.com/office/drawing/2014/main" val="3412371623"/>
                    </a:ext>
                  </a:extLst>
                </a:gridCol>
                <a:gridCol w="1728216">
                  <a:extLst>
                    <a:ext uri="{9D8B030D-6E8A-4147-A177-3AD203B41FA5}">
                      <a16:colId xmlns:a16="http://schemas.microsoft.com/office/drawing/2014/main" val="1720362591"/>
                    </a:ext>
                  </a:extLst>
                </a:gridCol>
                <a:gridCol w="2604865">
                  <a:extLst>
                    <a:ext uri="{9D8B030D-6E8A-4147-A177-3AD203B41FA5}">
                      <a16:colId xmlns:a16="http://schemas.microsoft.com/office/drawing/2014/main" val="1362236069"/>
                    </a:ext>
                  </a:extLst>
                </a:gridCol>
                <a:gridCol w="3286125">
                  <a:extLst>
                    <a:ext uri="{9D8B030D-6E8A-4147-A177-3AD203B41FA5}">
                      <a16:colId xmlns:a16="http://schemas.microsoft.com/office/drawing/2014/main" val="366937182"/>
                    </a:ext>
                  </a:extLst>
                </a:gridCol>
                <a:gridCol w="3395305">
                  <a:extLst>
                    <a:ext uri="{9D8B030D-6E8A-4147-A177-3AD203B41FA5}">
                      <a16:colId xmlns:a16="http://schemas.microsoft.com/office/drawing/2014/main" val="320023064"/>
                    </a:ext>
                  </a:extLst>
                </a:gridCol>
              </a:tblGrid>
              <a:tr h="237645">
                <a:tc>
                  <a:txBody>
                    <a:bodyPr/>
                    <a:lstStyle/>
                    <a:p>
                      <a:pPr algn="ctr"/>
                      <a:r>
                        <a:rPr lang="en-US" sz="1200" b="1" i="0">
                          <a:solidFill>
                            <a:schemeClr val="bg1"/>
                          </a:solidFill>
                          <a:latin typeface="+mn-lt"/>
                          <a:cs typeface="Poppins" pitchFamily="2" charset="77"/>
                        </a:rPr>
                        <a:t>SI</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200" b="1" i="0">
                          <a:solidFill>
                            <a:schemeClr val="bg1"/>
                          </a:solidFill>
                          <a:latin typeface="+mn-lt"/>
                          <a:cs typeface="Poppins" pitchFamily="2" charset="77"/>
                        </a:rPr>
                        <a:t>Gap ID  and Theme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200" b="1" i="0">
                          <a:solidFill>
                            <a:schemeClr val="bg1"/>
                          </a:solidFill>
                          <a:latin typeface="+mn-lt"/>
                          <a:cs typeface="Poppins" pitchFamily="2" charset="77"/>
                        </a:rPr>
                        <a:t>Evidence Gap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200" b="1" i="0">
                          <a:solidFill>
                            <a:schemeClr val="bg1"/>
                          </a:solidFill>
                          <a:latin typeface="+mn-lt"/>
                          <a:cs typeface="Poppins" pitchFamily="2" charset="77"/>
                        </a:rPr>
                        <a:t>Rationale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200" b="1" i="0">
                          <a:solidFill>
                            <a:schemeClr val="bg1"/>
                          </a:solidFill>
                          <a:latin typeface="+mn-lt"/>
                          <a:cs typeface="Poppins" pitchFamily="2" charset="77"/>
                        </a:rPr>
                        <a:t>What Gates This Gap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2323510155"/>
                  </a:ext>
                </a:extLst>
              </a:tr>
              <a:tr h="1455888">
                <a:tc>
                  <a:txBody>
                    <a:bodyPr/>
                    <a:lstStyle/>
                    <a:p>
                      <a:pPr algn="l"/>
                      <a:endParaRPr lang="en-US" sz="1000" b="0"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a:solidFill>
                            <a:schemeClr val="tx1"/>
                          </a:solidFill>
                          <a:latin typeface="+mn-lt"/>
                          <a:cs typeface="Poppins" pitchFamily="2" charset="77"/>
                        </a:rPr>
                        <a:t>NSCLC_GA_05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1"/>
                          </a:solidFill>
                          <a:latin typeface="+mn-lt"/>
                          <a:cs typeface="Poppins" pitchFamily="2" charset="77"/>
                        </a:rPr>
                        <a:t>Predictors of Response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spcAft>
                          <a:spcPts val="500"/>
                        </a:spcAft>
                      </a:pPr>
                      <a:r>
                        <a:rPr lang="en-US" sz="1000" b="0" i="1">
                          <a:solidFill>
                            <a:schemeClr val="tx1"/>
                          </a:solidFill>
                          <a:latin typeface="+mn-lt"/>
                          <a:cs typeface="Poppins" pitchFamily="2" charset="77"/>
                        </a:rPr>
                        <a:t>(1L and 2L+) </a:t>
                      </a:r>
                      <a:r>
                        <a:rPr lang="en-US" sz="1000" b="0" i="0">
                          <a:solidFill>
                            <a:schemeClr val="tx1"/>
                          </a:solidFill>
                          <a:latin typeface="+mn-lt"/>
                          <a:cs typeface="Poppins" pitchFamily="2" charset="77"/>
                        </a:rPr>
                        <a:t>Clinical predictive value of genomic MTAP deletion versus MTAP protein loss for BGB-58067 response </a:t>
                      </a:r>
                    </a:p>
                    <a:p>
                      <a:pPr algn="l"/>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  Regulators  Patients and PAGs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Enables targeted patient identification for treatment guidelines and uptake among oncologists as a clinically relevant targeted therapy</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Essential for CDx commercialization and market readiness assessment</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Enables healthcare system preparation</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Critical for value proposition and competitive advantage maintenance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lvl="0" indent="-171450">
                        <a:spcAft>
                          <a:spcPts val="600"/>
                        </a:spcAft>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Scope expansion of IEP to include additional indications where epigenetic silencing may have greater clinical implications than in NSCLC</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11915092"/>
                  </a:ext>
                </a:extLst>
              </a:tr>
              <a:tr h="1455888">
                <a:tc>
                  <a:txBody>
                    <a:bodyPr/>
                    <a:lstStyle/>
                    <a:p>
                      <a:pPr algn="l"/>
                      <a:endParaRPr lang="en-US" sz="1000" b="0"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a:solidFill>
                            <a:schemeClr val="tx1"/>
                          </a:solidFill>
                          <a:latin typeface="+mn-lt"/>
                          <a:cs typeface="Poppins" pitchFamily="2" charset="77"/>
                        </a:rPr>
                        <a:t>NSCLC_GA_06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1"/>
                          </a:solidFill>
                          <a:latin typeface="+mn-lt"/>
                          <a:cs typeface="Poppins" pitchFamily="2" charset="77"/>
                        </a:rPr>
                        <a:t>Predictors of Response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l">
                        <a:spcAft>
                          <a:spcPts val="500"/>
                        </a:spcAft>
                      </a:pPr>
                      <a:r>
                        <a:rPr lang="en-US" sz="1000" b="0" i="1">
                          <a:solidFill>
                            <a:schemeClr val="tx1"/>
                          </a:solidFill>
                          <a:latin typeface="+mn-lt"/>
                          <a:cs typeface="Poppins" pitchFamily="2" charset="77"/>
                        </a:rPr>
                        <a:t>(2L+) </a:t>
                      </a:r>
                      <a:r>
                        <a:rPr lang="en-US" sz="1000" b="0" i="0">
                          <a:solidFill>
                            <a:schemeClr val="tx1"/>
                          </a:solidFill>
                          <a:latin typeface="+mn-lt"/>
                          <a:cs typeface="Poppins" pitchFamily="2" charset="77"/>
                        </a:rPr>
                        <a:t>Comparative efficacy and safety of BGB-58067 vs. KRAS G12C inhibitors (Lumakras and Krazati) in MTAP-deleted NSCLC with KRAS co-mutations</a:t>
                      </a:r>
                    </a:p>
                    <a:p>
                      <a:pPr algn="l"/>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  Regulators  Patients and PAGs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Enables targeted patient identification for treatment guidelines and uptake among oncologists as a clinically relevant targeted therapy</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Essential for CDx commercialization and market readiness assessment</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Enables healthcare system preparation</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Critical for value proposition and competitive advantage maintenance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171450" lvl="0" indent="-171450">
                        <a:spcAft>
                          <a:spcPts val="600"/>
                        </a:spcAft>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Decision to pursue MTAP-deleted NSCLC with KRAS co-mutation subpopulation</a:t>
                      </a:r>
                    </a:p>
                    <a:p>
                      <a:pPr marL="171450" lvl="0" indent="-171450">
                        <a:spcAft>
                          <a:spcPts val="600"/>
                        </a:spcAft>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Emerging 2L+ KRAS G12C SoC, including potential displacement of current agents (e.g., Lumakras, Krazati) to inform comparator selection</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2569997677"/>
                  </a:ext>
                </a:extLst>
              </a:tr>
              <a:tr h="894798">
                <a:tc>
                  <a:txBody>
                    <a:bodyPr/>
                    <a:lstStyle/>
                    <a:p>
                      <a:pPr algn="l"/>
                      <a:endParaRPr lang="en-US" sz="1000" b="0"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a:solidFill>
                            <a:schemeClr val="tx1"/>
                          </a:solidFill>
                          <a:latin typeface="+mn-lt"/>
                          <a:cs typeface="Poppins" pitchFamily="2" charset="77"/>
                        </a:rPr>
                        <a:t>NSCLC_GA_07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1"/>
                          </a:solidFill>
                          <a:latin typeface="+mn-lt"/>
                          <a:cs typeface="Poppins" pitchFamily="2" charset="77"/>
                        </a:rPr>
                        <a:t>Testing</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spcAft>
                          <a:spcPts val="500"/>
                        </a:spcAft>
                      </a:pPr>
                      <a:r>
                        <a:rPr lang="en-US" sz="1000" b="0" i="1">
                          <a:solidFill>
                            <a:schemeClr val="tx1"/>
                          </a:solidFill>
                          <a:latin typeface="+mn-lt"/>
                          <a:cs typeface="Poppins" pitchFamily="2" charset="77"/>
                        </a:rPr>
                        <a:t>(1L, 2L+) </a:t>
                      </a:r>
                      <a:r>
                        <a:rPr lang="en-US" sz="1000" b="0" i="0">
                          <a:solidFill>
                            <a:schemeClr val="tx1"/>
                          </a:solidFill>
                          <a:latin typeface="+mn-lt"/>
                          <a:cs typeface="Poppins" pitchFamily="2" charset="77"/>
                        </a:rPr>
                        <a:t>Variability in MTAP testing (e.g., NGS/ IHC) </a:t>
                      </a:r>
                      <a:r>
                        <a:rPr lang="en-US" sz="1000" b="0" i="0" err="1">
                          <a:solidFill>
                            <a:schemeClr val="tx1"/>
                          </a:solidFill>
                          <a:latin typeface="+mn-lt"/>
                          <a:cs typeface="Poppins" pitchFamily="2" charset="77"/>
                        </a:rPr>
                        <a:t>infastructure</a:t>
                      </a:r>
                      <a:r>
                        <a:rPr lang="en-US" sz="1000" b="0" i="0">
                          <a:solidFill>
                            <a:schemeClr val="tx1"/>
                          </a:solidFill>
                          <a:latin typeface="+mn-lt"/>
                          <a:cs typeface="Poppins" pitchFamily="2" charset="77"/>
                        </a:rPr>
                        <a:t>, access, and interpretation across real world settings (i.e., new markets, community vs. academic settings)</a:t>
                      </a:r>
                    </a:p>
                    <a:p>
                      <a:pPr algn="l"/>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  Patients and PAGs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Evaluates MTAP testing access to inform real-world applicability and patient identification for BGB-58067</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lvl="0" indent="-171450">
                        <a:spcAft>
                          <a:spcPts val="600"/>
                        </a:spcAft>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Availability of MTAP-deletion targeted therapies to assess real world testing practices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52763385"/>
                  </a:ext>
                </a:extLst>
              </a:tr>
            </a:tbl>
          </a:graphicData>
        </a:graphic>
      </p:graphicFrame>
      <p:sp>
        <p:nvSpPr>
          <p:cNvPr id="51" name="Footer Placeholder 2">
            <a:extLst>
              <a:ext uri="{FF2B5EF4-FFF2-40B4-BE49-F238E27FC236}">
                <a16:creationId xmlns:a16="http://schemas.microsoft.com/office/drawing/2014/main" id="{AEFB4CF2-0EF2-EA7D-1607-47695CC5AF1B}"/>
              </a:ext>
            </a:extLst>
          </p:cNvPr>
          <p:cNvSpPr>
            <a:spLocks noGrp="1"/>
          </p:cNvSpPr>
          <p:nvPr>
            <p:ph type="ftr" sz="quarter" idx="10"/>
          </p:nvPr>
        </p:nvSpPr>
        <p:spPr>
          <a:xfrm>
            <a:off x="358336" y="6436589"/>
            <a:ext cx="11128813" cy="343096"/>
          </a:xfrm>
        </p:spPr>
        <p:txBody>
          <a:bodyPr/>
          <a:lstStyle/>
          <a:p>
            <a:r>
              <a:rPr lang="en-US">
                <a:solidFill>
                  <a:srgbClr val="595959"/>
                </a:solidFill>
              </a:rPr>
              <a:t>Abbreviations: </a:t>
            </a:r>
            <a:r>
              <a:rPr lang="en-US" err="1"/>
              <a:t>CDx</a:t>
            </a:r>
            <a:r>
              <a:rPr lang="en-US"/>
              <a:t>: Companion Diagnostic; GA: Gated Priority; HCP: Healthcare Professional; IEP: Integrated Evidence Plan; IHC: Immunohistochemistry; KRAS: Kirsten Rat Sarcoma Viral Oncogene Homolog; KRAS G12C: KRAS Glycine 12 to Cysteine Mutation; MTAP: </a:t>
            </a:r>
            <a:r>
              <a:rPr lang="en-US" err="1"/>
              <a:t>Methylthioadenosine</a:t>
            </a:r>
            <a:r>
              <a:rPr lang="en-US"/>
              <a:t> Phosphorylase; NGS: Next-Generation Sequencing; NSCLC: Non-Small Cell Lung Cancer; PAG: Patient Advocacy Group; SoC: Standard of Care</a:t>
            </a:r>
          </a:p>
        </p:txBody>
      </p:sp>
      <p:sp>
        <p:nvSpPr>
          <p:cNvPr id="19" name="Rectangle 18">
            <a:extLst>
              <a:ext uri="{FF2B5EF4-FFF2-40B4-BE49-F238E27FC236}">
                <a16:creationId xmlns:a16="http://schemas.microsoft.com/office/drawing/2014/main" id="{24322DBF-5630-9CB0-887B-046024CAF2F8}"/>
              </a:ext>
            </a:extLst>
          </p:cNvPr>
          <p:cNvSpPr/>
          <p:nvPr/>
        </p:nvSpPr>
        <p:spPr>
          <a:xfrm>
            <a:off x="371289"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1</a:t>
            </a:r>
          </a:p>
        </p:txBody>
      </p:sp>
      <p:sp>
        <p:nvSpPr>
          <p:cNvPr id="20" name="Rectangle 19">
            <a:extLst>
              <a:ext uri="{FF2B5EF4-FFF2-40B4-BE49-F238E27FC236}">
                <a16:creationId xmlns:a16="http://schemas.microsoft.com/office/drawing/2014/main" id="{9143760A-5CE7-48C2-67B5-D4DF320681C0}"/>
              </a:ext>
            </a:extLst>
          </p:cNvPr>
          <p:cNvSpPr/>
          <p:nvPr/>
        </p:nvSpPr>
        <p:spPr>
          <a:xfrm>
            <a:off x="3745545"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3</a:t>
            </a:r>
          </a:p>
        </p:txBody>
      </p:sp>
      <p:sp>
        <p:nvSpPr>
          <p:cNvPr id="21" name="Rectangle 20">
            <a:extLst>
              <a:ext uri="{FF2B5EF4-FFF2-40B4-BE49-F238E27FC236}">
                <a16:creationId xmlns:a16="http://schemas.microsoft.com/office/drawing/2014/main" id="{8BB25983-D698-9390-F124-112E95F82271}"/>
              </a:ext>
            </a:extLst>
          </p:cNvPr>
          <p:cNvSpPr/>
          <p:nvPr/>
        </p:nvSpPr>
        <p:spPr>
          <a:xfrm>
            <a:off x="1176417" y="1259201"/>
            <a:ext cx="2520000" cy="167267"/>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2: Biomarkers</a:t>
            </a:r>
          </a:p>
        </p:txBody>
      </p:sp>
      <p:sp>
        <p:nvSpPr>
          <p:cNvPr id="26" name="Rectangle 25">
            <a:extLst>
              <a:ext uri="{FF2B5EF4-FFF2-40B4-BE49-F238E27FC236}">
                <a16:creationId xmlns:a16="http://schemas.microsoft.com/office/drawing/2014/main" id="{B69FFF69-CC4A-65AD-9782-CCE04C4FA1A8}"/>
              </a:ext>
            </a:extLst>
          </p:cNvPr>
          <p:cNvSpPr/>
          <p:nvPr/>
        </p:nvSpPr>
        <p:spPr>
          <a:xfrm>
            <a:off x="4550674"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4</a:t>
            </a:r>
          </a:p>
        </p:txBody>
      </p:sp>
      <p:sp>
        <p:nvSpPr>
          <p:cNvPr id="4" name="TextBox 3">
            <a:extLst>
              <a:ext uri="{FF2B5EF4-FFF2-40B4-BE49-F238E27FC236}">
                <a16:creationId xmlns:a16="http://schemas.microsoft.com/office/drawing/2014/main" id="{B7AD91D5-125E-EB3F-AF6E-924801ED77EA}"/>
              </a:ext>
            </a:extLst>
          </p:cNvPr>
          <p:cNvSpPr txBox="1"/>
          <p:nvPr/>
        </p:nvSpPr>
        <p:spPr>
          <a:xfrm>
            <a:off x="304800" y="6216936"/>
            <a:ext cx="5283720" cy="307777"/>
          </a:xfrm>
          <a:prstGeom prst="rect">
            <a:avLst/>
          </a:prstGeom>
          <a:noFill/>
        </p:spPr>
        <p:txBody>
          <a:bodyPr wrap="square" lIns="36000" tIns="91440" rIns="36000" bIns="91440" rtlCol="0">
            <a:spAutoFit/>
          </a:bodyPr>
          <a:lstStyle/>
          <a:p>
            <a:pPr>
              <a:spcBef>
                <a:spcPts val="600"/>
              </a:spcBef>
            </a:pPr>
            <a:r>
              <a:rPr lang="en-US" sz="800" b="1"/>
              <a:t>Key:  Listed stakeholders represent the primary target audience for the evidence generated</a:t>
            </a:r>
          </a:p>
        </p:txBody>
      </p:sp>
      <p:grpSp>
        <p:nvGrpSpPr>
          <p:cNvPr id="2" name="Group 1">
            <a:extLst>
              <a:ext uri="{FF2B5EF4-FFF2-40B4-BE49-F238E27FC236}">
                <a16:creationId xmlns:a16="http://schemas.microsoft.com/office/drawing/2014/main" id="{6508F860-C896-86C4-4541-361BA25A5612}"/>
              </a:ext>
            </a:extLst>
          </p:cNvPr>
          <p:cNvGrpSpPr/>
          <p:nvPr/>
        </p:nvGrpSpPr>
        <p:grpSpPr>
          <a:xfrm>
            <a:off x="362743" y="10216"/>
            <a:ext cx="10042505" cy="252000"/>
            <a:chOff x="362743" y="10216"/>
            <a:chExt cx="10042505" cy="252000"/>
          </a:xfrm>
        </p:grpSpPr>
        <p:sp>
          <p:nvSpPr>
            <p:cNvPr id="5" name="Pentagon 47">
              <a:extLst>
                <a:ext uri="{FF2B5EF4-FFF2-40B4-BE49-F238E27FC236}">
                  <a16:creationId xmlns:a16="http://schemas.microsoft.com/office/drawing/2014/main" id="{CBE358B2-00BC-7CD6-4CD7-BDE06FCD7531}"/>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6" name="Chevron 48">
              <a:extLst>
                <a:ext uri="{FF2B5EF4-FFF2-40B4-BE49-F238E27FC236}">
                  <a16:creationId xmlns:a16="http://schemas.microsoft.com/office/drawing/2014/main" id="{FD478919-78F8-5155-44F3-6AEA7D35AB29}"/>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7" name="Chevron 52">
              <a:extLst>
                <a:ext uri="{FF2B5EF4-FFF2-40B4-BE49-F238E27FC236}">
                  <a16:creationId xmlns:a16="http://schemas.microsoft.com/office/drawing/2014/main" id="{230B6758-1679-000A-A86B-476685AD0DF6}"/>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8" name="Chevron 54">
              <a:extLst>
                <a:ext uri="{FF2B5EF4-FFF2-40B4-BE49-F238E27FC236}">
                  <a16:creationId xmlns:a16="http://schemas.microsoft.com/office/drawing/2014/main" id="{CAFF9611-A4EC-4304-B81D-ADB366747023}"/>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9" name="Chevron 48">
              <a:extLst>
                <a:ext uri="{FF2B5EF4-FFF2-40B4-BE49-F238E27FC236}">
                  <a16:creationId xmlns:a16="http://schemas.microsoft.com/office/drawing/2014/main" id="{CAF75092-3AD4-A405-70A1-ADDC92FC4ED8}"/>
                </a:ext>
              </a:extLst>
            </p:cNvPr>
            <p:cNvSpPr/>
            <p:nvPr/>
          </p:nvSpPr>
          <p:spPr>
            <a:xfrm>
              <a:off x="7040535"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1" name="Chevron 48">
              <a:extLst>
                <a:ext uri="{FF2B5EF4-FFF2-40B4-BE49-F238E27FC236}">
                  <a16:creationId xmlns:a16="http://schemas.microsoft.com/office/drawing/2014/main" id="{7F39E78E-6FA3-AE5A-0FE5-124A46CEB81D}"/>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19357925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8773B-DCA4-FD66-24D8-1D7F52A5689A}"/>
            </a:ext>
          </a:extLst>
        </p:cNvPr>
        <p:cNvGrpSpPr/>
        <p:nvPr/>
      </p:nvGrpSpPr>
      <p:grpSpPr>
        <a:xfrm>
          <a:off x="0" y="0"/>
          <a:ext cx="0" cy="0"/>
          <a:chOff x="0" y="0"/>
          <a:chExt cx="0" cy="0"/>
        </a:xfrm>
      </p:grpSpPr>
      <p:graphicFrame>
        <p:nvGraphicFramePr>
          <p:cNvPr id="59" name="think-cell data - do not delete" hidden="1">
            <a:extLst>
              <a:ext uri="{FF2B5EF4-FFF2-40B4-BE49-F238E27FC236}">
                <a16:creationId xmlns:a16="http://schemas.microsoft.com/office/drawing/2014/main" id="{53E01124-6908-8582-5CD7-04DF8394EAA7}"/>
              </a:ext>
            </a:extLst>
          </p:cNvPr>
          <p:cNvGraphicFramePr>
            <a:graphicFrameLocks/>
          </p:cNvGraphicFramePr>
          <p:nvPr>
            <p:custDataLst>
              <p:tags r:id="rId1"/>
            </p:custDataLst>
            <p:extLst>
              <p:ext uri="{D42A27DB-BD31-4B8C-83A1-F6EECF244321}">
                <p14:modId xmlns:p14="http://schemas.microsoft.com/office/powerpoint/2010/main" val="18523388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59" name="think-cell data - do not delete" hidden="1">
                        <a:extLst>
                          <a:ext uri="{FF2B5EF4-FFF2-40B4-BE49-F238E27FC236}">
                            <a16:creationId xmlns:a16="http://schemas.microsoft.com/office/drawing/2014/main" id="{53E01124-6908-8582-5CD7-04DF8394EAA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8" name="Title 57">
            <a:extLst>
              <a:ext uri="{FF2B5EF4-FFF2-40B4-BE49-F238E27FC236}">
                <a16:creationId xmlns:a16="http://schemas.microsoft.com/office/drawing/2014/main" id="{C8785348-C3A9-FE42-B181-76E42720BAE2}"/>
              </a:ext>
            </a:extLst>
          </p:cNvPr>
          <p:cNvSpPr>
            <a:spLocks noGrp="1"/>
          </p:cNvSpPr>
          <p:nvPr>
            <p:ph type="title"/>
          </p:nvPr>
        </p:nvSpPr>
        <p:spPr>
          <a:xfrm>
            <a:off x="358337" y="338328"/>
            <a:ext cx="11470125" cy="369332"/>
          </a:xfrm>
        </p:spPr>
        <p:txBody>
          <a:bodyPr vert="horz" rIns="0">
            <a:spAutoFit/>
          </a:bodyPr>
          <a:lstStyle/>
          <a:p>
            <a:r>
              <a:rPr lang="en-US" sz="2400"/>
              <a:t>Overview of Gated Gaps deprioritized for tactical development (4/5)</a:t>
            </a:r>
          </a:p>
        </p:txBody>
      </p:sp>
      <p:graphicFrame>
        <p:nvGraphicFramePr>
          <p:cNvPr id="3" name="Table 2">
            <a:extLst>
              <a:ext uri="{FF2B5EF4-FFF2-40B4-BE49-F238E27FC236}">
                <a16:creationId xmlns:a16="http://schemas.microsoft.com/office/drawing/2014/main" id="{3BC17144-5E42-04B1-6C8A-11A57D1B0876}"/>
              </a:ext>
            </a:extLst>
          </p:cNvPr>
          <p:cNvGraphicFramePr>
            <a:graphicFrameLocks noGrp="1"/>
          </p:cNvGraphicFramePr>
          <p:nvPr>
            <p:extLst>
              <p:ext uri="{D42A27DB-BD31-4B8C-83A1-F6EECF244321}">
                <p14:modId xmlns:p14="http://schemas.microsoft.com/office/powerpoint/2010/main" val="2813667060"/>
              </p:ext>
            </p:extLst>
          </p:nvPr>
        </p:nvGraphicFramePr>
        <p:xfrm>
          <a:off x="362744" y="1554581"/>
          <a:ext cx="11471711" cy="4147296"/>
        </p:xfrm>
        <a:graphic>
          <a:graphicData uri="http://schemas.openxmlformats.org/drawingml/2006/table">
            <a:tbl>
              <a:tblPr bandRow="1">
                <a:tableStyleId>{5C22544A-7EE6-4342-B048-85BDC9FD1C3A}</a:tableStyleId>
              </a:tblPr>
              <a:tblGrid>
                <a:gridCol w="457200">
                  <a:extLst>
                    <a:ext uri="{9D8B030D-6E8A-4147-A177-3AD203B41FA5}">
                      <a16:colId xmlns:a16="http://schemas.microsoft.com/office/drawing/2014/main" val="3412371623"/>
                    </a:ext>
                  </a:extLst>
                </a:gridCol>
                <a:gridCol w="1728216">
                  <a:extLst>
                    <a:ext uri="{9D8B030D-6E8A-4147-A177-3AD203B41FA5}">
                      <a16:colId xmlns:a16="http://schemas.microsoft.com/office/drawing/2014/main" val="1720362591"/>
                    </a:ext>
                  </a:extLst>
                </a:gridCol>
                <a:gridCol w="3001431">
                  <a:extLst>
                    <a:ext uri="{9D8B030D-6E8A-4147-A177-3AD203B41FA5}">
                      <a16:colId xmlns:a16="http://schemas.microsoft.com/office/drawing/2014/main" val="1362236069"/>
                    </a:ext>
                  </a:extLst>
                </a:gridCol>
                <a:gridCol w="3778646">
                  <a:extLst>
                    <a:ext uri="{9D8B030D-6E8A-4147-A177-3AD203B41FA5}">
                      <a16:colId xmlns:a16="http://schemas.microsoft.com/office/drawing/2014/main" val="366937182"/>
                    </a:ext>
                  </a:extLst>
                </a:gridCol>
                <a:gridCol w="2506218">
                  <a:extLst>
                    <a:ext uri="{9D8B030D-6E8A-4147-A177-3AD203B41FA5}">
                      <a16:colId xmlns:a16="http://schemas.microsoft.com/office/drawing/2014/main" val="320023064"/>
                    </a:ext>
                  </a:extLst>
                </a:gridCol>
              </a:tblGrid>
              <a:tr h="274320">
                <a:tc>
                  <a:txBody>
                    <a:bodyPr/>
                    <a:lstStyle/>
                    <a:p>
                      <a:pPr algn="ctr"/>
                      <a:r>
                        <a:rPr lang="en-US" sz="1200" b="1" i="0">
                          <a:solidFill>
                            <a:schemeClr val="bg1"/>
                          </a:solidFill>
                          <a:latin typeface="+mn-lt"/>
                          <a:cs typeface="Poppins" pitchFamily="2" charset="77"/>
                        </a:rPr>
                        <a:t>SI</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200" b="1" i="0">
                          <a:solidFill>
                            <a:schemeClr val="bg1"/>
                          </a:solidFill>
                          <a:latin typeface="+mn-lt"/>
                          <a:cs typeface="Poppins" pitchFamily="2" charset="77"/>
                        </a:rPr>
                        <a:t>Gap ID  and Theme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200" b="1" i="0">
                          <a:solidFill>
                            <a:schemeClr val="bg1"/>
                          </a:solidFill>
                          <a:latin typeface="+mn-lt"/>
                          <a:cs typeface="Poppins" pitchFamily="2" charset="77"/>
                        </a:rPr>
                        <a:t>Evidence Gap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200" b="1" i="0">
                          <a:solidFill>
                            <a:schemeClr val="bg1"/>
                          </a:solidFill>
                          <a:latin typeface="+mn-lt"/>
                          <a:cs typeface="Poppins" pitchFamily="2" charset="77"/>
                        </a:rPr>
                        <a:t>Rationale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200" b="1" i="0">
                          <a:solidFill>
                            <a:schemeClr val="bg1"/>
                          </a:solidFill>
                          <a:latin typeface="+mn-lt"/>
                          <a:cs typeface="Poppins" pitchFamily="2" charset="77"/>
                        </a:rPr>
                        <a:t>What Gates This Gap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2323510155"/>
                  </a:ext>
                </a:extLst>
              </a:tr>
              <a:tr h="1509851">
                <a:tc>
                  <a:txBody>
                    <a:bodyPr/>
                    <a:lstStyle/>
                    <a:p>
                      <a:pPr algn="l"/>
                      <a:endParaRPr lang="en-US" sz="1000" b="0"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50000"/>
                        <a:lumOff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a:solidFill>
                            <a:schemeClr val="tx1"/>
                          </a:solidFill>
                          <a:latin typeface="+mn-lt"/>
                          <a:cs typeface="Poppins" pitchFamily="2" charset="77"/>
                        </a:rPr>
                        <a:t>NSCLC_GA_08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1"/>
                          </a:solidFill>
                          <a:latin typeface="+mn-lt"/>
                          <a:cs typeface="Poppins" pitchFamily="2" charset="77"/>
                        </a:rPr>
                        <a:t>Sequencing</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spcAft>
                          <a:spcPts val="500"/>
                        </a:spcAft>
                      </a:pPr>
                      <a:r>
                        <a:rPr lang="en-US" sz="1000" b="0" i="1">
                          <a:solidFill>
                            <a:schemeClr val="tx1"/>
                          </a:solidFill>
                          <a:latin typeface="+mn-lt"/>
                          <a:cs typeface="Poppins" pitchFamily="2" charset="77"/>
                        </a:rPr>
                        <a:t>(1L) </a:t>
                      </a:r>
                      <a:r>
                        <a:rPr lang="en-US" sz="1000" b="0" i="0">
                          <a:solidFill>
                            <a:schemeClr val="tx1"/>
                          </a:solidFill>
                          <a:latin typeface="+mn-lt"/>
                          <a:cs typeface="Poppins" pitchFamily="2" charset="77"/>
                        </a:rPr>
                        <a:t>Impact of 1L BGB-58067-based triplet therapy on subsequent response to KRAS-targeted therapies (e.g., Lumakras and Krazati) in 2L NSCLC </a:t>
                      </a:r>
                    </a:p>
                    <a:p>
                      <a:pPr algn="l"/>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 </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Clarifies sequencing strategy by determining whether prior BGB-58067-based therapy preserves, enhances, or compromises response to KRAS-targeted agents in 2L</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Mitigates physician hesitation in 1L adoption and supports confident integration into evolving KRAS-driven treatment algorithms</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Supports clinical pathway and payer reimbursement decisions in priority new markets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lvl="0" indent="-171450">
                        <a:spcAft>
                          <a:spcPts val="600"/>
                        </a:spcAft>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Clarity on the future positioning of KRAS-targeted therapies, as movement into the 1L setting could substantially alter the relevance of this gap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68142911"/>
                  </a:ext>
                </a:extLst>
              </a:tr>
              <a:tr h="1122741">
                <a:tc>
                  <a:txBody>
                    <a:bodyPr/>
                    <a:lstStyle/>
                    <a:p>
                      <a:pPr algn="l"/>
                      <a:endParaRPr lang="en-US" sz="1000" b="0"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50000"/>
                        <a:lumOff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a:solidFill>
                            <a:schemeClr val="tx1"/>
                          </a:solidFill>
                          <a:latin typeface="+mn-lt"/>
                          <a:cs typeface="Poppins" pitchFamily="2" charset="77"/>
                        </a:rPr>
                        <a:t>NSCLC_GA_09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1"/>
                          </a:solidFill>
                          <a:latin typeface="+mn-lt"/>
                          <a:cs typeface="Poppins" pitchFamily="2" charset="77"/>
                        </a:rPr>
                        <a:t>Combinations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l">
                        <a:spcAft>
                          <a:spcPts val="500"/>
                        </a:spcAft>
                      </a:pPr>
                      <a:r>
                        <a:rPr lang="en-US" sz="1000" b="0" i="1">
                          <a:solidFill>
                            <a:schemeClr val="tx1"/>
                          </a:solidFill>
                          <a:latin typeface="+mn-lt"/>
                          <a:cs typeface="Poppins" pitchFamily="2" charset="77"/>
                        </a:rPr>
                        <a:t>(1L) </a:t>
                      </a:r>
                      <a:r>
                        <a:rPr lang="en-US" sz="1000" b="0" i="0">
                          <a:solidFill>
                            <a:schemeClr val="tx1"/>
                          </a:solidFill>
                          <a:latin typeface="+mn-lt"/>
                          <a:cs typeface="Poppins" pitchFamily="2" charset="77"/>
                        </a:rPr>
                        <a:t>BGB-58067 efficacy and safety in combination with alternative PD-1/PD-L1 inhibitors across priority geographies</a:t>
                      </a:r>
                    </a:p>
                    <a:p>
                      <a:pPr algn="l"/>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  Regulators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Supports global market access and regulatory flexibility by ensuring BGB-58067 can be combined with regionally dominant PD-1/PD-L1 inhibitors</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Enables broader geographic uptake and mitigates dependence on a single IO backbone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171450" lvl="0" indent="-171450">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Confirmation of and clarity on need for cross-IO evidence to support regulatory approval, HTA/reimbursement, and clinical adoption </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886047616"/>
                  </a:ext>
                </a:extLst>
              </a:tr>
              <a:tr h="1130475">
                <a:tc>
                  <a:txBody>
                    <a:bodyPr/>
                    <a:lstStyle/>
                    <a:p>
                      <a:pPr algn="l"/>
                      <a:endParaRPr lang="en-US" sz="1000" b="0"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50000"/>
                        <a:lumOff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a:solidFill>
                            <a:schemeClr val="tx1"/>
                          </a:solidFill>
                          <a:latin typeface="+mn-lt"/>
                          <a:cs typeface="Poppins" pitchFamily="2" charset="77"/>
                        </a:rPr>
                        <a:t>NSCLC_GA_10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1"/>
                          </a:solidFill>
                          <a:latin typeface="+mn-lt"/>
                          <a:cs typeface="Poppins" pitchFamily="2" charset="77"/>
                        </a:rPr>
                        <a:t>Combinations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spcAft>
                          <a:spcPts val="500"/>
                        </a:spcAft>
                      </a:pPr>
                      <a:r>
                        <a:rPr lang="en-US" sz="1000" b="0" i="1">
                          <a:solidFill>
                            <a:schemeClr val="tx1"/>
                          </a:solidFill>
                          <a:latin typeface="+mn-lt"/>
                          <a:cs typeface="Poppins" pitchFamily="2" charset="77"/>
                        </a:rPr>
                        <a:t>(1L and 2L+) </a:t>
                      </a:r>
                      <a:r>
                        <a:rPr lang="en-US" sz="1000" b="0" i="0">
                          <a:solidFill>
                            <a:schemeClr val="tx1"/>
                          </a:solidFill>
                          <a:latin typeface="+mn-lt"/>
                          <a:cs typeface="Poppins" pitchFamily="2" charset="77"/>
                        </a:rPr>
                        <a:t>Efficacy and safety of BGB-58067 in combination with anti-EGFR TKIs compared to anti-EGFR TKI SoC monotherapy across lines of therapy in EGFRm patients</a:t>
                      </a:r>
                    </a:p>
                    <a:p>
                      <a:pPr algn="l"/>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  Regulators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Supports treatment sequencing positioning and competitive strategy against established targeted therapies</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Enables physician education and treatment algorithm integration</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lvl="0" indent="-171450">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Future CDP guidance needed to confirm the appropriate anti-EGFR TKI partner for BGB-58067 and to mitigate potential antagonistic effects/improve synergistic effects </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87981366"/>
                  </a:ext>
                </a:extLst>
              </a:tr>
            </a:tbl>
          </a:graphicData>
        </a:graphic>
      </p:graphicFrame>
      <p:sp>
        <p:nvSpPr>
          <p:cNvPr id="51" name="Footer Placeholder 2">
            <a:extLst>
              <a:ext uri="{FF2B5EF4-FFF2-40B4-BE49-F238E27FC236}">
                <a16:creationId xmlns:a16="http://schemas.microsoft.com/office/drawing/2014/main" id="{4DF9EA79-A0FA-209A-433E-004231726FFE}"/>
              </a:ext>
            </a:extLst>
          </p:cNvPr>
          <p:cNvSpPr>
            <a:spLocks noGrp="1"/>
          </p:cNvSpPr>
          <p:nvPr>
            <p:ph type="ftr" sz="quarter" idx="10"/>
          </p:nvPr>
        </p:nvSpPr>
        <p:spPr>
          <a:xfrm>
            <a:off x="358336" y="6436589"/>
            <a:ext cx="11128813" cy="343096"/>
          </a:xfrm>
        </p:spPr>
        <p:txBody>
          <a:bodyPr/>
          <a:lstStyle/>
          <a:p>
            <a:r>
              <a:rPr lang="en-US">
                <a:solidFill>
                  <a:srgbClr val="595959"/>
                </a:solidFill>
              </a:rPr>
              <a:t>Abbreviations: CDP: Clinical Development Plan; EGFR: Epidermal Growth Factor Receptor; GA: Gated Priority; HCP: Healthcare Professional; IO: Immuno-Oncology; KRAS: Kirsten Rat Sarcoma Viral Oncogene Homolog; NSCLC: Non-Small Cell Lung Cancer; PD-1: Programmed Cell Death Protein 1; PD-L1: Programmed Death-Ligand 1; SoC: Standard of Care; TKI: Tyrosine Kinase Inhibitor</a:t>
            </a:r>
          </a:p>
        </p:txBody>
      </p:sp>
      <p:sp>
        <p:nvSpPr>
          <p:cNvPr id="19" name="Rectangle 18">
            <a:extLst>
              <a:ext uri="{FF2B5EF4-FFF2-40B4-BE49-F238E27FC236}">
                <a16:creationId xmlns:a16="http://schemas.microsoft.com/office/drawing/2014/main" id="{52AED381-258D-8254-5B48-D571C72066AE}"/>
              </a:ext>
            </a:extLst>
          </p:cNvPr>
          <p:cNvSpPr/>
          <p:nvPr/>
        </p:nvSpPr>
        <p:spPr>
          <a:xfrm>
            <a:off x="371289"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1</a:t>
            </a:r>
          </a:p>
        </p:txBody>
      </p:sp>
      <p:sp>
        <p:nvSpPr>
          <p:cNvPr id="20" name="Rectangle 19">
            <a:extLst>
              <a:ext uri="{FF2B5EF4-FFF2-40B4-BE49-F238E27FC236}">
                <a16:creationId xmlns:a16="http://schemas.microsoft.com/office/drawing/2014/main" id="{97678E9C-1DBC-B7F7-5D15-3689B7259453}"/>
              </a:ext>
            </a:extLst>
          </p:cNvPr>
          <p:cNvSpPr/>
          <p:nvPr/>
        </p:nvSpPr>
        <p:spPr>
          <a:xfrm>
            <a:off x="1176417"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2</a:t>
            </a:r>
          </a:p>
        </p:txBody>
      </p:sp>
      <p:sp>
        <p:nvSpPr>
          <p:cNvPr id="21" name="Rectangle 20">
            <a:extLst>
              <a:ext uri="{FF2B5EF4-FFF2-40B4-BE49-F238E27FC236}">
                <a16:creationId xmlns:a16="http://schemas.microsoft.com/office/drawing/2014/main" id="{6501622F-637C-AF1C-5A97-BAD0BEBF4ABC}"/>
              </a:ext>
            </a:extLst>
          </p:cNvPr>
          <p:cNvSpPr/>
          <p:nvPr/>
        </p:nvSpPr>
        <p:spPr>
          <a:xfrm>
            <a:off x="1981545" y="1259201"/>
            <a:ext cx="2520000" cy="167267"/>
          </a:xfrm>
          <a:prstGeom prst="rect">
            <a:avLst/>
          </a:prstGeom>
          <a:solidFill>
            <a:schemeClr val="accent2">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3: Combinations and Sequencing</a:t>
            </a:r>
          </a:p>
        </p:txBody>
      </p:sp>
      <p:sp>
        <p:nvSpPr>
          <p:cNvPr id="26" name="Rectangle 25">
            <a:extLst>
              <a:ext uri="{FF2B5EF4-FFF2-40B4-BE49-F238E27FC236}">
                <a16:creationId xmlns:a16="http://schemas.microsoft.com/office/drawing/2014/main" id="{1F38E195-61AE-C487-6335-726450594507}"/>
              </a:ext>
            </a:extLst>
          </p:cNvPr>
          <p:cNvSpPr/>
          <p:nvPr/>
        </p:nvSpPr>
        <p:spPr>
          <a:xfrm>
            <a:off x="4550674"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4</a:t>
            </a:r>
          </a:p>
        </p:txBody>
      </p:sp>
      <p:sp>
        <p:nvSpPr>
          <p:cNvPr id="4" name="TextBox 3">
            <a:extLst>
              <a:ext uri="{FF2B5EF4-FFF2-40B4-BE49-F238E27FC236}">
                <a16:creationId xmlns:a16="http://schemas.microsoft.com/office/drawing/2014/main" id="{7FF27DF9-3762-4E09-11BF-E68FAC7DAC33}"/>
              </a:ext>
            </a:extLst>
          </p:cNvPr>
          <p:cNvSpPr txBox="1"/>
          <p:nvPr/>
        </p:nvSpPr>
        <p:spPr>
          <a:xfrm>
            <a:off x="304800" y="6216936"/>
            <a:ext cx="5283720" cy="307777"/>
          </a:xfrm>
          <a:prstGeom prst="rect">
            <a:avLst/>
          </a:prstGeom>
          <a:noFill/>
        </p:spPr>
        <p:txBody>
          <a:bodyPr wrap="square" lIns="36000" tIns="91440" rIns="36000" bIns="91440" rtlCol="0">
            <a:spAutoFit/>
          </a:bodyPr>
          <a:lstStyle/>
          <a:p>
            <a:pPr>
              <a:spcBef>
                <a:spcPts val="600"/>
              </a:spcBef>
            </a:pPr>
            <a:r>
              <a:rPr lang="en-US" sz="800" b="1"/>
              <a:t>Key:  Listed stakeholders represent the primary target audience for the evidence generated</a:t>
            </a:r>
          </a:p>
        </p:txBody>
      </p:sp>
      <p:grpSp>
        <p:nvGrpSpPr>
          <p:cNvPr id="2" name="Group 1">
            <a:extLst>
              <a:ext uri="{FF2B5EF4-FFF2-40B4-BE49-F238E27FC236}">
                <a16:creationId xmlns:a16="http://schemas.microsoft.com/office/drawing/2014/main" id="{DB307BEA-E3E2-E1A9-E4C4-25F353C3A421}"/>
              </a:ext>
            </a:extLst>
          </p:cNvPr>
          <p:cNvGrpSpPr/>
          <p:nvPr/>
        </p:nvGrpSpPr>
        <p:grpSpPr>
          <a:xfrm>
            <a:off x="362743" y="10216"/>
            <a:ext cx="10042505" cy="252000"/>
            <a:chOff x="362743" y="10216"/>
            <a:chExt cx="10042505" cy="252000"/>
          </a:xfrm>
        </p:grpSpPr>
        <p:sp>
          <p:nvSpPr>
            <p:cNvPr id="5" name="Pentagon 47">
              <a:extLst>
                <a:ext uri="{FF2B5EF4-FFF2-40B4-BE49-F238E27FC236}">
                  <a16:creationId xmlns:a16="http://schemas.microsoft.com/office/drawing/2014/main" id="{FD184A73-F9F6-1C3F-B3CF-3B3ABB7450B6}"/>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6" name="Chevron 48">
              <a:extLst>
                <a:ext uri="{FF2B5EF4-FFF2-40B4-BE49-F238E27FC236}">
                  <a16:creationId xmlns:a16="http://schemas.microsoft.com/office/drawing/2014/main" id="{652FA29F-15D1-4915-1B1A-B3769698E322}"/>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7" name="Chevron 52">
              <a:extLst>
                <a:ext uri="{FF2B5EF4-FFF2-40B4-BE49-F238E27FC236}">
                  <a16:creationId xmlns:a16="http://schemas.microsoft.com/office/drawing/2014/main" id="{1CD7879D-26D4-7997-B4F1-9DECBFBB0A4B}"/>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8" name="Chevron 54">
              <a:extLst>
                <a:ext uri="{FF2B5EF4-FFF2-40B4-BE49-F238E27FC236}">
                  <a16:creationId xmlns:a16="http://schemas.microsoft.com/office/drawing/2014/main" id="{48BCC4DB-15C1-EBB4-E7C9-AFF629DDFE04}"/>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9" name="Chevron 48">
              <a:extLst>
                <a:ext uri="{FF2B5EF4-FFF2-40B4-BE49-F238E27FC236}">
                  <a16:creationId xmlns:a16="http://schemas.microsoft.com/office/drawing/2014/main" id="{048E44F8-EBC9-6476-B35C-1690986569DC}"/>
                </a:ext>
              </a:extLst>
            </p:cNvPr>
            <p:cNvSpPr/>
            <p:nvPr/>
          </p:nvSpPr>
          <p:spPr>
            <a:xfrm>
              <a:off x="7040535"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1" name="Chevron 48">
              <a:extLst>
                <a:ext uri="{FF2B5EF4-FFF2-40B4-BE49-F238E27FC236}">
                  <a16:creationId xmlns:a16="http://schemas.microsoft.com/office/drawing/2014/main" id="{5AE983D2-82C4-DCF7-08E3-D649E40C05AB}"/>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41756670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324F8-6091-5EEC-4E3F-31607F87F416}"/>
            </a:ext>
          </a:extLst>
        </p:cNvPr>
        <p:cNvGrpSpPr/>
        <p:nvPr/>
      </p:nvGrpSpPr>
      <p:grpSpPr>
        <a:xfrm>
          <a:off x="0" y="0"/>
          <a:ext cx="0" cy="0"/>
          <a:chOff x="0" y="0"/>
          <a:chExt cx="0" cy="0"/>
        </a:xfrm>
      </p:grpSpPr>
      <p:graphicFrame>
        <p:nvGraphicFramePr>
          <p:cNvPr id="59" name="think-cell data - do not delete" hidden="1">
            <a:extLst>
              <a:ext uri="{FF2B5EF4-FFF2-40B4-BE49-F238E27FC236}">
                <a16:creationId xmlns:a16="http://schemas.microsoft.com/office/drawing/2014/main" id="{05C2597B-C099-96A8-F302-5977E0A24E28}"/>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59" name="think-cell data - do not delete" hidden="1">
                        <a:extLst>
                          <a:ext uri="{FF2B5EF4-FFF2-40B4-BE49-F238E27FC236}">
                            <a16:creationId xmlns:a16="http://schemas.microsoft.com/office/drawing/2014/main" id="{05C2597B-C099-96A8-F302-5977E0A24E2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Footer Placeholder 2">
            <a:extLst>
              <a:ext uri="{FF2B5EF4-FFF2-40B4-BE49-F238E27FC236}">
                <a16:creationId xmlns:a16="http://schemas.microsoft.com/office/drawing/2014/main" id="{0E61B1EF-D599-4FD1-42C0-C14CCBA30C1C}"/>
              </a:ext>
            </a:extLst>
          </p:cNvPr>
          <p:cNvSpPr>
            <a:spLocks noGrp="1"/>
          </p:cNvSpPr>
          <p:nvPr>
            <p:ph type="ftr" sz="quarter" idx="10"/>
          </p:nvPr>
        </p:nvSpPr>
        <p:spPr>
          <a:xfrm>
            <a:off x="371289" y="6158379"/>
            <a:ext cx="6261637" cy="416837"/>
          </a:xfrm>
        </p:spPr>
        <p:txBody>
          <a:bodyPr/>
          <a:lstStyle/>
          <a:p>
            <a:pPr>
              <a:defRPr/>
            </a:pPr>
            <a:r>
              <a:rPr lang="en-US">
                <a:solidFill>
                  <a:srgbClr val="000000">
                    <a:lumMod val="65000"/>
                    <a:lumOff val="35000"/>
                  </a:srgbClr>
                </a:solidFill>
              </a:rPr>
              <a:t>Abbreviations: </a:t>
            </a:r>
            <a:r>
              <a:rPr lang="en-US"/>
              <a:t>ALK: Anaplastic Lymphoma Kinase; ctDNA: Circulating Tumor DNA; EGFRm: Epidermal Growth Factor Receptor Mutation; GA: Gated; HCP: Healthcare Provider; IO: Immuno-Oncology; NSCLC: Non-Small Cell Lung Cancer; PAG: Patient Advocacy Group; PD-1: Programmed Cell Death Protein 1; PRMT5i: Protein Arginine Methyltransferase 5 Inhibitor; SI: Strategic Importance; SoC: Standard of Care</a:t>
            </a:r>
          </a:p>
        </p:txBody>
      </p:sp>
      <p:sp>
        <p:nvSpPr>
          <p:cNvPr id="7" name="Title 57">
            <a:extLst>
              <a:ext uri="{FF2B5EF4-FFF2-40B4-BE49-F238E27FC236}">
                <a16:creationId xmlns:a16="http://schemas.microsoft.com/office/drawing/2014/main" id="{FD4C5AD4-0925-55CB-6F86-2F1FB22EE49E}"/>
              </a:ext>
            </a:extLst>
          </p:cNvPr>
          <p:cNvSpPr>
            <a:spLocks noGrp="1"/>
          </p:cNvSpPr>
          <p:nvPr>
            <p:ph type="title"/>
          </p:nvPr>
        </p:nvSpPr>
        <p:spPr>
          <a:xfrm>
            <a:off x="358337" y="338328"/>
            <a:ext cx="11470125" cy="369332"/>
          </a:xfrm>
        </p:spPr>
        <p:txBody>
          <a:bodyPr vert="horz" rIns="0">
            <a:spAutoFit/>
          </a:bodyPr>
          <a:lstStyle/>
          <a:p>
            <a:r>
              <a:rPr lang="en-US" sz="2400"/>
              <a:t>Overview of Gated Gaps deprioritized for tactical development (5/5)</a:t>
            </a:r>
          </a:p>
        </p:txBody>
      </p:sp>
      <p:graphicFrame>
        <p:nvGraphicFramePr>
          <p:cNvPr id="8" name="Table 7">
            <a:extLst>
              <a:ext uri="{FF2B5EF4-FFF2-40B4-BE49-F238E27FC236}">
                <a16:creationId xmlns:a16="http://schemas.microsoft.com/office/drawing/2014/main" id="{B922E58A-5651-937D-E0B5-816C478FFA7D}"/>
              </a:ext>
            </a:extLst>
          </p:cNvPr>
          <p:cNvGraphicFramePr>
            <a:graphicFrameLocks noGrp="1"/>
          </p:cNvGraphicFramePr>
          <p:nvPr>
            <p:extLst>
              <p:ext uri="{D42A27DB-BD31-4B8C-83A1-F6EECF244321}">
                <p14:modId xmlns:p14="http://schemas.microsoft.com/office/powerpoint/2010/main" val="2848677346"/>
              </p:ext>
            </p:extLst>
          </p:nvPr>
        </p:nvGraphicFramePr>
        <p:xfrm>
          <a:off x="362744" y="1554581"/>
          <a:ext cx="11471711" cy="4603798"/>
        </p:xfrm>
        <a:graphic>
          <a:graphicData uri="http://schemas.openxmlformats.org/drawingml/2006/table">
            <a:tbl>
              <a:tblPr bandRow="1">
                <a:tableStyleId>{5C22544A-7EE6-4342-B048-85BDC9FD1C3A}</a:tableStyleId>
              </a:tblPr>
              <a:tblGrid>
                <a:gridCol w="457200">
                  <a:extLst>
                    <a:ext uri="{9D8B030D-6E8A-4147-A177-3AD203B41FA5}">
                      <a16:colId xmlns:a16="http://schemas.microsoft.com/office/drawing/2014/main" val="3412371623"/>
                    </a:ext>
                  </a:extLst>
                </a:gridCol>
                <a:gridCol w="1728216">
                  <a:extLst>
                    <a:ext uri="{9D8B030D-6E8A-4147-A177-3AD203B41FA5}">
                      <a16:colId xmlns:a16="http://schemas.microsoft.com/office/drawing/2014/main" val="1720362591"/>
                    </a:ext>
                  </a:extLst>
                </a:gridCol>
                <a:gridCol w="3001431">
                  <a:extLst>
                    <a:ext uri="{9D8B030D-6E8A-4147-A177-3AD203B41FA5}">
                      <a16:colId xmlns:a16="http://schemas.microsoft.com/office/drawing/2014/main" val="1362236069"/>
                    </a:ext>
                  </a:extLst>
                </a:gridCol>
                <a:gridCol w="3778646">
                  <a:extLst>
                    <a:ext uri="{9D8B030D-6E8A-4147-A177-3AD203B41FA5}">
                      <a16:colId xmlns:a16="http://schemas.microsoft.com/office/drawing/2014/main" val="366937182"/>
                    </a:ext>
                  </a:extLst>
                </a:gridCol>
                <a:gridCol w="2506218">
                  <a:extLst>
                    <a:ext uri="{9D8B030D-6E8A-4147-A177-3AD203B41FA5}">
                      <a16:colId xmlns:a16="http://schemas.microsoft.com/office/drawing/2014/main" val="320023064"/>
                    </a:ext>
                  </a:extLst>
                </a:gridCol>
              </a:tblGrid>
              <a:tr h="313320">
                <a:tc>
                  <a:txBody>
                    <a:bodyPr/>
                    <a:lstStyle/>
                    <a:p>
                      <a:pPr algn="ctr"/>
                      <a:r>
                        <a:rPr lang="en-US" sz="1200" b="1" i="0">
                          <a:solidFill>
                            <a:schemeClr val="bg1"/>
                          </a:solidFill>
                          <a:latin typeface="+mn-lt"/>
                          <a:cs typeface="Poppins" pitchFamily="2" charset="77"/>
                        </a:rPr>
                        <a:t>SI</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200" b="1" i="0">
                          <a:solidFill>
                            <a:schemeClr val="bg1"/>
                          </a:solidFill>
                          <a:latin typeface="+mn-lt"/>
                          <a:cs typeface="Poppins" pitchFamily="2" charset="77"/>
                        </a:rPr>
                        <a:t>Gap ID  and Theme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200" b="1" i="0">
                          <a:solidFill>
                            <a:schemeClr val="bg1"/>
                          </a:solidFill>
                          <a:latin typeface="+mn-lt"/>
                          <a:cs typeface="Poppins" pitchFamily="2" charset="77"/>
                        </a:rPr>
                        <a:t>Evidence Gap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200" b="1" i="0">
                          <a:solidFill>
                            <a:schemeClr val="bg1"/>
                          </a:solidFill>
                          <a:latin typeface="+mn-lt"/>
                          <a:cs typeface="Poppins" pitchFamily="2" charset="77"/>
                        </a:rPr>
                        <a:t>Rationale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200" b="1" i="0">
                          <a:solidFill>
                            <a:schemeClr val="bg1"/>
                          </a:solidFill>
                          <a:latin typeface="+mn-lt"/>
                          <a:cs typeface="Poppins" pitchFamily="2" charset="77"/>
                        </a:rPr>
                        <a:t>What Gates This Gap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2323510155"/>
                  </a:ext>
                </a:extLst>
              </a:tr>
              <a:tr h="1228668">
                <a:tc>
                  <a:txBody>
                    <a:bodyPr/>
                    <a:lstStyle/>
                    <a:p>
                      <a:pPr algn="l"/>
                      <a:endParaRPr lang="en-US" sz="1000" b="0"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l"/>
                      <a:r>
                        <a:rPr lang="en-US" sz="1100" b="1" i="0">
                          <a:solidFill>
                            <a:schemeClr val="tx1"/>
                          </a:solidFill>
                          <a:latin typeface="+mn-lt"/>
                          <a:cs typeface="Poppins" pitchFamily="2" charset="77"/>
                        </a:rPr>
                        <a:t>NSCLC_GA_11</a:t>
                      </a:r>
                    </a:p>
                    <a:p>
                      <a:pPr algn="l"/>
                      <a:r>
                        <a:rPr lang="en-US" sz="1000" b="0" i="0">
                          <a:solidFill>
                            <a:schemeClr val="tx1"/>
                          </a:solidFill>
                          <a:latin typeface="+mn-lt"/>
                          <a:cs typeface="Poppins" pitchFamily="2" charset="77"/>
                        </a:rPr>
                        <a:t>Resistance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000" b="0" i="1">
                          <a:solidFill>
                            <a:schemeClr val="tx1"/>
                          </a:solidFill>
                          <a:latin typeface="+mn-lt"/>
                          <a:cs typeface="Poppins" pitchFamily="2" charset="77"/>
                        </a:rPr>
                        <a:t>(1L and 2L+) </a:t>
                      </a:r>
                      <a:r>
                        <a:rPr lang="en-US" sz="1000" b="0" i="0">
                          <a:solidFill>
                            <a:schemeClr val="tx1"/>
                          </a:solidFill>
                          <a:latin typeface="+mn-lt"/>
                          <a:cs typeface="Poppins" pitchFamily="2" charset="77"/>
                        </a:rPr>
                        <a:t>Mechanisms of primary and acquired resistance to BGB-58067</a:t>
                      </a:r>
                    </a:p>
                    <a:p>
                      <a:pPr algn="l"/>
                      <a:endParaRPr lang="en-US" sz="500" b="0" i="0">
                        <a:solidFill>
                          <a:schemeClr val="tx1"/>
                        </a:solidFill>
                        <a:latin typeface="+mn-lt"/>
                        <a:cs typeface="Poppins" pitchFamily="2" charset="77"/>
                      </a:endParaRPr>
                    </a:p>
                    <a:p>
                      <a:pPr algn="l"/>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  Regulators  Patients and PAGs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Evaluates real-world resource demands and workflow impact of BGB-58067-based triplet therapy to ensure operational feasibility and support clinician confidence in 1L adoption</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Informs implementation strategy and payer discussions regarding practical scalability</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lvl="0" indent="-171450">
                        <a:spcAft>
                          <a:spcPts val="600"/>
                        </a:spcAft>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Pending status of ctDNA analysis by Biomarker team</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68142911"/>
                  </a:ext>
                </a:extLst>
              </a:tr>
              <a:tr h="1228668">
                <a:tc>
                  <a:txBody>
                    <a:bodyPr/>
                    <a:lstStyle/>
                    <a:p>
                      <a:pPr algn="l"/>
                      <a:endParaRPr lang="en-US" sz="1000" b="0"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l"/>
                      <a:r>
                        <a:rPr lang="en-US" sz="1100" b="1" i="0">
                          <a:solidFill>
                            <a:schemeClr val="tx1"/>
                          </a:solidFill>
                          <a:latin typeface="+mn-lt"/>
                          <a:cs typeface="Poppins" pitchFamily="2" charset="77"/>
                        </a:rPr>
                        <a:t>NSCLC_GA_12</a:t>
                      </a:r>
                    </a:p>
                    <a:p>
                      <a:pPr algn="l"/>
                      <a:r>
                        <a:rPr lang="en-US" sz="1000" b="0" i="0">
                          <a:solidFill>
                            <a:schemeClr val="tx1"/>
                          </a:solidFill>
                          <a:latin typeface="+mn-lt"/>
                          <a:cs typeface="Poppins" pitchFamily="2" charset="77"/>
                        </a:rPr>
                        <a:t>Resistance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spcAft>
                          <a:spcPts val="500"/>
                        </a:spcAft>
                      </a:pPr>
                      <a:r>
                        <a:rPr lang="en-US" sz="1000" b="0" i="1">
                          <a:solidFill>
                            <a:schemeClr val="tx1"/>
                          </a:solidFill>
                          <a:latin typeface="+mn-lt"/>
                          <a:cs typeface="Poppins" pitchFamily="2" charset="77"/>
                        </a:rPr>
                        <a:t>(1L) </a:t>
                      </a:r>
                      <a:r>
                        <a:rPr lang="en-US" sz="1000" b="0" i="0">
                          <a:solidFill>
                            <a:schemeClr val="tx1"/>
                          </a:solidFill>
                          <a:latin typeface="+mn-lt"/>
                          <a:cs typeface="Poppins" pitchFamily="2" charset="77"/>
                        </a:rPr>
                        <a:t>BGB-58067's effect on PRMT5i resistance upon continuous administration of triplet therapy through a maintenance phase vs. induction of triplet therapy followed by de-escalation </a:t>
                      </a:r>
                    </a:p>
                    <a:p>
                      <a:pPr algn="l">
                        <a:spcAft>
                          <a:spcPts val="500"/>
                        </a:spcAft>
                      </a:pPr>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  Regulators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Evaluates resistance dynamics under alternative maintenance strategies to inform durability-driven differentiation and long-term positioning in 1L NSCLC</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Supports development of strategies to delay or mitigate treatment-emergent resistance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lvl="0" indent="-171450">
                        <a:spcAft>
                          <a:spcPts val="600"/>
                        </a:spcAft>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Potential risk of generating data discordant with the pivotal program, requiring availability of pivotal trial data to assess the need and priority of this gap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46326775"/>
                  </a:ext>
                </a:extLst>
              </a:tr>
              <a:tr h="1833142">
                <a:tc>
                  <a:txBody>
                    <a:bodyPr/>
                    <a:lstStyle/>
                    <a:p>
                      <a:pPr algn="l"/>
                      <a:endParaRPr lang="en-US" sz="1000" b="0"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l"/>
                      <a:r>
                        <a:rPr lang="en-US" sz="1100" b="1" i="0">
                          <a:solidFill>
                            <a:schemeClr val="tx1"/>
                          </a:solidFill>
                          <a:latin typeface="+mn-lt"/>
                          <a:cs typeface="Poppins" pitchFamily="2" charset="77"/>
                        </a:rPr>
                        <a:t>NSCLC_GA_13</a:t>
                      </a:r>
                    </a:p>
                    <a:p>
                      <a:pPr algn="l"/>
                      <a:r>
                        <a:rPr lang="en-US" sz="1000" b="0" i="0">
                          <a:solidFill>
                            <a:schemeClr val="tx1"/>
                          </a:solidFill>
                          <a:latin typeface="+mn-lt"/>
                          <a:cs typeface="Poppins" pitchFamily="2" charset="77"/>
                        </a:rPr>
                        <a:t>Resistance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spcAft>
                          <a:spcPts val="500"/>
                        </a:spcAft>
                      </a:pPr>
                      <a:r>
                        <a:rPr lang="en-US" sz="1000" b="0" i="1">
                          <a:solidFill>
                            <a:schemeClr val="tx1"/>
                          </a:solidFill>
                          <a:latin typeface="+mn-lt"/>
                          <a:cs typeface="Poppins" pitchFamily="2" charset="77"/>
                        </a:rPr>
                        <a:t>(2L) </a:t>
                      </a:r>
                      <a:r>
                        <a:rPr lang="en-US" sz="1000" b="0" i="0">
                          <a:solidFill>
                            <a:schemeClr val="tx1"/>
                          </a:solidFill>
                          <a:latin typeface="+mn-lt"/>
                          <a:cs typeface="Poppins" pitchFamily="2" charset="77"/>
                        </a:rPr>
                        <a:t>BGB-58067's clinical efficacy in patients with acquired resistance to IO and targeted therapies (e.g. anti-PD-1-resistance, osimertinib-resistance in EGFRm co-mutations, and crizotinib-resistance in ALK translocation co-mutations) compared to SoC </a:t>
                      </a:r>
                    </a:p>
                    <a:p>
                      <a:pPr algn="l">
                        <a:spcAft>
                          <a:spcPts val="500"/>
                        </a:spcAft>
                      </a:pPr>
                      <a:r>
                        <a:rPr lang="en-US" sz="800" b="1" i="0">
                          <a:solidFill>
                            <a:schemeClr val="tx1"/>
                          </a:solidFill>
                          <a:latin typeface="+mn-lt"/>
                          <a:cs typeface="Poppins" pitchFamily="2" charset="77"/>
                        </a:rPr>
                        <a:t>HCPs </a:t>
                      </a:r>
                      <a:r>
                        <a:rPr lang="en-US" sz="800" b="1" i="0">
                          <a:solidFill>
                            <a:schemeClr val="tx1"/>
                          </a:solidFill>
                          <a:latin typeface="+mn-lt"/>
                          <a:cs typeface="Poppins" pitchFamily="2" charset="77"/>
                          <a:sym typeface="Wingdings 2" panose="05020102010507070707" pitchFamily="18" charset="2"/>
                        </a:rPr>
                        <a:t> Payers  Regulators</a:t>
                      </a:r>
                      <a:endParaRPr lang="en-US" sz="8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Defines the clinical value of BGB-58067 in high unmet need populations with acquired resistance to IO and targeted therapies</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Supports differentiation vs. chemotherapy and emerging resistance-targeted agents, and informs optimal salvage sequencing strategies</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Demonstrates clinical value in high unmet need populations to support pricing and reimbursement decisions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defRPr/>
                      </a:pPr>
                      <a:r>
                        <a:rPr lang="en-US" sz="1000" b="0" i="0" u="none" strike="noStrike" kern="1200" noProof="0">
                          <a:solidFill>
                            <a:schemeClr val="tx1"/>
                          </a:solidFill>
                          <a:effectLst/>
                          <a:latin typeface="+mn-lt"/>
                          <a:ea typeface="+mn-ea"/>
                          <a:cs typeface="Poppins"/>
                        </a:rPr>
                        <a:t>Availability of pivotal trial data and leadership direction to assess the need for additional resistance data</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305849952"/>
                  </a:ext>
                </a:extLst>
              </a:tr>
            </a:tbl>
          </a:graphicData>
        </a:graphic>
      </p:graphicFrame>
      <p:sp>
        <p:nvSpPr>
          <p:cNvPr id="9" name="Rectangle 8">
            <a:extLst>
              <a:ext uri="{FF2B5EF4-FFF2-40B4-BE49-F238E27FC236}">
                <a16:creationId xmlns:a16="http://schemas.microsoft.com/office/drawing/2014/main" id="{DA3D0F29-D7DB-236A-2F90-0903922992C2}"/>
              </a:ext>
            </a:extLst>
          </p:cNvPr>
          <p:cNvSpPr/>
          <p:nvPr/>
        </p:nvSpPr>
        <p:spPr>
          <a:xfrm>
            <a:off x="371289"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1</a:t>
            </a:r>
          </a:p>
        </p:txBody>
      </p:sp>
      <p:sp>
        <p:nvSpPr>
          <p:cNvPr id="11" name="Rectangle 10">
            <a:extLst>
              <a:ext uri="{FF2B5EF4-FFF2-40B4-BE49-F238E27FC236}">
                <a16:creationId xmlns:a16="http://schemas.microsoft.com/office/drawing/2014/main" id="{4935820B-D665-DAD1-6055-E66253F6F77E}"/>
              </a:ext>
            </a:extLst>
          </p:cNvPr>
          <p:cNvSpPr/>
          <p:nvPr/>
        </p:nvSpPr>
        <p:spPr>
          <a:xfrm>
            <a:off x="1176417"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2</a:t>
            </a:r>
          </a:p>
        </p:txBody>
      </p:sp>
      <p:sp>
        <p:nvSpPr>
          <p:cNvPr id="13" name="Rectangle 12">
            <a:extLst>
              <a:ext uri="{FF2B5EF4-FFF2-40B4-BE49-F238E27FC236}">
                <a16:creationId xmlns:a16="http://schemas.microsoft.com/office/drawing/2014/main" id="{5DCF5675-9094-AC62-6116-F531491B9B5F}"/>
              </a:ext>
            </a:extLst>
          </p:cNvPr>
          <p:cNvSpPr/>
          <p:nvPr/>
        </p:nvSpPr>
        <p:spPr>
          <a:xfrm>
            <a:off x="2786674" y="1259201"/>
            <a:ext cx="2520000" cy="167267"/>
          </a:xfrm>
          <a:prstGeom prst="rect">
            <a:avLst/>
          </a:prstGeom>
          <a:solidFill>
            <a:srgbClr val="2833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4: Resistance</a:t>
            </a:r>
          </a:p>
        </p:txBody>
      </p:sp>
      <p:sp>
        <p:nvSpPr>
          <p:cNvPr id="14" name="Rectangle 13">
            <a:extLst>
              <a:ext uri="{FF2B5EF4-FFF2-40B4-BE49-F238E27FC236}">
                <a16:creationId xmlns:a16="http://schemas.microsoft.com/office/drawing/2014/main" id="{9F6F1109-C322-A30C-5E3F-B58EAA4F0A06}"/>
              </a:ext>
            </a:extLst>
          </p:cNvPr>
          <p:cNvSpPr/>
          <p:nvPr/>
        </p:nvSpPr>
        <p:spPr>
          <a:xfrm>
            <a:off x="1981545" y="1259201"/>
            <a:ext cx="756000" cy="16726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b="1">
                <a:solidFill>
                  <a:schemeClr val="bg1"/>
                </a:solidFill>
              </a:rPr>
              <a:t>SI 3</a:t>
            </a:r>
          </a:p>
        </p:txBody>
      </p:sp>
      <p:grpSp>
        <p:nvGrpSpPr>
          <p:cNvPr id="15" name="Group 14">
            <a:extLst>
              <a:ext uri="{FF2B5EF4-FFF2-40B4-BE49-F238E27FC236}">
                <a16:creationId xmlns:a16="http://schemas.microsoft.com/office/drawing/2014/main" id="{3DF38986-996C-3DDE-EAE9-26FDDE8343F3}"/>
              </a:ext>
            </a:extLst>
          </p:cNvPr>
          <p:cNvGrpSpPr/>
          <p:nvPr/>
        </p:nvGrpSpPr>
        <p:grpSpPr>
          <a:xfrm>
            <a:off x="362743" y="10216"/>
            <a:ext cx="10042505" cy="252000"/>
            <a:chOff x="362743" y="10216"/>
            <a:chExt cx="10042505" cy="252000"/>
          </a:xfrm>
        </p:grpSpPr>
        <p:sp>
          <p:nvSpPr>
            <p:cNvPr id="16" name="Pentagon 47">
              <a:extLst>
                <a:ext uri="{FF2B5EF4-FFF2-40B4-BE49-F238E27FC236}">
                  <a16:creationId xmlns:a16="http://schemas.microsoft.com/office/drawing/2014/main" id="{0F0B793E-28F4-7AD1-2C97-CCDF3C24BF30}"/>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17" name="Chevron 48">
              <a:extLst>
                <a:ext uri="{FF2B5EF4-FFF2-40B4-BE49-F238E27FC236}">
                  <a16:creationId xmlns:a16="http://schemas.microsoft.com/office/drawing/2014/main" id="{317A95D9-090E-61E8-9DE6-A74FFA6ACE76}"/>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18" name="Chevron 52">
              <a:extLst>
                <a:ext uri="{FF2B5EF4-FFF2-40B4-BE49-F238E27FC236}">
                  <a16:creationId xmlns:a16="http://schemas.microsoft.com/office/drawing/2014/main" id="{F25855B9-2AF8-A15C-7753-395F018550FF}"/>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19" name="Chevron 54">
              <a:extLst>
                <a:ext uri="{FF2B5EF4-FFF2-40B4-BE49-F238E27FC236}">
                  <a16:creationId xmlns:a16="http://schemas.microsoft.com/office/drawing/2014/main" id="{394CC565-D862-8D76-69BD-F5891D9300C1}"/>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20" name="Chevron 48">
              <a:extLst>
                <a:ext uri="{FF2B5EF4-FFF2-40B4-BE49-F238E27FC236}">
                  <a16:creationId xmlns:a16="http://schemas.microsoft.com/office/drawing/2014/main" id="{3E903A25-2FE9-8091-BF0A-9007F811576B}"/>
                </a:ext>
              </a:extLst>
            </p:cNvPr>
            <p:cNvSpPr/>
            <p:nvPr/>
          </p:nvSpPr>
          <p:spPr>
            <a:xfrm>
              <a:off x="7040535"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22" name="Chevron 48">
              <a:extLst>
                <a:ext uri="{FF2B5EF4-FFF2-40B4-BE49-F238E27FC236}">
                  <a16:creationId xmlns:a16="http://schemas.microsoft.com/office/drawing/2014/main" id="{32690E02-4C51-02EE-979B-B363F0476D46}"/>
                </a:ext>
              </a:extLst>
            </p:cNvPr>
            <p:cNvSpPr/>
            <p:nvPr/>
          </p:nvSpPr>
          <p:spPr>
            <a:xfrm>
              <a:off x="8709983"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1136172880"/>
      </p:ext>
    </p:extLst>
  </p:cSld>
  <p:clrMapOvr>
    <a:masterClrMapping/>
  </p:clrMapOvr>
  <p:extLst>
    <p:ext uri="{6950BFC3-D8DA-4A85-94F7-54DA5524770B}">
      <p188:commentRel xmlns:p188="http://schemas.microsoft.com/office/powerpoint/2018/8/main" r:id="rId4"/>
    </p:ext>
  </p:extLs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469BC-9C20-7A42-670D-37AAF2CE36B3}"/>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7C75CE5-77AF-2535-6BA0-58A7F9DE7023}"/>
              </a:ext>
            </a:extLst>
          </p:cNvPr>
          <p:cNvGraphicFramePr>
            <a:graphicFrameLocks/>
          </p:cNvGraphicFramePr>
          <p:nvPr>
            <p:custDataLst>
              <p:tags r:id="rId1"/>
            </p:custDataLst>
            <p:extLst>
              <p:ext uri="{D42A27DB-BD31-4B8C-83A1-F6EECF244321}">
                <p14:modId xmlns:p14="http://schemas.microsoft.com/office/powerpoint/2010/main" val="34449574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think-cell data - do not delete" hidden="1">
                        <a:extLst>
                          <a:ext uri="{FF2B5EF4-FFF2-40B4-BE49-F238E27FC236}">
                            <a16:creationId xmlns:a16="http://schemas.microsoft.com/office/drawing/2014/main" id="{E7C75CE5-77AF-2535-6BA0-58A7F9DE702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B3C198B-7021-BCB1-2377-6EE23BD777A6}"/>
              </a:ext>
            </a:extLst>
          </p:cNvPr>
          <p:cNvSpPr>
            <a:spLocks noGrp="1"/>
          </p:cNvSpPr>
          <p:nvPr>
            <p:ph type="ctrTitle"/>
          </p:nvPr>
        </p:nvSpPr>
        <p:spPr>
          <a:xfrm>
            <a:off x="336165" y="1892236"/>
            <a:ext cx="7031736" cy="2954655"/>
          </a:xfrm>
        </p:spPr>
        <p:txBody>
          <a:bodyPr vert="horz" rIns="0">
            <a:spAutoFit/>
          </a:bodyPr>
          <a:lstStyle/>
          <a:p>
            <a:r>
              <a:rPr lang="en-US"/>
              <a:t>Addressed Gaps and Planned / Ongoing Evidence Generation Tactics</a:t>
            </a:r>
          </a:p>
        </p:txBody>
      </p:sp>
      <p:grpSp>
        <p:nvGrpSpPr>
          <p:cNvPr id="11" name="Group 10">
            <a:extLst>
              <a:ext uri="{FF2B5EF4-FFF2-40B4-BE49-F238E27FC236}">
                <a16:creationId xmlns:a16="http://schemas.microsoft.com/office/drawing/2014/main" id="{955E3B37-E6B1-6197-532A-FED4ECA6C6A9}"/>
              </a:ext>
            </a:extLst>
          </p:cNvPr>
          <p:cNvGrpSpPr/>
          <p:nvPr/>
        </p:nvGrpSpPr>
        <p:grpSpPr>
          <a:xfrm>
            <a:off x="362743" y="10216"/>
            <a:ext cx="10042505" cy="252000"/>
            <a:chOff x="362743" y="10216"/>
            <a:chExt cx="10042505" cy="252000"/>
          </a:xfrm>
        </p:grpSpPr>
        <p:sp>
          <p:nvSpPr>
            <p:cNvPr id="12" name="Pentagon 47">
              <a:extLst>
                <a:ext uri="{FF2B5EF4-FFF2-40B4-BE49-F238E27FC236}">
                  <a16:creationId xmlns:a16="http://schemas.microsoft.com/office/drawing/2014/main" id="{A5411632-DF4A-0177-51F0-0C1F5DF38D5A}"/>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13" name="Chevron 48">
              <a:extLst>
                <a:ext uri="{FF2B5EF4-FFF2-40B4-BE49-F238E27FC236}">
                  <a16:creationId xmlns:a16="http://schemas.microsoft.com/office/drawing/2014/main" id="{43A1A763-EBE2-3211-6C20-FC95F3637E66}"/>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14" name="Chevron 52">
              <a:extLst>
                <a:ext uri="{FF2B5EF4-FFF2-40B4-BE49-F238E27FC236}">
                  <a16:creationId xmlns:a16="http://schemas.microsoft.com/office/drawing/2014/main" id="{06957C4A-F77F-0AE8-8CF5-4A122420E117}"/>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15" name="Chevron 54">
              <a:extLst>
                <a:ext uri="{FF2B5EF4-FFF2-40B4-BE49-F238E27FC236}">
                  <a16:creationId xmlns:a16="http://schemas.microsoft.com/office/drawing/2014/main" id="{62FB63D7-296D-95EB-514C-D28D0418AACC}"/>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6" name="Chevron 48">
              <a:extLst>
                <a:ext uri="{FF2B5EF4-FFF2-40B4-BE49-F238E27FC236}">
                  <a16:creationId xmlns:a16="http://schemas.microsoft.com/office/drawing/2014/main" id="{BC829AB1-7E6F-DBA1-C1BE-FAD102802459}"/>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18" name="Chevron 48">
              <a:extLst>
                <a:ext uri="{FF2B5EF4-FFF2-40B4-BE49-F238E27FC236}">
                  <a16:creationId xmlns:a16="http://schemas.microsoft.com/office/drawing/2014/main" id="{F8FF9395-8831-D30C-C8C1-FE69E70990D7}"/>
                </a:ext>
              </a:extLst>
            </p:cNvPr>
            <p:cNvSpPr/>
            <p:nvPr/>
          </p:nvSpPr>
          <p:spPr>
            <a:xfrm>
              <a:off x="8709983"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6967042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3F1B1-C307-8336-47B1-C47120B00AD9}"/>
            </a:ext>
          </a:extLst>
        </p:cNvPr>
        <p:cNvGrpSpPr/>
        <p:nvPr/>
      </p:nvGrpSpPr>
      <p:grpSpPr>
        <a:xfrm>
          <a:off x="0" y="0"/>
          <a:ext cx="0" cy="0"/>
          <a:chOff x="0" y="0"/>
          <a:chExt cx="0" cy="0"/>
        </a:xfrm>
      </p:grpSpPr>
      <p:graphicFrame>
        <p:nvGraphicFramePr>
          <p:cNvPr id="59" name="think-cell data - do not delete" hidden="1">
            <a:extLst>
              <a:ext uri="{FF2B5EF4-FFF2-40B4-BE49-F238E27FC236}">
                <a16:creationId xmlns:a16="http://schemas.microsoft.com/office/drawing/2014/main" id="{D98C8307-1AA3-BC80-9DAC-39D8D7674AC4}"/>
              </a:ext>
            </a:extLst>
          </p:cNvPr>
          <p:cNvGraphicFramePr>
            <a:graphicFrameLocks/>
          </p:cNvGraphicFramePr>
          <p:nvPr>
            <p:custDataLst>
              <p:tags r:id="rId1"/>
            </p:custDataLst>
            <p:extLst>
              <p:ext uri="{D42A27DB-BD31-4B8C-83A1-F6EECF244321}">
                <p14:modId xmlns:p14="http://schemas.microsoft.com/office/powerpoint/2010/main" val="39040564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59" name="think-cell data - do not delete" hidden="1">
                        <a:extLst>
                          <a:ext uri="{FF2B5EF4-FFF2-40B4-BE49-F238E27FC236}">
                            <a16:creationId xmlns:a16="http://schemas.microsoft.com/office/drawing/2014/main" id="{D98C8307-1AA3-BC80-9DAC-39D8D7674AC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8" name="Title 57">
            <a:extLst>
              <a:ext uri="{FF2B5EF4-FFF2-40B4-BE49-F238E27FC236}">
                <a16:creationId xmlns:a16="http://schemas.microsoft.com/office/drawing/2014/main" id="{8BF0E407-0685-2106-088E-F75C7C84EDAE}"/>
              </a:ext>
            </a:extLst>
          </p:cNvPr>
          <p:cNvSpPr>
            <a:spLocks noGrp="1"/>
          </p:cNvSpPr>
          <p:nvPr>
            <p:ph type="title"/>
          </p:nvPr>
        </p:nvSpPr>
        <p:spPr>
          <a:xfrm>
            <a:off x="360540" y="338328"/>
            <a:ext cx="11470125" cy="738664"/>
          </a:xfrm>
        </p:spPr>
        <p:txBody>
          <a:bodyPr vert="horz" rIns="0">
            <a:spAutoFit/>
          </a:bodyPr>
          <a:lstStyle/>
          <a:p>
            <a:r>
              <a:rPr lang="en-US" sz="2400"/>
              <a:t>List of planned/addressed tactics with downstream publication </a:t>
            </a:r>
            <a:br>
              <a:rPr lang="en-US" sz="2400"/>
            </a:br>
            <a:r>
              <a:rPr lang="en-US" sz="2400"/>
              <a:t>relevance (1/4)</a:t>
            </a:r>
          </a:p>
        </p:txBody>
      </p:sp>
      <p:graphicFrame>
        <p:nvGraphicFramePr>
          <p:cNvPr id="3" name="Table 2">
            <a:extLst>
              <a:ext uri="{FF2B5EF4-FFF2-40B4-BE49-F238E27FC236}">
                <a16:creationId xmlns:a16="http://schemas.microsoft.com/office/drawing/2014/main" id="{B35A3A2F-D165-F4FA-BEFA-E1E14BFE16E7}"/>
              </a:ext>
            </a:extLst>
          </p:cNvPr>
          <p:cNvGraphicFramePr>
            <a:graphicFrameLocks noGrp="1"/>
          </p:cNvGraphicFramePr>
          <p:nvPr>
            <p:extLst>
              <p:ext uri="{D42A27DB-BD31-4B8C-83A1-F6EECF244321}">
                <p14:modId xmlns:p14="http://schemas.microsoft.com/office/powerpoint/2010/main" val="2835898692"/>
              </p:ext>
            </p:extLst>
          </p:nvPr>
        </p:nvGraphicFramePr>
        <p:xfrm>
          <a:off x="362744" y="1554581"/>
          <a:ext cx="11465719" cy="4654680"/>
        </p:xfrm>
        <a:graphic>
          <a:graphicData uri="http://schemas.openxmlformats.org/drawingml/2006/table">
            <a:tbl>
              <a:tblPr bandRow="1">
                <a:tableStyleId>{5C22544A-7EE6-4342-B048-85BDC9FD1C3A}</a:tableStyleId>
              </a:tblPr>
              <a:tblGrid>
                <a:gridCol w="1261013">
                  <a:extLst>
                    <a:ext uri="{9D8B030D-6E8A-4147-A177-3AD203B41FA5}">
                      <a16:colId xmlns:a16="http://schemas.microsoft.com/office/drawing/2014/main" val="1720362591"/>
                    </a:ext>
                  </a:extLst>
                </a:gridCol>
                <a:gridCol w="2344344">
                  <a:extLst>
                    <a:ext uri="{9D8B030D-6E8A-4147-A177-3AD203B41FA5}">
                      <a16:colId xmlns:a16="http://schemas.microsoft.com/office/drawing/2014/main" val="1362236069"/>
                    </a:ext>
                  </a:extLst>
                </a:gridCol>
                <a:gridCol w="4803759">
                  <a:extLst>
                    <a:ext uri="{9D8B030D-6E8A-4147-A177-3AD203B41FA5}">
                      <a16:colId xmlns:a16="http://schemas.microsoft.com/office/drawing/2014/main" val="366937182"/>
                    </a:ext>
                  </a:extLst>
                </a:gridCol>
                <a:gridCol w="776177">
                  <a:extLst>
                    <a:ext uri="{9D8B030D-6E8A-4147-A177-3AD203B41FA5}">
                      <a16:colId xmlns:a16="http://schemas.microsoft.com/office/drawing/2014/main" val="869934027"/>
                    </a:ext>
                  </a:extLst>
                </a:gridCol>
                <a:gridCol w="2280426">
                  <a:extLst>
                    <a:ext uri="{9D8B030D-6E8A-4147-A177-3AD203B41FA5}">
                      <a16:colId xmlns:a16="http://schemas.microsoft.com/office/drawing/2014/main" val="320023064"/>
                    </a:ext>
                  </a:extLst>
                </a:gridCol>
              </a:tblGrid>
              <a:tr h="204519">
                <a:tc>
                  <a:txBody>
                    <a:bodyPr/>
                    <a:lstStyle/>
                    <a:p>
                      <a:pPr algn="ctr">
                        <a:spcBef>
                          <a:spcPts val="600"/>
                        </a:spcBef>
                      </a:pPr>
                      <a:r>
                        <a:rPr lang="en-US" sz="1200" b="1" i="0">
                          <a:solidFill>
                            <a:schemeClr val="bg1"/>
                          </a:solidFill>
                          <a:latin typeface="+mn-lt"/>
                          <a:cs typeface="Poppins" pitchFamily="2" charset="77"/>
                        </a:rPr>
                        <a:t>Tactic/Study</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600"/>
                        </a:spcBef>
                      </a:pPr>
                      <a:r>
                        <a:rPr lang="en-US" sz="1200" b="1" i="0">
                          <a:solidFill>
                            <a:schemeClr val="bg1"/>
                          </a:solidFill>
                          <a:latin typeface="+mn-lt"/>
                          <a:cs typeface="Poppins" pitchFamily="2" charset="77"/>
                        </a:rPr>
                        <a:t>Evidence Gap(s)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600"/>
                        </a:spcBef>
                      </a:pPr>
                      <a:r>
                        <a:rPr lang="en-US" sz="1200" b="1" i="0">
                          <a:solidFill>
                            <a:schemeClr val="bg1"/>
                          </a:solidFill>
                          <a:latin typeface="+mn-lt"/>
                          <a:cs typeface="Poppins" pitchFamily="2" charset="77"/>
                        </a:rPr>
                        <a:t>Description of EvGen Activities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600"/>
                        </a:spcBef>
                      </a:pPr>
                      <a:r>
                        <a:rPr lang="en-US" sz="1200" b="1" i="0">
                          <a:solidFill>
                            <a:schemeClr val="bg1"/>
                          </a:solidFill>
                          <a:latin typeface="+mn-lt"/>
                          <a:cs typeface="Poppins" pitchFamily="2" charset="77"/>
                        </a:rPr>
                        <a:t>Status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600"/>
                        </a:spcBef>
                      </a:pPr>
                      <a:r>
                        <a:rPr lang="en-US" sz="1200" b="1" i="0">
                          <a:solidFill>
                            <a:schemeClr val="bg1"/>
                          </a:solidFill>
                          <a:latin typeface="+mn-lt"/>
                          <a:cs typeface="Poppins" pitchFamily="2" charset="77"/>
                        </a:rPr>
                        <a:t>Read out/ trigger</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2323510155"/>
                  </a:ext>
                </a:extLst>
              </a:tr>
              <a:tr h="2632978">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000" b="0" i="0">
                          <a:solidFill>
                            <a:schemeClr val="tx1"/>
                          </a:solidFill>
                          <a:latin typeface="+mn-lt"/>
                          <a:cs typeface="Poppins" pitchFamily="2" charset="77"/>
                        </a:rPr>
                        <a:t>SLR, RWE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400" rtl="0" eaLnBrk="1" fontAlgn="auto" latinLnBrk="0" hangingPunct="1">
                        <a:lnSpc>
                          <a:spcPct val="100000"/>
                        </a:lnSpc>
                        <a:spcBef>
                          <a:spcPts val="600"/>
                        </a:spcBef>
                        <a:spcAft>
                          <a:spcPts val="0"/>
                        </a:spcAft>
                        <a:buClr>
                          <a:srgbClr val="000000"/>
                        </a:buClr>
                        <a:buSzTx/>
                        <a:buFont typeface="Arial" panose="020B0604020202020204" pitchFamily="34" charset="0"/>
                        <a:buChar char="•"/>
                        <a:tabLst/>
                        <a:defRPr/>
                      </a:pPr>
                      <a:r>
                        <a:rPr lang="en-US" sz="1000" b="1" i="0">
                          <a:solidFill>
                            <a:schemeClr val="tx1"/>
                          </a:solidFill>
                          <a:latin typeface="+mn-lt"/>
                          <a:cs typeface="Poppins" pitchFamily="2" charset="77"/>
                        </a:rPr>
                        <a:t>NSCLC_AD_01: </a:t>
                      </a:r>
                      <a:r>
                        <a:rPr lang="en-US" sz="1000" i="1">
                          <a:solidFill>
                            <a:schemeClr val="tx1"/>
                          </a:solidFill>
                        </a:rPr>
                        <a:t>(1L/ 2L+)</a:t>
                      </a:r>
                      <a:r>
                        <a:rPr lang="en-US" sz="1000">
                          <a:solidFill>
                            <a:schemeClr val="tx1"/>
                          </a:solidFill>
                        </a:rPr>
                        <a:t> Quantifying incidence of CNS metastases in MTAP-deleted nonsquamous vs. squamous histologies</a:t>
                      </a:r>
                    </a:p>
                    <a:p>
                      <a:pPr marL="171450" marR="0" lvl="0" indent="-171450" algn="l" defTabSz="914400" rtl="0" eaLnBrk="1" fontAlgn="auto" latinLnBrk="0" hangingPunct="1">
                        <a:lnSpc>
                          <a:spcPct val="100000"/>
                        </a:lnSpc>
                        <a:spcBef>
                          <a:spcPts val="600"/>
                        </a:spcBef>
                        <a:spcAft>
                          <a:spcPts val="0"/>
                        </a:spcAft>
                        <a:buClr>
                          <a:srgbClr val="000000"/>
                        </a:buClr>
                        <a:buSzTx/>
                        <a:buFont typeface="Arial" panose="020B0604020202020204" pitchFamily="34" charset="0"/>
                        <a:buChar char="•"/>
                        <a:tabLst/>
                        <a:defRPr/>
                      </a:pPr>
                      <a:r>
                        <a:rPr lang="en-US" sz="1000" b="1" i="0">
                          <a:solidFill>
                            <a:schemeClr val="tx1"/>
                          </a:solidFill>
                          <a:latin typeface="+mn-lt"/>
                          <a:cs typeface="Poppins" pitchFamily="2" charset="77"/>
                        </a:rPr>
                        <a:t>NSCLC_AD_03</a:t>
                      </a:r>
                      <a:r>
                        <a:rPr lang="en-US" sz="1000" b="0" i="0">
                          <a:solidFill>
                            <a:schemeClr val="tx1"/>
                          </a:solidFill>
                          <a:latin typeface="+mn-lt"/>
                          <a:cs typeface="Poppins" pitchFamily="2" charset="77"/>
                        </a:rPr>
                        <a:t>: MTAP-deletion prevalence rates and clinical characteristics in NSCLC patients with vs. without CNS metastases</a:t>
                      </a:r>
                    </a:p>
                    <a:p>
                      <a:pPr marL="171450" marR="0" lvl="0" indent="-171450" algn="l" defTabSz="914400" rtl="0" eaLnBrk="1" fontAlgn="auto" latinLnBrk="0" hangingPunct="1">
                        <a:lnSpc>
                          <a:spcPct val="100000"/>
                        </a:lnSpc>
                        <a:spcBef>
                          <a:spcPts val="600"/>
                        </a:spcBef>
                        <a:spcAft>
                          <a:spcPts val="0"/>
                        </a:spcAft>
                        <a:buClr>
                          <a:srgbClr val="000000"/>
                        </a:buClr>
                        <a:buSzTx/>
                        <a:buFont typeface="Arial" panose="020B0604020202020204" pitchFamily="34" charset="0"/>
                        <a:buChar char="•"/>
                        <a:tabLst/>
                        <a:defRPr/>
                      </a:pPr>
                      <a:r>
                        <a:rPr lang="en-US" sz="1000" b="1" i="0">
                          <a:solidFill>
                            <a:schemeClr val="tx1"/>
                          </a:solidFill>
                          <a:latin typeface="+mn-lt"/>
                          <a:cs typeface="Poppins" pitchFamily="2" charset="77"/>
                        </a:rPr>
                        <a:t>NSCLC_AD_04</a:t>
                      </a:r>
                      <a:r>
                        <a:rPr lang="en-US" sz="1000" b="0" i="0">
                          <a:solidFill>
                            <a:schemeClr val="tx1"/>
                          </a:solidFill>
                          <a:latin typeface="+mn-lt"/>
                          <a:cs typeface="Poppins" pitchFamily="2" charset="77"/>
                        </a:rPr>
                        <a:t>: MTAP-deletion and co-mutation prevalence patterns across squamous vs. non-squamous histology</a:t>
                      </a:r>
                    </a:p>
                    <a:p>
                      <a:pPr marL="171450" marR="0" lvl="0" indent="-171450" algn="l" defTabSz="914400" rtl="0" eaLnBrk="1" fontAlgn="auto" latinLnBrk="0" hangingPunct="1">
                        <a:lnSpc>
                          <a:spcPct val="100000"/>
                        </a:lnSpc>
                        <a:spcBef>
                          <a:spcPts val="600"/>
                        </a:spcBef>
                        <a:spcAft>
                          <a:spcPts val="500"/>
                        </a:spcAft>
                        <a:buClrTx/>
                        <a:buSzTx/>
                        <a:buFont typeface="Arial" panose="020B0604020202020204" pitchFamily="34" charset="0"/>
                        <a:buChar char="•"/>
                        <a:tabLst/>
                        <a:defRPr/>
                      </a:pPr>
                      <a:r>
                        <a:rPr lang="en-US" sz="1000" b="1" i="0">
                          <a:solidFill>
                            <a:schemeClr val="tx1"/>
                          </a:solidFill>
                          <a:latin typeface="+mn-lt"/>
                          <a:cs typeface="Poppins" pitchFamily="2" charset="77"/>
                        </a:rPr>
                        <a:t>NSCLC_AD_10: </a:t>
                      </a:r>
                      <a:r>
                        <a:rPr lang="en-US" sz="1000" b="0" i="0">
                          <a:solidFill>
                            <a:schemeClr val="tx1"/>
                          </a:solidFill>
                          <a:latin typeface="+mn-lt"/>
                          <a:cs typeface="Poppins" pitchFamily="2" charset="77"/>
                        </a:rPr>
                        <a:t>(1L, 2L+) MTAP deletion prevalence rates with expression of co-mutations (EGFR, ALK, KRAS, etc.)</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Bef>
                          <a:spcPts val="600"/>
                        </a:spcBef>
                        <a:buFont typeface="Arial" panose="020B0604020202020204" pitchFamily="34" charset="0"/>
                        <a:buChar char="•"/>
                      </a:pPr>
                      <a:r>
                        <a:rPr lang="en-US" sz="1000" b="0" i="0" kern="1200">
                          <a:solidFill>
                            <a:schemeClr val="tx1"/>
                          </a:solidFill>
                          <a:latin typeface="+mn-lt"/>
                          <a:ea typeface="+mn-ea"/>
                          <a:cs typeface="Poppins" pitchFamily="2" charset="77"/>
                        </a:rPr>
                        <a:t>These gaps have been addressed by Tempus for US with limited data available for other markets and limited rationale suggesting data might be different across markets/regions</a:t>
                      </a:r>
                    </a:p>
                    <a:p>
                      <a:pPr marL="171450" indent="-171450" algn="l" defTabSz="914400" rtl="0" eaLnBrk="1" latinLnBrk="0" hangingPunct="1">
                        <a:spcBef>
                          <a:spcPts val="600"/>
                        </a:spcBef>
                        <a:buFont typeface="Arial" panose="020B0604020202020204" pitchFamily="34" charset="0"/>
                        <a:buChar char="•"/>
                      </a:pPr>
                      <a:r>
                        <a:rPr lang="en-US" sz="1000" b="0" i="0" kern="1200">
                          <a:solidFill>
                            <a:schemeClr val="tx1"/>
                          </a:solidFill>
                          <a:latin typeface="+mn-lt"/>
                          <a:ea typeface="+mn-ea"/>
                          <a:cs typeface="Poppins" pitchFamily="2" charset="77"/>
                        </a:rPr>
                        <a:t>AD_04: ctDNA/tissue sequencing for samples from BeOne’s own trials will be analyzed for co-mutations and correlation with efficacy, mainly for Asian patients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Bef>
                          <a:spcPts val="600"/>
                        </a:spcBef>
                        <a:buFont typeface="Arial" panose="020B0604020202020204" pitchFamily="34" charset="0"/>
                        <a:buChar char="•"/>
                      </a:pPr>
                      <a:endParaRPr lang="en-US" sz="1000" b="0" i="0" kern="1200">
                        <a:solidFill>
                          <a:schemeClr val="tx1"/>
                        </a:solidFill>
                        <a:latin typeface="+mn-lt"/>
                        <a:ea typeface="+mn-ea"/>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171450" lvl="0" indent="-171450">
                        <a:spcBef>
                          <a:spcPts val="600"/>
                        </a:spcBef>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Trigger: SLR to be updated and RWE feasibility assessment to be conducted upon availability of further data, especially ex-US – Biomarkers team is constantly monitoring the landscape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605961035"/>
                  </a:ext>
                </a:extLst>
              </a:tr>
              <a:tr h="964732">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000" b="0" i="0">
                          <a:solidFill>
                            <a:schemeClr val="tx1"/>
                          </a:solidFill>
                          <a:latin typeface="+mn-lt"/>
                          <a:cs typeface="Poppins" pitchFamily="2" charset="77"/>
                        </a:rPr>
                        <a:t>Post-hoc, IIT</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marR="0" lvl="0" indent="-171450" algn="l" defTabSz="914400" rtl="0" eaLnBrk="1" fontAlgn="auto" latinLnBrk="0" hangingPunct="1">
                        <a:lnSpc>
                          <a:spcPct val="100000"/>
                        </a:lnSpc>
                        <a:spcBef>
                          <a:spcPts val="600"/>
                        </a:spcBef>
                        <a:spcAft>
                          <a:spcPts val="0"/>
                        </a:spcAft>
                        <a:buClr>
                          <a:srgbClr val="000000"/>
                        </a:buClr>
                        <a:buSzTx/>
                        <a:buFont typeface="Arial" panose="020B0604020202020204" pitchFamily="34" charset="0"/>
                        <a:buChar char="•"/>
                        <a:tabLst/>
                        <a:defRPr/>
                      </a:pPr>
                      <a:r>
                        <a:rPr lang="en-US" sz="1000" b="1" i="0">
                          <a:solidFill>
                            <a:schemeClr val="tx1"/>
                          </a:solidFill>
                          <a:latin typeface="+mn-lt"/>
                          <a:cs typeface="Poppins" pitchFamily="2" charset="77"/>
                        </a:rPr>
                        <a:t>NSCLC_AD_05: </a:t>
                      </a:r>
                      <a:r>
                        <a:rPr lang="en-US" sz="1000" b="0" i="0">
                          <a:solidFill>
                            <a:schemeClr val="tx1"/>
                          </a:solidFill>
                          <a:latin typeface="+mn-lt"/>
                          <a:cs typeface="Poppins" pitchFamily="2" charset="77"/>
                        </a:rPr>
                        <a:t>C</a:t>
                      </a:r>
                      <a:r>
                        <a:rPr lang="en-US" sz="1000" b="0">
                          <a:solidFill>
                            <a:schemeClr val="tx1"/>
                          </a:solidFill>
                          <a:latin typeface="+mn-lt"/>
                        </a:rPr>
                        <a:t>haracterization of BGB-58067 outcomes in patients with alternative mechanisms of MTAP downregulation</a:t>
                      </a:r>
                      <a:endParaRPr lang="en-US" sz="1000" b="0"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indent="-171450" algn="l" defTabSz="914400" rtl="0" eaLnBrk="1" latinLnBrk="0" hangingPunct="1">
                        <a:spcBef>
                          <a:spcPts val="600"/>
                        </a:spcBef>
                        <a:buFont typeface="Arial" panose="020B0604020202020204" pitchFamily="34" charset="0"/>
                        <a:buChar char="•"/>
                      </a:pPr>
                      <a:r>
                        <a:rPr lang="en-US" sz="1000" b="0" i="0" kern="1200">
                          <a:solidFill>
                            <a:schemeClr val="tx1"/>
                          </a:solidFill>
                          <a:latin typeface="+mn-lt"/>
                          <a:ea typeface="+mn-ea"/>
                          <a:cs typeface="Poppins" pitchFamily="2" charset="77"/>
                        </a:rPr>
                        <a:t>Post-hoc analysis of IHC enrolled patient samples along with retrospective NGS planned by Biomarker team </a:t>
                      </a:r>
                    </a:p>
                    <a:p>
                      <a:pPr marL="171450" indent="-171450" algn="l" defTabSz="914400" rtl="0" eaLnBrk="1" latinLnBrk="0" hangingPunct="1">
                        <a:spcBef>
                          <a:spcPts val="600"/>
                        </a:spcBef>
                        <a:buFont typeface="Arial" panose="020B0604020202020204" pitchFamily="34" charset="0"/>
                        <a:buChar char="•"/>
                      </a:pPr>
                      <a:r>
                        <a:rPr lang="en-US" sz="1000" b="0" i="0" kern="1200">
                          <a:solidFill>
                            <a:schemeClr val="tx1"/>
                          </a:solidFill>
                          <a:latin typeface="+mn-lt"/>
                          <a:ea typeface="+mn-ea"/>
                          <a:cs typeface="Poppins" pitchFamily="2" charset="77"/>
                        </a:rPr>
                        <a:t>Additionally, Biomarker team has analyzed 160 commercial samples (NSCLC) in a pilot study tested by both IHC and NGS that includes MTAP protein loss caused by non-genomic alteration</a:t>
                      </a:r>
                    </a:p>
                    <a:p>
                      <a:pPr marL="171450" indent="-171450" algn="l" defTabSz="914400" rtl="0" eaLnBrk="1" latinLnBrk="0" hangingPunct="1">
                        <a:spcBef>
                          <a:spcPts val="600"/>
                        </a:spcBef>
                        <a:buFont typeface="Arial" panose="020B0604020202020204" pitchFamily="34" charset="0"/>
                        <a:buChar char="•"/>
                      </a:pPr>
                      <a:r>
                        <a:rPr lang="en-US" sz="1000" b="0" i="0" kern="1200">
                          <a:solidFill>
                            <a:schemeClr val="tx1"/>
                          </a:solidFill>
                          <a:latin typeface="+mn-lt"/>
                          <a:ea typeface="+mn-ea"/>
                          <a:cs typeface="Poppins" pitchFamily="2" charset="77"/>
                        </a:rPr>
                        <a:t>Biomarker team is also planning to generate similar data across other indications like PDAC, NET, CHL</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indent="-171450" algn="l" defTabSz="914400" rtl="0" eaLnBrk="1" latinLnBrk="0" hangingPunct="1">
                        <a:spcBef>
                          <a:spcPts val="600"/>
                        </a:spcBef>
                        <a:buFont typeface="Arial" panose="020B0604020202020204" pitchFamily="34" charset="0"/>
                        <a:buChar char="•"/>
                      </a:pPr>
                      <a:endParaRPr lang="en-US" sz="1000" b="0" i="0" kern="1200">
                        <a:solidFill>
                          <a:schemeClr val="tx1"/>
                        </a:solidFill>
                        <a:latin typeface="+mn-lt"/>
                        <a:ea typeface="+mn-ea"/>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0">
                          <a:srgbClr val="FFC000"/>
                        </a:gs>
                        <a:gs pos="100000">
                          <a:schemeClr val="accent6"/>
                        </a:gs>
                      </a:gsLst>
                      <a:lin ang="5400000" scaled="1"/>
                    </a:gradFill>
                  </a:tcPr>
                </a:tc>
                <a:tc>
                  <a:txBody>
                    <a:bodyPr/>
                    <a:lstStyle/>
                    <a:p>
                      <a:pPr marL="171450" lvl="0" indent="-171450">
                        <a:spcBef>
                          <a:spcPts val="600"/>
                        </a:spcBef>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Post hoc readout: post-pivotal DRO</a:t>
                      </a:r>
                    </a:p>
                    <a:p>
                      <a:pPr marL="171450" lvl="0" indent="-171450">
                        <a:spcBef>
                          <a:spcPts val="600"/>
                        </a:spcBef>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IIT to be deprioritized unless ongoing work does not fully address the evidence gap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650838194"/>
                  </a:ext>
                </a:extLst>
              </a:tr>
            </a:tbl>
          </a:graphicData>
        </a:graphic>
      </p:graphicFrame>
      <p:sp>
        <p:nvSpPr>
          <p:cNvPr id="51" name="Footer Placeholder 2">
            <a:extLst>
              <a:ext uri="{FF2B5EF4-FFF2-40B4-BE49-F238E27FC236}">
                <a16:creationId xmlns:a16="http://schemas.microsoft.com/office/drawing/2014/main" id="{B0CDFB54-91DD-8C60-8127-B84B6E10BF00}"/>
              </a:ext>
            </a:extLst>
          </p:cNvPr>
          <p:cNvSpPr>
            <a:spLocks noGrp="1"/>
          </p:cNvSpPr>
          <p:nvPr>
            <p:ph type="ftr" sz="quarter" idx="10"/>
          </p:nvPr>
        </p:nvSpPr>
        <p:spPr>
          <a:xfrm>
            <a:off x="358337" y="6436589"/>
            <a:ext cx="8493834" cy="343096"/>
          </a:xfrm>
        </p:spPr>
        <p:txBody>
          <a:bodyPr/>
          <a:lstStyle/>
          <a:p>
            <a:r>
              <a:rPr lang="en-US">
                <a:solidFill>
                  <a:srgbClr val="595959"/>
                </a:solidFill>
              </a:rPr>
              <a:t>Abbreviations: AD: Addressed; ALK: Anaplastic Lymphoma Kinase; CHL: Classical Hodgkin Lymphoma; CNS: Central Nervous System; ctDNA: Circulating Tumor DNA; DRO: Data Readout; EGFR: Epidermal Growth Factor Receptor; IHC: Immunohistochemistry; IIT: Investigator-Initiated Trial; KRAS: Kirsten Rat Sarcoma Viral Oncogene Homolog; MTAP: Methylthioadenosine Phosphorylase; NET: Neuroendocrine Tumor; NGS: Next-Generation Sequencing; NSCLC: Non-Small Cell Lung Cancer; PDAC: Pancreatic Ductal Adenocarcinoma; RWE: Real-World Evidence; SLR: Systematic Literature Review</a:t>
            </a:r>
          </a:p>
        </p:txBody>
      </p:sp>
      <p:grpSp>
        <p:nvGrpSpPr>
          <p:cNvPr id="16" name="Group 15">
            <a:extLst>
              <a:ext uri="{FF2B5EF4-FFF2-40B4-BE49-F238E27FC236}">
                <a16:creationId xmlns:a16="http://schemas.microsoft.com/office/drawing/2014/main" id="{E35A243B-3198-EFB5-D60A-9CC20A009CB3}"/>
              </a:ext>
            </a:extLst>
          </p:cNvPr>
          <p:cNvGrpSpPr/>
          <p:nvPr/>
        </p:nvGrpSpPr>
        <p:grpSpPr>
          <a:xfrm>
            <a:off x="8638333" y="1279664"/>
            <a:ext cx="3190130" cy="307777"/>
            <a:chOff x="6649196" y="1255414"/>
            <a:chExt cx="3190130" cy="307777"/>
          </a:xfrm>
        </p:grpSpPr>
        <p:grpSp>
          <p:nvGrpSpPr>
            <p:cNvPr id="13" name="Group 12">
              <a:extLst>
                <a:ext uri="{FF2B5EF4-FFF2-40B4-BE49-F238E27FC236}">
                  <a16:creationId xmlns:a16="http://schemas.microsoft.com/office/drawing/2014/main" id="{79B7B29E-BAFF-793C-5FBD-8CCABB6C31A9}"/>
                </a:ext>
              </a:extLst>
            </p:cNvPr>
            <p:cNvGrpSpPr/>
            <p:nvPr/>
          </p:nvGrpSpPr>
          <p:grpSpPr>
            <a:xfrm>
              <a:off x="7367985" y="1255414"/>
              <a:ext cx="846805" cy="307777"/>
              <a:chOff x="7367985" y="1255414"/>
              <a:chExt cx="846805" cy="307777"/>
            </a:xfrm>
          </p:grpSpPr>
          <p:sp>
            <p:nvSpPr>
              <p:cNvPr id="4" name="Rectangle 3">
                <a:extLst>
                  <a:ext uri="{FF2B5EF4-FFF2-40B4-BE49-F238E27FC236}">
                    <a16:creationId xmlns:a16="http://schemas.microsoft.com/office/drawing/2014/main" id="{2C14005F-8DCD-F6AA-8EF6-BB3F93102C83}"/>
                  </a:ext>
                </a:extLst>
              </p:cNvPr>
              <p:cNvSpPr/>
              <p:nvPr/>
            </p:nvSpPr>
            <p:spPr>
              <a:xfrm>
                <a:off x="7367985" y="1345702"/>
                <a:ext cx="128016" cy="12801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5" name="TextBox 4">
                <a:extLst>
                  <a:ext uri="{FF2B5EF4-FFF2-40B4-BE49-F238E27FC236}">
                    <a16:creationId xmlns:a16="http://schemas.microsoft.com/office/drawing/2014/main" id="{093F4C05-A4FE-D1C9-3D9C-78BA9FBF2990}"/>
                  </a:ext>
                </a:extLst>
              </p:cNvPr>
              <p:cNvSpPr txBox="1"/>
              <p:nvPr/>
            </p:nvSpPr>
            <p:spPr>
              <a:xfrm>
                <a:off x="7450281" y="1255414"/>
                <a:ext cx="764509" cy="307777"/>
              </a:xfrm>
              <a:prstGeom prst="rect">
                <a:avLst/>
              </a:prstGeom>
              <a:noFill/>
            </p:spPr>
            <p:txBody>
              <a:bodyPr wrap="square" lIns="91440" tIns="91440" rIns="91440" bIns="91440" rtlCol="0">
                <a:spAutoFit/>
              </a:bodyPr>
              <a:lstStyle/>
              <a:p>
                <a:pPr algn="l"/>
                <a:r>
                  <a:rPr lang="en-US" sz="800"/>
                  <a:t>Completed</a:t>
                </a:r>
              </a:p>
            </p:txBody>
          </p:sp>
        </p:grpSp>
        <p:sp>
          <p:nvSpPr>
            <p:cNvPr id="6" name="TextBox 5">
              <a:extLst>
                <a:ext uri="{FF2B5EF4-FFF2-40B4-BE49-F238E27FC236}">
                  <a16:creationId xmlns:a16="http://schemas.microsoft.com/office/drawing/2014/main" id="{C7618C5F-1D01-21E5-23EB-5A10B7CFC1BE}"/>
                </a:ext>
              </a:extLst>
            </p:cNvPr>
            <p:cNvSpPr txBox="1"/>
            <p:nvPr/>
          </p:nvSpPr>
          <p:spPr>
            <a:xfrm>
              <a:off x="6649196" y="1255414"/>
              <a:ext cx="1071704" cy="307777"/>
            </a:xfrm>
            <a:prstGeom prst="rect">
              <a:avLst/>
            </a:prstGeom>
            <a:noFill/>
          </p:spPr>
          <p:txBody>
            <a:bodyPr wrap="square" lIns="36000" tIns="91440" rIns="36000" bIns="91440" rtlCol="0">
              <a:spAutoFit/>
            </a:bodyPr>
            <a:lstStyle/>
            <a:p>
              <a:pPr algn="ctr"/>
              <a:r>
                <a:rPr lang="en-US" sz="800" b="1"/>
                <a:t>Key:</a:t>
              </a:r>
              <a:endParaRPr lang="en-US" sz="800"/>
            </a:p>
          </p:txBody>
        </p:sp>
        <p:grpSp>
          <p:nvGrpSpPr>
            <p:cNvPr id="14" name="Group 13">
              <a:extLst>
                <a:ext uri="{FF2B5EF4-FFF2-40B4-BE49-F238E27FC236}">
                  <a16:creationId xmlns:a16="http://schemas.microsoft.com/office/drawing/2014/main" id="{F92D1FB6-2868-10EC-4BB4-53E3A002761F}"/>
                </a:ext>
              </a:extLst>
            </p:cNvPr>
            <p:cNvGrpSpPr/>
            <p:nvPr/>
          </p:nvGrpSpPr>
          <p:grpSpPr>
            <a:xfrm>
              <a:off x="8292931" y="1255414"/>
              <a:ext cx="773967" cy="307777"/>
              <a:chOff x="8636733" y="1255414"/>
              <a:chExt cx="773967" cy="307777"/>
            </a:xfrm>
          </p:grpSpPr>
          <p:sp>
            <p:nvSpPr>
              <p:cNvPr id="8" name="Rectangle 7">
                <a:extLst>
                  <a:ext uri="{FF2B5EF4-FFF2-40B4-BE49-F238E27FC236}">
                    <a16:creationId xmlns:a16="http://schemas.microsoft.com/office/drawing/2014/main" id="{1137A081-39F0-AFD7-5FD5-1B095AE88858}"/>
                  </a:ext>
                </a:extLst>
              </p:cNvPr>
              <p:cNvSpPr/>
              <p:nvPr/>
            </p:nvSpPr>
            <p:spPr>
              <a:xfrm>
                <a:off x="8636733" y="1345702"/>
                <a:ext cx="128016" cy="12801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9" name="TextBox 8">
                <a:extLst>
                  <a:ext uri="{FF2B5EF4-FFF2-40B4-BE49-F238E27FC236}">
                    <a16:creationId xmlns:a16="http://schemas.microsoft.com/office/drawing/2014/main" id="{2E6661CE-4FE4-7CB8-1BDA-8DC4E8177F9A}"/>
                  </a:ext>
                </a:extLst>
              </p:cNvPr>
              <p:cNvSpPr txBox="1"/>
              <p:nvPr/>
            </p:nvSpPr>
            <p:spPr>
              <a:xfrm>
                <a:off x="8719030" y="1255414"/>
                <a:ext cx="691670" cy="307777"/>
              </a:xfrm>
              <a:prstGeom prst="rect">
                <a:avLst/>
              </a:prstGeom>
              <a:noFill/>
            </p:spPr>
            <p:txBody>
              <a:bodyPr wrap="square" lIns="91440" tIns="91440" rIns="91440" bIns="91440" rtlCol="0">
                <a:spAutoFit/>
              </a:bodyPr>
              <a:lstStyle/>
              <a:p>
                <a:pPr algn="l"/>
                <a:r>
                  <a:rPr lang="en-US" sz="800"/>
                  <a:t>Ongoing</a:t>
                </a:r>
              </a:p>
            </p:txBody>
          </p:sp>
        </p:grpSp>
        <p:grpSp>
          <p:nvGrpSpPr>
            <p:cNvPr id="15" name="Group 14">
              <a:extLst>
                <a:ext uri="{FF2B5EF4-FFF2-40B4-BE49-F238E27FC236}">
                  <a16:creationId xmlns:a16="http://schemas.microsoft.com/office/drawing/2014/main" id="{422EB040-CAD7-40DB-36A3-648E8AA92456}"/>
                </a:ext>
              </a:extLst>
            </p:cNvPr>
            <p:cNvGrpSpPr/>
            <p:nvPr/>
          </p:nvGrpSpPr>
          <p:grpSpPr>
            <a:xfrm>
              <a:off x="9145038" y="1255414"/>
              <a:ext cx="694288" cy="307777"/>
              <a:chOff x="9859413" y="1255414"/>
              <a:chExt cx="694288" cy="307777"/>
            </a:xfrm>
          </p:grpSpPr>
          <p:sp>
            <p:nvSpPr>
              <p:cNvPr id="11" name="Rectangle 10">
                <a:extLst>
                  <a:ext uri="{FF2B5EF4-FFF2-40B4-BE49-F238E27FC236}">
                    <a16:creationId xmlns:a16="http://schemas.microsoft.com/office/drawing/2014/main" id="{67DBBFEB-A3DE-3007-DF32-461E02AEA543}"/>
                  </a:ext>
                </a:extLst>
              </p:cNvPr>
              <p:cNvSpPr/>
              <p:nvPr/>
            </p:nvSpPr>
            <p:spPr>
              <a:xfrm>
                <a:off x="9859413" y="1345702"/>
                <a:ext cx="128016" cy="12801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12" name="TextBox 11">
                <a:extLst>
                  <a:ext uri="{FF2B5EF4-FFF2-40B4-BE49-F238E27FC236}">
                    <a16:creationId xmlns:a16="http://schemas.microsoft.com/office/drawing/2014/main" id="{771AD749-9884-8067-5AFE-2F4BCAF2116B}"/>
                  </a:ext>
                </a:extLst>
              </p:cNvPr>
              <p:cNvSpPr txBox="1"/>
              <p:nvPr/>
            </p:nvSpPr>
            <p:spPr>
              <a:xfrm>
                <a:off x="9941709" y="1255414"/>
                <a:ext cx="611992" cy="307777"/>
              </a:xfrm>
              <a:prstGeom prst="rect">
                <a:avLst/>
              </a:prstGeom>
              <a:noFill/>
            </p:spPr>
            <p:txBody>
              <a:bodyPr wrap="square" lIns="91440" tIns="91440" rIns="91440" bIns="91440" rtlCol="0">
                <a:spAutoFit/>
              </a:bodyPr>
              <a:lstStyle/>
              <a:p>
                <a:pPr algn="l"/>
                <a:r>
                  <a:rPr lang="en-US" sz="800"/>
                  <a:t>Planned</a:t>
                </a:r>
              </a:p>
            </p:txBody>
          </p:sp>
        </p:grpSp>
      </p:grpSp>
      <p:grpSp>
        <p:nvGrpSpPr>
          <p:cNvPr id="2" name="Group 1">
            <a:extLst>
              <a:ext uri="{FF2B5EF4-FFF2-40B4-BE49-F238E27FC236}">
                <a16:creationId xmlns:a16="http://schemas.microsoft.com/office/drawing/2014/main" id="{C2674663-353B-6A75-59E7-0DBDE65B53F4}"/>
              </a:ext>
            </a:extLst>
          </p:cNvPr>
          <p:cNvGrpSpPr/>
          <p:nvPr/>
        </p:nvGrpSpPr>
        <p:grpSpPr>
          <a:xfrm>
            <a:off x="362743" y="10216"/>
            <a:ext cx="10042505" cy="252000"/>
            <a:chOff x="362743" y="10216"/>
            <a:chExt cx="10042505" cy="252000"/>
          </a:xfrm>
        </p:grpSpPr>
        <p:sp>
          <p:nvSpPr>
            <p:cNvPr id="7" name="Pentagon 47">
              <a:extLst>
                <a:ext uri="{FF2B5EF4-FFF2-40B4-BE49-F238E27FC236}">
                  <a16:creationId xmlns:a16="http://schemas.microsoft.com/office/drawing/2014/main" id="{7703E755-9C3E-BDC8-1675-4DE2CFBD6890}"/>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10" name="Chevron 48">
              <a:extLst>
                <a:ext uri="{FF2B5EF4-FFF2-40B4-BE49-F238E27FC236}">
                  <a16:creationId xmlns:a16="http://schemas.microsoft.com/office/drawing/2014/main" id="{86A1AF72-59C6-5BBB-4CE0-41BD86C33F0E}"/>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17" name="Chevron 52">
              <a:extLst>
                <a:ext uri="{FF2B5EF4-FFF2-40B4-BE49-F238E27FC236}">
                  <a16:creationId xmlns:a16="http://schemas.microsoft.com/office/drawing/2014/main" id="{EA496E0D-DEC5-0D92-71F7-B0CE412543F2}"/>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18" name="Chevron 54">
              <a:extLst>
                <a:ext uri="{FF2B5EF4-FFF2-40B4-BE49-F238E27FC236}">
                  <a16:creationId xmlns:a16="http://schemas.microsoft.com/office/drawing/2014/main" id="{16351BEC-9D07-B892-7F27-AFD42E4F14B4}"/>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9" name="Chevron 48">
              <a:extLst>
                <a:ext uri="{FF2B5EF4-FFF2-40B4-BE49-F238E27FC236}">
                  <a16:creationId xmlns:a16="http://schemas.microsoft.com/office/drawing/2014/main" id="{BD47611C-8250-CECC-E325-D71FC7D2E2C3}"/>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28" name="Chevron 48">
              <a:extLst>
                <a:ext uri="{FF2B5EF4-FFF2-40B4-BE49-F238E27FC236}">
                  <a16:creationId xmlns:a16="http://schemas.microsoft.com/office/drawing/2014/main" id="{D1DD0820-B699-EDCE-7EDF-E39CDBA5FA45}"/>
                </a:ext>
              </a:extLst>
            </p:cNvPr>
            <p:cNvSpPr/>
            <p:nvPr/>
          </p:nvSpPr>
          <p:spPr>
            <a:xfrm>
              <a:off x="8709983"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10437269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8B0C8-EE77-BAE0-C59D-F1E71246618E}"/>
            </a:ext>
          </a:extLst>
        </p:cNvPr>
        <p:cNvGrpSpPr/>
        <p:nvPr/>
      </p:nvGrpSpPr>
      <p:grpSpPr>
        <a:xfrm>
          <a:off x="0" y="0"/>
          <a:ext cx="0" cy="0"/>
          <a:chOff x="0" y="0"/>
          <a:chExt cx="0" cy="0"/>
        </a:xfrm>
      </p:grpSpPr>
      <p:graphicFrame>
        <p:nvGraphicFramePr>
          <p:cNvPr id="59" name="think-cell data - do not delete" hidden="1">
            <a:extLst>
              <a:ext uri="{FF2B5EF4-FFF2-40B4-BE49-F238E27FC236}">
                <a16:creationId xmlns:a16="http://schemas.microsoft.com/office/drawing/2014/main" id="{9DF96ACC-693D-57AC-5293-E6B5D49689D2}"/>
              </a:ext>
            </a:extLst>
          </p:cNvPr>
          <p:cNvGraphicFramePr>
            <a:graphicFrameLocks/>
          </p:cNvGraphicFramePr>
          <p:nvPr>
            <p:custDataLst>
              <p:tags r:id="rId1"/>
            </p:custDataLst>
            <p:extLst>
              <p:ext uri="{D42A27DB-BD31-4B8C-83A1-F6EECF244321}">
                <p14:modId xmlns:p14="http://schemas.microsoft.com/office/powerpoint/2010/main" val="17393767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59" name="think-cell data - do not delete" hidden="1">
                        <a:extLst>
                          <a:ext uri="{FF2B5EF4-FFF2-40B4-BE49-F238E27FC236}">
                            <a16:creationId xmlns:a16="http://schemas.microsoft.com/office/drawing/2014/main" id="{9DF96ACC-693D-57AC-5293-E6B5D49689D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8" name="Title 57">
            <a:extLst>
              <a:ext uri="{FF2B5EF4-FFF2-40B4-BE49-F238E27FC236}">
                <a16:creationId xmlns:a16="http://schemas.microsoft.com/office/drawing/2014/main" id="{55BECBBB-3358-0E20-77E1-7CFF055E99CB}"/>
              </a:ext>
            </a:extLst>
          </p:cNvPr>
          <p:cNvSpPr>
            <a:spLocks noGrp="1"/>
          </p:cNvSpPr>
          <p:nvPr>
            <p:ph type="title"/>
          </p:nvPr>
        </p:nvSpPr>
        <p:spPr>
          <a:xfrm>
            <a:off x="360540" y="338328"/>
            <a:ext cx="11470125" cy="738664"/>
          </a:xfrm>
        </p:spPr>
        <p:txBody>
          <a:bodyPr vert="horz" rIns="0">
            <a:spAutoFit/>
          </a:bodyPr>
          <a:lstStyle/>
          <a:p>
            <a:r>
              <a:rPr lang="en-US" sz="2400"/>
              <a:t>List of planned/addressed tactics with downstream publication </a:t>
            </a:r>
            <a:br>
              <a:rPr lang="en-US" sz="2400"/>
            </a:br>
            <a:r>
              <a:rPr lang="en-US" sz="2400"/>
              <a:t>relevance (2/4)</a:t>
            </a:r>
          </a:p>
        </p:txBody>
      </p:sp>
      <p:graphicFrame>
        <p:nvGraphicFramePr>
          <p:cNvPr id="3" name="Table 2">
            <a:extLst>
              <a:ext uri="{FF2B5EF4-FFF2-40B4-BE49-F238E27FC236}">
                <a16:creationId xmlns:a16="http://schemas.microsoft.com/office/drawing/2014/main" id="{5789F17F-7EE0-D04D-5913-4A8004E1406B}"/>
              </a:ext>
            </a:extLst>
          </p:cNvPr>
          <p:cNvGraphicFramePr>
            <a:graphicFrameLocks noGrp="1"/>
          </p:cNvGraphicFramePr>
          <p:nvPr>
            <p:extLst>
              <p:ext uri="{D42A27DB-BD31-4B8C-83A1-F6EECF244321}">
                <p14:modId xmlns:p14="http://schemas.microsoft.com/office/powerpoint/2010/main" val="3028230174"/>
              </p:ext>
            </p:extLst>
          </p:nvPr>
        </p:nvGraphicFramePr>
        <p:xfrm>
          <a:off x="362744" y="1554581"/>
          <a:ext cx="11465719" cy="4702560"/>
        </p:xfrm>
        <a:graphic>
          <a:graphicData uri="http://schemas.openxmlformats.org/drawingml/2006/table">
            <a:tbl>
              <a:tblPr bandRow="1">
                <a:tableStyleId>{5C22544A-7EE6-4342-B048-85BDC9FD1C3A}</a:tableStyleId>
              </a:tblPr>
              <a:tblGrid>
                <a:gridCol w="1261013">
                  <a:extLst>
                    <a:ext uri="{9D8B030D-6E8A-4147-A177-3AD203B41FA5}">
                      <a16:colId xmlns:a16="http://schemas.microsoft.com/office/drawing/2014/main" val="1720362591"/>
                    </a:ext>
                  </a:extLst>
                </a:gridCol>
                <a:gridCol w="2344344">
                  <a:extLst>
                    <a:ext uri="{9D8B030D-6E8A-4147-A177-3AD203B41FA5}">
                      <a16:colId xmlns:a16="http://schemas.microsoft.com/office/drawing/2014/main" val="1362236069"/>
                    </a:ext>
                  </a:extLst>
                </a:gridCol>
                <a:gridCol w="4803759">
                  <a:extLst>
                    <a:ext uri="{9D8B030D-6E8A-4147-A177-3AD203B41FA5}">
                      <a16:colId xmlns:a16="http://schemas.microsoft.com/office/drawing/2014/main" val="366937182"/>
                    </a:ext>
                  </a:extLst>
                </a:gridCol>
                <a:gridCol w="776177">
                  <a:extLst>
                    <a:ext uri="{9D8B030D-6E8A-4147-A177-3AD203B41FA5}">
                      <a16:colId xmlns:a16="http://schemas.microsoft.com/office/drawing/2014/main" val="869934027"/>
                    </a:ext>
                  </a:extLst>
                </a:gridCol>
                <a:gridCol w="2280426">
                  <a:extLst>
                    <a:ext uri="{9D8B030D-6E8A-4147-A177-3AD203B41FA5}">
                      <a16:colId xmlns:a16="http://schemas.microsoft.com/office/drawing/2014/main" val="320023064"/>
                    </a:ext>
                  </a:extLst>
                </a:gridCol>
              </a:tblGrid>
              <a:tr h="268832">
                <a:tc>
                  <a:txBody>
                    <a:bodyPr/>
                    <a:lstStyle/>
                    <a:p>
                      <a:pPr algn="ctr">
                        <a:spcBef>
                          <a:spcPts val="600"/>
                        </a:spcBef>
                      </a:pPr>
                      <a:r>
                        <a:rPr lang="en-US" sz="1200" b="1" i="0">
                          <a:solidFill>
                            <a:schemeClr val="bg1"/>
                          </a:solidFill>
                          <a:latin typeface="+mn-lt"/>
                          <a:cs typeface="Poppins" pitchFamily="2" charset="77"/>
                        </a:rPr>
                        <a:t>Tactic/Study</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600"/>
                        </a:spcBef>
                      </a:pPr>
                      <a:r>
                        <a:rPr lang="en-US" sz="1200" b="1" i="0">
                          <a:solidFill>
                            <a:schemeClr val="bg1"/>
                          </a:solidFill>
                          <a:latin typeface="+mn-lt"/>
                          <a:cs typeface="Poppins" pitchFamily="2" charset="77"/>
                        </a:rPr>
                        <a:t>Evidence Gap(s)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600"/>
                        </a:spcBef>
                      </a:pPr>
                      <a:r>
                        <a:rPr lang="en-US" sz="1200" b="1" i="0">
                          <a:solidFill>
                            <a:schemeClr val="bg1"/>
                          </a:solidFill>
                          <a:latin typeface="+mn-lt"/>
                          <a:cs typeface="Poppins" pitchFamily="2" charset="77"/>
                        </a:rPr>
                        <a:t>Description of EvGen Activities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600"/>
                        </a:spcBef>
                      </a:pPr>
                      <a:r>
                        <a:rPr lang="en-US" sz="1200" b="1" i="0">
                          <a:solidFill>
                            <a:schemeClr val="bg1"/>
                          </a:solidFill>
                          <a:latin typeface="+mn-lt"/>
                          <a:cs typeface="Poppins" pitchFamily="2" charset="77"/>
                        </a:rPr>
                        <a:t>Status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spcBef>
                          <a:spcPts val="600"/>
                        </a:spcBef>
                      </a:pPr>
                      <a:r>
                        <a:rPr lang="en-US" sz="1200" b="1" i="0">
                          <a:solidFill>
                            <a:schemeClr val="bg1"/>
                          </a:solidFill>
                          <a:latin typeface="+mn-lt"/>
                          <a:cs typeface="Poppins" pitchFamily="2" charset="77"/>
                        </a:rPr>
                        <a:t>Read out/ trigger</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2323510155"/>
                  </a:ext>
                </a:extLst>
              </a:tr>
              <a:tr h="1097280">
                <a:tc>
                  <a:txBody>
                    <a:bodyPr/>
                    <a:lstStyle/>
                    <a:p>
                      <a:pPr marL="0" marR="0" lvl="0" indent="0" algn="l" defTabSz="914400" rtl="0" eaLnBrk="1" fontAlgn="auto" latinLnBrk="0" hangingPunct="1">
                        <a:lnSpc>
                          <a:spcPct val="100000"/>
                        </a:lnSpc>
                        <a:spcBef>
                          <a:spcPts val="200"/>
                        </a:spcBef>
                        <a:spcAft>
                          <a:spcPts val="0"/>
                        </a:spcAft>
                        <a:buClrTx/>
                        <a:buSzTx/>
                        <a:buFontTx/>
                        <a:buNone/>
                        <a:tabLst/>
                        <a:defRPr/>
                      </a:pPr>
                      <a:r>
                        <a:rPr lang="en-US" sz="1000" b="0" i="0">
                          <a:solidFill>
                            <a:schemeClr val="tx1"/>
                          </a:solidFill>
                          <a:latin typeface="+mn-lt"/>
                          <a:cs typeface="Poppins" pitchFamily="2" charset="77"/>
                        </a:rPr>
                        <a:t>Post-approval RWE and Phase 4 studies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400" rtl="0" eaLnBrk="1" fontAlgn="auto" latinLnBrk="0" hangingPunct="1">
                        <a:lnSpc>
                          <a:spcPct val="100000"/>
                        </a:lnSpc>
                        <a:spcBef>
                          <a:spcPts val="100"/>
                        </a:spcBef>
                        <a:spcAft>
                          <a:spcPts val="500"/>
                        </a:spcAft>
                        <a:buClrTx/>
                        <a:buSzTx/>
                        <a:buFont typeface="Arial" panose="020B0604020202020204" pitchFamily="34" charset="0"/>
                        <a:buChar char="•"/>
                        <a:tabLst/>
                        <a:defRPr/>
                      </a:pPr>
                      <a:r>
                        <a:rPr lang="en-US" sz="1000" b="1" i="0">
                          <a:solidFill>
                            <a:schemeClr val="tx1"/>
                          </a:solidFill>
                          <a:latin typeface="+mn-lt"/>
                          <a:cs typeface="Poppins" pitchFamily="2" charset="77"/>
                        </a:rPr>
                        <a:t>NSCLC_AD_02: </a:t>
                      </a:r>
                      <a:r>
                        <a:rPr lang="en-US" sz="1000" b="0" i="1">
                          <a:solidFill>
                            <a:schemeClr val="tx1"/>
                          </a:solidFill>
                          <a:latin typeface="+mn-lt"/>
                          <a:cs typeface="Poppins" pitchFamily="2" charset="77"/>
                        </a:rPr>
                        <a:t>(1L and 2L+) </a:t>
                      </a:r>
                      <a:r>
                        <a:rPr lang="en-US" sz="1000" b="0" i="0">
                          <a:solidFill>
                            <a:schemeClr val="tx1"/>
                          </a:solidFill>
                          <a:latin typeface="+mn-lt"/>
                          <a:cs typeface="Poppins" pitchFamily="2" charset="77"/>
                        </a:rPr>
                        <a:t>BGB-58067 LT PROs vs. SoC beyond specific PRO measures included in the CDP (e.g., symptom burden and planned safety follow-up)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Bef>
                          <a:spcPts val="100"/>
                        </a:spcBef>
                        <a:buFont typeface="Arial" panose="020B0604020202020204" pitchFamily="34" charset="0"/>
                        <a:buChar char="•"/>
                      </a:pPr>
                      <a:r>
                        <a:rPr lang="en-US" sz="1000" b="0" i="0" kern="1200">
                          <a:solidFill>
                            <a:schemeClr val="tx1"/>
                          </a:solidFill>
                          <a:latin typeface="+mn-lt"/>
                          <a:ea typeface="+mn-ea"/>
                          <a:cs typeface="Poppins" pitchFamily="2" charset="77"/>
                        </a:rPr>
                        <a:t>PRO team has established a layered PRO strategy, with post-approval RWE and Phase 4 studies planned to extend the evidence story beyond launch</a:t>
                      </a:r>
                    </a:p>
                    <a:p>
                      <a:pPr marL="171450" indent="-171450" algn="l" defTabSz="914400" rtl="0" eaLnBrk="1" latinLnBrk="0" hangingPunct="1">
                        <a:spcBef>
                          <a:spcPts val="100"/>
                        </a:spcBef>
                        <a:buFont typeface="Arial" panose="020B0604020202020204" pitchFamily="34" charset="0"/>
                        <a:buChar char="•"/>
                      </a:pPr>
                      <a:r>
                        <a:rPr lang="en-US" sz="1000" b="0" i="0" kern="1200">
                          <a:solidFill>
                            <a:schemeClr val="tx1"/>
                          </a:solidFill>
                          <a:latin typeface="+mn-lt"/>
                          <a:ea typeface="+mn-ea"/>
                          <a:cs typeface="Poppins" pitchFamily="2" charset="77"/>
                        </a:rPr>
                        <a:t>Planned activities may include EQ-5D-5L analyses to support QALY estimation and HTA assessments, alongside additional patient-centered outcomes evaluating long-term treatment burden and QoL</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Bef>
                          <a:spcPts val="100"/>
                        </a:spcBef>
                        <a:buFont typeface="Arial" panose="020B0604020202020204" pitchFamily="34" charset="0"/>
                        <a:buChar char="•"/>
                      </a:pPr>
                      <a:endParaRPr lang="en-US" sz="1000" b="0" i="0" kern="1200">
                        <a:solidFill>
                          <a:schemeClr val="tx1"/>
                        </a:solidFill>
                        <a:latin typeface="+mn-lt"/>
                        <a:ea typeface="+mn-ea"/>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171450" lvl="0" indent="-171450">
                        <a:spcBef>
                          <a:spcPts val="100"/>
                        </a:spcBef>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Trigger: Product approval and initiation of post-marketing evidence generation activities</a:t>
                      </a:r>
                    </a:p>
                    <a:p>
                      <a:pPr marL="171450" lvl="0" indent="-171450">
                        <a:spcBef>
                          <a:spcPts val="100"/>
                        </a:spcBef>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DRO 1–3 years post-launch, aligned with RWE maturity and HTA evidence needs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69997677"/>
                  </a:ext>
                </a:extLst>
              </a:tr>
              <a:tr h="1202392">
                <a:tc>
                  <a:txBody>
                    <a:bodyPr/>
                    <a:lstStyle/>
                    <a:p>
                      <a:pPr marL="0" marR="0" lvl="0" indent="0" algn="l" defTabSz="914400" rtl="0" eaLnBrk="1" fontAlgn="auto" latinLnBrk="0" hangingPunct="1">
                        <a:lnSpc>
                          <a:spcPct val="100000"/>
                        </a:lnSpc>
                        <a:spcBef>
                          <a:spcPts val="200"/>
                        </a:spcBef>
                        <a:spcAft>
                          <a:spcPts val="0"/>
                        </a:spcAft>
                        <a:buClrTx/>
                        <a:buSzTx/>
                        <a:buFontTx/>
                        <a:buNone/>
                        <a:tabLst/>
                        <a:defRPr/>
                      </a:pPr>
                      <a:r>
                        <a:rPr lang="en-US" sz="1000" b="0" i="0">
                          <a:solidFill>
                            <a:schemeClr val="tx1"/>
                          </a:solidFill>
                          <a:latin typeface="+mn-lt"/>
                          <a:cs typeface="Poppins" pitchFamily="2" charset="77"/>
                        </a:rPr>
                        <a:t>PRO measures in Ph. 2/3 trials through the safety follow up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marR="0" lvl="0" indent="-171450" algn="l" defTabSz="914400" rtl="0" eaLnBrk="1" fontAlgn="auto" latinLnBrk="0" hangingPunct="1">
                        <a:lnSpc>
                          <a:spcPct val="100000"/>
                        </a:lnSpc>
                        <a:spcBef>
                          <a:spcPts val="100"/>
                        </a:spcBef>
                        <a:spcAft>
                          <a:spcPts val="500"/>
                        </a:spcAft>
                        <a:buClrTx/>
                        <a:buSzTx/>
                        <a:buFont typeface="Arial" panose="020B0604020202020204" pitchFamily="34" charset="0"/>
                        <a:buChar char="•"/>
                        <a:tabLst/>
                        <a:defRPr/>
                      </a:pPr>
                      <a:r>
                        <a:rPr lang="en-US" sz="1000" b="1" i="0">
                          <a:solidFill>
                            <a:schemeClr val="tx1"/>
                          </a:solidFill>
                          <a:latin typeface="+mn-lt"/>
                          <a:cs typeface="Poppins" pitchFamily="2" charset="77"/>
                        </a:rPr>
                        <a:t>NSCLC_AD_02: </a:t>
                      </a:r>
                      <a:r>
                        <a:rPr lang="en-US" sz="1000" b="0" i="1">
                          <a:solidFill>
                            <a:schemeClr val="tx1"/>
                          </a:solidFill>
                          <a:latin typeface="+mn-lt"/>
                          <a:cs typeface="Poppins" pitchFamily="2" charset="77"/>
                        </a:rPr>
                        <a:t>(1L and 2L+) </a:t>
                      </a:r>
                      <a:r>
                        <a:rPr lang="en-US" sz="1000" b="0" i="0">
                          <a:solidFill>
                            <a:schemeClr val="tx1"/>
                          </a:solidFill>
                          <a:latin typeface="+mn-lt"/>
                          <a:cs typeface="Poppins" pitchFamily="2" charset="77"/>
                        </a:rPr>
                        <a:t>BGB-58067 LT PROs vs. SoC beyond specific PRO measures included in the CDP (e.g., symptom burden and planned safety follow-up)</a:t>
                      </a:r>
                    </a:p>
                    <a:p>
                      <a:pPr marL="0" indent="0" algn="l">
                        <a:spcBef>
                          <a:spcPts val="100"/>
                        </a:spcBef>
                        <a:spcAft>
                          <a:spcPts val="500"/>
                        </a:spcAft>
                        <a:buFont typeface="Arial" panose="020B0604020202020204" pitchFamily="34" charset="0"/>
                        <a:buNone/>
                      </a:pPr>
                      <a:endParaRPr lang="en-US" sz="1000" b="1" i="0">
                        <a:solidFill>
                          <a:schemeClr val="tx1"/>
                        </a:solidFill>
                        <a:latin typeface="+mn-lt"/>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indent="-171450" algn="l" defTabSz="914400" rtl="0" eaLnBrk="1" latinLnBrk="0" hangingPunct="1">
                        <a:spcBef>
                          <a:spcPts val="100"/>
                        </a:spcBef>
                        <a:buFont typeface="Arial" panose="020B0604020202020204" pitchFamily="34" charset="0"/>
                        <a:buChar char="•"/>
                      </a:pPr>
                      <a:r>
                        <a:rPr lang="en-US" sz="1000" b="0" i="0" kern="1200">
                          <a:solidFill>
                            <a:schemeClr val="tx1"/>
                          </a:solidFill>
                          <a:latin typeface="+mn-lt"/>
                          <a:ea typeface="+mn-ea"/>
                          <a:cs typeface="Poppins" pitchFamily="2" charset="77"/>
                        </a:rPr>
                        <a:t>PRO-CTCAE and additional PRO measures are embedded within Phase 2/3 studies and collected through safety follow-up to characterize treatment-related burden, symptom burden, and patient experience</a:t>
                      </a:r>
                    </a:p>
                    <a:p>
                      <a:pPr marL="171450" indent="-171450" algn="l" defTabSz="914400" rtl="0" eaLnBrk="1" latinLnBrk="0" hangingPunct="1">
                        <a:spcBef>
                          <a:spcPts val="100"/>
                        </a:spcBef>
                        <a:buFont typeface="Arial" panose="020B0604020202020204" pitchFamily="34" charset="0"/>
                        <a:buChar char="•"/>
                      </a:pPr>
                      <a:r>
                        <a:rPr lang="en-US" sz="1000" b="0" i="0" kern="1200">
                          <a:solidFill>
                            <a:schemeClr val="tx1"/>
                          </a:solidFill>
                          <a:latin typeface="+mn-lt"/>
                          <a:ea typeface="+mn-ea"/>
                          <a:cs typeface="Poppins" pitchFamily="2" charset="77"/>
                        </a:rPr>
                        <a:t>Longitudinal PRO collection is designed to support regulatory and HTA expectations for mature patient-reported outcome data at launch</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indent="-171450" algn="l" defTabSz="914400" rtl="0" eaLnBrk="1" latinLnBrk="0" hangingPunct="1">
                        <a:spcBef>
                          <a:spcPts val="100"/>
                        </a:spcBef>
                        <a:buFont typeface="Arial" panose="020B0604020202020204" pitchFamily="34" charset="0"/>
                        <a:buChar char="•"/>
                      </a:pPr>
                      <a:endParaRPr lang="en-US" sz="1000" b="0" i="0" kern="1200">
                        <a:solidFill>
                          <a:schemeClr val="tx1"/>
                        </a:solidFill>
                        <a:latin typeface="+mn-lt"/>
                        <a:ea typeface="+mn-ea"/>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171450" lvl="0" indent="-171450">
                        <a:spcBef>
                          <a:spcPts val="100"/>
                        </a:spcBef>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Phase 2/3 and pivotal study DRO</a:t>
                      </a:r>
                    </a:p>
                    <a:p>
                      <a:pPr marL="171450" lvl="0" indent="-171450">
                        <a:spcBef>
                          <a:spcPts val="100"/>
                        </a:spcBef>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Additional analyses: Safety follow-up and long-term PRO analyses as data mature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987981366"/>
                  </a:ext>
                </a:extLst>
              </a:tr>
              <a:tr h="1140648">
                <a:tc>
                  <a:txBody>
                    <a:bodyPr/>
                    <a:lstStyle/>
                    <a:p>
                      <a:pPr marL="0" marR="0" lvl="0" indent="0" algn="l" defTabSz="914400" rtl="0" eaLnBrk="1" fontAlgn="auto" latinLnBrk="0" hangingPunct="1">
                        <a:lnSpc>
                          <a:spcPct val="100000"/>
                        </a:lnSpc>
                        <a:spcBef>
                          <a:spcPts val="200"/>
                        </a:spcBef>
                        <a:spcAft>
                          <a:spcPts val="0"/>
                        </a:spcAft>
                        <a:buClrTx/>
                        <a:buSzTx/>
                        <a:buFontTx/>
                        <a:buNone/>
                        <a:tabLst/>
                        <a:defRPr/>
                      </a:pPr>
                      <a:r>
                        <a:rPr lang="en-US" sz="1000" b="0" i="0">
                          <a:solidFill>
                            <a:schemeClr val="tx1"/>
                          </a:solidFill>
                          <a:latin typeface="+mn-lt"/>
                          <a:cs typeface="Poppins" pitchFamily="2" charset="77"/>
                        </a:rPr>
                        <a:t>Biomarker testing concordance study </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Bef>
                          <a:spcPts val="0"/>
                        </a:spcBef>
                        <a:spcAft>
                          <a:spcPts val="600"/>
                        </a:spcAft>
                        <a:buFont typeface="Arial" panose="020B0604020202020204" pitchFamily="34" charset="0"/>
                        <a:buChar char="•"/>
                      </a:pPr>
                      <a:r>
                        <a:rPr lang="en-US" sz="1000" b="1" i="0" kern="1200">
                          <a:solidFill>
                            <a:schemeClr val="tx1"/>
                          </a:solidFill>
                          <a:latin typeface="+mn-lt"/>
                          <a:ea typeface="+mn-ea"/>
                          <a:cs typeface="Poppins" pitchFamily="2" charset="77"/>
                        </a:rPr>
                        <a:t>NSCLC_AD_07</a:t>
                      </a:r>
                      <a:r>
                        <a:rPr lang="en-US" sz="1000" b="0" i="0" kern="1200">
                          <a:solidFill>
                            <a:schemeClr val="tx1"/>
                          </a:solidFill>
                          <a:latin typeface="+mn-lt"/>
                          <a:ea typeface="+mn-ea"/>
                          <a:cs typeface="Poppins" pitchFamily="2" charset="77"/>
                        </a:rPr>
                        <a:t>: CDx concordance data across tissue NGS, blood NGS, and IHC </a:t>
                      </a:r>
                    </a:p>
                    <a:p>
                      <a:pPr marL="171450" indent="-171450" algn="l" defTabSz="914400" rtl="0" eaLnBrk="1" latinLnBrk="0" hangingPunct="1">
                        <a:spcBef>
                          <a:spcPts val="0"/>
                        </a:spcBef>
                        <a:spcAft>
                          <a:spcPts val="600"/>
                        </a:spcAft>
                        <a:buFont typeface="Arial" panose="020B0604020202020204" pitchFamily="34" charset="0"/>
                        <a:buChar char="•"/>
                      </a:pPr>
                      <a:r>
                        <a:rPr lang="en-US" sz="1000" b="1" i="0" kern="1200">
                          <a:solidFill>
                            <a:schemeClr val="tx1"/>
                          </a:solidFill>
                          <a:latin typeface="+mn-lt"/>
                          <a:ea typeface="+mn-ea"/>
                          <a:cs typeface="Poppins" pitchFamily="2" charset="77"/>
                        </a:rPr>
                        <a:t>NSCLC_HI_02: </a:t>
                      </a:r>
                      <a:r>
                        <a:rPr lang="en-US" sz="1000" b="0" i="0" kern="1200">
                          <a:solidFill>
                            <a:schemeClr val="tx1"/>
                          </a:solidFill>
                          <a:latin typeface="+mn-lt"/>
                          <a:ea typeface="+mn-ea"/>
                          <a:cs typeface="Poppins" pitchFamily="2" charset="77"/>
                        </a:rPr>
                        <a:t>Cost effectiveness of MTAP testing strategies across NGS and IHC modalities </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Bef>
                          <a:spcPts val="100"/>
                        </a:spcBef>
                        <a:buFont typeface="Arial" panose="020B0604020202020204" pitchFamily="34" charset="0"/>
                        <a:buChar char="•"/>
                      </a:pPr>
                      <a:r>
                        <a:rPr lang="en-US" sz="1000" kern="1200">
                          <a:solidFill>
                            <a:schemeClr val="dk1"/>
                          </a:solidFill>
                          <a:effectLst/>
                          <a:latin typeface="+mn-lt"/>
                          <a:ea typeface="+mn-ea"/>
                          <a:cs typeface="+mn-cs"/>
                        </a:rPr>
                        <a:t>IHC and NGS concordance data available, ongoing work for ctDNA by Biomarker team</a:t>
                      </a:r>
                    </a:p>
                    <a:p>
                      <a:pPr marL="171450" indent="-171450" algn="l" defTabSz="914400" rtl="0" eaLnBrk="1" latinLnBrk="0" hangingPunct="1">
                        <a:spcBef>
                          <a:spcPts val="100"/>
                        </a:spcBef>
                        <a:buFont typeface="Arial" panose="020B0604020202020204" pitchFamily="34" charset="0"/>
                        <a:buChar char="•"/>
                      </a:pPr>
                      <a:r>
                        <a:rPr lang="en-US" sz="1000" b="0" i="0" u="none" strike="noStrike" kern="1200" noProof="0">
                          <a:solidFill>
                            <a:schemeClr val="tx1"/>
                          </a:solidFill>
                          <a:effectLst/>
                          <a:latin typeface="+mn-lt"/>
                          <a:ea typeface="+mn-ea"/>
                          <a:cs typeface="Poppins"/>
                        </a:rPr>
                        <a:t>Concordance data to feed into cost effectiveness modeling across testing methodologies</a:t>
                      </a:r>
                      <a:endParaRPr lang="en-US" sz="1000" kern="1200">
                        <a:solidFill>
                          <a:schemeClr val="dk1"/>
                        </a:solidFill>
                        <a:effectLst/>
                        <a:latin typeface="+mn-lt"/>
                        <a:ea typeface="+mn-ea"/>
                        <a:cs typeface="+mn-cs"/>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Bef>
                          <a:spcPts val="100"/>
                        </a:spcBef>
                        <a:buFont typeface="Arial" panose="020B0604020202020204" pitchFamily="34" charset="0"/>
                        <a:buChar char="•"/>
                      </a:pPr>
                      <a:endParaRPr lang="en-US" sz="1000" b="0" i="0" kern="1200">
                        <a:solidFill>
                          <a:schemeClr val="tx1"/>
                        </a:solidFill>
                        <a:latin typeface="+mn-lt"/>
                        <a:ea typeface="+mn-ea"/>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0">
                          <a:srgbClr val="00B050"/>
                        </a:gs>
                        <a:gs pos="100000">
                          <a:srgbClr val="FFC000"/>
                        </a:gs>
                      </a:gsLst>
                      <a:lin ang="5400000" scaled="1"/>
                    </a:gradFill>
                  </a:tcPr>
                </a:tc>
                <a:tc>
                  <a:txBody>
                    <a:bodyPr/>
                    <a:lstStyle/>
                    <a:p>
                      <a:pPr marL="171450" lvl="0" indent="-171450">
                        <a:spcBef>
                          <a:spcPts val="100"/>
                        </a:spcBef>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Readout for ctDNA data: to be clarified by BMX team</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65474468"/>
                  </a:ext>
                </a:extLst>
              </a:tr>
              <a:tr h="831931">
                <a:tc>
                  <a:txBody>
                    <a:bodyPr/>
                    <a:lstStyle/>
                    <a:p>
                      <a:pPr marL="0" marR="0" lvl="0" indent="0" algn="l" defTabSz="914400" rtl="0" eaLnBrk="1" fontAlgn="auto" latinLnBrk="0" hangingPunct="1">
                        <a:lnSpc>
                          <a:spcPct val="100000"/>
                        </a:lnSpc>
                        <a:spcBef>
                          <a:spcPts val="200"/>
                        </a:spcBef>
                        <a:spcAft>
                          <a:spcPts val="0"/>
                        </a:spcAft>
                        <a:buClrTx/>
                        <a:buSzTx/>
                        <a:buFontTx/>
                        <a:buNone/>
                        <a:tabLst/>
                        <a:defRPr/>
                      </a:pPr>
                      <a:r>
                        <a:rPr lang="en-US" sz="1000" b="0" i="0">
                          <a:solidFill>
                            <a:schemeClr val="tx1"/>
                          </a:solidFill>
                          <a:latin typeface="+mn-lt"/>
                          <a:cs typeface="Poppins" pitchFamily="2" charset="77"/>
                        </a:rPr>
                        <a:t>Post-hoc</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marR="0" lvl="0" indent="-171450" algn="l" defTabSz="914400" rtl="0" eaLnBrk="1" fontAlgn="auto" latinLnBrk="0" hangingPunct="1">
                        <a:lnSpc>
                          <a:spcPct val="100000"/>
                        </a:lnSpc>
                        <a:spcBef>
                          <a:spcPts val="100"/>
                        </a:spcBef>
                        <a:spcAft>
                          <a:spcPts val="0"/>
                        </a:spcAft>
                        <a:buClr>
                          <a:srgbClr val="000000"/>
                        </a:buClr>
                        <a:buSzTx/>
                        <a:buFont typeface="Arial" panose="020B0604020202020204" pitchFamily="34" charset="0"/>
                        <a:buChar char="•"/>
                        <a:tabLst/>
                        <a:defRPr/>
                      </a:pPr>
                      <a:r>
                        <a:rPr lang="en-US" sz="1000" b="1" i="0">
                          <a:solidFill>
                            <a:schemeClr val="tx1"/>
                          </a:solidFill>
                        </a:rPr>
                        <a:t>NSCLC_AD_06: </a:t>
                      </a:r>
                      <a:r>
                        <a:rPr lang="en-US" sz="1000" b="0" i="0">
                          <a:solidFill>
                            <a:schemeClr val="tx1"/>
                          </a:solidFill>
                        </a:rPr>
                        <a:t>BGB-58067 efficacy across IHC, NGS, and ctDNA methodologies and correlation with MTAP detection accuracy</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marR="0" lvl="0" indent="-171450" algn="l" defTabSz="914400" rtl="0" eaLnBrk="1" fontAlgn="auto" latinLnBrk="0" hangingPunct="1">
                        <a:lnSpc>
                          <a:spcPct val="100000"/>
                        </a:lnSpc>
                        <a:spcBef>
                          <a:spcPts val="100"/>
                        </a:spcBef>
                        <a:spcAft>
                          <a:spcPts val="0"/>
                        </a:spcAft>
                        <a:buClrTx/>
                        <a:buSzTx/>
                        <a:buFont typeface="Arial" panose="020B0604020202020204" pitchFamily="34" charset="0"/>
                        <a:buChar char="•"/>
                        <a:tabLst/>
                        <a:defRPr/>
                      </a:pPr>
                      <a:r>
                        <a:rPr lang="en-US" sz="1000" kern="1200">
                          <a:solidFill>
                            <a:schemeClr val="dk1"/>
                          </a:solidFill>
                          <a:effectLst/>
                          <a:latin typeface="+mn-lt"/>
                          <a:ea typeface="+mn-ea"/>
                          <a:cs typeface="+mn-cs"/>
                        </a:rPr>
                        <a:t>Efficacy correlation has been analyzed for NGS and IHC for ORR and Biomarkers team is planning to continue to analyze this with additional data, including from ctDNA (discussions underway)</a:t>
                      </a:r>
                      <a:endParaRPr lang="en-US" sz="1000" b="0" i="0" kern="1200">
                        <a:solidFill>
                          <a:schemeClr val="tx1"/>
                        </a:solidFill>
                        <a:latin typeface="+mn-lt"/>
                        <a:ea typeface="+mn-ea"/>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indent="-171450" algn="l" defTabSz="914400" rtl="0" eaLnBrk="1" latinLnBrk="0" hangingPunct="1">
                        <a:spcBef>
                          <a:spcPts val="100"/>
                        </a:spcBef>
                        <a:buFont typeface="Arial" panose="020B0604020202020204" pitchFamily="34" charset="0"/>
                        <a:buChar char="•"/>
                      </a:pPr>
                      <a:endParaRPr lang="en-US" sz="1000" b="0" i="0" kern="1200">
                        <a:solidFill>
                          <a:schemeClr val="tx1"/>
                        </a:solidFill>
                        <a:latin typeface="+mn-lt"/>
                        <a:ea typeface="+mn-ea"/>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0">
                          <a:srgbClr val="00B050"/>
                        </a:gs>
                        <a:gs pos="100000">
                          <a:srgbClr val="FFC000"/>
                        </a:gs>
                      </a:gsLst>
                      <a:lin ang="5400000" scaled="1"/>
                    </a:gradFill>
                  </a:tcPr>
                </a:tc>
                <a:tc>
                  <a:txBody>
                    <a:bodyPr/>
                    <a:lstStyle/>
                    <a:p>
                      <a:pPr marL="171450" marR="0" lvl="0" indent="-171450" algn="l" defTabSz="914400" rtl="0" eaLnBrk="1" fontAlgn="auto" latinLnBrk="0" hangingPunct="1">
                        <a:lnSpc>
                          <a:spcPct val="100000"/>
                        </a:lnSpc>
                        <a:spcBef>
                          <a:spcPts val="100"/>
                        </a:spcBef>
                        <a:spcAft>
                          <a:spcPts val="0"/>
                        </a:spcAft>
                        <a:buClr>
                          <a:srgbClr val="000000"/>
                        </a:buClr>
                        <a:buSzTx/>
                        <a:buFont typeface="Arial" panose="020B0604020202020204" pitchFamily="34" charset="0"/>
                        <a:buChar char="•"/>
                        <a:tabLst/>
                        <a:defRPr/>
                      </a:pPr>
                      <a:r>
                        <a:rPr lang="en-US" sz="1000" b="0" i="0" u="none" strike="noStrike" kern="1200" noProof="0">
                          <a:solidFill>
                            <a:schemeClr val="tx1"/>
                          </a:solidFill>
                          <a:effectLst/>
                          <a:latin typeface="+mn-lt"/>
                          <a:ea typeface="+mn-ea"/>
                          <a:cs typeface="Poppins"/>
                        </a:rPr>
                        <a:t>Readout for ctDNA data: to be clarified by BMX team</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476681716"/>
                  </a:ext>
                </a:extLst>
              </a:tr>
            </a:tbl>
          </a:graphicData>
        </a:graphic>
      </p:graphicFrame>
      <p:sp>
        <p:nvSpPr>
          <p:cNvPr id="51" name="Footer Placeholder 2">
            <a:extLst>
              <a:ext uri="{FF2B5EF4-FFF2-40B4-BE49-F238E27FC236}">
                <a16:creationId xmlns:a16="http://schemas.microsoft.com/office/drawing/2014/main" id="{EAB2D229-A161-DF45-8CB0-8DFBAABE182D}"/>
              </a:ext>
            </a:extLst>
          </p:cNvPr>
          <p:cNvSpPr>
            <a:spLocks noGrp="1"/>
          </p:cNvSpPr>
          <p:nvPr>
            <p:ph type="ftr" sz="quarter" idx="10"/>
          </p:nvPr>
        </p:nvSpPr>
        <p:spPr>
          <a:xfrm>
            <a:off x="358336" y="6436589"/>
            <a:ext cx="8474379" cy="343096"/>
          </a:xfrm>
        </p:spPr>
        <p:txBody>
          <a:bodyPr/>
          <a:lstStyle/>
          <a:p>
            <a:r>
              <a:rPr lang="en-US">
                <a:solidFill>
                  <a:srgbClr val="595959"/>
                </a:solidFill>
              </a:rPr>
              <a:t>Abbreviations: AD: Addressed; CDP: Clinical Development Plan; </a:t>
            </a:r>
            <a:r>
              <a:rPr lang="en-US" err="1">
                <a:solidFill>
                  <a:srgbClr val="595959"/>
                </a:solidFill>
              </a:rPr>
              <a:t>CDx</a:t>
            </a:r>
            <a:r>
              <a:rPr lang="en-US">
                <a:solidFill>
                  <a:srgbClr val="595959"/>
                </a:solidFill>
              </a:rPr>
              <a:t>: Companion Diagnostic; DRO: Data Readout; EQ-5D-5L: EuroQoL 5-Dimension 5-Level Questionnaire; HI: High Priority; HTA: Health Technology Assessment; IHC: Immunohistochemistry; MTAP: Methylthioadenosine Phosphorylase; NGS: Next-Generation Sequencing; NSCLC: Non-Small Cell Lung Cancer; ORR: Objective Response Rate; PRO: Patient-Reported Outcome; PRO-CTCAE: Patient-Reported Outcomes Version of the Common Terminology Criteria for Adverse Events; QALY: Quality-Adjusted Life Year; QoL: Quality of Life; RWE: Real-World Evidence; SoC: Standard of Care</a:t>
            </a:r>
          </a:p>
        </p:txBody>
      </p:sp>
      <p:grpSp>
        <p:nvGrpSpPr>
          <p:cNvPr id="16" name="Group 15">
            <a:extLst>
              <a:ext uri="{FF2B5EF4-FFF2-40B4-BE49-F238E27FC236}">
                <a16:creationId xmlns:a16="http://schemas.microsoft.com/office/drawing/2014/main" id="{E9C305DF-33C3-77CB-2A0A-B0CFC0C2E8E6}"/>
              </a:ext>
            </a:extLst>
          </p:cNvPr>
          <p:cNvGrpSpPr/>
          <p:nvPr/>
        </p:nvGrpSpPr>
        <p:grpSpPr>
          <a:xfrm>
            <a:off x="8638333" y="1279664"/>
            <a:ext cx="3190130" cy="307777"/>
            <a:chOff x="6649196" y="1255414"/>
            <a:chExt cx="3190130" cy="307777"/>
          </a:xfrm>
        </p:grpSpPr>
        <p:grpSp>
          <p:nvGrpSpPr>
            <p:cNvPr id="13" name="Group 12">
              <a:extLst>
                <a:ext uri="{FF2B5EF4-FFF2-40B4-BE49-F238E27FC236}">
                  <a16:creationId xmlns:a16="http://schemas.microsoft.com/office/drawing/2014/main" id="{783623C8-7DAA-DB26-3FE6-4AC7E0FFC3DE}"/>
                </a:ext>
              </a:extLst>
            </p:cNvPr>
            <p:cNvGrpSpPr/>
            <p:nvPr/>
          </p:nvGrpSpPr>
          <p:grpSpPr>
            <a:xfrm>
              <a:off x="7367985" y="1255414"/>
              <a:ext cx="846805" cy="307777"/>
              <a:chOff x="7367985" y="1255414"/>
              <a:chExt cx="846805" cy="307777"/>
            </a:xfrm>
          </p:grpSpPr>
          <p:sp>
            <p:nvSpPr>
              <p:cNvPr id="4" name="Rectangle 3">
                <a:extLst>
                  <a:ext uri="{FF2B5EF4-FFF2-40B4-BE49-F238E27FC236}">
                    <a16:creationId xmlns:a16="http://schemas.microsoft.com/office/drawing/2014/main" id="{513DC8BE-3F9E-E3F5-2192-36D9B57CC46A}"/>
                  </a:ext>
                </a:extLst>
              </p:cNvPr>
              <p:cNvSpPr/>
              <p:nvPr/>
            </p:nvSpPr>
            <p:spPr>
              <a:xfrm>
                <a:off x="7367985" y="1345702"/>
                <a:ext cx="128016" cy="12801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5" name="TextBox 4">
                <a:extLst>
                  <a:ext uri="{FF2B5EF4-FFF2-40B4-BE49-F238E27FC236}">
                    <a16:creationId xmlns:a16="http://schemas.microsoft.com/office/drawing/2014/main" id="{858D492F-3771-8B03-9EAF-82866235EDFA}"/>
                  </a:ext>
                </a:extLst>
              </p:cNvPr>
              <p:cNvSpPr txBox="1"/>
              <p:nvPr/>
            </p:nvSpPr>
            <p:spPr>
              <a:xfrm>
                <a:off x="7450281" y="1255414"/>
                <a:ext cx="764509" cy="307777"/>
              </a:xfrm>
              <a:prstGeom prst="rect">
                <a:avLst/>
              </a:prstGeom>
              <a:noFill/>
            </p:spPr>
            <p:txBody>
              <a:bodyPr wrap="square" lIns="91440" tIns="91440" rIns="91440" bIns="91440" rtlCol="0">
                <a:spAutoFit/>
              </a:bodyPr>
              <a:lstStyle/>
              <a:p>
                <a:pPr algn="l"/>
                <a:r>
                  <a:rPr lang="en-US" sz="800"/>
                  <a:t>Completed</a:t>
                </a:r>
              </a:p>
            </p:txBody>
          </p:sp>
        </p:grpSp>
        <p:sp>
          <p:nvSpPr>
            <p:cNvPr id="6" name="TextBox 5">
              <a:extLst>
                <a:ext uri="{FF2B5EF4-FFF2-40B4-BE49-F238E27FC236}">
                  <a16:creationId xmlns:a16="http://schemas.microsoft.com/office/drawing/2014/main" id="{9468FCEA-7989-B4B1-833C-DD0672A2FB78}"/>
                </a:ext>
              </a:extLst>
            </p:cNvPr>
            <p:cNvSpPr txBox="1"/>
            <p:nvPr/>
          </p:nvSpPr>
          <p:spPr>
            <a:xfrm>
              <a:off x="6649196" y="1255414"/>
              <a:ext cx="1071704" cy="307777"/>
            </a:xfrm>
            <a:prstGeom prst="rect">
              <a:avLst/>
            </a:prstGeom>
            <a:noFill/>
          </p:spPr>
          <p:txBody>
            <a:bodyPr wrap="square" lIns="36000" tIns="91440" rIns="36000" bIns="91440" rtlCol="0">
              <a:spAutoFit/>
            </a:bodyPr>
            <a:lstStyle/>
            <a:p>
              <a:pPr algn="ctr"/>
              <a:r>
                <a:rPr lang="en-US" sz="800" b="1"/>
                <a:t>Key:</a:t>
              </a:r>
              <a:endParaRPr lang="en-US" sz="800"/>
            </a:p>
          </p:txBody>
        </p:sp>
        <p:grpSp>
          <p:nvGrpSpPr>
            <p:cNvPr id="14" name="Group 13">
              <a:extLst>
                <a:ext uri="{FF2B5EF4-FFF2-40B4-BE49-F238E27FC236}">
                  <a16:creationId xmlns:a16="http://schemas.microsoft.com/office/drawing/2014/main" id="{B0686139-76C5-B980-583F-FB2080F9931F}"/>
                </a:ext>
              </a:extLst>
            </p:cNvPr>
            <p:cNvGrpSpPr/>
            <p:nvPr/>
          </p:nvGrpSpPr>
          <p:grpSpPr>
            <a:xfrm>
              <a:off x="8292931" y="1255414"/>
              <a:ext cx="773967" cy="307777"/>
              <a:chOff x="8636733" y="1255414"/>
              <a:chExt cx="773967" cy="307777"/>
            </a:xfrm>
          </p:grpSpPr>
          <p:sp>
            <p:nvSpPr>
              <p:cNvPr id="8" name="Rectangle 7">
                <a:extLst>
                  <a:ext uri="{FF2B5EF4-FFF2-40B4-BE49-F238E27FC236}">
                    <a16:creationId xmlns:a16="http://schemas.microsoft.com/office/drawing/2014/main" id="{266B7A56-E003-CF56-E3E4-A27A50162DC5}"/>
                  </a:ext>
                </a:extLst>
              </p:cNvPr>
              <p:cNvSpPr/>
              <p:nvPr/>
            </p:nvSpPr>
            <p:spPr>
              <a:xfrm>
                <a:off x="8636733" y="1345702"/>
                <a:ext cx="128016" cy="12801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9" name="TextBox 8">
                <a:extLst>
                  <a:ext uri="{FF2B5EF4-FFF2-40B4-BE49-F238E27FC236}">
                    <a16:creationId xmlns:a16="http://schemas.microsoft.com/office/drawing/2014/main" id="{C36E5D75-0826-CF0A-873D-AE6DB0559149}"/>
                  </a:ext>
                </a:extLst>
              </p:cNvPr>
              <p:cNvSpPr txBox="1"/>
              <p:nvPr/>
            </p:nvSpPr>
            <p:spPr>
              <a:xfrm>
                <a:off x="8719030" y="1255414"/>
                <a:ext cx="691670" cy="307777"/>
              </a:xfrm>
              <a:prstGeom prst="rect">
                <a:avLst/>
              </a:prstGeom>
              <a:noFill/>
            </p:spPr>
            <p:txBody>
              <a:bodyPr wrap="square" lIns="91440" tIns="91440" rIns="91440" bIns="91440" rtlCol="0">
                <a:spAutoFit/>
              </a:bodyPr>
              <a:lstStyle/>
              <a:p>
                <a:pPr algn="l"/>
                <a:r>
                  <a:rPr lang="en-US" sz="800"/>
                  <a:t>Ongoing</a:t>
                </a:r>
              </a:p>
            </p:txBody>
          </p:sp>
        </p:grpSp>
        <p:grpSp>
          <p:nvGrpSpPr>
            <p:cNvPr id="15" name="Group 14">
              <a:extLst>
                <a:ext uri="{FF2B5EF4-FFF2-40B4-BE49-F238E27FC236}">
                  <a16:creationId xmlns:a16="http://schemas.microsoft.com/office/drawing/2014/main" id="{ABB57919-484D-09E7-D5BF-EF9859890504}"/>
                </a:ext>
              </a:extLst>
            </p:cNvPr>
            <p:cNvGrpSpPr/>
            <p:nvPr/>
          </p:nvGrpSpPr>
          <p:grpSpPr>
            <a:xfrm>
              <a:off x="9145038" y="1255414"/>
              <a:ext cx="694288" cy="307777"/>
              <a:chOff x="9859413" y="1255414"/>
              <a:chExt cx="694288" cy="307777"/>
            </a:xfrm>
          </p:grpSpPr>
          <p:sp>
            <p:nvSpPr>
              <p:cNvPr id="11" name="Rectangle 10">
                <a:extLst>
                  <a:ext uri="{FF2B5EF4-FFF2-40B4-BE49-F238E27FC236}">
                    <a16:creationId xmlns:a16="http://schemas.microsoft.com/office/drawing/2014/main" id="{C8EC215E-AC83-60ED-1119-1FC51BA6D736}"/>
                  </a:ext>
                </a:extLst>
              </p:cNvPr>
              <p:cNvSpPr/>
              <p:nvPr/>
            </p:nvSpPr>
            <p:spPr>
              <a:xfrm>
                <a:off x="9859413" y="1345702"/>
                <a:ext cx="128016" cy="12801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12" name="TextBox 11">
                <a:extLst>
                  <a:ext uri="{FF2B5EF4-FFF2-40B4-BE49-F238E27FC236}">
                    <a16:creationId xmlns:a16="http://schemas.microsoft.com/office/drawing/2014/main" id="{59319134-FCD3-C82A-0C73-9CF88AEF1BD4}"/>
                  </a:ext>
                </a:extLst>
              </p:cNvPr>
              <p:cNvSpPr txBox="1"/>
              <p:nvPr/>
            </p:nvSpPr>
            <p:spPr>
              <a:xfrm>
                <a:off x="9941709" y="1255414"/>
                <a:ext cx="611992" cy="307777"/>
              </a:xfrm>
              <a:prstGeom prst="rect">
                <a:avLst/>
              </a:prstGeom>
              <a:noFill/>
            </p:spPr>
            <p:txBody>
              <a:bodyPr wrap="square" lIns="91440" tIns="91440" rIns="91440" bIns="91440" rtlCol="0">
                <a:spAutoFit/>
              </a:bodyPr>
              <a:lstStyle/>
              <a:p>
                <a:pPr algn="l"/>
                <a:r>
                  <a:rPr lang="en-US" sz="800"/>
                  <a:t>Planned</a:t>
                </a:r>
              </a:p>
            </p:txBody>
          </p:sp>
        </p:grpSp>
      </p:grpSp>
      <p:grpSp>
        <p:nvGrpSpPr>
          <p:cNvPr id="2" name="Group 1">
            <a:extLst>
              <a:ext uri="{FF2B5EF4-FFF2-40B4-BE49-F238E27FC236}">
                <a16:creationId xmlns:a16="http://schemas.microsoft.com/office/drawing/2014/main" id="{EAA89897-0E0C-6F1C-B022-309182A66047}"/>
              </a:ext>
            </a:extLst>
          </p:cNvPr>
          <p:cNvGrpSpPr/>
          <p:nvPr/>
        </p:nvGrpSpPr>
        <p:grpSpPr>
          <a:xfrm>
            <a:off x="362743" y="10216"/>
            <a:ext cx="10042505" cy="252000"/>
            <a:chOff x="362743" y="10216"/>
            <a:chExt cx="10042505" cy="252000"/>
          </a:xfrm>
        </p:grpSpPr>
        <p:sp>
          <p:nvSpPr>
            <p:cNvPr id="7" name="Pentagon 47">
              <a:extLst>
                <a:ext uri="{FF2B5EF4-FFF2-40B4-BE49-F238E27FC236}">
                  <a16:creationId xmlns:a16="http://schemas.microsoft.com/office/drawing/2014/main" id="{92A6BAEB-6C5F-49A9-2AE2-A7491887665C}"/>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10" name="Chevron 48">
              <a:extLst>
                <a:ext uri="{FF2B5EF4-FFF2-40B4-BE49-F238E27FC236}">
                  <a16:creationId xmlns:a16="http://schemas.microsoft.com/office/drawing/2014/main" id="{7D6A5321-DD3B-5414-D818-20162F00932C}"/>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17" name="Chevron 52">
              <a:extLst>
                <a:ext uri="{FF2B5EF4-FFF2-40B4-BE49-F238E27FC236}">
                  <a16:creationId xmlns:a16="http://schemas.microsoft.com/office/drawing/2014/main" id="{07818AFF-03E2-3242-F315-0F1565100E64}"/>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18" name="Chevron 54">
              <a:extLst>
                <a:ext uri="{FF2B5EF4-FFF2-40B4-BE49-F238E27FC236}">
                  <a16:creationId xmlns:a16="http://schemas.microsoft.com/office/drawing/2014/main" id="{8F0D1309-A0F4-27AC-343A-5A55979C8E7F}"/>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9" name="Chevron 48">
              <a:extLst>
                <a:ext uri="{FF2B5EF4-FFF2-40B4-BE49-F238E27FC236}">
                  <a16:creationId xmlns:a16="http://schemas.microsoft.com/office/drawing/2014/main" id="{F1A24FAA-B7AD-817D-814F-D1F57A81063E}"/>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28" name="Chevron 48">
              <a:extLst>
                <a:ext uri="{FF2B5EF4-FFF2-40B4-BE49-F238E27FC236}">
                  <a16:creationId xmlns:a16="http://schemas.microsoft.com/office/drawing/2014/main" id="{13DBEDB0-3ACD-E60E-B814-611EF23E83DC}"/>
                </a:ext>
              </a:extLst>
            </p:cNvPr>
            <p:cNvSpPr/>
            <p:nvPr/>
          </p:nvSpPr>
          <p:spPr>
            <a:xfrm>
              <a:off x="8709983"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829403723"/>
      </p:ext>
    </p:extLst>
  </p:cSld>
  <p:clrMapOvr>
    <a:masterClrMapping/>
  </p:clrMapOvr>
  <p:extLst>
    <p:ext uri="{6950BFC3-D8DA-4A85-94F7-54DA5524770B}">
      <p188:commentRel xmlns:p188="http://schemas.microsoft.com/office/powerpoint/2018/8/main" r:id="rId4"/>
    </p:ext>
  </p:extLs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13A6B-39EE-8380-75AA-90D5D8605FA7}"/>
            </a:ext>
          </a:extLst>
        </p:cNvPr>
        <p:cNvGrpSpPr/>
        <p:nvPr/>
      </p:nvGrpSpPr>
      <p:grpSpPr>
        <a:xfrm>
          <a:off x="0" y="0"/>
          <a:ext cx="0" cy="0"/>
          <a:chOff x="0" y="0"/>
          <a:chExt cx="0" cy="0"/>
        </a:xfrm>
      </p:grpSpPr>
      <p:graphicFrame>
        <p:nvGraphicFramePr>
          <p:cNvPr id="59" name="think-cell data - do not delete" hidden="1">
            <a:extLst>
              <a:ext uri="{FF2B5EF4-FFF2-40B4-BE49-F238E27FC236}">
                <a16:creationId xmlns:a16="http://schemas.microsoft.com/office/drawing/2014/main" id="{EF7ECF2A-3359-9228-EC8B-DF8BAF8807B5}"/>
              </a:ext>
            </a:extLst>
          </p:cNvPr>
          <p:cNvGraphicFramePr>
            <a:graphicFrameLocks/>
          </p:cNvGraphicFramePr>
          <p:nvPr>
            <p:custDataLst>
              <p:tags r:id="rId1"/>
            </p:custDataLst>
            <p:extLst>
              <p:ext uri="{D42A27DB-BD31-4B8C-83A1-F6EECF244321}">
                <p14:modId xmlns:p14="http://schemas.microsoft.com/office/powerpoint/2010/main" val="14737283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59" name="think-cell data - do not delete" hidden="1">
                        <a:extLst>
                          <a:ext uri="{FF2B5EF4-FFF2-40B4-BE49-F238E27FC236}">
                            <a16:creationId xmlns:a16="http://schemas.microsoft.com/office/drawing/2014/main" id="{EF7ECF2A-3359-9228-EC8B-DF8BAF8807B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8" name="Title 57">
            <a:extLst>
              <a:ext uri="{FF2B5EF4-FFF2-40B4-BE49-F238E27FC236}">
                <a16:creationId xmlns:a16="http://schemas.microsoft.com/office/drawing/2014/main" id="{85F1D0DB-E9B9-407C-F446-BDEC2C9219D1}"/>
              </a:ext>
            </a:extLst>
          </p:cNvPr>
          <p:cNvSpPr>
            <a:spLocks noGrp="1"/>
          </p:cNvSpPr>
          <p:nvPr>
            <p:ph type="title"/>
          </p:nvPr>
        </p:nvSpPr>
        <p:spPr>
          <a:xfrm>
            <a:off x="360540" y="338328"/>
            <a:ext cx="11470125" cy="738664"/>
          </a:xfrm>
        </p:spPr>
        <p:txBody>
          <a:bodyPr vert="horz" rIns="0">
            <a:spAutoFit/>
          </a:bodyPr>
          <a:lstStyle/>
          <a:p>
            <a:r>
              <a:rPr lang="en-US" sz="2400"/>
              <a:t>List of planned/addressed tactics with downstream publication </a:t>
            </a:r>
            <a:br>
              <a:rPr lang="en-US" sz="2400"/>
            </a:br>
            <a:r>
              <a:rPr lang="en-US" sz="2400"/>
              <a:t>relevance (3/4)</a:t>
            </a:r>
          </a:p>
        </p:txBody>
      </p:sp>
      <p:graphicFrame>
        <p:nvGraphicFramePr>
          <p:cNvPr id="3" name="Table 2">
            <a:extLst>
              <a:ext uri="{FF2B5EF4-FFF2-40B4-BE49-F238E27FC236}">
                <a16:creationId xmlns:a16="http://schemas.microsoft.com/office/drawing/2014/main" id="{CFBF2CE3-4596-16D0-51E4-3C044DABEF66}"/>
              </a:ext>
            </a:extLst>
          </p:cNvPr>
          <p:cNvGraphicFramePr>
            <a:graphicFrameLocks noGrp="1"/>
          </p:cNvGraphicFramePr>
          <p:nvPr>
            <p:extLst>
              <p:ext uri="{D42A27DB-BD31-4B8C-83A1-F6EECF244321}">
                <p14:modId xmlns:p14="http://schemas.microsoft.com/office/powerpoint/2010/main" val="2915335209"/>
              </p:ext>
            </p:extLst>
          </p:nvPr>
        </p:nvGraphicFramePr>
        <p:xfrm>
          <a:off x="362744" y="1554580"/>
          <a:ext cx="11465719" cy="4090933"/>
        </p:xfrm>
        <a:graphic>
          <a:graphicData uri="http://schemas.openxmlformats.org/drawingml/2006/table">
            <a:tbl>
              <a:tblPr bandRow="1">
                <a:tableStyleId>{5C22544A-7EE6-4342-B048-85BDC9FD1C3A}</a:tableStyleId>
              </a:tblPr>
              <a:tblGrid>
                <a:gridCol w="1261013">
                  <a:extLst>
                    <a:ext uri="{9D8B030D-6E8A-4147-A177-3AD203B41FA5}">
                      <a16:colId xmlns:a16="http://schemas.microsoft.com/office/drawing/2014/main" val="1720362591"/>
                    </a:ext>
                  </a:extLst>
                </a:gridCol>
                <a:gridCol w="2639485">
                  <a:extLst>
                    <a:ext uri="{9D8B030D-6E8A-4147-A177-3AD203B41FA5}">
                      <a16:colId xmlns:a16="http://schemas.microsoft.com/office/drawing/2014/main" val="1362236069"/>
                    </a:ext>
                  </a:extLst>
                </a:gridCol>
                <a:gridCol w="4508618">
                  <a:extLst>
                    <a:ext uri="{9D8B030D-6E8A-4147-A177-3AD203B41FA5}">
                      <a16:colId xmlns:a16="http://schemas.microsoft.com/office/drawing/2014/main" val="366937182"/>
                    </a:ext>
                  </a:extLst>
                </a:gridCol>
                <a:gridCol w="776177">
                  <a:extLst>
                    <a:ext uri="{9D8B030D-6E8A-4147-A177-3AD203B41FA5}">
                      <a16:colId xmlns:a16="http://schemas.microsoft.com/office/drawing/2014/main" val="869934027"/>
                    </a:ext>
                  </a:extLst>
                </a:gridCol>
                <a:gridCol w="2280426">
                  <a:extLst>
                    <a:ext uri="{9D8B030D-6E8A-4147-A177-3AD203B41FA5}">
                      <a16:colId xmlns:a16="http://schemas.microsoft.com/office/drawing/2014/main" val="320023064"/>
                    </a:ext>
                  </a:extLst>
                </a:gridCol>
              </a:tblGrid>
              <a:tr h="274320">
                <a:tc>
                  <a:txBody>
                    <a:bodyPr/>
                    <a:lstStyle/>
                    <a:p>
                      <a:pPr algn="ctr"/>
                      <a:r>
                        <a:rPr lang="en-US" sz="1200" b="1" i="0">
                          <a:solidFill>
                            <a:schemeClr val="bg1"/>
                          </a:solidFill>
                          <a:latin typeface="+mn-lt"/>
                          <a:cs typeface="Poppins" pitchFamily="2" charset="77"/>
                        </a:rPr>
                        <a:t>Tactic/Study</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r>
                        <a:rPr lang="en-US" sz="1200" b="1" i="0">
                          <a:solidFill>
                            <a:schemeClr val="bg1"/>
                          </a:solidFill>
                          <a:latin typeface="+mn-lt"/>
                          <a:cs typeface="Poppins" pitchFamily="2" charset="77"/>
                        </a:rPr>
                        <a:t>Evidence Gap(s)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r>
                        <a:rPr lang="en-US" sz="1200" b="1" i="0">
                          <a:solidFill>
                            <a:schemeClr val="bg1"/>
                          </a:solidFill>
                          <a:latin typeface="+mn-lt"/>
                          <a:cs typeface="Poppins" pitchFamily="2" charset="77"/>
                        </a:rPr>
                        <a:t>Description of EvGen Activities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r>
                        <a:rPr lang="en-US" sz="1200" b="1" i="0">
                          <a:solidFill>
                            <a:schemeClr val="bg1"/>
                          </a:solidFill>
                          <a:latin typeface="+mn-lt"/>
                          <a:cs typeface="Poppins" pitchFamily="2" charset="77"/>
                        </a:rPr>
                        <a:t>Status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r>
                        <a:rPr lang="en-US" sz="1200" b="1" i="0">
                          <a:solidFill>
                            <a:schemeClr val="bg1"/>
                          </a:solidFill>
                          <a:latin typeface="+mn-lt"/>
                          <a:cs typeface="Poppins" pitchFamily="2" charset="77"/>
                        </a:rPr>
                        <a:t>Read out/ trigger</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2323510155"/>
                  </a:ext>
                </a:extLst>
              </a:tr>
              <a:tr h="631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1"/>
                          </a:solidFill>
                          <a:latin typeface="+mn-lt"/>
                          <a:cs typeface="Poppins" pitchFamily="2" charset="77"/>
                        </a:rPr>
                        <a:t>Post-hoc</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400"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defRPr/>
                      </a:pPr>
                      <a:r>
                        <a:rPr lang="en-US" sz="1000" b="1" i="0">
                          <a:solidFill>
                            <a:schemeClr val="tx1"/>
                          </a:solidFill>
                        </a:rPr>
                        <a:t>NSCLC_HI_09: </a:t>
                      </a:r>
                      <a:r>
                        <a:rPr lang="en-US" sz="1000" b="0" i="0">
                          <a:solidFill>
                            <a:schemeClr val="tx1"/>
                          </a:solidFill>
                        </a:rPr>
                        <a:t>CTA turnaround time impact on BGB-58067 efficacy across testing methodologies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Biomarker team has conducted this analysis; data to feed into TAT modeling study to fully address the gap</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endParaRPr lang="en-US" sz="1000" b="0" i="0" kern="1200">
                        <a:solidFill>
                          <a:schemeClr val="tx1"/>
                        </a:solidFill>
                        <a:latin typeface="+mn-lt"/>
                        <a:ea typeface="+mn-ea"/>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171450" lvl="0" indent="-171450">
                        <a:spcAft>
                          <a:spcPts val="600"/>
                        </a:spcAft>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NA</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50838194"/>
                  </a:ext>
                </a:extLst>
              </a:tr>
              <a:tr h="15482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1"/>
                          </a:solidFill>
                          <a:latin typeface="+mn-lt"/>
                          <a:cs typeface="Poppins" pitchFamily="2" charset="77"/>
                        </a:rPr>
                        <a:t>Post-hoc and serial ctDNA analysis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000" b="1" i="0" kern="1200">
                          <a:solidFill>
                            <a:schemeClr val="tx1"/>
                          </a:solidFill>
                          <a:latin typeface="+mn-lt"/>
                          <a:ea typeface="+mn-ea"/>
                          <a:cs typeface="Poppins" pitchFamily="2" charset="77"/>
                        </a:rPr>
                        <a:t>NSCLC_AD_08</a:t>
                      </a:r>
                      <a:r>
                        <a:rPr lang="en-US" sz="1000" b="0" i="0" kern="1200">
                          <a:solidFill>
                            <a:schemeClr val="tx1"/>
                          </a:solidFill>
                          <a:latin typeface="+mn-lt"/>
                          <a:ea typeface="+mn-ea"/>
                          <a:cs typeface="Poppins" pitchFamily="2" charset="77"/>
                        </a:rPr>
                        <a:t>: Predictive biomarkers of response, non-response, and safety risk</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000" b="1" i="0" kern="1200">
                          <a:solidFill>
                            <a:schemeClr val="tx1"/>
                          </a:solidFill>
                          <a:latin typeface="+mn-lt"/>
                          <a:ea typeface="+mn-ea"/>
                          <a:cs typeface="Poppins" pitchFamily="2" charset="77"/>
                        </a:rPr>
                        <a:t>NSCLC_AD_09</a:t>
                      </a:r>
                      <a:r>
                        <a:rPr lang="en-US" sz="1000" b="0" i="0" kern="1200">
                          <a:solidFill>
                            <a:schemeClr val="tx1"/>
                          </a:solidFill>
                          <a:latin typeface="+mn-lt"/>
                          <a:ea typeface="+mn-ea"/>
                          <a:cs typeface="Poppins" pitchFamily="2" charset="77"/>
                        </a:rPr>
                        <a:t>:</a:t>
                      </a:r>
                      <a:r>
                        <a:rPr lang="en-US" sz="1000" b="1" i="0" kern="1200">
                          <a:solidFill>
                            <a:schemeClr val="tx1"/>
                          </a:solidFill>
                          <a:latin typeface="+mn-lt"/>
                          <a:ea typeface="+mn-ea"/>
                          <a:cs typeface="Poppins" pitchFamily="2" charset="77"/>
                        </a:rPr>
                        <a:t> </a:t>
                      </a:r>
                      <a:r>
                        <a:rPr lang="en-US" sz="1000" b="0" i="0" kern="1200">
                          <a:solidFill>
                            <a:schemeClr val="tx1"/>
                          </a:solidFill>
                          <a:latin typeface="+mn-lt"/>
                          <a:ea typeface="+mn-ea"/>
                          <a:cs typeface="Poppins" pitchFamily="2" charset="77"/>
                        </a:rPr>
                        <a:t>BGB-58067's impact on biomarker‑driven endpoints (e.g., ctDNA, MTA accumulation, SDMA, EGFR clearance) and their correlation to efficacy outcomes </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Biomarker team flagged it as ongoing activity built into the phase 1 study and additional biomarker plans proposed for upcoming pivotal studies </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endParaRPr lang="en-US" sz="1000" b="0" i="0" kern="1200">
                        <a:solidFill>
                          <a:schemeClr val="tx1"/>
                        </a:solidFill>
                        <a:latin typeface="+mn-lt"/>
                        <a:ea typeface="+mn-ea"/>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171450" lvl="0" indent="-171450">
                        <a:spcAft>
                          <a:spcPts val="600"/>
                        </a:spcAft>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Post-pivotal DRO</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14844723"/>
                  </a:ext>
                </a:extLst>
              </a:tr>
              <a:tr h="631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1"/>
                          </a:solidFill>
                          <a:latin typeface="+mn-lt"/>
                          <a:cs typeface="Poppins" pitchFamily="2" charset="77"/>
                        </a:rPr>
                        <a:t>Post-hoc</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000" b="1" i="0" kern="1200">
                          <a:solidFill>
                            <a:schemeClr val="tx1"/>
                          </a:solidFill>
                          <a:latin typeface="+mn-lt"/>
                          <a:ea typeface="+mn-ea"/>
                          <a:cs typeface="Poppins" pitchFamily="2" charset="77"/>
                        </a:rPr>
                        <a:t>NSCLC_HI_13</a:t>
                      </a:r>
                      <a:r>
                        <a:rPr lang="en-US" sz="1000" b="0" i="0" kern="1200">
                          <a:solidFill>
                            <a:schemeClr val="tx1"/>
                          </a:solidFill>
                          <a:latin typeface="+mn-lt"/>
                          <a:ea typeface="+mn-ea"/>
                          <a:cs typeface="Poppins" pitchFamily="2" charset="77"/>
                        </a:rPr>
                        <a:t>: BGB-58067’s efficacy/safety in co-mutation-defined populations (STK11, KEAP1, TP53)</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Biomarker team flagged post-hoc analysis as an ongoing activity</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endParaRPr lang="en-US" sz="1000" b="0" i="0" kern="1200">
                        <a:solidFill>
                          <a:schemeClr val="tx1"/>
                        </a:solidFill>
                        <a:latin typeface="+mn-lt"/>
                        <a:ea typeface="+mn-ea"/>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171450" lvl="0" indent="-171450">
                        <a:spcAft>
                          <a:spcPts val="600"/>
                        </a:spcAft>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Post-pivotal DRO</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95317872"/>
                  </a:ext>
                </a:extLst>
              </a:tr>
              <a:tr h="631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1"/>
                          </a:solidFill>
                          <a:latin typeface="+mn-lt"/>
                          <a:cs typeface="Poppins" pitchFamily="2" charset="77"/>
                        </a:rPr>
                        <a:t>Post-hoc, IIT</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000" b="1" i="0" kern="1200">
                          <a:solidFill>
                            <a:schemeClr val="tx1"/>
                          </a:solidFill>
                          <a:latin typeface="+mn-lt"/>
                          <a:ea typeface="+mn-ea"/>
                          <a:cs typeface="Poppins" pitchFamily="2" charset="77"/>
                        </a:rPr>
                        <a:t>NSCLC_HI_11</a:t>
                      </a:r>
                      <a:r>
                        <a:rPr lang="en-US" sz="1000" b="0" i="0" kern="1200">
                          <a:solidFill>
                            <a:schemeClr val="tx1"/>
                          </a:solidFill>
                          <a:latin typeface="+mn-lt"/>
                          <a:ea typeface="+mn-ea"/>
                          <a:cs typeface="Poppins" pitchFamily="2" charset="77"/>
                        </a:rPr>
                        <a:t>: PD-L1 expression regulation by BGB-58067 and efficacy across PD-L1 subgroups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Post-hoc analysis of regulation of PD-L1, as well as immune infiltration/immune signature have been planned by the Biomarker team using paired biopsies for TPS &gt;= 50 population</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IIT is a planned tactic gated to sufficient enrollment across PD-L1 strata in pivotal trials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endParaRPr lang="en-US" sz="1000" b="0" i="0" kern="1200">
                        <a:solidFill>
                          <a:schemeClr val="tx1"/>
                        </a:solidFill>
                        <a:latin typeface="+mn-lt"/>
                        <a:ea typeface="+mn-ea"/>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171450" lvl="0" indent="-171450">
                        <a:spcAft>
                          <a:spcPts val="600"/>
                        </a:spcAft>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Post-hoc readout: post-pivotal DRO</a:t>
                      </a:r>
                    </a:p>
                    <a:p>
                      <a:pPr marL="171450" lvl="0" indent="-171450">
                        <a:spcAft>
                          <a:spcPts val="600"/>
                        </a:spcAft>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Trigger: Assess the need for IIT based on completion of enrollment in pivotal trials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205468650"/>
                  </a:ext>
                </a:extLst>
              </a:tr>
            </a:tbl>
          </a:graphicData>
        </a:graphic>
      </p:graphicFrame>
      <p:sp>
        <p:nvSpPr>
          <p:cNvPr id="51" name="Footer Placeholder 2">
            <a:extLst>
              <a:ext uri="{FF2B5EF4-FFF2-40B4-BE49-F238E27FC236}">
                <a16:creationId xmlns:a16="http://schemas.microsoft.com/office/drawing/2014/main" id="{5CB4A399-D61D-6250-4AF5-13A798A61453}"/>
              </a:ext>
            </a:extLst>
          </p:cNvPr>
          <p:cNvSpPr>
            <a:spLocks noGrp="1"/>
          </p:cNvSpPr>
          <p:nvPr>
            <p:ph type="ftr" sz="quarter" idx="10"/>
          </p:nvPr>
        </p:nvSpPr>
        <p:spPr>
          <a:xfrm>
            <a:off x="358337" y="6436589"/>
            <a:ext cx="8377464" cy="343096"/>
          </a:xfrm>
        </p:spPr>
        <p:txBody>
          <a:bodyPr/>
          <a:lstStyle/>
          <a:p>
            <a:r>
              <a:rPr lang="en-US">
                <a:solidFill>
                  <a:srgbClr val="595959"/>
                </a:solidFill>
              </a:rPr>
              <a:t>Abbreviations: AD: Addressed; CTA: Clinical Trial Assay; ctDNA: Circulating Tumor DNA; DRO: Data Readout; EGFR: Epidermal Growth Factor Receptor; HI: High Priority; IIT: Investigator-Initiated Trial; KEAP1: Kelch-Like ECH-Associated Protein 1; MTA: Methylthioadenosine; NSCLC: Non-Small Cell Lung Cancer; PD-L1: Programmed Death-Ligand 1; SDMA: Symmetric Dimethylarginine; STK11: Serine/Threonine Kinase 11; TAT: Turnaround Time; TP53: Tumor Protein P53; TPS: Tumor Proportion Score</a:t>
            </a:r>
          </a:p>
        </p:txBody>
      </p:sp>
      <p:grpSp>
        <p:nvGrpSpPr>
          <p:cNvPr id="16" name="Group 15">
            <a:extLst>
              <a:ext uri="{FF2B5EF4-FFF2-40B4-BE49-F238E27FC236}">
                <a16:creationId xmlns:a16="http://schemas.microsoft.com/office/drawing/2014/main" id="{BBF925BB-D11D-9A9B-3E88-B2D28E9E9275}"/>
              </a:ext>
            </a:extLst>
          </p:cNvPr>
          <p:cNvGrpSpPr/>
          <p:nvPr/>
        </p:nvGrpSpPr>
        <p:grpSpPr>
          <a:xfrm>
            <a:off x="8638333" y="1279664"/>
            <a:ext cx="3190130" cy="307777"/>
            <a:chOff x="6649196" y="1255414"/>
            <a:chExt cx="3190130" cy="307777"/>
          </a:xfrm>
        </p:grpSpPr>
        <p:grpSp>
          <p:nvGrpSpPr>
            <p:cNvPr id="13" name="Group 12">
              <a:extLst>
                <a:ext uri="{FF2B5EF4-FFF2-40B4-BE49-F238E27FC236}">
                  <a16:creationId xmlns:a16="http://schemas.microsoft.com/office/drawing/2014/main" id="{0B5D33AF-F74A-BC56-5676-E638CC2274A6}"/>
                </a:ext>
              </a:extLst>
            </p:cNvPr>
            <p:cNvGrpSpPr/>
            <p:nvPr/>
          </p:nvGrpSpPr>
          <p:grpSpPr>
            <a:xfrm>
              <a:off x="7367985" y="1255414"/>
              <a:ext cx="846805" cy="307777"/>
              <a:chOff x="7367985" y="1255414"/>
              <a:chExt cx="846805" cy="307777"/>
            </a:xfrm>
          </p:grpSpPr>
          <p:sp>
            <p:nvSpPr>
              <p:cNvPr id="4" name="Rectangle 3">
                <a:extLst>
                  <a:ext uri="{FF2B5EF4-FFF2-40B4-BE49-F238E27FC236}">
                    <a16:creationId xmlns:a16="http://schemas.microsoft.com/office/drawing/2014/main" id="{600308C8-37BF-8C47-4267-2009C82D1955}"/>
                  </a:ext>
                </a:extLst>
              </p:cNvPr>
              <p:cNvSpPr/>
              <p:nvPr/>
            </p:nvSpPr>
            <p:spPr>
              <a:xfrm>
                <a:off x="7367985" y="1345702"/>
                <a:ext cx="128016" cy="12801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5" name="TextBox 4">
                <a:extLst>
                  <a:ext uri="{FF2B5EF4-FFF2-40B4-BE49-F238E27FC236}">
                    <a16:creationId xmlns:a16="http://schemas.microsoft.com/office/drawing/2014/main" id="{1559F276-0581-250A-43FA-24168102AFE1}"/>
                  </a:ext>
                </a:extLst>
              </p:cNvPr>
              <p:cNvSpPr txBox="1"/>
              <p:nvPr/>
            </p:nvSpPr>
            <p:spPr>
              <a:xfrm>
                <a:off x="7450281" y="1255414"/>
                <a:ext cx="764509" cy="307777"/>
              </a:xfrm>
              <a:prstGeom prst="rect">
                <a:avLst/>
              </a:prstGeom>
              <a:noFill/>
            </p:spPr>
            <p:txBody>
              <a:bodyPr wrap="square" lIns="91440" tIns="91440" rIns="91440" bIns="91440" rtlCol="0">
                <a:spAutoFit/>
              </a:bodyPr>
              <a:lstStyle/>
              <a:p>
                <a:pPr algn="l"/>
                <a:r>
                  <a:rPr lang="en-US" sz="800"/>
                  <a:t>Completed</a:t>
                </a:r>
              </a:p>
            </p:txBody>
          </p:sp>
        </p:grpSp>
        <p:sp>
          <p:nvSpPr>
            <p:cNvPr id="6" name="TextBox 5">
              <a:extLst>
                <a:ext uri="{FF2B5EF4-FFF2-40B4-BE49-F238E27FC236}">
                  <a16:creationId xmlns:a16="http://schemas.microsoft.com/office/drawing/2014/main" id="{262F242F-7D30-50D8-8A5F-C8F5DE817963}"/>
                </a:ext>
              </a:extLst>
            </p:cNvPr>
            <p:cNvSpPr txBox="1"/>
            <p:nvPr/>
          </p:nvSpPr>
          <p:spPr>
            <a:xfrm>
              <a:off x="6649196" y="1255414"/>
              <a:ext cx="1071704" cy="307777"/>
            </a:xfrm>
            <a:prstGeom prst="rect">
              <a:avLst/>
            </a:prstGeom>
            <a:noFill/>
          </p:spPr>
          <p:txBody>
            <a:bodyPr wrap="square" lIns="36000" tIns="91440" rIns="36000" bIns="91440" rtlCol="0">
              <a:spAutoFit/>
            </a:bodyPr>
            <a:lstStyle/>
            <a:p>
              <a:pPr algn="ctr"/>
              <a:r>
                <a:rPr lang="en-US" sz="800" b="1"/>
                <a:t>Key:</a:t>
              </a:r>
              <a:endParaRPr lang="en-US" sz="800"/>
            </a:p>
          </p:txBody>
        </p:sp>
        <p:grpSp>
          <p:nvGrpSpPr>
            <p:cNvPr id="14" name="Group 13">
              <a:extLst>
                <a:ext uri="{FF2B5EF4-FFF2-40B4-BE49-F238E27FC236}">
                  <a16:creationId xmlns:a16="http://schemas.microsoft.com/office/drawing/2014/main" id="{48B0DB5B-AC33-EE66-CDED-8F0D97A64458}"/>
                </a:ext>
              </a:extLst>
            </p:cNvPr>
            <p:cNvGrpSpPr/>
            <p:nvPr/>
          </p:nvGrpSpPr>
          <p:grpSpPr>
            <a:xfrm>
              <a:off x="8292931" y="1255414"/>
              <a:ext cx="773967" cy="307777"/>
              <a:chOff x="8636733" y="1255414"/>
              <a:chExt cx="773967" cy="307777"/>
            </a:xfrm>
          </p:grpSpPr>
          <p:sp>
            <p:nvSpPr>
              <p:cNvPr id="8" name="Rectangle 7">
                <a:extLst>
                  <a:ext uri="{FF2B5EF4-FFF2-40B4-BE49-F238E27FC236}">
                    <a16:creationId xmlns:a16="http://schemas.microsoft.com/office/drawing/2014/main" id="{A95905AB-5B61-6CE0-35D9-6B50D5DFB794}"/>
                  </a:ext>
                </a:extLst>
              </p:cNvPr>
              <p:cNvSpPr/>
              <p:nvPr/>
            </p:nvSpPr>
            <p:spPr>
              <a:xfrm>
                <a:off x="8636733" y="1345702"/>
                <a:ext cx="128016" cy="12801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9" name="TextBox 8">
                <a:extLst>
                  <a:ext uri="{FF2B5EF4-FFF2-40B4-BE49-F238E27FC236}">
                    <a16:creationId xmlns:a16="http://schemas.microsoft.com/office/drawing/2014/main" id="{99D9A24A-B910-7A85-C913-50AE59528328}"/>
                  </a:ext>
                </a:extLst>
              </p:cNvPr>
              <p:cNvSpPr txBox="1"/>
              <p:nvPr/>
            </p:nvSpPr>
            <p:spPr>
              <a:xfrm>
                <a:off x="8719030" y="1255414"/>
                <a:ext cx="691670" cy="307777"/>
              </a:xfrm>
              <a:prstGeom prst="rect">
                <a:avLst/>
              </a:prstGeom>
              <a:noFill/>
            </p:spPr>
            <p:txBody>
              <a:bodyPr wrap="square" lIns="91440" tIns="91440" rIns="91440" bIns="91440" rtlCol="0">
                <a:spAutoFit/>
              </a:bodyPr>
              <a:lstStyle/>
              <a:p>
                <a:pPr algn="l"/>
                <a:r>
                  <a:rPr lang="en-US" sz="800"/>
                  <a:t>Ongoing</a:t>
                </a:r>
              </a:p>
            </p:txBody>
          </p:sp>
        </p:grpSp>
        <p:grpSp>
          <p:nvGrpSpPr>
            <p:cNvPr id="15" name="Group 14">
              <a:extLst>
                <a:ext uri="{FF2B5EF4-FFF2-40B4-BE49-F238E27FC236}">
                  <a16:creationId xmlns:a16="http://schemas.microsoft.com/office/drawing/2014/main" id="{EE5D7816-D5D1-BC9B-5B48-A1503D902804}"/>
                </a:ext>
              </a:extLst>
            </p:cNvPr>
            <p:cNvGrpSpPr/>
            <p:nvPr/>
          </p:nvGrpSpPr>
          <p:grpSpPr>
            <a:xfrm>
              <a:off x="9145038" y="1255414"/>
              <a:ext cx="694288" cy="307777"/>
              <a:chOff x="9859413" y="1255414"/>
              <a:chExt cx="694288" cy="307777"/>
            </a:xfrm>
          </p:grpSpPr>
          <p:sp>
            <p:nvSpPr>
              <p:cNvPr id="11" name="Rectangle 10">
                <a:extLst>
                  <a:ext uri="{FF2B5EF4-FFF2-40B4-BE49-F238E27FC236}">
                    <a16:creationId xmlns:a16="http://schemas.microsoft.com/office/drawing/2014/main" id="{2295EF36-F6BE-5E79-04A5-0BB945722CB0}"/>
                  </a:ext>
                </a:extLst>
              </p:cNvPr>
              <p:cNvSpPr/>
              <p:nvPr/>
            </p:nvSpPr>
            <p:spPr>
              <a:xfrm>
                <a:off x="9859413" y="1345702"/>
                <a:ext cx="128016" cy="12801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12" name="TextBox 11">
                <a:extLst>
                  <a:ext uri="{FF2B5EF4-FFF2-40B4-BE49-F238E27FC236}">
                    <a16:creationId xmlns:a16="http://schemas.microsoft.com/office/drawing/2014/main" id="{2D553C14-E209-1F3B-5C66-6755D5501BCA}"/>
                  </a:ext>
                </a:extLst>
              </p:cNvPr>
              <p:cNvSpPr txBox="1"/>
              <p:nvPr/>
            </p:nvSpPr>
            <p:spPr>
              <a:xfrm>
                <a:off x="9941709" y="1255414"/>
                <a:ext cx="611992" cy="307777"/>
              </a:xfrm>
              <a:prstGeom prst="rect">
                <a:avLst/>
              </a:prstGeom>
              <a:noFill/>
            </p:spPr>
            <p:txBody>
              <a:bodyPr wrap="square" lIns="91440" tIns="91440" rIns="91440" bIns="91440" rtlCol="0">
                <a:spAutoFit/>
              </a:bodyPr>
              <a:lstStyle/>
              <a:p>
                <a:pPr algn="l"/>
                <a:r>
                  <a:rPr lang="en-US" sz="800"/>
                  <a:t>Planned</a:t>
                </a:r>
              </a:p>
            </p:txBody>
          </p:sp>
        </p:grpSp>
      </p:grpSp>
      <p:grpSp>
        <p:nvGrpSpPr>
          <p:cNvPr id="2" name="Group 1">
            <a:extLst>
              <a:ext uri="{FF2B5EF4-FFF2-40B4-BE49-F238E27FC236}">
                <a16:creationId xmlns:a16="http://schemas.microsoft.com/office/drawing/2014/main" id="{D8E53156-D13E-4775-81DB-9FF88FD70DBD}"/>
              </a:ext>
            </a:extLst>
          </p:cNvPr>
          <p:cNvGrpSpPr/>
          <p:nvPr/>
        </p:nvGrpSpPr>
        <p:grpSpPr>
          <a:xfrm>
            <a:off x="362743" y="10216"/>
            <a:ext cx="10042505" cy="252000"/>
            <a:chOff x="362743" y="10216"/>
            <a:chExt cx="10042505" cy="252000"/>
          </a:xfrm>
        </p:grpSpPr>
        <p:sp>
          <p:nvSpPr>
            <p:cNvPr id="7" name="Pentagon 47">
              <a:extLst>
                <a:ext uri="{FF2B5EF4-FFF2-40B4-BE49-F238E27FC236}">
                  <a16:creationId xmlns:a16="http://schemas.microsoft.com/office/drawing/2014/main" id="{D3C6EED5-2116-D399-5E09-1A70531B6E1F}"/>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10" name="Chevron 48">
              <a:extLst>
                <a:ext uri="{FF2B5EF4-FFF2-40B4-BE49-F238E27FC236}">
                  <a16:creationId xmlns:a16="http://schemas.microsoft.com/office/drawing/2014/main" id="{1B6ADD83-D255-B09C-AA1A-52A55482228F}"/>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17" name="Chevron 52">
              <a:extLst>
                <a:ext uri="{FF2B5EF4-FFF2-40B4-BE49-F238E27FC236}">
                  <a16:creationId xmlns:a16="http://schemas.microsoft.com/office/drawing/2014/main" id="{BF1430A0-C2DD-F8B4-68BD-5991A50935D9}"/>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18" name="Chevron 54">
              <a:extLst>
                <a:ext uri="{FF2B5EF4-FFF2-40B4-BE49-F238E27FC236}">
                  <a16:creationId xmlns:a16="http://schemas.microsoft.com/office/drawing/2014/main" id="{B1E36A17-6B95-9744-75D9-7BC8991D110E}"/>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9" name="Chevron 48">
              <a:extLst>
                <a:ext uri="{FF2B5EF4-FFF2-40B4-BE49-F238E27FC236}">
                  <a16:creationId xmlns:a16="http://schemas.microsoft.com/office/drawing/2014/main" id="{925B21E1-9E9A-6D08-FE86-1C9FE128002C}"/>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28" name="Chevron 48">
              <a:extLst>
                <a:ext uri="{FF2B5EF4-FFF2-40B4-BE49-F238E27FC236}">
                  <a16:creationId xmlns:a16="http://schemas.microsoft.com/office/drawing/2014/main" id="{EE6C861A-5094-06CE-E3FD-13B8FEA954D6}"/>
                </a:ext>
              </a:extLst>
            </p:cNvPr>
            <p:cNvSpPr/>
            <p:nvPr/>
          </p:nvSpPr>
          <p:spPr>
            <a:xfrm>
              <a:off x="8709983"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36169512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EB14D-D315-D2E2-99C7-AF660CF2DE5B}"/>
            </a:ext>
          </a:extLst>
        </p:cNvPr>
        <p:cNvGrpSpPr/>
        <p:nvPr/>
      </p:nvGrpSpPr>
      <p:grpSpPr>
        <a:xfrm>
          <a:off x="0" y="0"/>
          <a:ext cx="0" cy="0"/>
          <a:chOff x="0" y="0"/>
          <a:chExt cx="0" cy="0"/>
        </a:xfrm>
      </p:grpSpPr>
      <p:graphicFrame>
        <p:nvGraphicFramePr>
          <p:cNvPr id="59" name="think-cell data - do not delete" hidden="1">
            <a:extLst>
              <a:ext uri="{FF2B5EF4-FFF2-40B4-BE49-F238E27FC236}">
                <a16:creationId xmlns:a16="http://schemas.microsoft.com/office/drawing/2014/main" id="{CB321837-4796-B4B6-489C-8F1D87277D52}"/>
              </a:ext>
            </a:extLst>
          </p:cNvPr>
          <p:cNvGraphicFramePr>
            <a:graphicFrameLocks/>
          </p:cNvGraphicFramePr>
          <p:nvPr>
            <p:custDataLst>
              <p:tags r:id="rId1"/>
            </p:custDataLst>
            <p:extLst>
              <p:ext uri="{D42A27DB-BD31-4B8C-83A1-F6EECF244321}">
                <p14:modId xmlns:p14="http://schemas.microsoft.com/office/powerpoint/2010/main" val="25217015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59" name="think-cell data - do not delete" hidden="1">
                        <a:extLst>
                          <a:ext uri="{FF2B5EF4-FFF2-40B4-BE49-F238E27FC236}">
                            <a16:creationId xmlns:a16="http://schemas.microsoft.com/office/drawing/2014/main" id="{CB321837-4796-B4B6-489C-8F1D87277D5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8" name="Title 57">
            <a:extLst>
              <a:ext uri="{FF2B5EF4-FFF2-40B4-BE49-F238E27FC236}">
                <a16:creationId xmlns:a16="http://schemas.microsoft.com/office/drawing/2014/main" id="{79D9BFF0-099F-30FF-BA53-380EBDE23886}"/>
              </a:ext>
            </a:extLst>
          </p:cNvPr>
          <p:cNvSpPr>
            <a:spLocks noGrp="1"/>
          </p:cNvSpPr>
          <p:nvPr>
            <p:ph type="title"/>
          </p:nvPr>
        </p:nvSpPr>
        <p:spPr>
          <a:xfrm>
            <a:off x="360540" y="338328"/>
            <a:ext cx="11470125" cy="738664"/>
          </a:xfrm>
        </p:spPr>
        <p:txBody>
          <a:bodyPr vert="horz" rIns="0">
            <a:spAutoFit/>
          </a:bodyPr>
          <a:lstStyle/>
          <a:p>
            <a:r>
              <a:rPr lang="en-US" sz="2400"/>
              <a:t>List of planned/addressed tactics with downstream publication </a:t>
            </a:r>
            <a:br>
              <a:rPr lang="en-US" sz="2400"/>
            </a:br>
            <a:r>
              <a:rPr lang="en-US" sz="2400"/>
              <a:t>relevance (4/4)</a:t>
            </a:r>
          </a:p>
        </p:txBody>
      </p:sp>
      <p:graphicFrame>
        <p:nvGraphicFramePr>
          <p:cNvPr id="3" name="Table 2">
            <a:extLst>
              <a:ext uri="{FF2B5EF4-FFF2-40B4-BE49-F238E27FC236}">
                <a16:creationId xmlns:a16="http://schemas.microsoft.com/office/drawing/2014/main" id="{CA0A3367-52A5-82BE-7804-9C26FDFEB339}"/>
              </a:ext>
            </a:extLst>
          </p:cNvPr>
          <p:cNvGraphicFramePr>
            <a:graphicFrameLocks noGrp="1"/>
          </p:cNvGraphicFramePr>
          <p:nvPr>
            <p:extLst>
              <p:ext uri="{D42A27DB-BD31-4B8C-83A1-F6EECF244321}">
                <p14:modId xmlns:p14="http://schemas.microsoft.com/office/powerpoint/2010/main" val="1281104817"/>
              </p:ext>
            </p:extLst>
          </p:nvPr>
        </p:nvGraphicFramePr>
        <p:xfrm>
          <a:off x="362744" y="1554580"/>
          <a:ext cx="11465719" cy="3681480"/>
        </p:xfrm>
        <a:graphic>
          <a:graphicData uri="http://schemas.openxmlformats.org/drawingml/2006/table">
            <a:tbl>
              <a:tblPr bandRow="1">
                <a:tableStyleId>{5C22544A-7EE6-4342-B048-85BDC9FD1C3A}</a:tableStyleId>
              </a:tblPr>
              <a:tblGrid>
                <a:gridCol w="1261013">
                  <a:extLst>
                    <a:ext uri="{9D8B030D-6E8A-4147-A177-3AD203B41FA5}">
                      <a16:colId xmlns:a16="http://schemas.microsoft.com/office/drawing/2014/main" val="1720362591"/>
                    </a:ext>
                  </a:extLst>
                </a:gridCol>
                <a:gridCol w="2639485">
                  <a:extLst>
                    <a:ext uri="{9D8B030D-6E8A-4147-A177-3AD203B41FA5}">
                      <a16:colId xmlns:a16="http://schemas.microsoft.com/office/drawing/2014/main" val="1362236069"/>
                    </a:ext>
                  </a:extLst>
                </a:gridCol>
                <a:gridCol w="4508618">
                  <a:extLst>
                    <a:ext uri="{9D8B030D-6E8A-4147-A177-3AD203B41FA5}">
                      <a16:colId xmlns:a16="http://schemas.microsoft.com/office/drawing/2014/main" val="366937182"/>
                    </a:ext>
                  </a:extLst>
                </a:gridCol>
                <a:gridCol w="776177">
                  <a:extLst>
                    <a:ext uri="{9D8B030D-6E8A-4147-A177-3AD203B41FA5}">
                      <a16:colId xmlns:a16="http://schemas.microsoft.com/office/drawing/2014/main" val="869934027"/>
                    </a:ext>
                  </a:extLst>
                </a:gridCol>
                <a:gridCol w="2280426">
                  <a:extLst>
                    <a:ext uri="{9D8B030D-6E8A-4147-A177-3AD203B41FA5}">
                      <a16:colId xmlns:a16="http://schemas.microsoft.com/office/drawing/2014/main" val="320023064"/>
                    </a:ext>
                  </a:extLst>
                </a:gridCol>
              </a:tblGrid>
              <a:tr h="274320">
                <a:tc>
                  <a:txBody>
                    <a:bodyPr/>
                    <a:lstStyle/>
                    <a:p>
                      <a:pPr algn="ctr"/>
                      <a:r>
                        <a:rPr lang="en-US" sz="1200" b="1" i="0">
                          <a:solidFill>
                            <a:schemeClr val="bg1"/>
                          </a:solidFill>
                          <a:latin typeface="+mn-lt"/>
                          <a:cs typeface="Poppins" pitchFamily="2" charset="77"/>
                        </a:rPr>
                        <a:t>Tactic/Study</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r>
                        <a:rPr lang="en-US" sz="1200" b="1" i="0">
                          <a:solidFill>
                            <a:schemeClr val="bg1"/>
                          </a:solidFill>
                          <a:latin typeface="+mn-lt"/>
                          <a:cs typeface="Poppins" pitchFamily="2" charset="77"/>
                        </a:rPr>
                        <a:t>Evidence Gap(s)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r>
                        <a:rPr lang="en-US" sz="1200" b="1" i="0">
                          <a:solidFill>
                            <a:schemeClr val="bg1"/>
                          </a:solidFill>
                          <a:latin typeface="+mn-lt"/>
                          <a:cs typeface="Poppins" pitchFamily="2" charset="77"/>
                        </a:rPr>
                        <a:t>Description of EvGen Activities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r>
                        <a:rPr lang="en-US" sz="1200" b="1" i="0">
                          <a:solidFill>
                            <a:schemeClr val="bg1"/>
                          </a:solidFill>
                          <a:latin typeface="+mn-lt"/>
                          <a:cs typeface="Poppins" pitchFamily="2" charset="77"/>
                        </a:rPr>
                        <a:t>Status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tc>
                  <a:txBody>
                    <a:bodyPr/>
                    <a:lstStyle/>
                    <a:p>
                      <a:pPr algn="ctr"/>
                      <a:r>
                        <a:rPr lang="en-US" sz="1200" b="1" i="0">
                          <a:solidFill>
                            <a:schemeClr val="bg1"/>
                          </a:solidFill>
                          <a:latin typeface="+mn-lt"/>
                          <a:cs typeface="Poppins" pitchFamily="2" charset="77"/>
                        </a:rPr>
                        <a:t>Read out/ trigger</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lumOff val="25000"/>
                      </a:schemeClr>
                    </a:solidFill>
                  </a:tcPr>
                </a:tc>
                <a:extLst>
                  <a:ext uri="{0D108BD9-81ED-4DB2-BD59-A6C34878D82A}">
                    <a16:rowId xmlns:a16="http://schemas.microsoft.com/office/drawing/2014/main" val="2323510155"/>
                  </a:ext>
                </a:extLst>
              </a:tr>
              <a:tr h="631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1"/>
                          </a:solidFill>
                          <a:latin typeface="+mn-lt"/>
                          <a:cs typeface="Poppins" pitchFamily="2" charset="77"/>
                        </a:rPr>
                        <a:t>Post-hoc, IIT</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000" b="1" i="0" kern="1200">
                          <a:solidFill>
                            <a:schemeClr val="tx1"/>
                          </a:solidFill>
                          <a:latin typeface="+mn-lt"/>
                          <a:ea typeface="+mn-ea"/>
                          <a:cs typeface="Poppins" pitchFamily="2" charset="77"/>
                        </a:rPr>
                        <a:t>NSCLC_HI_11</a:t>
                      </a:r>
                      <a:r>
                        <a:rPr lang="en-US" sz="1000" b="0" i="0" kern="1200">
                          <a:solidFill>
                            <a:schemeClr val="tx1"/>
                          </a:solidFill>
                          <a:latin typeface="+mn-lt"/>
                          <a:ea typeface="+mn-ea"/>
                          <a:cs typeface="Poppins" pitchFamily="2" charset="77"/>
                        </a:rPr>
                        <a:t>: PD-L1 expression regulation by BGB-58067 and efficacy across PD-L1 subgroups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Post-hoc analysis of regulation of PD-L1, as well as immune infiltration/immune signature have been planned by the Biomarker team using paired biopsies for TPS &gt;= 50 population</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IIT is a planned tactic gated to sufficient enrollment across PD-L1 strata in pivotal trials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endParaRPr lang="en-US" sz="1000" b="0" i="0" kern="1200">
                        <a:solidFill>
                          <a:schemeClr val="tx1"/>
                        </a:solidFill>
                        <a:latin typeface="+mn-lt"/>
                        <a:ea typeface="+mn-ea"/>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171450" lvl="0" indent="-171450">
                        <a:spcAft>
                          <a:spcPts val="600"/>
                        </a:spcAft>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Post-hoc readout: post-pivotal DRO</a:t>
                      </a:r>
                    </a:p>
                    <a:p>
                      <a:pPr marL="171450" lvl="0" indent="-171450">
                        <a:spcAft>
                          <a:spcPts val="600"/>
                        </a:spcAft>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Trigger: Assess the need for IIT based on completion of enrollment in pivotal trials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05468650"/>
                  </a:ext>
                </a:extLst>
              </a:tr>
              <a:tr h="631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1"/>
                          </a:solidFill>
                          <a:latin typeface="+mn-lt"/>
                          <a:cs typeface="Poppins" pitchFamily="2" charset="77"/>
                        </a:rPr>
                        <a:t>Q-TWIST</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000" b="1" i="0" kern="1200">
                          <a:solidFill>
                            <a:schemeClr val="tx1"/>
                          </a:solidFill>
                          <a:latin typeface="+mn-lt"/>
                          <a:ea typeface="+mn-ea"/>
                          <a:cs typeface="Poppins" pitchFamily="2" charset="77"/>
                        </a:rPr>
                        <a:t>NSCLC_CE_01</a:t>
                      </a:r>
                      <a:r>
                        <a:rPr lang="en-US" sz="1000" b="0" i="0" kern="1200">
                          <a:solidFill>
                            <a:schemeClr val="tx1"/>
                          </a:solidFill>
                          <a:latin typeface="+mn-lt"/>
                          <a:ea typeface="+mn-ea"/>
                          <a:cs typeface="Poppins" pitchFamily="2" charset="77"/>
                        </a:rPr>
                        <a:t>: BGB-58067’s long-term efficacy and safety, quality-adjusted survival outcomes, and tolerability profile patterns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000" b="1" i="0" kern="1200">
                          <a:solidFill>
                            <a:schemeClr val="tx1"/>
                          </a:solidFill>
                          <a:latin typeface="+mn-lt"/>
                          <a:ea typeface="+mn-ea"/>
                          <a:cs typeface="Poppins" pitchFamily="2" charset="77"/>
                        </a:rPr>
                        <a:t>NSCLC_HI_08</a:t>
                      </a:r>
                      <a:r>
                        <a:rPr lang="en-US" sz="1000" b="0" i="0" kern="1200">
                          <a:solidFill>
                            <a:schemeClr val="tx1"/>
                          </a:solidFill>
                          <a:latin typeface="+mn-lt"/>
                          <a:ea typeface="+mn-ea"/>
                          <a:cs typeface="Poppins" pitchFamily="2" charset="77"/>
                        </a:rPr>
                        <a:t>: BGB-58067’s impact on HRQoL and Tx burden overall and in key sub-populations </a:t>
                      </a:r>
                    </a:p>
                    <a:p>
                      <a:pPr marL="0" marR="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endParaRPr lang="en-US" sz="1000" b="0" i="0" kern="1200">
                        <a:solidFill>
                          <a:schemeClr val="tx1"/>
                        </a:solidFill>
                        <a:latin typeface="+mn-lt"/>
                        <a:ea typeface="+mn-ea"/>
                        <a:cs typeface="Poppins" pitchFamily="2" charset="77"/>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lang="en-US" sz="1000" b="0" i="0" kern="1200">
                        <a:solidFill>
                          <a:schemeClr val="tx1"/>
                        </a:solidFill>
                        <a:latin typeface="+mn-lt"/>
                        <a:ea typeface="+mn-ea"/>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Q-</a:t>
                      </a:r>
                      <a:r>
                        <a:rPr lang="en-US" sz="1000" b="0" i="0" kern="1200" err="1">
                          <a:solidFill>
                            <a:schemeClr val="tx1"/>
                          </a:solidFill>
                          <a:latin typeface="+mn-lt"/>
                          <a:ea typeface="+mn-ea"/>
                          <a:cs typeface="Poppins" pitchFamily="2" charset="77"/>
                        </a:rPr>
                        <a:t>TWiST</a:t>
                      </a:r>
                      <a:r>
                        <a:rPr lang="en-US" sz="1000" b="0" i="0" kern="1200">
                          <a:solidFill>
                            <a:schemeClr val="tx1"/>
                          </a:solidFill>
                          <a:latin typeface="+mn-lt"/>
                          <a:ea typeface="+mn-ea"/>
                          <a:cs typeface="Poppins" pitchFamily="2" charset="77"/>
                        </a:rPr>
                        <a:t> analysis planned using pivotal trial data to quantify quality-adjusted survival benefit of BGB-58067 versus control</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Analysis will partition survival into TOX, </a:t>
                      </a:r>
                      <a:r>
                        <a:rPr lang="en-US" sz="1000" b="0" i="0" kern="1200" err="1">
                          <a:solidFill>
                            <a:schemeClr val="tx1"/>
                          </a:solidFill>
                          <a:latin typeface="+mn-lt"/>
                          <a:ea typeface="+mn-ea"/>
                          <a:cs typeface="Poppins" pitchFamily="2" charset="77"/>
                        </a:rPr>
                        <a:t>TWiST</a:t>
                      </a:r>
                      <a:r>
                        <a:rPr lang="en-US" sz="1000" b="0" i="0" kern="1200">
                          <a:solidFill>
                            <a:schemeClr val="tx1"/>
                          </a:solidFill>
                          <a:latin typeface="+mn-lt"/>
                          <a:ea typeface="+mn-ea"/>
                          <a:cs typeface="Poppins" pitchFamily="2" charset="77"/>
                        </a:rPr>
                        <a:t>, and REL health states using utility weights derived from EQ-5D-5L and other PRO measures</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Additional subgroup analyses may be conducted to characterize quality-adjusted survival and treatment burden across key patient populations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endParaRPr lang="en-US" sz="1000" b="0" i="0" kern="1200">
                        <a:solidFill>
                          <a:schemeClr val="tx1"/>
                        </a:solidFill>
                        <a:latin typeface="+mn-lt"/>
                        <a:ea typeface="+mn-ea"/>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171450" lvl="0" indent="-171450">
                        <a:spcAft>
                          <a:spcPts val="600"/>
                        </a:spcAft>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Q-TWIST readout: post-pivotal DRO</a:t>
                      </a:r>
                    </a:p>
                    <a:p>
                      <a:pPr marL="171450" lvl="0" indent="-171450">
                        <a:spcAft>
                          <a:spcPts val="600"/>
                        </a:spcAft>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Potential follow-on analyses during long-term follow-up to support payer and value communication needs</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972893717"/>
                  </a:ext>
                </a:extLst>
              </a:tr>
              <a:tr h="631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1"/>
                          </a:solidFill>
                          <a:latin typeface="+mn-lt"/>
                          <a:cs typeface="Poppins" pitchFamily="2" charset="77"/>
                        </a:rPr>
                        <a:t>Modeling</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000" b="1" i="0" kern="1200">
                          <a:solidFill>
                            <a:schemeClr val="tx1"/>
                          </a:solidFill>
                          <a:latin typeface="+mn-lt"/>
                          <a:ea typeface="+mn-ea"/>
                          <a:cs typeface="Poppins" pitchFamily="2" charset="77"/>
                        </a:rPr>
                        <a:t>NSCLC_HI_07</a:t>
                      </a:r>
                      <a:r>
                        <a:rPr lang="en-US" sz="1000" b="0" i="0" kern="1200">
                          <a:solidFill>
                            <a:schemeClr val="tx1"/>
                          </a:solidFill>
                          <a:latin typeface="+mn-lt"/>
                          <a:ea typeface="+mn-ea"/>
                          <a:cs typeface="Poppins" pitchFamily="2" charset="77"/>
                        </a:rPr>
                        <a:t>: Impact of BGB-58067 on healthcare resource utilization (HCRU) and cost vs. SoC</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Budget impact model (BIM) analysis planned to quantify financial impact of BGB-58067 adoption once the asset is utilized</a:t>
                      </a:r>
                    </a:p>
                    <a:p>
                      <a:pPr marL="171450" indent="-171450" algn="l" defTabSz="914400" rtl="0" eaLnBrk="1" latinLnBrk="0" hangingPunct="1">
                        <a:spcAft>
                          <a:spcPts val="600"/>
                        </a:spcAft>
                        <a:buFont typeface="Arial" panose="020B0604020202020204" pitchFamily="34" charset="0"/>
                        <a:buChar char="•"/>
                      </a:pPr>
                      <a:r>
                        <a:rPr lang="en-US" sz="1000" b="0" i="0" kern="1200">
                          <a:solidFill>
                            <a:schemeClr val="tx1"/>
                          </a:solidFill>
                          <a:latin typeface="+mn-lt"/>
                          <a:ea typeface="+mn-ea"/>
                          <a:cs typeface="Poppins" pitchFamily="2" charset="77"/>
                        </a:rPr>
                        <a:t>Cost-effectiveness model (CEM) planned to assess BGB-58067’s cost-effectiveness versus relevant standards of care</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400" rtl="0" eaLnBrk="1" latinLnBrk="0" hangingPunct="1">
                        <a:spcAft>
                          <a:spcPts val="600"/>
                        </a:spcAft>
                        <a:buFont typeface="Arial" panose="020B0604020202020204" pitchFamily="34" charset="0"/>
                        <a:buChar char="•"/>
                      </a:pPr>
                      <a:endParaRPr lang="en-US" sz="1000" b="0" i="0" kern="1200">
                        <a:solidFill>
                          <a:schemeClr val="tx1"/>
                        </a:solidFill>
                        <a:latin typeface="+mn-lt"/>
                        <a:ea typeface="+mn-ea"/>
                        <a:cs typeface="Poppins" pitchFamily="2" charset="77"/>
                      </a:endParaRP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171450" lvl="0" indent="-171450">
                        <a:spcAft>
                          <a:spcPts val="600"/>
                        </a:spcAft>
                        <a:buClr>
                          <a:srgbClr val="000000"/>
                        </a:buClr>
                        <a:buFont typeface="Arial" panose="020B0604020202020204" pitchFamily="34" charset="0"/>
                        <a:buChar char="•"/>
                      </a:pPr>
                      <a:r>
                        <a:rPr lang="en-US" sz="1000" b="0" i="0" u="none" strike="noStrike" kern="1200" noProof="0">
                          <a:solidFill>
                            <a:schemeClr val="tx1"/>
                          </a:solidFill>
                          <a:effectLst/>
                          <a:latin typeface="+mn-lt"/>
                          <a:ea typeface="+mn-ea"/>
                          <a:cs typeface="Poppins"/>
                        </a:rPr>
                        <a:t>Post-pivotal DRO</a:t>
                      </a:r>
                    </a:p>
                  </a:txBody>
                  <a:tcPr marL="90000" marR="90000" marT="46800" marB="46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101073320"/>
                  </a:ext>
                </a:extLst>
              </a:tr>
            </a:tbl>
          </a:graphicData>
        </a:graphic>
      </p:graphicFrame>
      <p:sp>
        <p:nvSpPr>
          <p:cNvPr id="51" name="Footer Placeholder 2">
            <a:extLst>
              <a:ext uri="{FF2B5EF4-FFF2-40B4-BE49-F238E27FC236}">
                <a16:creationId xmlns:a16="http://schemas.microsoft.com/office/drawing/2014/main" id="{60D63776-1E74-5962-FDAB-418C97DD1DFA}"/>
              </a:ext>
            </a:extLst>
          </p:cNvPr>
          <p:cNvSpPr>
            <a:spLocks noGrp="1"/>
          </p:cNvSpPr>
          <p:nvPr>
            <p:ph type="ftr" sz="quarter" idx="10"/>
          </p:nvPr>
        </p:nvSpPr>
        <p:spPr>
          <a:xfrm>
            <a:off x="358336" y="6474689"/>
            <a:ext cx="11128813" cy="343096"/>
          </a:xfrm>
        </p:spPr>
        <p:txBody>
          <a:bodyPr/>
          <a:lstStyle/>
          <a:p>
            <a:r>
              <a:rPr lang="en-US">
                <a:solidFill>
                  <a:srgbClr val="595959"/>
                </a:solidFill>
              </a:rPr>
              <a:t>Abbreviations: BIM: Budget Impact Model; CE: Critical Priority; CEM: Cost-Effectiveness Model; DRO: Data Readout; EQ-5D-5L: </a:t>
            </a:r>
            <a:r>
              <a:rPr lang="en-US" err="1">
                <a:solidFill>
                  <a:srgbClr val="595959"/>
                </a:solidFill>
              </a:rPr>
              <a:t>EuroQoL</a:t>
            </a:r>
            <a:r>
              <a:rPr lang="en-US">
                <a:solidFill>
                  <a:srgbClr val="595959"/>
                </a:solidFill>
              </a:rPr>
              <a:t> 5-Dimension 5-Level Questionnaire; HCRU: Healthcare Resource Utilization; HI: High Priority; </a:t>
            </a:r>
            <a:r>
              <a:rPr lang="en-US" err="1">
                <a:solidFill>
                  <a:srgbClr val="595959"/>
                </a:solidFill>
              </a:rPr>
              <a:t>HRQoL</a:t>
            </a:r>
            <a:r>
              <a:rPr lang="en-US">
                <a:solidFill>
                  <a:srgbClr val="595959"/>
                </a:solidFill>
              </a:rPr>
              <a:t>: Health-Related Quality of Life; IIT: Investigator-Initiated Trial; NSCLC: Non-Small Cell Lung Cancer; PD-L1: Programmed Death-Ligand 1; PRO: Patient-Reported Outcome; Q-</a:t>
            </a:r>
            <a:r>
              <a:rPr lang="en-US" err="1">
                <a:solidFill>
                  <a:srgbClr val="595959"/>
                </a:solidFill>
              </a:rPr>
              <a:t>TWiST</a:t>
            </a:r>
            <a:r>
              <a:rPr lang="en-US">
                <a:solidFill>
                  <a:srgbClr val="595959"/>
                </a:solidFill>
              </a:rPr>
              <a:t>: Quality-Adjusted Time Without Symptoms or Toxicity; REL: Relapse; SoC: Standard of Care; TOX: Toxicity; TPS: Tumor Proportion Score; Tx: Treatment</a:t>
            </a:r>
          </a:p>
        </p:txBody>
      </p:sp>
      <p:grpSp>
        <p:nvGrpSpPr>
          <p:cNvPr id="16" name="Group 15">
            <a:extLst>
              <a:ext uri="{FF2B5EF4-FFF2-40B4-BE49-F238E27FC236}">
                <a16:creationId xmlns:a16="http://schemas.microsoft.com/office/drawing/2014/main" id="{96A13BD2-A6E6-4653-7BA2-B8D622056985}"/>
              </a:ext>
            </a:extLst>
          </p:cNvPr>
          <p:cNvGrpSpPr/>
          <p:nvPr/>
        </p:nvGrpSpPr>
        <p:grpSpPr>
          <a:xfrm>
            <a:off x="8638333" y="1279664"/>
            <a:ext cx="3190130" cy="307777"/>
            <a:chOff x="6649196" y="1255414"/>
            <a:chExt cx="3190130" cy="307777"/>
          </a:xfrm>
        </p:grpSpPr>
        <p:grpSp>
          <p:nvGrpSpPr>
            <p:cNvPr id="13" name="Group 12">
              <a:extLst>
                <a:ext uri="{FF2B5EF4-FFF2-40B4-BE49-F238E27FC236}">
                  <a16:creationId xmlns:a16="http://schemas.microsoft.com/office/drawing/2014/main" id="{82525968-7CFA-0BEF-71F8-08107C0698DB}"/>
                </a:ext>
              </a:extLst>
            </p:cNvPr>
            <p:cNvGrpSpPr/>
            <p:nvPr/>
          </p:nvGrpSpPr>
          <p:grpSpPr>
            <a:xfrm>
              <a:off x="7367985" y="1255414"/>
              <a:ext cx="846805" cy="307777"/>
              <a:chOff x="7367985" y="1255414"/>
              <a:chExt cx="846805" cy="307777"/>
            </a:xfrm>
          </p:grpSpPr>
          <p:sp>
            <p:nvSpPr>
              <p:cNvPr id="4" name="Rectangle 3">
                <a:extLst>
                  <a:ext uri="{FF2B5EF4-FFF2-40B4-BE49-F238E27FC236}">
                    <a16:creationId xmlns:a16="http://schemas.microsoft.com/office/drawing/2014/main" id="{DE59E8AC-52E6-5E06-34A9-B12059984B72}"/>
                  </a:ext>
                </a:extLst>
              </p:cNvPr>
              <p:cNvSpPr/>
              <p:nvPr/>
            </p:nvSpPr>
            <p:spPr>
              <a:xfrm>
                <a:off x="7367985" y="1345702"/>
                <a:ext cx="128016" cy="12801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5" name="TextBox 4">
                <a:extLst>
                  <a:ext uri="{FF2B5EF4-FFF2-40B4-BE49-F238E27FC236}">
                    <a16:creationId xmlns:a16="http://schemas.microsoft.com/office/drawing/2014/main" id="{0A286AF8-3E70-C910-286D-AFC8A3955147}"/>
                  </a:ext>
                </a:extLst>
              </p:cNvPr>
              <p:cNvSpPr txBox="1"/>
              <p:nvPr/>
            </p:nvSpPr>
            <p:spPr>
              <a:xfrm>
                <a:off x="7450281" y="1255414"/>
                <a:ext cx="764509" cy="307777"/>
              </a:xfrm>
              <a:prstGeom prst="rect">
                <a:avLst/>
              </a:prstGeom>
              <a:noFill/>
            </p:spPr>
            <p:txBody>
              <a:bodyPr wrap="square" lIns="91440" tIns="91440" rIns="91440" bIns="91440" rtlCol="0">
                <a:spAutoFit/>
              </a:bodyPr>
              <a:lstStyle/>
              <a:p>
                <a:pPr algn="l"/>
                <a:r>
                  <a:rPr lang="en-US" sz="800"/>
                  <a:t>Completed</a:t>
                </a:r>
              </a:p>
            </p:txBody>
          </p:sp>
        </p:grpSp>
        <p:sp>
          <p:nvSpPr>
            <p:cNvPr id="6" name="TextBox 5">
              <a:extLst>
                <a:ext uri="{FF2B5EF4-FFF2-40B4-BE49-F238E27FC236}">
                  <a16:creationId xmlns:a16="http://schemas.microsoft.com/office/drawing/2014/main" id="{AB709A58-8A18-9AAA-73F9-E8D3F922089F}"/>
                </a:ext>
              </a:extLst>
            </p:cNvPr>
            <p:cNvSpPr txBox="1"/>
            <p:nvPr/>
          </p:nvSpPr>
          <p:spPr>
            <a:xfrm>
              <a:off x="6649196" y="1255414"/>
              <a:ext cx="1071704" cy="307777"/>
            </a:xfrm>
            <a:prstGeom prst="rect">
              <a:avLst/>
            </a:prstGeom>
            <a:noFill/>
          </p:spPr>
          <p:txBody>
            <a:bodyPr wrap="square" lIns="36000" tIns="91440" rIns="36000" bIns="91440" rtlCol="0">
              <a:spAutoFit/>
            </a:bodyPr>
            <a:lstStyle/>
            <a:p>
              <a:pPr algn="ctr"/>
              <a:r>
                <a:rPr lang="en-US" sz="800" b="1"/>
                <a:t>Key:</a:t>
              </a:r>
              <a:endParaRPr lang="en-US" sz="800"/>
            </a:p>
          </p:txBody>
        </p:sp>
        <p:grpSp>
          <p:nvGrpSpPr>
            <p:cNvPr id="14" name="Group 13">
              <a:extLst>
                <a:ext uri="{FF2B5EF4-FFF2-40B4-BE49-F238E27FC236}">
                  <a16:creationId xmlns:a16="http://schemas.microsoft.com/office/drawing/2014/main" id="{12E71DD3-33DB-C093-EF05-DEE68BE0CAE4}"/>
                </a:ext>
              </a:extLst>
            </p:cNvPr>
            <p:cNvGrpSpPr/>
            <p:nvPr/>
          </p:nvGrpSpPr>
          <p:grpSpPr>
            <a:xfrm>
              <a:off x="8292931" y="1255414"/>
              <a:ext cx="773967" cy="307777"/>
              <a:chOff x="8636733" y="1255414"/>
              <a:chExt cx="773967" cy="307777"/>
            </a:xfrm>
          </p:grpSpPr>
          <p:sp>
            <p:nvSpPr>
              <p:cNvPr id="8" name="Rectangle 7">
                <a:extLst>
                  <a:ext uri="{FF2B5EF4-FFF2-40B4-BE49-F238E27FC236}">
                    <a16:creationId xmlns:a16="http://schemas.microsoft.com/office/drawing/2014/main" id="{B6A8942B-9883-000E-9943-2A20A2C608B7}"/>
                  </a:ext>
                </a:extLst>
              </p:cNvPr>
              <p:cNvSpPr/>
              <p:nvPr/>
            </p:nvSpPr>
            <p:spPr>
              <a:xfrm>
                <a:off x="8636733" y="1345702"/>
                <a:ext cx="128016" cy="12801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9" name="TextBox 8">
                <a:extLst>
                  <a:ext uri="{FF2B5EF4-FFF2-40B4-BE49-F238E27FC236}">
                    <a16:creationId xmlns:a16="http://schemas.microsoft.com/office/drawing/2014/main" id="{4B52FC1D-D3A4-C62E-7235-AD3819A627C5}"/>
                  </a:ext>
                </a:extLst>
              </p:cNvPr>
              <p:cNvSpPr txBox="1"/>
              <p:nvPr/>
            </p:nvSpPr>
            <p:spPr>
              <a:xfrm>
                <a:off x="8719030" y="1255414"/>
                <a:ext cx="691670" cy="307777"/>
              </a:xfrm>
              <a:prstGeom prst="rect">
                <a:avLst/>
              </a:prstGeom>
              <a:noFill/>
            </p:spPr>
            <p:txBody>
              <a:bodyPr wrap="square" lIns="91440" tIns="91440" rIns="91440" bIns="91440" rtlCol="0">
                <a:spAutoFit/>
              </a:bodyPr>
              <a:lstStyle/>
              <a:p>
                <a:pPr algn="l"/>
                <a:r>
                  <a:rPr lang="en-US" sz="800"/>
                  <a:t>Ongoing</a:t>
                </a:r>
              </a:p>
            </p:txBody>
          </p:sp>
        </p:grpSp>
        <p:grpSp>
          <p:nvGrpSpPr>
            <p:cNvPr id="15" name="Group 14">
              <a:extLst>
                <a:ext uri="{FF2B5EF4-FFF2-40B4-BE49-F238E27FC236}">
                  <a16:creationId xmlns:a16="http://schemas.microsoft.com/office/drawing/2014/main" id="{34CEC831-1373-907C-930A-496E987D3459}"/>
                </a:ext>
              </a:extLst>
            </p:cNvPr>
            <p:cNvGrpSpPr/>
            <p:nvPr/>
          </p:nvGrpSpPr>
          <p:grpSpPr>
            <a:xfrm>
              <a:off x="9145038" y="1255414"/>
              <a:ext cx="694288" cy="307777"/>
              <a:chOff x="9859413" y="1255414"/>
              <a:chExt cx="694288" cy="307777"/>
            </a:xfrm>
          </p:grpSpPr>
          <p:sp>
            <p:nvSpPr>
              <p:cNvPr id="11" name="Rectangle 10">
                <a:extLst>
                  <a:ext uri="{FF2B5EF4-FFF2-40B4-BE49-F238E27FC236}">
                    <a16:creationId xmlns:a16="http://schemas.microsoft.com/office/drawing/2014/main" id="{773D9EBA-44BF-F87F-7616-0B97B7A39288}"/>
                  </a:ext>
                </a:extLst>
              </p:cNvPr>
              <p:cNvSpPr/>
              <p:nvPr/>
            </p:nvSpPr>
            <p:spPr>
              <a:xfrm>
                <a:off x="9859413" y="1345702"/>
                <a:ext cx="128016" cy="12801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12" name="TextBox 11">
                <a:extLst>
                  <a:ext uri="{FF2B5EF4-FFF2-40B4-BE49-F238E27FC236}">
                    <a16:creationId xmlns:a16="http://schemas.microsoft.com/office/drawing/2014/main" id="{B4D23A07-EFF0-4ABC-843D-4CE8AAD25978}"/>
                  </a:ext>
                </a:extLst>
              </p:cNvPr>
              <p:cNvSpPr txBox="1"/>
              <p:nvPr/>
            </p:nvSpPr>
            <p:spPr>
              <a:xfrm>
                <a:off x="9941709" y="1255414"/>
                <a:ext cx="611992" cy="307777"/>
              </a:xfrm>
              <a:prstGeom prst="rect">
                <a:avLst/>
              </a:prstGeom>
              <a:noFill/>
            </p:spPr>
            <p:txBody>
              <a:bodyPr wrap="square" lIns="91440" tIns="91440" rIns="91440" bIns="91440" rtlCol="0">
                <a:spAutoFit/>
              </a:bodyPr>
              <a:lstStyle/>
              <a:p>
                <a:pPr algn="l"/>
                <a:r>
                  <a:rPr lang="en-US" sz="800"/>
                  <a:t>Planned</a:t>
                </a:r>
              </a:p>
            </p:txBody>
          </p:sp>
        </p:grpSp>
      </p:grpSp>
      <p:grpSp>
        <p:nvGrpSpPr>
          <p:cNvPr id="2" name="Group 1">
            <a:extLst>
              <a:ext uri="{FF2B5EF4-FFF2-40B4-BE49-F238E27FC236}">
                <a16:creationId xmlns:a16="http://schemas.microsoft.com/office/drawing/2014/main" id="{A9B3DD15-64DF-982E-8413-DE228BBD7E17}"/>
              </a:ext>
            </a:extLst>
          </p:cNvPr>
          <p:cNvGrpSpPr/>
          <p:nvPr/>
        </p:nvGrpSpPr>
        <p:grpSpPr>
          <a:xfrm>
            <a:off x="362743" y="10216"/>
            <a:ext cx="10042505" cy="252000"/>
            <a:chOff x="362743" y="10216"/>
            <a:chExt cx="10042505" cy="252000"/>
          </a:xfrm>
        </p:grpSpPr>
        <p:sp>
          <p:nvSpPr>
            <p:cNvPr id="7" name="Pentagon 47">
              <a:extLst>
                <a:ext uri="{FF2B5EF4-FFF2-40B4-BE49-F238E27FC236}">
                  <a16:creationId xmlns:a16="http://schemas.microsoft.com/office/drawing/2014/main" id="{46C7234B-1845-EBFA-E0C9-4B2043AB945D}"/>
                </a:ext>
              </a:extLst>
            </p:cNvPr>
            <p:cNvSpPr/>
            <p:nvPr/>
          </p:nvSpPr>
          <p:spPr>
            <a:xfrm>
              <a:off x="362743" y="10216"/>
              <a:ext cx="1695265" cy="252000"/>
            </a:xfrm>
            <a:prstGeom prst="homePlate">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cs typeface="Poppins" pitchFamily="2" charset="77"/>
                </a:rPr>
                <a:t>Executive Summary</a:t>
              </a:r>
            </a:p>
          </p:txBody>
        </p:sp>
        <p:sp>
          <p:nvSpPr>
            <p:cNvPr id="10" name="Chevron 48">
              <a:extLst>
                <a:ext uri="{FF2B5EF4-FFF2-40B4-BE49-F238E27FC236}">
                  <a16:creationId xmlns:a16="http://schemas.microsoft.com/office/drawing/2014/main" id="{5AE00FA1-0F79-300F-14F1-B7055DA9CC06}"/>
                </a:ext>
              </a:extLst>
            </p:cNvPr>
            <p:cNvSpPr/>
            <p:nvPr/>
          </p:nvSpPr>
          <p:spPr>
            <a:xfrm>
              <a:off x="5371087"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Tactics</a:t>
              </a:r>
            </a:p>
          </p:txBody>
        </p:sp>
        <p:sp>
          <p:nvSpPr>
            <p:cNvPr id="17" name="Chevron 52">
              <a:extLst>
                <a:ext uri="{FF2B5EF4-FFF2-40B4-BE49-F238E27FC236}">
                  <a16:creationId xmlns:a16="http://schemas.microsoft.com/office/drawing/2014/main" id="{ECB20994-5390-1081-0A0D-BAB42F4F53A6}"/>
                </a:ext>
              </a:extLst>
            </p:cNvPr>
            <p:cNvSpPr/>
            <p:nvPr/>
          </p:nvSpPr>
          <p:spPr>
            <a:xfrm>
              <a:off x="3701639"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Prioritized Gaps</a:t>
              </a:r>
            </a:p>
          </p:txBody>
        </p:sp>
        <p:sp>
          <p:nvSpPr>
            <p:cNvPr id="18" name="Chevron 54">
              <a:extLst>
                <a:ext uri="{FF2B5EF4-FFF2-40B4-BE49-F238E27FC236}">
                  <a16:creationId xmlns:a16="http://schemas.microsoft.com/office/drawing/2014/main" id="{6E5121E3-BC10-F00E-07E8-79640A39400D}"/>
                </a:ext>
              </a:extLst>
            </p:cNvPr>
            <p:cNvSpPr/>
            <p:nvPr/>
          </p:nvSpPr>
          <p:spPr>
            <a:xfrm>
              <a:off x="2032191"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ea typeface="Calibri"/>
                  <a:cs typeface="Poppins" pitchFamily="2" charset="77"/>
                </a:rPr>
                <a:t>Strategic Context</a:t>
              </a:r>
            </a:p>
          </p:txBody>
        </p:sp>
        <p:sp>
          <p:nvSpPr>
            <p:cNvPr id="19" name="Chevron 48">
              <a:extLst>
                <a:ext uri="{FF2B5EF4-FFF2-40B4-BE49-F238E27FC236}">
                  <a16:creationId xmlns:a16="http://schemas.microsoft.com/office/drawing/2014/main" id="{B2E38E52-956D-1249-DCDD-755B0FD430E1}"/>
                </a:ext>
              </a:extLst>
            </p:cNvPr>
            <p:cNvSpPr/>
            <p:nvPr/>
          </p:nvSpPr>
          <p:spPr>
            <a:xfrm>
              <a:off x="7040535" y="10216"/>
              <a:ext cx="1695265" cy="252000"/>
            </a:xfrm>
            <a:prstGeom prst="chevron">
              <a:avLst>
                <a:gd name="adj" fmla="val 28868"/>
              </a:avLst>
            </a:prstGeom>
            <a:solidFill>
              <a:schemeClr val="bg1">
                <a:lumMod val="85000"/>
              </a:schemeClr>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Gated Gaps</a:t>
              </a:r>
            </a:p>
          </p:txBody>
        </p:sp>
        <p:sp>
          <p:nvSpPr>
            <p:cNvPr id="28" name="Chevron 48">
              <a:extLst>
                <a:ext uri="{FF2B5EF4-FFF2-40B4-BE49-F238E27FC236}">
                  <a16:creationId xmlns:a16="http://schemas.microsoft.com/office/drawing/2014/main" id="{E3D9B347-8927-3800-9580-5773296652C9}"/>
                </a:ext>
              </a:extLst>
            </p:cNvPr>
            <p:cNvSpPr/>
            <p:nvPr/>
          </p:nvSpPr>
          <p:spPr>
            <a:xfrm>
              <a:off x="8709983" y="10216"/>
              <a:ext cx="1695265" cy="252000"/>
            </a:xfrm>
            <a:prstGeom prst="chevron">
              <a:avLst>
                <a:gd name="adj" fmla="val 28868"/>
              </a:avLst>
            </a:prstGeom>
            <a:solidFill>
              <a:schemeClr val="tx2"/>
            </a:solidFill>
            <a:ln w="12700">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en-US" sz="900">
                  <a:solidFill>
                    <a:schemeClr val="bg1"/>
                  </a:solidFill>
                  <a:cs typeface="Poppins" pitchFamily="2" charset="77"/>
                </a:rPr>
                <a:t>Planned/ Addressed Tactics</a:t>
              </a:r>
            </a:p>
          </p:txBody>
        </p:sp>
      </p:grpSp>
    </p:spTree>
    <p:extLst>
      <p:ext uri="{BB962C8B-B14F-4D97-AF65-F5344CB8AC3E}">
        <p14:creationId xmlns:p14="http://schemas.microsoft.com/office/powerpoint/2010/main" val="9438640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BB33C6C7-79BA-B910-3022-7062A652BC8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12" name="think-cell data - do not delete" hidden="1">
                        <a:extLst>
                          <a:ext uri="{FF2B5EF4-FFF2-40B4-BE49-F238E27FC236}">
                            <a16:creationId xmlns:a16="http://schemas.microsoft.com/office/drawing/2014/main" id="{BB33C6C7-79BA-B910-3022-7062A652BC8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BB536952-C1F4-8EF1-6CE2-8D28DD55C942}"/>
              </a:ext>
            </a:extLst>
          </p:cNvPr>
          <p:cNvSpPr/>
          <p:nvPr/>
        </p:nvSpPr>
        <p:spPr>
          <a:xfrm>
            <a:off x="5838825" y="1169897"/>
            <a:ext cx="514352" cy="2302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55000" lnSpcReduction="20000"/>
          </a:bodyPr>
          <a:lstStyle/>
          <a:p>
            <a:pPr algn="ctr"/>
            <a:endParaRPr lang="en-US" err="1">
              <a:solidFill>
                <a:schemeClr val="bg1"/>
              </a:solidFill>
            </a:endParaRPr>
          </a:p>
        </p:txBody>
      </p:sp>
      <p:sp>
        <p:nvSpPr>
          <p:cNvPr id="20" name="Title 19">
            <a:extLst>
              <a:ext uri="{FF2B5EF4-FFF2-40B4-BE49-F238E27FC236}">
                <a16:creationId xmlns:a16="http://schemas.microsoft.com/office/drawing/2014/main" id="{E9D47A24-7001-B990-3A6B-EDC8A1A8EA36}"/>
              </a:ext>
            </a:extLst>
          </p:cNvPr>
          <p:cNvSpPr>
            <a:spLocks noGrp="1"/>
          </p:cNvSpPr>
          <p:nvPr>
            <p:ph type="title"/>
          </p:nvPr>
        </p:nvSpPr>
        <p:spPr>
          <a:xfrm>
            <a:off x="358337" y="338328"/>
            <a:ext cx="11470125" cy="369332"/>
          </a:xfrm>
        </p:spPr>
        <p:txBody>
          <a:bodyPr vert="horz" rIns="0">
            <a:spAutoFit/>
          </a:bodyPr>
          <a:lstStyle/>
          <a:p>
            <a:r>
              <a:rPr lang="en-US" sz="2400"/>
              <a:t>Thank you to those that have contributed to this IEP!</a:t>
            </a:r>
          </a:p>
        </p:txBody>
      </p:sp>
      <p:sp>
        <p:nvSpPr>
          <p:cNvPr id="27" name="Rectangle 26">
            <a:extLst>
              <a:ext uri="{FF2B5EF4-FFF2-40B4-BE49-F238E27FC236}">
                <a16:creationId xmlns:a16="http://schemas.microsoft.com/office/drawing/2014/main" id="{091A8BC3-2644-B47E-2348-D9933BCB5A75}"/>
              </a:ext>
            </a:extLst>
          </p:cNvPr>
          <p:cNvSpPr/>
          <p:nvPr/>
        </p:nvSpPr>
        <p:spPr>
          <a:xfrm>
            <a:off x="358335" y="1220268"/>
            <a:ext cx="5480490" cy="720000"/>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45720" rIns="45720" numCol="2" rtlCol="0" anchor="ctr">
            <a:normAutofit/>
          </a:bodyPr>
          <a:lstStyle/>
          <a:p>
            <a:pPr>
              <a:defRPr/>
            </a:pPr>
            <a:r>
              <a:rPr lang="en-US" sz="1200">
                <a:solidFill>
                  <a:srgbClr val="000000"/>
                </a:solidFill>
              </a:rPr>
              <a:t>Mesha Austin-Taylor </a:t>
            </a:r>
            <a:r>
              <a:rPr lang="en-US" sz="1200" i="1">
                <a:solidFill>
                  <a:srgbClr val="283349">
                    <a:lumMod val="40000"/>
                    <a:lumOff val="60000"/>
                  </a:srgbClr>
                </a:solidFill>
              </a:rPr>
              <a:t>(GMA)</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ea typeface="+mn-ea"/>
                <a:cs typeface="+mn-cs"/>
              </a:rPr>
              <a:t>Aiyan Lu </a:t>
            </a:r>
            <a:r>
              <a:rPr kumimoji="0" lang="en-US" sz="1200" b="0" i="1" u="none" strike="noStrike" kern="1200" cap="none" spc="0" normalizeH="0" baseline="0" noProof="0">
                <a:ln>
                  <a:noFill/>
                </a:ln>
                <a:solidFill>
                  <a:srgbClr val="283349">
                    <a:lumMod val="40000"/>
                    <a:lumOff val="60000"/>
                  </a:srgbClr>
                </a:solidFill>
                <a:effectLst/>
                <a:uLnTx/>
                <a:uFillTx/>
                <a:ea typeface="+mn-ea"/>
                <a:cs typeface="+mn-cs"/>
              </a:rPr>
              <a:t>(GCSO)</a:t>
            </a:r>
          </a:p>
          <a:p>
            <a:pPr>
              <a:defRPr/>
            </a:pPr>
            <a:r>
              <a:rPr lang="en-US" sz="1200">
                <a:solidFill>
                  <a:schemeClr val="tx1"/>
                </a:solidFill>
              </a:rPr>
              <a:t>Lin Zhan </a:t>
            </a:r>
            <a:r>
              <a:rPr lang="en-US" sz="1200" i="1">
                <a:solidFill>
                  <a:schemeClr val="tx2">
                    <a:lumMod val="40000"/>
                    <a:lumOff val="60000"/>
                  </a:schemeClr>
                </a:solidFill>
              </a:rPr>
              <a:t>(GHEOR)</a:t>
            </a:r>
            <a:endParaRPr kumimoji="0" lang="en-US" sz="1200" b="0" i="1" u="none" strike="noStrike" kern="1200" cap="none" spc="0" normalizeH="0" baseline="0" noProof="0">
              <a:ln>
                <a:noFill/>
              </a:ln>
              <a:solidFill>
                <a:srgbClr val="283349">
                  <a:lumMod val="40000"/>
                  <a:lumOff val="60000"/>
                </a:srgbClr>
              </a:solidFill>
              <a:effectLst/>
              <a:uLnTx/>
              <a:uFillTx/>
              <a:ea typeface="+mn-ea"/>
              <a:cs typeface="+mn-cs"/>
            </a:endParaRPr>
          </a:p>
          <a:p>
            <a:pPr lvl="0">
              <a:defRPr/>
            </a:pPr>
            <a:r>
              <a:rPr lang="en-US" sz="1200">
                <a:solidFill>
                  <a:srgbClr val="000000"/>
                </a:solidFill>
              </a:rPr>
              <a:t> Karolina Minda </a:t>
            </a:r>
            <a:r>
              <a:rPr lang="en-US" sz="1200" i="1">
                <a:solidFill>
                  <a:srgbClr val="283349">
                    <a:lumMod val="40000"/>
                    <a:lumOff val="60000"/>
                  </a:srgbClr>
                </a:solidFill>
              </a:rPr>
              <a:t>(Global Market Access)</a:t>
            </a:r>
          </a:p>
          <a:p>
            <a:pPr lvl="0">
              <a:defRPr/>
            </a:pPr>
            <a:r>
              <a:rPr lang="en-US" sz="1200">
                <a:solidFill>
                  <a:srgbClr val="000000"/>
                </a:solidFill>
              </a:rPr>
              <a:t>Lindsey Sharpe </a:t>
            </a:r>
            <a:r>
              <a:rPr lang="en-US" sz="1200" i="1">
                <a:solidFill>
                  <a:srgbClr val="283349">
                    <a:lumMod val="40000"/>
                    <a:lumOff val="60000"/>
                  </a:srgbClr>
                </a:solidFill>
              </a:rPr>
              <a:t>(PMO)</a:t>
            </a:r>
          </a:p>
        </p:txBody>
      </p:sp>
      <p:sp>
        <p:nvSpPr>
          <p:cNvPr id="2" name="Rectangle 1">
            <a:extLst>
              <a:ext uri="{FF2B5EF4-FFF2-40B4-BE49-F238E27FC236}">
                <a16:creationId xmlns:a16="http://schemas.microsoft.com/office/drawing/2014/main" id="{ED64DAD8-67F8-C898-EE52-2EBABD939D0F}"/>
              </a:ext>
            </a:extLst>
          </p:cNvPr>
          <p:cNvSpPr/>
          <p:nvPr/>
        </p:nvSpPr>
        <p:spPr>
          <a:xfrm>
            <a:off x="358332" y="871925"/>
            <a:ext cx="2090949" cy="348343"/>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r>
              <a:rPr lang="en-US" sz="1200" b="1" err="1">
                <a:solidFill>
                  <a:schemeClr val="bg1"/>
                </a:solidFill>
              </a:rPr>
              <a:t>BeOne</a:t>
            </a:r>
            <a:r>
              <a:rPr lang="en-US" sz="1200" b="1">
                <a:solidFill>
                  <a:schemeClr val="bg1"/>
                </a:solidFill>
              </a:rPr>
              <a:t> Core Team</a:t>
            </a:r>
          </a:p>
        </p:txBody>
      </p:sp>
      <p:sp>
        <p:nvSpPr>
          <p:cNvPr id="28" name="Rectangle 27">
            <a:extLst>
              <a:ext uri="{FF2B5EF4-FFF2-40B4-BE49-F238E27FC236}">
                <a16:creationId xmlns:a16="http://schemas.microsoft.com/office/drawing/2014/main" id="{274F34D8-990E-3750-0D6E-361D71363FE1}"/>
              </a:ext>
            </a:extLst>
          </p:cNvPr>
          <p:cNvSpPr/>
          <p:nvPr/>
        </p:nvSpPr>
        <p:spPr>
          <a:xfrm>
            <a:off x="358333" y="2083751"/>
            <a:ext cx="11470125" cy="3088512"/>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45720" rIns="45720" numCol="4" rtlCol="0" anchor="ctr">
            <a:normAutofit/>
          </a:bodyPr>
          <a:lstStyle/>
          <a:p>
            <a:endParaRPr lang="en-US" sz="1200">
              <a:solidFill>
                <a:schemeClr val="tx1"/>
              </a:solidFill>
            </a:endParaRPr>
          </a:p>
          <a:p>
            <a:endParaRPr lang="en-US" sz="1200">
              <a:solidFill>
                <a:schemeClr val="tx1"/>
              </a:solidFill>
            </a:endParaRPr>
          </a:p>
          <a:p>
            <a:r>
              <a:rPr lang="en-US" sz="1200">
                <a:solidFill>
                  <a:schemeClr val="tx1"/>
                </a:solidFill>
              </a:rPr>
              <a:t>Angelika Imhof </a:t>
            </a:r>
            <a:r>
              <a:rPr lang="en-US" sz="1200" i="1">
                <a:solidFill>
                  <a:schemeClr val="tx2">
                    <a:lumMod val="40000"/>
                    <a:lumOff val="60000"/>
                  </a:schemeClr>
                </a:solidFill>
              </a:rPr>
              <a:t>(EUMA)</a:t>
            </a:r>
          </a:p>
          <a:p>
            <a:r>
              <a:rPr lang="en-US" sz="1200">
                <a:solidFill>
                  <a:schemeClr val="tx1"/>
                </a:solidFill>
              </a:rPr>
              <a:t>Bhakti Mehta </a:t>
            </a:r>
            <a:r>
              <a:rPr lang="en-US" sz="1200" i="1">
                <a:solidFill>
                  <a:schemeClr val="tx2">
                    <a:lumMod val="40000"/>
                    <a:lumOff val="60000"/>
                  </a:schemeClr>
                </a:solidFill>
              </a:rPr>
              <a:t>(ClinDev)</a:t>
            </a:r>
          </a:p>
          <a:p>
            <a:r>
              <a:rPr lang="en-US" sz="1200">
                <a:solidFill>
                  <a:schemeClr val="tx1"/>
                </a:solidFill>
              </a:rPr>
              <a:t>Bryant Barnes</a:t>
            </a:r>
            <a:r>
              <a:rPr lang="en-US" sz="1200" i="1">
                <a:solidFill>
                  <a:schemeClr val="tx1"/>
                </a:solidFill>
              </a:rPr>
              <a:t> </a:t>
            </a:r>
            <a:r>
              <a:rPr lang="en-US" sz="1200" i="1">
                <a:solidFill>
                  <a:srgbClr val="98A8C7"/>
                </a:solidFill>
              </a:rPr>
              <a:t>(PRO)</a:t>
            </a:r>
          </a:p>
          <a:p>
            <a:r>
              <a:rPr lang="en-US" sz="1200">
                <a:solidFill>
                  <a:schemeClr val="tx1"/>
                </a:solidFill>
              </a:rPr>
              <a:t>Daniel Breken </a:t>
            </a:r>
            <a:r>
              <a:rPr lang="en-US" sz="1200" i="1">
                <a:solidFill>
                  <a:srgbClr val="98A8C7"/>
                </a:solidFill>
              </a:rPr>
              <a:t>(BMx)</a:t>
            </a:r>
          </a:p>
          <a:p>
            <a:r>
              <a:rPr lang="en-US" sz="1200">
                <a:solidFill>
                  <a:schemeClr val="tx1"/>
                </a:solidFill>
              </a:rPr>
              <a:t>Darrel Taylor </a:t>
            </a:r>
            <a:r>
              <a:rPr lang="en-US" sz="1200" i="1">
                <a:solidFill>
                  <a:schemeClr val="tx2">
                    <a:lumMod val="40000"/>
                    <a:lumOff val="60000"/>
                  </a:schemeClr>
                </a:solidFill>
              </a:rPr>
              <a:t>(US Marketing)</a:t>
            </a:r>
          </a:p>
          <a:p>
            <a:r>
              <a:rPr lang="en-US" sz="1200">
                <a:solidFill>
                  <a:schemeClr val="tx1"/>
                </a:solidFill>
              </a:rPr>
              <a:t>Elena Pecora </a:t>
            </a:r>
            <a:r>
              <a:rPr lang="en-US" sz="1200" i="1">
                <a:solidFill>
                  <a:schemeClr val="tx2">
                    <a:lumMod val="40000"/>
                    <a:lumOff val="60000"/>
                  </a:schemeClr>
                </a:solidFill>
              </a:rPr>
              <a:t>(US Marketing)</a:t>
            </a:r>
          </a:p>
          <a:p>
            <a:r>
              <a:rPr lang="en-US" sz="1200">
                <a:solidFill>
                  <a:schemeClr val="tx1"/>
                </a:solidFill>
              </a:rPr>
              <a:t>Eugenia Priedane </a:t>
            </a:r>
            <a:r>
              <a:rPr lang="en-US" sz="1200" i="1">
                <a:solidFill>
                  <a:schemeClr val="tx2">
                    <a:lumMod val="40000"/>
                    <a:lumOff val="60000"/>
                  </a:schemeClr>
                </a:solidFill>
              </a:rPr>
              <a:t>(EU HEOR)</a:t>
            </a:r>
          </a:p>
          <a:p>
            <a:r>
              <a:rPr lang="en-US" sz="1200">
                <a:solidFill>
                  <a:schemeClr val="tx1"/>
                </a:solidFill>
              </a:rPr>
              <a:t>Fei Li Zhao </a:t>
            </a:r>
            <a:r>
              <a:rPr lang="en-US" sz="1200" i="1">
                <a:solidFill>
                  <a:schemeClr val="tx2">
                    <a:lumMod val="40000"/>
                    <a:lumOff val="60000"/>
                  </a:schemeClr>
                </a:solidFill>
              </a:rPr>
              <a:t>(</a:t>
            </a:r>
            <a:r>
              <a:rPr lang="en-US" sz="1200" i="1" err="1">
                <a:solidFill>
                  <a:schemeClr val="tx2">
                    <a:lumMod val="40000"/>
                    <a:lumOff val="60000"/>
                  </a:schemeClr>
                </a:solidFill>
              </a:rPr>
              <a:t>GMax</a:t>
            </a:r>
            <a:r>
              <a:rPr lang="en-US" sz="1200" i="1">
                <a:solidFill>
                  <a:schemeClr val="tx2">
                    <a:lumMod val="40000"/>
                    <a:lumOff val="60000"/>
                  </a:schemeClr>
                </a:solidFill>
              </a:rPr>
              <a:t>)</a:t>
            </a:r>
          </a:p>
          <a:p>
            <a:r>
              <a:rPr lang="en-US" sz="1200">
                <a:solidFill>
                  <a:schemeClr val="tx1"/>
                </a:solidFill>
              </a:rPr>
              <a:t>Fernando Donate </a:t>
            </a:r>
            <a:r>
              <a:rPr lang="en-US" sz="1200" i="1">
                <a:solidFill>
                  <a:schemeClr val="tx2">
                    <a:lumMod val="40000"/>
                    <a:lumOff val="60000"/>
                  </a:schemeClr>
                </a:solidFill>
              </a:rPr>
              <a:t>(BMx)</a:t>
            </a:r>
          </a:p>
          <a:p>
            <a:r>
              <a:rPr lang="en-US" sz="1200">
                <a:solidFill>
                  <a:schemeClr val="tx1"/>
                </a:solidFill>
              </a:rPr>
              <a:t>Gisoo Barnes </a:t>
            </a:r>
            <a:r>
              <a:rPr lang="en-US" sz="1200" i="1">
                <a:solidFill>
                  <a:srgbClr val="98A8C7"/>
                </a:solidFill>
              </a:rPr>
              <a:t>(PRO)</a:t>
            </a:r>
          </a:p>
          <a:p>
            <a:r>
              <a:rPr lang="en-US" sz="1200">
                <a:solidFill>
                  <a:schemeClr val="tx1"/>
                </a:solidFill>
              </a:rPr>
              <a:t>Hirokazu Kaneko </a:t>
            </a:r>
            <a:r>
              <a:rPr lang="en-US" sz="1200" i="1">
                <a:solidFill>
                  <a:schemeClr val="tx2">
                    <a:lumMod val="40000"/>
                    <a:lumOff val="60000"/>
                  </a:schemeClr>
                </a:solidFill>
              </a:rPr>
              <a:t>(JAPAC MA)</a:t>
            </a:r>
            <a:endParaRPr lang="en-US" sz="1200">
              <a:solidFill>
                <a:schemeClr val="tx1"/>
              </a:solidFill>
            </a:endParaRPr>
          </a:p>
          <a:p>
            <a:r>
              <a:rPr lang="en-US" sz="1200" err="1">
                <a:solidFill>
                  <a:schemeClr val="tx1"/>
                </a:solidFill>
              </a:rPr>
              <a:t>Hongqu</a:t>
            </a:r>
            <a:r>
              <a:rPr lang="en-US" sz="1200">
                <a:solidFill>
                  <a:schemeClr val="tx1"/>
                </a:solidFill>
              </a:rPr>
              <a:t> Qian </a:t>
            </a:r>
            <a:r>
              <a:rPr lang="en-US" sz="1200" i="1">
                <a:solidFill>
                  <a:schemeClr val="tx2">
                    <a:lumMod val="40000"/>
                    <a:lumOff val="60000"/>
                  </a:schemeClr>
                </a:solidFill>
              </a:rPr>
              <a:t>(CNMA)</a:t>
            </a:r>
          </a:p>
          <a:p>
            <a:r>
              <a:rPr lang="en-US" sz="1200">
                <a:solidFill>
                  <a:schemeClr val="tx1"/>
                </a:solidFill>
              </a:rPr>
              <a:t>Huifang Tian </a:t>
            </a:r>
            <a:r>
              <a:rPr lang="en-US" sz="1200" i="1">
                <a:solidFill>
                  <a:schemeClr val="tx2">
                    <a:lumMod val="40000"/>
                    <a:lumOff val="60000"/>
                  </a:schemeClr>
                </a:solidFill>
              </a:rPr>
              <a:t>(CNMA)</a:t>
            </a:r>
          </a:p>
          <a:p>
            <a:r>
              <a:rPr lang="en-US" sz="1200">
                <a:solidFill>
                  <a:schemeClr val="tx1"/>
                </a:solidFill>
              </a:rPr>
              <a:t>Isabella Pezzani Grueter </a:t>
            </a:r>
            <a:r>
              <a:rPr lang="en-US" sz="1200" i="1">
                <a:solidFill>
                  <a:schemeClr val="tx2">
                    <a:lumMod val="40000"/>
                    <a:lumOff val="60000"/>
                  </a:schemeClr>
                </a:solidFill>
              </a:rPr>
              <a:t>(EUMA)</a:t>
            </a:r>
          </a:p>
          <a:p>
            <a:r>
              <a:rPr lang="en-US" sz="1200">
                <a:solidFill>
                  <a:schemeClr val="tx1"/>
                </a:solidFill>
              </a:rPr>
              <a:t>Jack Wang </a:t>
            </a:r>
            <a:r>
              <a:rPr lang="en-US" sz="1200" i="1">
                <a:solidFill>
                  <a:schemeClr val="tx2">
                    <a:lumMod val="40000"/>
                    <a:lumOff val="60000"/>
                  </a:schemeClr>
                </a:solidFill>
              </a:rPr>
              <a:t>(GPS&amp;V)</a:t>
            </a:r>
          </a:p>
          <a:p>
            <a:r>
              <a:rPr lang="en-US" sz="1200">
                <a:solidFill>
                  <a:schemeClr val="tx1"/>
                </a:solidFill>
              </a:rPr>
              <a:t>Jay Humphrey </a:t>
            </a:r>
            <a:r>
              <a:rPr lang="en-US" sz="1200" i="1">
                <a:solidFill>
                  <a:srgbClr val="98A8C7"/>
                </a:solidFill>
              </a:rPr>
              <a:t>(GCSO)</a:t>
            </a:r>
          </a:p>
          <a:p>
            <a:r>
              <a:rPr lang="en-US" sz="1200">
                <a:solidFill>
                  <a:schemeClr val="tx1"/>
                </a:solidFill>
              </a:rPr>
              <a:t>Jim Siano </a:t>
            </a:r>
            <a:r>
              <a:rPr lang="en-US" sz="1200" i="1">
                <a:solidFill>
                  <a:schemeClr val="tx2">
                    <a:lumMod val="40000"/>
                    <a:lumOff val="60000"/>
                  </a:schemeClr>
                </a:solidFill>
              </a:rPr>
              <a:t>(USMA)</a:t>
            </a:r>
          </a:p>
          <a:p>
            <a:r>
              <a:rPr lang="en-US" sz="1200">
                <a:solidFill>
                  <a:schemeClr val="tx1"/>
                </a:solidFill>
              </a:rPr>
              <a:t>Jinghui Fan </a:t>
            </a:r>
            <a:r>
              <a:rPr lang="en-US" sz="1200" i="1">
                <a:solidFill>
                  <a:srgbClr val="98A8C7"/>
                </a:solidFill>
              </a:rPr>
              <a:t>(CNMA)</a:t>
            </a:r>
          </a:p>
          <a:p>
            <a:r>
              <a:rPr lang="en-US" sz="1200">
                <a:solidFill>
                  <a:schemeClr val="tx1"/>
                </a:solidFill>
              </a:rPr>
              <a:t>Jingi Gloria Huang </a:t>
            </a:r>
            <a:r>
              <a:rPr lang="en-US" sz="1200" i="1">
                <a:solidFill>
                  <a:schemeClr val="tx2">
                    <a:lumMod val="40000"/>
                    <a:lumOff val="60000"/>
                  </a:schemeClr>
                </a:solidFill>
              </a:rPr>
              <a:t>(</a:t>
            </a:r>
            <a:r>
              <a:rPr lang="en-US" sz="1200" i="1" err="1">
                <a:solidFill>
                  <a:schemeClr val="tx2">
                    <a:lumMod val="40000"/>
                    <a:lumOff val="60000"/>
                  </a:schemeClr>
                </a:solidFill>
              </a:rPr>
              <a:t>CBDi</a:t>
            </a:r>
            <a:r>
              <a:rPr lang="en-US" sz="1200" i="1">
                <a:solidFill>
                  <a:schemeClr val="tx2">
                    <a:lumMod val="40000"/>
                    <a:lumOff val="60000"/>
                  </a:schemeClr>
                </a:solidFill>
              </a:rPr>
              <a:t>) </a:t>
            </a:r>
          </a:p>
          <a:p>
            <a:r>
              <a:rPr lang="en-US" sz="1200">
                <a:solidFill>
                  <a:schemeClr val="tx1"/>
                </a:solidFill>
              </a:rPr>
              <a:t>Joerg Schoenheit </a:t>
            </a:r>
            <a:r>
              <a:rPr lang="en-US" sz="1200" i="1">
                <a:solidFill>
                  <a:schemeClr val="tx2">
                    <a:lumMod val="40000"/>
                    <a:lumOff val="60000"/>
                  </a:schemeClr>
                </a:solidFill>
              </a:rPr>
              <a:t>(EUMA) </a:t>
            </a:r>
          </a:p>
          <a:p>
            <a:r>
              <a:rPr lang="en-US" sz="1200">
                <a:solidFill>
                  <a:schemeClr val="tx1"/>
                </a:solidFill>
              </a:rPr>
              <a:t>Jianhui Ma </a:t>
            </a:r>
            <a:r>
              <a:rPr lang="en-US" sz="1200" i="1">
                <a:solidFill>
                  <a:srgbClr val="98A8C7"/>
                </a:solidFill>
              </a:rPr>
              <a:t>(BMx)</a:t>
            </a:r>
          </a:p>
          <a:p>
            <a:r>
              <a:rPr lang="en-US" sz="1200">
                <a:solidFill>
                  <a:schemeClr val="tx1"/>
                </a:solidFill>
              </a:rPr>
              <a:t>Julian Kretz </a:t>
            </a:r>
            <a:r>
              <a:rPr lang="en-US" sz="1200" i="1">
                <a:solidFill>
                  <a:srgbClr val="98A8C7"/>
                </a:solidFill>
              </a:rPr>
              <a:t>(EUMA)</a:t>
            </a:r>
          </a:p>
          <a:p>
            <a:r>
              <a:rPr lang="en-US" sz="1200">
                <a:solidFill>
                  <a:schemeClr val="tx1"/>
                </a:solidFill>
              </a:rPr>
              <a:t>Julie Smith </a:t>
            </a:r>
            <a:r>
              <a:rPr lang="en-US" sz="1200" i="1">
                <a:solidFill>
                  <a:srgbClr val="98A8C7"/>
                </a:solidFill>
              </a:rPr>
              <a:t>(EUMA)</a:t>
            </a:r>
          </a:p>
          <a:p>
            <a:r>
              <a:rPr lang="en-US" sz="1200">
                <a:solidFill>
                  <a:schemeClr val="tx1"/>
                </a:solidFill>
              </a:rPr>
              <a:t>Junice Ng </a:t>
            </a:r>
            <a:r>
              <a:rPr lang="en-US" sz="1200" i="1">
                <a:solidFill>
                  <a:srgbClr val="98A8C7"/>
                </a:solidFill>
              </a:rPr>
              <a:t>(JAPAC HEOR)</a:t>
            </a:r>
          </a:p>
          <a:p>
            <a:r>
              <a:rPr lang="en-US" sz="1200">
                <a:solidFill>
                  <a:schemeClr val="tx1"/>
                </a:solidFill>
              </a:rPr>
              <a:t>Kanu Sharan </a:t>
            </a:r>
            <a:r>
              <a:rPr lang="en-US" sz="1200" i="1">
                <a:solidFill>
                  <a:srgbClr val="98A8C7"/>
                </a:solidFill>
              </a:rPr>
              <a:t>(ClinDev)</a:t>
            </a:r>
          </a:p>
          <a:p>
            <a:r>
              <a:rPr lang="en-US" sz="1200">
                <a:solidFill>
                  <a:schemeClr val="tx1"/>
                </a:solidFill>
              </a:rPr>
              <a:t>Kazuki Kiyose </a:t>
            </a:r>
            <a:r>
              <a:rPr lang="en-US" sz="1200" i="1">
                <a:solidFill>
                  <a:srgbClr val="98A8C7"/>
                </a:solidFill>
              </a:rPr>
              <a:t>(JAPAC MA)</a:t>
            </a:r>
          </a:p>
          <a:p>
            <a:r>
              <a:rPr lang="en-US" sz="1200" err="1">
                <a:solidFill>
                  <a:schemeClr val="tx1"/>
                </a:solidFill>
              </a:rPr>
              <a:t>Kimin</a:t>
            </a:r>
            <a:r>
              <a:rPr lang="en-US" sz="1200">
                <a:solidFill>
                  <a:schemeClr val="tx1"/>
                </a:solidFill>
              </a:rPr>
              <a:t> Nam </a:t>
            </a:r>
            <a:r>
              <a:rPr lang="en-US" sz="1200" i="1">
                <a:solidFill>
                  <a:srgbClr val="98A8C7"/>
                </a:solidFill>
              </a:rPr>
              <a:t>(JAPAC MA)</a:t>
            </a:r>
          </a:p>
          <a:p>
            <a:r>
              <a:rPr lang="en-US" sz="1200">
                <a:solidFill>
                  <a:schemeClr val="tx1"/>
                </a:solidFill>
              </a:rPr>
              <a:t>Koji Kumaki </a:t>
            </a:r>
            <a:r>
              <a:rPr lang="en-US" sz="1200" i="1">
                <a:solidFill>
                  <a:srgbClr val="98A8C7"/>
                </a:solidFill>
              </a:rPr>
              <a:t>(JAPAC MA)</a:t>
            </a:r>
          </a:p>
          <a:p>
            <a:r>
              <a:rPr lang="en-US" sz="1200">
                <a:solidFill>
                  <a:schemeClr val="tx1"/>
                </a:solidFill>
              </a:rPr>
              <a:t>Krysten Klein Brand </a:t>
            </a:r>
            <a:r>
              <a:rPr lang="en-US" sz="1200" i="1">
                <a:solidFill>
                  <a:schemeClr val="tx2">
                    <a:lumMod val="40000"/>
                    <a:lumOff val="60000"/>
                  </a:schemeClr>
                </a:solidFill>
              </a:rPr>
              <a:t>(EPEPS)</a:t>
            </a:r>
          </a:p>
          <a:p>
            <a:r>
              <a:rPr lang="en-US" sz="1200">
                <a:solidFill>
                  <a:schemeClr val="tx1"/>
                </a:solidFill>
              </a:rPr>
              <a:t>Laura Cobreros </a:t>
            </a:r>
            <a:r>
              <a:rPr lang="en-US" sz="1200" i="1">
                <a:solidFill>
                  <a:srgbClr val="98A8C7"/>
                </a:solidFill>
              </a:rPr>
              <a:t>(EUMA)</a:t>
            </a:r>
          </a:p>
          <a:p>
            <a:r>
              <a:rPr lang="en-US" sz="1200">
                <a:solidFill>
                  <a:schemeClr val="tx1"/>
                </a:solidFill>
              </a:rPr>
              <a:t>Louisa Vardanyan </a:t>
            </a:r>
            <a:r>
              <a:rPr lang="en-US" sz="1200" i="1">
                <a:solidFill>
                  <a:srgbClr val="98A8C7"/>
                </a:solidFill>
              </a:rPr>
              <a:t>(</a:t>
            </a:r>
            <a:r>
              <a:rPr lang="en-US" sz="1200" i="1" err="1">
                <a:solidFill>
                  <a:srgbClr val="98A8C7"/>
                </a:solidFill>
              </a:rPr>
              <a:t>USMAx</a:t>
            </a:r>
            <a:r>
              <a:rPr lang="en-US" sz="1200" i="1">
                <a:solidFill>
                  <a:srgbClr val="98A8C7"/>
                </a:solidFill>
              </a:rPr>
              <a:t>)</a:t>
            </a:r>
          </a:p>
          <a:p>
            <a:r>
              <a:rPr lang="en-US" sz="1200">
                <a:solidFill>
                  <a:schemeClr val="tx1"/>
                </a:solidFill>
              </a:rPr>
              <a:t>Martin Mendiola </a:t>
            </a:r>
            <a:r>
              <a:rPr lang="en-US" sz="1200" i="1">
                <a:solidFill>
                  <a:srgbClr val="98A8C7"/>
                </a:solidFill>
              </a:rPr>
              <a:t>(USMA)</a:t>
            </a:r>
          </a:p>
          <a:p>
            <a:r>
              <a:rPr lang="en-US" sz="1200">
                <a:solidFill>
                  <a:schemeClr val="tx1"/>
                </a:solidFill>
              </a:rPr>
              <a:t>Matthieu Boiteau </a:t>
            </a:r>
            <a:r>
              <a:rPr lang="en-US" sz="1200" i="1">
                <a:solidFill>
                  <a:srgbClr val="98A8C7"/>
                </a:solidFill>
              </a:rPr>
              <a:t>(US Field)</a:t>
            </a:r>
          </a:p>
          <a:p>
            <a:r>
              <a:rPr lang="en-US" sz="1200">
                <a:solidFill>
                  <a:schemeClr val="tx1"/>
                </a:solidFill>
              </a:rPr>
              <a:t>Megan Bohensky </a:t>
            </a:r>
            <a:r>
              <a:rPr lang="en-US" sz="1200" i="1">
                <a:solidFill>
                  <a:srgbClr val="98A8C7"/>
                </a:solidFill>
              </a:rPr>
              <a:t>(JAPAC </a:t>
            </a:r>
            <a:r>
              <a:rPr lang="en-US" sz="1200" i="1" err="1">
                <a:solidFill>
                  <a:srgbClr val="98A8C7"/>
                </a:solidFill>
              </a:rPr>
              <a:t>MAx</a:t>
            </a:r>
            <a:r>
              <a:rPr lang="en-US" sz="1200" i="1">
                <a:solidFill>
                  <a:srgbClr val="98A8C7"/>
                </a:solidFill>
              </a:rPr>
              <a:t>)</a:t>
            </a:r>
          </a:p>
          <a:p>
            <a:r>
              <a:rPr lang="en-US" sz="1200">
                <a:solidFill>
                  <a:schemeClr val="tx1"/>
                </a:solidFill>
              </a:rPr>
              <a:t>Mike </a:t>
            </a:r>
            <a:r>
              <a:rPr lang="en-US" sz="1200" err="1">
                <a:solidFill>
                  <a:schemeClr val="tx1"/>
                </a:solidFill>
              </a:rPr>
              <a:t>Sheta</a:t>
            </a:r>
            <a:r>
              <a:rPr lang="en-US" sz="1200">
                <a:solidFill>
                  <a:schemeClr val="tx1"/>
                </a:solidFill>
              </a:rPr>
              <a:t> </a:t>
            </a:r>
            <a:r>
              <a:rPr lang="en-US" sz="1200" i="1">
                <a:solidFill>
                  <a:schemeClr val="tx2">
                    <a:lumMod val="40000"/>
                    <a:lumOff val="60000"/>
                  </a:schemeClr>
                </a:solidFill>
              </a:rPr>
              <a:t>(US Field)</a:t>
            </a:r>
            <a:endParaRPr lang="en-US" sz="1200">
              <a:solidFill>
                <a:schemeClr val="tx1"/>
              </a:solidFill>
            </a:endParaRPr>
          </a:p>
          <a:p>
            <a:r>
              <a:rPr lang="en-US" sz="1200">
                <a:solidFill>
                  <a:schemeClr val="tx1"/>
                </a:solidFill>
              </a:rPr>
              <a:t>Patrick Zintl </a:t>
            </a:r>
            <a:r>
              <a:rPr lang="en-US" sz="1200" i="1">
                <a:solidFill>
                  <a:srgbClr val="98A8C7"/>
                </a:solidFill>
              </a:rPr>
              <a:t>(EUMA)</a:t>
            </a:r>
          </a:p>
          <a:p>
            <a:r>
              <a:rPr lang="en-US" sz="1200">
                <a:solidFill>
                  <a:schemeClr val="tx1"/>
                </a:solidFill>
              </a:rPr>
              <a:t>Prathima Patel </a:t>
            </a:r>
            <a:r>
              <a:rPr lang="en-US" sz="1200" i="1">
                <a:solidFill>
                  <a:schemeClr val="tx2">
                    <a:lumMod val="40000"/>
                    <a:lumOff val="60000"/>
                  </a:schemeClr>
                </a:solidFill>
              </a:rPr>
              <a:t>(Pubs)</a:t>
            </a:r>
          </a:p>
          <a:p>
            <a:r>
              <a:rPr lang="en-US" sz="1200">
                <a:solidFill>
                  <a:schemeClr val="tx1"/>
                </a:solidFill>
              </a:rPr>
              <a:t>Roger Tschopp </a:t>
            </a:r>
            <a:r>
              <a:rPr lang="en-US" sz="1200" i="1">
                <a:solidFill>
                  <a:srgbClr val="98A8C7"/>
                </a:solidFill>
              </a:rPr>
              <a:t>(New Markets MA)</a:t>
            </a:r>
          </a:p>
          <a:p>
            <a:r>
              <a:rPr lang="en-US" sz="1200">
                <a:solidFill>
                  <a:schemeClr val="tx1"/>
                </a:solidFill>
              </a:rPr>
              <a:t>Ryusuke Mizuhara </a:t>
            </a:r>
            <a:r>
              <a:rPr lang="en-US" sz="1200" i="1">
                <a:solidFill>
                  <a:srgbClr val="98A8C7"/>
                </a:solidFill>
              </a:rPr>
              <a:t>(JP Marketing)</a:t>
            </a:r>
          </a:p>
          <a:p>
            <a:r>
              <a:rPr lang="en-US" sz="1200">
                <a:solidFill>
                  <a:schemeClr val="tx1"/>
                </a:solidFill>
              </a:rPr>
              <a:t>Ryosuke </a:t>
            </a:r>
            <a:r>
              <a:rPr lang="en-US" sz="1200" err="1">
                <a:solidFill>
                  <a:schemeClr val="tx1"/>
                </a:solidFill>
              </a:rPr>
              <a:t>Watanbe</a:t>
            </a:r>
            <a:r>
              <a:rPr lang="en-US" sz="1200">
                <a:solidFill>
                  <a:schemeClr val="tx1"/>
                </a:solidFill>
              </a:rPr>
              <a:t> </a:t>
            </a:r>
            <a:r>
              <a:rPr lang="en-US" sz="1200" i="1">
                <a:solidFill>
                  <a:schemeClr val="tx2">
                    <a:lumMod val="40000"/>
                    <a:lumOff val="60000"/>
                  </a:schemeClr>
                </a:solidFill>
              </a:rPr>
              <a:t>(JAPAC MA)</a:t>
            </a:r>
            <a:endParaRPr lang="en-US" sz="1200" i="1">
              <a:solidFill>
                <a:srgbClr val="98A8C7"/>
              </a:solidFill>
            </a:endParaRPr>
          </a:p>
          <a:p>
            <a:r>
              <a:rPr lang="en-US" sz="1200" err="1">
                <a:solidFill>
                  <a:schemeClr val="tx1"/>
                </a:solidFill>
              </a:rPr>
              <a:t>Sanghee</a:t>
            </a:r>
            <a:r>
              <a:rPr lang="en-US" sz="1200">
                <a:solidFill>
                  <a:schemeClr val="tx1"/>
                </a:solidFill>
              </a:rPr>
              <a:t> Kim </a:t>
            </a:r>
            <a:r>
              <a:rPr lang="en-US" sz="1200" i="1">
                <a:solidFill>
                  <a:srgbClr val="98A8C7"/>
                </a:solidFill>
              </a:rPr>
              <a:t>(JAPAC MA)</a:t>
            </a:r>
          </a:p>
          <a:p>
            <a:r>
              <a:rPr lang="en-US" sz="1200">
                <a:solidFill>
                  <a:schemeClr val="tx1"/>
                </a:solidFill>
              </a:rPr>
              <a:t>Sergio Aguilar </a:t>
            </a:r>
            <a:r>
              <a:rPr lang="en-US" sz="1200" i="1">
                <a:solidFill>
                  <a:srgbClr val="98A8C7"/>
                </a:solidFill>
              </a:rPr>
              <a:t>(GCSO)</a:t>
            </a:r>
          </a:p>
          <a:p>
            <a:r>
              <a:rPr lang="en-US" sz="1200">
                <a:solidFill>
                  <a:schemeClr val="tx1"/>
                </a:solidFill>
              </a:rPr>
              <a:t>Shirley Wong </a:t>
            </a:r>
            <a:r>
              <a:rPr lang="en-US" sz="1200" i="1">
                <a:solidFill>
                  <a:schemeClr val="tx2">
                    <a:lumMod val="40000"/>
                    <a:lumOff val="60000"/>
                  </a:schemeClr>
                </a:solidFill>
              </a:rPr>
              <a:t>(GMA)</a:t>
            </a:r>
          </a:p>
          <a:p>
            <a:r>
              <a:rPr lang="en-US" sz="1200">
                <a:solidFill>
                  <a:schemeClr val="tx1"/>
                </a:solidFill>
              </a:rPr>
              <a:t>Silu Yang </a:t>
            </a:r>
            <a:r>
              <a:rPr lang="en-US" sz="1200" i="1">
                <a:solidFill>
                  <a:srgbClr val="98A8C7"/>
                </a:solidFill>
              </a:rPr>
              <a:t>(CDx)</a:t>
            </a:r>
          </a:p>
          <a:p>
            <a:r>
              <a:rPr lang="en-US" sz="1200">
                <a:solidFill>
                  <a:schemeClr val="tx1"/>
                </a:solidFill>
              </a:rPr>
              <a:t>Silvia Salatino​ </a:t>
            </a:r>
            <a:r>
              <a:rPr lang="en-US" sz="1200" i="1">
                <a:solidFill>
                  <a:schemeClr val="tx2">
                    <a:lumMod val="40000"/>
                    <a:lumOff val="60000"/>
                  </a:schemeClr>
                </a:solidFill>
              </a:rPr>
              <a:t>(EU Med Affairs)</a:t>
            </a:r>
          </a:p>
          <a:p>
            <a:r>
              <a:rPr lang="en-US" sz="1200">
                <a:solidFill>
                  <a:schemeClr val="tx1"/>
                </a:solidFill>
              </a:rPr>
              <a:t>Silvy Mardiguian</a:t>
            </a:r>
            <a:r>
              <a:rPr lang="en-US" sz="1200">
                <a:solidFill>
                  <a:srgbClr val="FF0000"/>
                </a:solidFill>
              </a:rPr>
              <a:t>​ </a:t>
            </a:r>
            <a:r>
              <a:rPr lang="en-US" sz="1200" i="1">
                <a:solidFill>
                  <a:srgbClr val="98A8C7"/>
                </a:solidFill>
              </a:rPr>
              <a:t>(EU and NM HEOR)</a:t>
            </a:r>
          </a:p>
          <a:p>
            <a:r>
              <a:rPr lang="en-US" sz="1200">
                <a:solidFill>
                  <a:schemeClr val="tx1"/>
                </a:solidFill>
              </a:rPr>
              <a:t>Simone Formisano </a:t>
            </a:r>
            <a:r>
              <a:rPr lang="en-US" sz="1200" i="1">
                <a:solidFill>
                  <a:schemeClr val="tx2">
                    <a:lumMod val="40000"/>
                    <a:lumOff val="60000"/>
                  </a:schemeClr>
                </a:solidFill>
              </a:rPr>
              <a:t>(SRE MA)</a:t>
            </a:r>
          </a:p>
          <a:p>
            <a:r>
              <a:rPr lang="en-US" sz="1200">
                <a:solidFill>
                  <a:schemeClr val="tx1"/>
                </a:solidFill>
              </a:rPr>
              <a:t>Stephen Ruenroeng </a:t>
            </a:r>
            <a:r>
              <a:rPr lang="en-US" sz="1200" i="1">
                <a:solidFill>
                  <a:schemeClr val="tx2">
                    <a:lumMod val="40000"/>
                    <a:lumOff val="60000"/>
                  </a:schemeClr>
                </a:solidFill>
              </a:rPr>
              <a:t>(US Marketing) </a:t>
            </a:r>
          </a:p>
          <a:p>
            <a:r>
              <a:rPr lang="en-US" sz="1200">
                <a:solidFill>
                  <a:schemeClr val="tx1"/>
                </a:solidFill>
              </a:rPr>
              <a:t>Susumu </a:t>
            </a:r>
            <a:r>
              <a:rPr lang="en-US" sz="1200" err="1">
                <a:solidFill>
                  <a:schemeClr val="tx1"/>
                </a:solidFill>
              </a:rPr>
              <a:t>Adsusachi</a:t>
            </a:r>
            <a:r>
              <a:rPr lang="en-US" sz="1200">
                <a:solidFill>
                  <a:schemeClr val="tx1"/>
                </a:solidFill>
              </a:rPr>
              <a:t> </a:t>
            </a:r>
            <a:r>
              <a:rPr lang="en-US" sz="1200" i="1">
                <a:solidFill>
                  <a:schemeClr val="tx2">
                    <a:lumMod val="40000"/>
                    <a:lumOff val="60000"/>
                  </a:schemeClr>
                </a:solidFill>
              </a:rPr>
              <a:t>(Japan Marketing)</a:t>
            </a:r>
          </a:p>
          <a:p>
            <a:r>
              <a:rPr lang="en-US" sz="1200">
                <a:solidFill>
                  <a:schemeClr val="tx1"/>
                </a:solidFill>
              </a:rPr>
              <a:t>Tai Qin </a:t>
            </a:r>
            <a:r>
              <a:rPr lang="en-US" sz="1200" i="1">
                <a:solidFill>
                  <a:srgbClr val="98A8C7"/>
                </a:solidFill>
              </a:rPr>
              <a:t>(ClinDev)</a:t>
            </a:r>
          </a:p>
          <a:p>
            <a:r>
              <a:rPr lang="en-US" sz="1200">
                <a:solidFill>
                  <a:schemeClr val="tx1"/>
                </a:solidFill>
              </a:rPr>
              <a:t>Tiffany Montellano </a:t>
            </a:r>
            <a:r>
              <a:rPr lang="en-US" sz="1200" i="1">
                <a:solidFill>
                  <a:schemeClr val="tx2">
                    <a:lumMod val="40000"/>
                    <a:lumOff val="60000"/>
                  </a:schemeClr>
                </a:solidFill>
              </a:rPr>
              <a:t>(USMA)</a:t>
            </a:r>
          </a:p>
          <a:p>
            <a:r>
              <a:rPr lang="en-US" sz="1200">
                <a:solidFill>
                  <a:schemeClr val="tx1"/>
                </a:solidFill>
              </a:rPr>
              <a:t>Timothy Victor </a:t>
            </a:r>
            <a:r>
              <a:rPr lang="en-US" sz="1200" i="1">
                <a:solidFill>
                  <a:srgbClr val="98A8C7"/>
                </a:solidFill>
              </a:rPr>
              <a:t>(GPRO)</a:t>
            </a:r>
          </a:p>
          <a:p>
            <a:r>
              <a:rPr lang="en-US" sz="1200">
                <a:solidFill>
                  <a:schemeClr val="tx1"/>
                </a:solidFill>
              </a:rPr>
              <a:t>Tricia Mullins </a:t>
            </a:r>
            <a:r>
              <a:rPr lang="en-US" sz="1200" i="1">
                <a:solidFill>
                  <a:schemeClr val="tx2">
                    <a:lumMod val="40000"/>
                    <a:lumOff val="60000"/>
                  </a:schemeClr>
                </a:solidFill>
              </a:rPr>
              <a:t>(EPEPS)</a:t>
            </a:r>
          </a:p>
          <a:p>
            <a:r>
              <a:rPr lang="en-US" sz="1200">
                <a:solidFill>
                  <a:schemeClr val="tx1"/>
                </a:solidFill>
              </a:rPr>
              <a:t>Wenjie Xu </a:t>
            </a:r>
            <a:r>
              <a:rPr lang="en-US" sz="1200" i="1">
                <a:solidFill>
                  <a:srgbClr val="98A8C7"/>
                </a:solidFill>
              </a:rPr>
              <a:t>(BMx)</a:t>
            </a:r>
          </a:p>
          <a:p>
            <a:r>
              <a:rPr lang="en-US" sz="1200">
                <a:solidFill>
                  <a:schemeClr val="tx1"/>
                </a:solidFill>
              </a:rPr>
              <a:t>Wenxi Tang </a:t>
            </a:r>
            <a:r>
              <a:rPr lang="en-US" sz="1200" i="1">
                <a:solidFill>
                  <a:srgbClr val="98A8C7"/>
                </a:solidFill>
              </a:rPr>
              <a:t>(GHEOR)</a:t>
            </a:r>
            <a:endParaRPr lang="en-US" sz="1200" i="1">
              <a:solidFill>
                <a:schemeClr val="tx2">
                  <a:lumMod val="40000"/>
                  <a:lumOff val="60000"/>
                </a:schemeClr>
              </a:solidFill>
            </a:endParaRPr>
          </a:p>
          <a:p>
            <a:r>
              <a:rPr lang="en-US" sz="1200">
                <a:solidFill>
                  <a:schemeClr val="tx1"/>
                </a:solidFill>
              </a:rPr>
              <a:t>Yasuhiro Koh </a:t>
            </a:r>
            <a:r>
              <a:rPr lang="en-US" sz="1200" i="1">
                <a:solidFill>
                  <a:schemeClr val="tx2">
                    <a:lumMod val="40000"/>
                    <a:lumOff val="60000"/>
                  </a:schemeClr>
                </a:solidFill>
              </a:rPr>
              <a:t>(JAPAC MA)</a:t>
            </a:r>
          </a:p>
          <a:p>
            <a:r>
              <a:rPr lang="en-US" sz="1200" err="1">
                <a:solidFill>
                  <a:schemeClr val="tx1"/>
                </a:solidFill>
              </a:rPr>
              <a:t>Xinwei</a:t>
            </a:r>
            <a:r>
              <a:rPr lang="en-US" sz="1200">
                <a:solidFill>
                  <a:schemeClr val="tx1"/>
                </a:solidFill>
              </a:rPr>
              <a:t> Wang </a:t>
            </a:r>
            <a:r>
              <a:rPr lang="en-US" sz="1200" i="1">
                <a:solidFill>
                  <a:schemeClr val="tx2">
                    <a:lumMod val="40000"/>
                    <a:lumOff val="60000"/>
                  </a:schemeClr>
                </a:solidFill>
              </a:rPr>
              <a:t>(Global ClinDev)</a:t>
            </a:r>
          </a:p>
          <a:p>
            <a:r>
              <a:rPr lang="en-US" sz="1200">
                <a:solidFill>
                  <a:schemeClr val="tx1"/>
                </a:solidFill>
              </a:rPr>
              <a:t>Yousr BenZina </a:t>
            </a:r>
            <a:r>
              <a:rPr lang="en-US" sz="1200" i="1">
                <a:solidFill>
                  <a:schemeClr val="tx2">
                    <a:lumMod val="40000"/>
                    <a:lumOff val="60000"/>
                  </a:schemeClr>
                </a:solidFill>
              </a:rPr>
              <a:t>(EUMA)</a:t>
            </a:r>
          </a:p>
        </p:txBody>
      </p:sp>
      <p:sp>
        <p:nvSpPr>
          <p:cNvPr id="3" name="Rectangle 2">
            <a:extLst>
              <a:ext uri="{FF2B5EF4-FFF2-40B4-BE49-F238E27FC236}">
                <a16:creationId xmlns:a16="http://schemas.microsoft.com/office/drawing/2014/main" id="{069580C2-90A0-675B-6FBD-566F39831275}"/>
              </a:ext>
            </a:extLst>
          </p:cNvPr>
          <p:cNvSpPr/>
          <p:nvPr/>
        </p:nvSpPr>
        <p:spPr>
          <a:xfrm>
            <a:off x="358334" y="2083752"/>
            <a:ext cx="2090949" cy="348343"/>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r>
              <a:rPr lang="en-US" sz="1200" b="1" err="1">
                <a:solidFill>
                  <a:schemeClr val="bg1"/>
                </a:solidFill>
              </a:rPr>
              <a:t>BeOne</a:t>
            </a:r>
            <a:r>
              <a:rPr lang="en-US" sz="1200" b="1">
                <a:solidFill>
                  <a:schemeClr val="bg1"/>
                </a:solidFill>
              </a:rPr>
              <a:t> Extended Team</a:t>
            </a:r>
          </a:p>
        </p:txBody>
      </p:sp>
      <p:sp>
        <p:nvSpPr>
          <p:cNvPr id="30" name="Rectangle 29">
            <a:extLst>
              <a:ext uri="{FF2B5EF4-FFF2-40B4-BE49-F238E27FC236}">
                <a16:creationId xmlns:a16="http://schemas.microsoft.com/office/drawing/2014/main" id="{7ABEA275-A158-D3CB-2730-7314929648C6}"/>
              </a:ext>
            </a:extLst>
          </p:cNvPr>
          <p:cNvSpPr/>
          <p:nvPr/>
        </p:nvSpPr>
        <p:spPr>
          <a:xfrm>
            <a:off x="358333" y="5273135"/>
            <a:ext cx="11470125" cy="892694"/>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45720" rIns="45720" numCol="2" rtlCol="0" anchor="ctr">
            <a:normAutofit/>
          </a:bodyPr>
          <a:lstStyle/>
          <a:p>
            <a:pPr lvl="0">
              <a:defRPr/>
            </a:pPr>
            <a:endParaRPr lang="en-US" sz="1200">
              <a:solidFill>
                <a:srgbClr val="000000"/>
              </a:solidFill>
            </a:endParaRPr>
          </a:p>
          <a:p>
            <a:pPr lvl="0">
              <a:defRPr/>
            </a:pPr>
            <a:endParaRPr lang="en-US" sz="1200">
              <a:solidFill>
                <a:srgbClr val="000000"/>
              </a:solidFill>
            </a:endParaRPr>
          </a:p>
          <a:p>
            <a:pPr lvl="0">
              <a:defRPr/>
            </a:pPr>
            <a:r>
              <a:rPr lang="en-US" sz="1200">
                <a:solidFill>
                  <a:srgbClr val="000000"/>
                </a:solidFill>
              </a:rPr>
              <a:t>Sanam Sikander-Rehman </a:t>
            </a:r>
            <a:r>
              <a:rPr lang="en-US" sz="1200" i="1">
                <a:solidFill>
                  <a:srgbClr val="283349">
                    <a:lumMod val="40000"/>
                    <a:lumOff val="60000"/>
                  </a:srgbClr>
                </a:solidFill>
              </a:rPr>
              <a:t>(Associate Partner, Prescient)</a:t>
            </a:r>
          </a:p>
          <a:p>
            <a:pPr>
              <a:defRPr/>
            </a:pPr>
            <a:r>
              <a:rPr lang="en-US" sz="1200">
                <a:solidFill>
                  <a:srgbClr val="000000"/>
                </a:solidFill>
              </a:rPr>
              <a:t>Ilias Paniaras </a:t>
            </a:r>
            <a:r>
              <a:rPr lang="en-US" sz="1200" i="1">
                <a:solidFill>
                  <a:srgbClr val="283349">
                    <a:lumMod val="40000"/>
                    <a:lumOff val="60000"/>
                  </a:srgbClr>
                </a:solidFill>
              </a:rPr>
              <a:t>(Senior Principal, Prescient)</a:t>
            </a:r>
          </a:p>
          <a:p>
            <a:pPr>
              <a:defRPr/>
            </a:pPr>
            <a:r>
              <a:rPr lang="en-US" sz="1200">
                <a:solidFill>
                  <a:srgbClr val="000000"/>
                </a:solidFill>
              </a:rPr>
              <a:t>Tyler DiStefano </a:t>
            </a:r>
            <a:r>
              <a:rPr lang="en-US" sz="1200" i="1">
                <a:solidFill>
                  <a:srgbClr val="283349">
                    <a:lumMod val="40000"/>
                    <a:lumOff val="60000"/>
                  </a:srgbClr>
                </a:solidFill>
              </a:rPr>
              <a:t>(Principal, Prescient)</a:t>
            </a:r>
          </a:p>
          <a:p>
            <a:pPr>
              <a:defRPr/>
            </a:pPr>
            <a:r>
              <a:rPr lang="en-US" sz="1200">
                <a:solidFill>
                  <a:srgbClr val="000000"/>
                </a:solidFill>
              </a:rPr>
              <a:t>Iswarya Srinivasan </a:t>
            </a:r>
            <a:r>
              <a:rPr lang="en-US" sz="1200" i="1">
                <a:solidFill>
                  <a:srgbClr val="283349">
                    <a:lumMod val="40000"/>
                    <a:lumOff val="60000"/>
                  </a:srgbClr>
                </a:solidFill>
              </a:rPr>
              <a:t>(Senior Consultant, Prescient)</a:t>
            </a:r>
          </a:p>
          <a:p>
            <a:pPr>
              <a:defRPr/>
            </a:pPr>
            <a:r>
              <a:rPr lang="en-US" sz="1200">
                <a:solidFill>
                  <a:srgbClr val="000000"/>
                </a:solidFill>
              </a:rPr>
              <a:t>Jennifer Hall </a:t>
            </a:r>
            <a:r>
              <a:rPr lang="en-US" sz="1200" i="1">
                <a:solidFill>
                  <a:srgbClr val="283349">
                    <a:lumMod val="40000"/>
                    <a:lumOff val="60000"/>
                  </a:srgbClr>
                </a:solidFill>
              </a:rPr>
              <a:t>(Consultant, Prescient)</a:t>
            </a:r>
          </a:p>
          <a:p>
            <a:pPr>
              <a:defRPr/>
            </a:pPr>
            <a:r>
              <a:rPr lang="en-US" sz="1200">
                <a:solidFill>
                  <a:schemeClr val="tx1"/>
                </a:solidFill>
              </a:rPr>
              <a:t>Hanna Wurdack </a:t>
            </a:r>
            <a:r>
              <a:rPr lang="en-US" sz="1200" i="1">
                <a:solidFill>
                  <a:srgbClr val="283349">
                    <a:lumMod val="40000"/>
                    <a:lumOff val="60000"/>
                  </a:srgbClr>
                </a:solidFill>
              </a:rPr>
              <a:t>(Associate Consultant, Prescient)</a:t>
            </a:r>
          </a:p>
        </p:txBody>
      </p:sp>
      <p:sp>
        <p:nvSpPr>
          <p:cNvPr id="4" name="Rectangle 3">
            <a:extLst>
              <a:ext uri="{FF2B5EF4-FFF2-40B4-BE49-F238E27FC236}">
                <a16:creationId xmlns:a16="http://schemas.microsoft.com/office/drawing/2014/main" id="{4D5AB760-FF42-86CB-AFEE-84FD09591623}"/>
              </a:ext>
            </a:extLst>
          </p:cNvPr>
          <p:cNvSpPr/>
          <p:nvPr/>
        </p:nvSpPr>
        <p:spPr>
          <a:xfrm>
            <a:off x="358333" y="5273135"/>
            <a:ext cx="2090949" cy="348343"/>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r>
              <a:rPr lang="en-US" sz="1200" b="1">
                <a:solidFill>
                  <a:schemeClr val="bg1"/>
                </a:solidFill>
              </a:rPr>
              <a:t>Strategic Partners</a:t>
            </a:r>
          </a:p>
        </p:txBody>
      </p:sp>
      <p:sp>
        <p:nvSpPr>
          <p:cNvPr id="8" name="Footer Placeholder 2">
            <a:extLst>
              <a:ext uri="{FF2B5EF4-FFF2-40B4-BE49-F238E27FC236}">
                <a16:creationId xmlns:a16="http://schemas.microsoft.com/office/drawing/2014/main" id="{A453CAAE-5418-3065-BB3F-4B319C741A31}"/>
              </a:ext>
            </a:extLst>
          </p:cNvPr>
          <p:cNvSpPr>
            <a:spLocks noGrp="1"/>
          </p:cNvSpPr>
          <p:nvPr>
            <p:ph type="ftr" sz="quarter" idx="10"/>
          </p:nvPr>
        </p:nvSpPr>
        <p:spPr>
          <a:xfrm>
            <a:off x="358337" y="6307107"/>
            <a:ext cx="8447335" cy="427067"/>
          </a:xfrm>
        </p:spPr>
        <p:txBody>
          <a:bodyPr/>
          <a:lstStyle/>
          <a:p>
            <a:pPr lvl="0">
              <a:defRPr/>
            </a:pPr>
            <a:r>
              <a:rPr kumimoji="0" lang="en-US" sz="700" i="0" u="none" strike="noStrike" kern="1200" cap="none" spc="0" normalizeH="0" baseline="0" noProof="0">
                <a:ln>
                  <a:noFill/>
                </a:ln>
                <a:solidFill>
                  <a:srgbClr val="000000">
                    <a:lumMod val="65000"/>
                    <a:lumOff val="35000"/>
                  </a:srgbClr>
                </a:solidFill>
                <a:effectLst/>
                <a:uLnTx/>
                <a:uFillTx/>
                <a:latin typeface="Poppins"/>
                <a:ea typeface="+mn-ea"/>
                <a:cs typeface="+mn-cs"/>
              </a:rPr>
              <a:t>Abbreviations: </a:t>
            </a:r>
            <a:r>
              <a:rPr lang="en-US"/>
              <a:t>BMx: Biomarkers; </a:t>
            </a:r>
            <a:r>
              <a:rPr lang="en-US" err="1"/>
              <a:t>CBDi</a:t>
            </a:r>
            <a:r>
              <a:rPr lang="en-US"/>
              <a:t>: Clinical Business Development Insights; CDx: Companion Diagnostics; EPEPs: Early Patient Engagement and Professional Societies; GCSO: Global Clinical Study Operations; HEOR: Health Economics and Outcomes Research; IEGHE: Integrative Evidence Generation and Health Economics; MA: Medical Affairs; </a:t>
            </a:r>
            <a:r>
              <a:rPr lang="en-US" err="1"/>
              <a:t>MAx</a:t>
            </a:r>
            <a:r>
              <a:rPr lang="en-US"/>
              <a:t>: Market Access; PMO: Project Management Office; PRO: Patient-Reported Outcomes</a:t>
            </a:r>
            <a:endParaRPr kumimoji="0" lang="en-US" sz="700" i="0" u="none" strike="noStrike" kern="1200" cap="none" spc="0" normalizeH="0" baseline="0" noProof="0">
              <a:ln>
                <a:noFill/>
              </a:ln>
              <a:solidFill>
                <a:srgbClr val="000000">
                  <a:lumMod val="65000"/>
                  <a:lumOff val="35000"/>
                </a:srgbClr>
              </a:solidFill>
              <a:effectLst/>
              <a:uLnTx/>
              <a:uFillTx/>
              <a:latin typeface="Poppins"/>
              <a:ea typeface="+mn-ea"/>
              <a:cs typeface="+mn-cs"/>
            </a:endParaRPr>
          </a:p>
          <a:p>
            <a:pPr lvl="0">
              <a:defRPr/>
            </a:pPr>
            <a:r>
              <a:rPr lang="en-US">
                <a:solidFill>
                  <a:srgbClr val="000000">
                    <a:lumMod val="65000"/>
                    <a:lumOff val="35000"/>
                  </a:srgbClr>
                </a:solidFill>
              </a:rPr>
              <a:t>Source: BGB-58067 IEGP Workshop ASCO 2026, Prescient Analysis</a:t>
            </a:r>
            <a:endParaRPr lang="en-US"/>
          </a:p>
        </p:txBody>
      </p:sp>
      <p:sp>
        <p:nvSpPr>
          <p:cNvPr id="10" name="Rectangle 9">
            <a:extLst>
              <a:ext uri="{FF2B5EF4-FFF2-40B4-BE49-F238E27FC236}">
                <a16:creationId xmlns:a16="http://schemas.microsoft.com/office/drawing/2014/main" id="{5666CD85-21CC-09DE-69BA-4A02D982ADE4}"/>
              </a:ext>
            </a:extLst>
          </p:cNvPr>
          <p:cNvSpPr/>
          <p:nvPr/>
        </p:nvSpPr>
        <p:spPr>
          <a:xfrm>
            <a:off x="6347968" y="1220268"/>
            <a:ext cx="5480490" cy="720000"/>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45720" rIns="45720" numCol="2" rtlCol="0" anchor="ctr">
            <a:normAutofit fontScale="92500" lnSpcReduction="20000"/>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lang="en-US" sz="1300">
                <a:solidFill>
                  <a:schemeClr val="tx1"/>
                </a:solidFill>
              </a:rPr>
              <a:t>Nadeem Ghali </a:t>
            </a:r>
            <a:r>
              <a:rPr lang="en-US" sz="1300" i="1">
                <a:solidFill>
                  <a:srgbClr val="283349">
                    <a:lumMod val="40000"/>
                    <a:lumOff val="60000"/>
                  </a:srgbClr>
                </a:solidFill>
              </a:rPr>
              <a:t>(GMA)</a:t>
            </a:r>
          </a:p>
          <a:p>
            <a:pPr marL="0" marR="0" lvl="0" indent="0" algn="l" defTabSz="457200" rtl="0" eaLnBrk="1" fontAlgn="auto" latinLnBrk="0" hangingPunct="1">
              <a:lnSpc>
                <a:spcPct val="120000"/>
              </a:lnSpc>
              <a:spcBef>
                <a:spcPts val="0"/>
              </a:spcBef>
              <a:spcAft>
                <a:spcPts val="0"/>
              </a:spcAft>
              <a:buClrTx/>
              <a:buSzTx/>
              <a:buFontTx/>
              <a:buNone/>
              <a:tabLst/>
              <a:defRPr/>
            </a:pPr>
            <a:r>
              <a:rPr lang="en-US" sz="1300">
                <a:solidFill>
                  <a:schemeClr val="tx1"/>
                </a:solidFill>
              </a:rPr>
              <a:t>Rhys Williams </a:t>
            </a:r>
            <a:r>
              <a:rPr lang="en-US" sz="1300" i="1">
                <a:solidFill>
                  <a:srgbClr val="283349">
                    <a:lumMod val="40000"/>
                    <a:lumOff val="60000"/>
                  </a:srgbClr>
                </a:solidFill>
              </a:rPr>
              <a:t>(IEGHE)</a:t>
            </a:r>
          </a:p>
          <a:p>
            <a:pPr marL="0" marR="0" lvl="0" indent="0" algn="l" defTabSz="457200" rtl="0" eaLnBrk="1" fontAlgn="auto" latinLnBrk="0" hangingPunct="1">
              <a:lnSpc>
                <a:spcPct val="120000"/>
              </a:lnSpc>
              <a:spcBef>
                <a:spcPts val="0"/>
              </a:spcBef>
              <a:spcAft>
                <a:spcPts val="0"/>
              </a:spcAft>
              <a:buClrTx/>
              <a:buSzTx/>
              <a:buFontTx/>
              <a:buNone/>
              <a:tabLst/>
              <a:defRPr/>
            </a:pPr>
            <a:r>
              <a:rPr lang="en-US" sz="1300">
                <a:solidFill>
                  <a:schemeClr val="tx1"/>
                </a:solidFill>
              </a:rPr>
              <a:t>Prash Gopalakrishna </a:t>
            </a:r>
            <a:r>
              <a:rPr lang="en-US" sz="1300" i="1">
                <a:solidFill>
                  <a:srgbClr val="283349">
                    <a:lumMod val="40000"/>
                    <a:lumOff val="60000"/>
                  </a:srgbClr>
                </a:solidFill>
              </a:rPr>
              <a:t>(GPTL)</a:t>
            </a:r>
            <a:endParaRPr lang="en-US" sz="1300">
              <a:solidFill>
                <a:srgbClr val="000000"/>
              </a:solidFill>
            </a:endParaRPr>
          </a:p>
          <a:p>
            <a:pPr>
              <a:defRPr/>
            </a:pPr>
            <a:r>
              <a:rPr lang="en-US" sz="1300">
                <a:solidFill>
                  <a:srgbClr val="000000"/>
                </a:solidFill>
              </a:rPr>
              <a:t>Karolina Minda </a:t>
            </a:r>
            <a:r>
              <a:rPr lang="en-US" sz="1300" i="1">
                <a:solidFill>
                  <a:srgbClr val="283349">
                    <a:lumMod val="40000"/>
                    <a:lumOff val="60000"/>
                  </a:srgbClr>
                </a:solidFill>
              </a:rPr>
              <a:t>(Global Market Access)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300" i="1">
              <a:solidFill>
                <a:srgbClr val="283349">
                  <a:lumMod val="40000"/>
                  <a:lumOff val="60000"/>
                </a:srgbClr>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i="1">
              <a:solidFill>
                <a:srgbClr val="283349">
                  <a:lumMod val="40000"/>
                  <a:lumOff val="60000"/>
                </a:srgbClr>
              </a:solidFill>
            </a:endParaRPr>
          </a:p>
        </p:txBody>
      </p:sp>
      <p:sp>
        <p:nvSpPr>
          <p:cNvPr id="13" name="Rectangle 12">
            <a:extLst>
              <a:ext uri="{FF2B5EF4-FFF2-40B4-BE49-F238E27FC236}">
                <a16:creationId xmlns:a16="http://schemas.microsoft.com/office/drawing/2014/main" id="{06383D90-C1A7-E404-E564-9CBECE244B54}"/>
              </a:ext>
            </a:extLst>
          </p:cNvPr>
          <p:cNvSpPr/>
          <p:nvPr/>
        </p:nvSpPr>
        <p:spPr>
          <a:xfrm>
            <a:off x="6347968" y="871925"/>
            <a:ext cx="2090949" cy="348343"/>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r>
              <a:rPr lang="en-US" sz="1200" b="1">
                <a:solidFill>
                  <a:schemeClr val="bg1"/>
                </a:solidFill>
              </a:rPr>
              <a:t>IEP Leadership Team</a:t>
            </a:r>
          </a:p>
        </p:txBody>
      </p:sp>
    </p:spTree>
    <p:extLst>
      <p:ext uri="{BB962C8B-B14F-4D97-AF65-F5344CB8AC3E}">
        <p14:creationId xmlns:p14="http://schemas.microsoft.com/office/powerpoint/2010/main" val="31675981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32687&quot;&gt;&lt;version val=&quot;38706&quot;/&gt;&lt;CPresentation id=&quot;1&quot;&gt;&lt;m_precDefaultOrdinal&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Ordinal&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yearfmt&gt;&lt;begin val=&quot;0&quot;/&gt;&lt;end val=&quot;4&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13&quot;&gt;&lt;elem m_fUsage=&quot;2.28259749609000017756E+00&quot;&gt;&lt;m_msothmcolidx val=&quot;0&quot;/&gt;&lt;m_rgb r=&quot;E3&quot; g=&quot;A5&quot; b=&quot;A9&quot;/&gt;&lt;/elem&gt;&lt;elem m_fUsage=&quot;2.15098592492754869809E+00&quot;&gt;&lt;m_msothmcolidx val=&quot;0&quot;/&gt;&lt;m_rgb r=&quot;66&quot; g=&quot;E0&quot; b=&quot;FF&quot;/&gt;&lt;/elem&gt;&lt;elem m_fUsage=&quot;1.32595002548100016071E+00&quot;&gt;&lt;m_msothmcolidx val=&quot;0&quot;/&gt;&lt;m_rgb r=&quot;98&quot; g=&quot;A8&quot; b=&quot;C7&quot;/&gt;&lt;/elem&gt;&lt;elem m_fUsage=&quot;1.18530201888518416098E+00&quot;&gt;&lt;m_msothmcolidx val=&quot;0&quot;/&gt;&lt;m_rgb r=&quot;D4&quot; g=&quot;C0&quot; b=&quot;E2&quot;/&gt;&lt;/elem&gt;&lt;elem m_fUsage=&quot;9.31576654590569375181E-01&quot;&gt;&lt;m_msothmcolidx val=&quot;0&quot;/&gt;&lt;m_rgb r=&quot;F1&quot; g=&quot;D2&quot; b=&quot;D4&quot;/&gt;&lt;/elem&gt;&lt;elem m_fUsage=&quot;3.48678440100000097690E-01&quot;&gt;&lt;m_msothmcolidx val=&quot;0&quot;/&gt;&lt;m_rgb r=&quot;7C&quot; g=&quot;B0&quot; b=&quot;BE&quot;/&gt;&lt;/elem&gt;&lt;elem m_fUsage=&quot;3.31181819531076671037E-01&quot;&gt;&lt;m_msothmcolidx val=&quot;0&quot;/&gt;&lt;m_rgb r=&quot;92&quot; g=&quot;D0&quot; b=&quot;50&quot;/&gt;&lt;/elem&gt;&lt;elem m_fUsage=&quot;3.04796441934849671185E-01&quot;&gt;&lt;m_msothmcolidx val=&quot;0&quot;/&gt;&lt;m_rgb r=&quot;DA&quot; g=&quot;F7&quot; b=&quot;F0&quot;/&gt;&lt;/elem&gt;&lt;elem m_fUsage=&quot;2.65248907215026863415E-01&quot;&gt;&lt;m_msothmcolidx val=&quot;0&quot;/&gt;&lt;m_rgb r=&quot;CC&quot; g=&quot;D3&quot; b=&quot;E3&quot;/&gt;&lt;/elem&gt;&lt;elem m_fUsage=&quot;2.28767924549610063290E-01&quot;&gt;&lt;m_msothmcolidx val=&quot;0&quot;/&gt;&lt;m_rgb r=&quot;1A&quot; g=&quot;D0&quot; b=&quot;FF&quot;/&gt;&lt;/elem&gt;&lt;elem m_fUsage=&quot;1.50094635296999207030E-01&quot;&gt;&lt;m_msothmcolidx val=&quot;0&quot;/&gt;&lt;m_rgb r=&quot;B2&quot; g=&quot;D1&quot; b=&quot;D9&quot;/&gt;&lt;/elem&gt;&lt;elem m_fUsage=&quot;1.35085171767299228041E-01&quot;&gt;&lt;m_msothmcolidx val=&quot;0&quot;/&gt;&lt;m_rgb r=&quot;FF&quot; g=&quot;C8&quot; b=&quot;91&quot;/&gt;&lt;/elem&gt;&lt;elem m_fUsage=&quot;1.09418989131512378599E-01&quot;&gt;&lt;m_msothmcolidx val=&quot;0&quot;/&gt;&lt;m_rgb r=&quot;B3&quot; g=&quot;EF&quot; b=&quot;FF&quot;/&gt;&lt;/elem&gt;&lt;/m_vecMRU&gt;&lt;/m_mruColor&gt;&lt;m_eweekdayFirstOfWeek val=&quot;2&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84muZaJX1lOSBMqRHAaX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zc_HohzZJ7jn6EftHnm9w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MxN._OLpUxtxdmBjlKWF_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MxN._OLpUxtxdmBjlKWF_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zc_HohzZJ7jn6EftHnm9w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Custom 79">
      <a:dk1>
        <a:srgbClr val="000000"/>
      </a:dk1>
      <a:lt1>
        <a:srgbClr val="FFFFFF"/>
      </a:lt1>
      <a:dk2>
        <a:srgbClr val="283349"/>
      </a:dk2>
      <a:lt2>
        <a:srgbClr val="FFFFFF"/>
      </a:lt2>
      <a:accent1>
        <a:srgbClr val="D62B1E"/>
      </a:accent1>
      <a:accent2>
        <a:srgbClr val="0F2445"/>
      </a:accent2>
      <a:accent3>
        <a:srgbClr val="283349"/>
      </a:accent3>
      <a:accent4>
        <a:srgbClr val="006680"/>
      </a:accent4>
      <a:accent5>
        <a:srgbClr val="A3333B"/>
      </a:accent5>
      <a:accent6>
        <a:srgbClr val="EB7500"/>
      </a:accent6>
      <a:hlink>
        <a:srgbClr val="00667F"/>
      </a:hlink>
      <a:folHlink>
        <a:srgbClr val="FFC72B"/>
      </a:folHlink>
    </a:clrScheme>
    <a:fontScheme name="Custom 7">
      <a:majorFont>
        <a:latin typeface="Poppins Medium"/>
        <a:ea typeface=""/>
        <a:cs typeface=""/>
      </a:majorFont>
      <a:minorFont>
        <a:latin typeface="Poppi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45720" rIns="45720" rtlCol="0" anchor="ctr">
        <a:normAutofit/>
      </a:bodyPr>
      <a:lstStyle>
        <a:defPPr algn="ctr">
          <a:defRPr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spPr>
      <a:bodyPr wrap="none" lIns="91440" tIns="91440" rIns="91440" bIns="9144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Custom 79">
      <a:dk1>
        <a:srgbClr val="000000"/>
      </a:dk1>
      <a:lt1>
        <a:srgbClr val="FFFFFF"/>
      </a:lt1>
      <a:dk2>
        <a:srgbClr val="283349"/>
      </a:dk2>
      <a:lt2>
        <a:srgbClr val="FFFFFF"/>
      </a:lt2>
      <a:accent1>
        <a:srgbClr val="D62B1E"/>
      </a:accent1>
      <a:accent2>
        <a:srgbClr val="0F2445"/>
      </a:accent2>
      <a:accent3>
        <a:srgbClr val="283349"/>
      </a:accent3>
      <a:accent4>
        <a:srgbClr val="006680"/>
      </a:accent4>
      <a:accent5>
        <a:srgbClr val="A3333B"/>
      </a:accent5>
      <a:accent6>
        <a:srgbClr val="EB7500"/>
      </a:accent6>
      <a:hlink>
        <a:srgbClr val="00667F"/>
      </a:hlink>
      <a:folHlink>
        <a:srgbClr val="FFC72B"/>
      </a:folHlink>
    </a:clrScheme>
    <a:fontScheme name="Custom 7">
      <a:majorFont>
        <a:latin typeface="Poppins Medium"/>
        <a:ea typeface=""/>
        <a:cs typeface=""/>
      </a:majorFont>
      <a:minorFont>
        <a:latin typeface="Poppi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45720" rIns="45720" rtlCol="0" anchor="ctr">
        <a:normAutofit/>
      </a:bodyPr>
      <a:lstStyle>
        <a:defPPr algn="ctr">
          <a:defRPr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spPr>
      <a:bodyPr wrap="none" lIns="91440" tIns="91440" rIns="91440" bIns="9144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7">
    <wetp:webextensionref xmlns:r="http://schemas.openxmlformats.org/officeDocument/2006/relationships" r:id="rId1"/>
  </wetp:taskpane>
  <wetp:taskpane dockstate="right" visibility="0" width="648"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7FD56E96-AED2-4E7F-93F2-C88734B96344}">
  <we:reference id="wa104381063" version="1.0.0.1" store="en-US" storeType="OMEX"/>
  <we:alternateReferences>
    <we:reference id="WA104381063" version="1.0.0.1" store=""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9E407144-C983-4F6B-A572-72584F0C945F}">
  <we:reference id="WA200010001" version="1.0.0.1" store="Omex" storeType="OMEX"/>
  <we:alternateReferences>
    <we:reference id="WA200010001" version="1.0.0.1" store="WA200010001" storeType="OMEX"/>
  </we:alternateReferences>
  <we:properties>
    <we:property name="claude.fileId" value="&quot;f3434909-9eb9-4483-bd44-f4ac51c51b32&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57EFF436FC4140AD8F0359F505F031" ma:contentTypeVersion="21" ma:contentTypeDescription="Create a new document." ma:contentTypeScope="" ma:versionID="194175f48670bc6a1906ee7380e1092b">
  <xsd:schema xmlns:xsd="http://www.w3.org/2001/XMLSchema" xmlns:xs="http://www.w3.org/2001/XMLSchema" xmlns:p="http://schemas.microsoft.com/office/2006/metadata/properties" xmlns:ns2="329511b9-23bf-4395-96cd-240a0d3a2f04" xmlns:ns3="bb96e2f3-e36e-4a9b-b0b2-1cf657f4bf03" targetNamespace="http://schemas.microsoft.com/office/2006/metadata/properties" ma:root="true" ma:fieldsID="b7169a3f0a64428aa20e1e0070ac5891" ns2:_="" ns3:_="">
    <xsd:import namespace="329511b9-23bf-4395-96cd-240a0d3a2f04"/>
    <xsd:import namespace="bb96e2f3-e36e-4a9b-b0b2-1cf657f4bf0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3:SharedWithUsers" minOccurs="0"/>
                <xsd:element ref="ns3:SharedWithDetails" minOccurs="0"/>
                <xsd:element ref="ns2:MediaServiceGenerationTime" minOccurs="0"/>
                <xsd:element ref="ns2:MediaServiceEventHashCode" minOccurs="0"/>
                <xsd:element ref="ns2:MediaServiceOCR" minOccurs="0"/>
                <xsd:element ref="ns2:MediaServiceLocation" minOccurs="0"/>
                <xsd:element ref="ns2:Date" minOccurs="0"/>
                <xsd:element ref="ns2:MediaServiceAutoKeyPoints" minOccurs="0"/>
                <xsd:element ref="ns2:MediaServiceKeyPoints" minOccurs="0"/>
                <xsd:element ref="ns2:_Flow_SignoffStatu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9511b9-23bf-4395-96cd-240a0d3a2f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description="" ma:indexed="true" ma:internalName="MediaServiceLocation" ma:readOnly="true">
      <xsd:simpleType>
        <xsd:restriction base="dms:Text"/>
      </xsd:simpleType>
    </xsd:element>
    <xsd:element name="Date" ma:index="18" nillable="true" ma:displayName="Date" ma:format="DateOnly" ma:internalName="Date">
      <xsd:simpleType>
        <xsd:restriction base="dms:DateTime"/>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_Flow_SignoffStatus" ma:index="21" nillable="true" ma:displayName="Sign-off status" ma:internalName="Sign_x002d_off_x0020_status">
      <xsd:simpleType>
        <xsd:restriction base="dms:Text"/>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0dd9480-1fff-4fcb-b096-3317e476558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b96e2f3-e36e-4a9b-b0b2-1cf657f4bf0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939658bc-7ab7-4986-880b-87a321be9ca4}" ma:internalName="TaxCatchAll" ma:showField="CatchAllData" ma:web="bb96e2f3-e36e-4a9b-b0b2-1cf657f4bf0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29511b9-23bf-4395-96cd-240a0d3a2f04">
      <Terms xmlns="http://schemas.microsoft.com/office/infopath/2007/PartnerControls"/>
    </lcf76f155ced4ddcb4097134ff3c332f>
    <Date xmlns="329511b9-23bf-4395-96cd-240a0d3a2f04" xsi:nil="true"/>
    <TaxCatchAll xmlns="bb96e2f3-e36e-4a9b-b0b2-1cf657f4bf03" xsi:nil="true"/>
    <_Flow_SignoffStatus xmlns="329511b9-23bf-4395-96cd-240a0d3a2f04"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DEF14ED-F06B-4A6B-8B30-FC0829F45AA4}">
  <ds:schemaRefs>
    <ds:schemaRef ds:uri="329511b9-23bf-4395-96cd-240a0d3a2f04"/>
    <ds:schemaRef ds:uri="bb96e2f3-e36e-4a9b-b0b2-1cf657f4bf0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5AE6971-87F0-45C5-86E6-EEE0FFBB8354}">
  <ds:schemaRefs>
    <ds:schemaRef ds:uri="329511b9-23bf-4395-96cd-240a0d3a2f04"/>
    <ds:schemaRef ds:uri="9d99b967-f289-4d5c-a018-aaf8f308b5da"/>
    <ds:schemaRef ds:uri="bb96e2f3-e36e-4a9b-b0b2-1cf657f4bf03"/>
    <ds:schemaRef ds:uri="bcc0c3fd-900a-4a2e-a0bb-74ce1ad3fa3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1FB0F90-3FBF-4B56-9F86-31AE03648BB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57</Slides>
  <Notes>56</Notes>
  <HiddenSlides>0</HiddenSlides>
  <ScaleCrop>false</ScaleCrop>
  <HeadingPairs>
    <vt:vector size="4" baseType="variant">
      <vt:variant>
        <vt:lpstr>Theme</vt:lpstr>
      </vt:variant>
      <vt:variant>
        <vt:i4>2</vt:i4>
      </vt:variant>
      <vt:variant>
        <vt:lpstr>Slide Titles</vt:lpstr>
      </vt:variant>
      <vt:variant>
        <vt:i4>57</vt:i4>
      </vt:variant>
    </vt:vector>
  </HeadingPairs>
  <TitlesOfParts>
    <vt:vector size="59" baseType="lpstr">
      <vt:lpstr>1_Office Theme</vt:lpstr>
      <vt:lpstr>2_Office Theme</vt:lpstr>
      <vt:lpstr>BGB-58067 Integrated Evidence Plan Version 1.0</vt:lpstr>
      <vt:lpstr>Table Of Contents</vt:lpstr>
      <vt:lpstr>V1.0 BGB-58067 IEP DISCLAIMER</vt:lpstr>
      <vt:lpstr>IEP Structure &amp; Flow</vt:lpstr>
      <vt:lpstr>Executive Summary</vt:lpstr>
      <vt:lpstr>BGB-58067 requires a differentiated evidence strategy to ensure best-in-class positioning in an evolving PRMT5i landscape</vt:lpstr>
      <vt:lpstr>BGB-58067’s IEP is a living document that serves as a strategic evidence generation planning tool across key milestones ranging from 2026-2033*</vt:lpstr>
      <vt:lpstr>The IEP was shaped by cross-functional and regional collaboration to identify, prioritize, and address BGBG-58067’s evidence gaps</vt:lpstr>
      <vt:lpstr>This IEP prioritizes 22 evidence gaps, aligned with the asset vision and strategic imperatives, to differentiate BGB-58067's value proposition</vt:lpstr>
      <vt:lpstr>The IEP leverages seven tactical approaches for evidence generation that address priority gaps</vt:lpstr>
      <vt:lpstr>The IEP roadmap sequences tactics to address priority evidence gaps across key development milestones</vt:lpstr>
      <vt:lpstr>Situational and Strategic Context</vt:lpstr>
      <vt:lpstr>BGB-58067’s development strategy positions it for long-term leadership across core MTAP-del tumors, starting with NSCLC</vt:lpstr>
      <vt:lpstr>BGB-58067 is supported by an end-to-end CDx strategy accelerating enrolment, enabling co-approval, and maximizing patient reach</vt:lpstr>
      <vt:lpstr>A rapidly maturing PRMT5i landscape heightens the need for differentiated and durable evidence strategy for BGB-58067 </vt:lpstr>
      <vt:lpstr>Medical strategic imperatives guide the evidence generation priorities in this IEP with evidence gaps categorized into specific themes under each SI</vt:lpstr>
      <vt:lpstr>Prioritized Evidence Gaps</vt:lpstr>
      <vt:lpstr>Per BeOne’s IEP framework, evidence gaps were categorized by the following criteria:</vt:lpstr>
      <vt:lpstr>Overview of Prioritized Evidence Gaps (SI1: Differentiation)</vt:lpstr>
      <vt:lpstr>Overview of Prioritized Evidence Gaps(SI2: Biomarkers)</vt:lpstr>
      <vt:lpstr>Overview of Prioritized Evidence Gaps (SI3: Combinations and Sequencing, SI4: Resistance)</vt:lpstr>
      <vt:lpstr>Prioritized evidence gaps: Drive differentiation of BGB-58067 as a brain-penetrant, highly selective and potent PRMT5i (1/4)</vt:lpstr>
      <vt:lpstr>Prioritized evidence gaps: Drive differentiation of BGB-58067 as a brain-penetrant, highly selective and potent PRMT5i (2/4)</vt:lpstr>
      <vt:lpstr>Prioritized evidence gaps: Drive differentiation of BGB-58067 as a brain-penetrant, highly selective and potent PRMT5i (3/4)</vt:lpstr>
      <vt:lpstr>Prioritized evidence gaps: Drive differentiation of BGB-58067 as a brain-penetrant, highly selective and potent PRMT5i (4/4)</vt:lpstr>
      <vt:lpstr>Prioritized evidence gaps: Drive global awareness of MTAP deletion as a predictive biomarker for PRMT5i (1/2)</vt:lpstr>
      <vt:lpstr>Prioritized evidence gaps: Drive global awareness of MTAP deletion as a predictive biomarker for PRMT5i (2/2)</vt:lpstr>
      <vt:lpstr>Prioritized evidence gaps: Support scientific rationale for combination treatment and sequencing for BGB-58067</vt:lpstr>
      <vt:lpstr>Tactical Synergies</vt:lpstr>
      <vt:lpstr>Seven post-hoc analyses will generate differentiated clinical evidence from pivotal trial data (1/3)</vt:lpstr>
      <vt:lpstr>Seven post-hoc analyses will generate differentiated clinical evidence from pivotal trial data (2/3)</vt:lpstr>
      <vt:lpstr>Seven post-hoc analyses will generate differentiated clinical evidence from pivotal trial data (3/3)</vt:lpstr>
      <vt:lpstr>Two distinct SLRs establish the evidence foundation to inform unmet need and comparative benefit assessments</vt:lpstr>
      <vt:lpstr>One modeling study can address two gaps around MTAP-del testing methodologies and their cost implications</vt:lpstr>
      <vt:lpstr>Four ITC packages generate evidence to position BGB-58067 within the evolving 1L / 2L+ NSCLC treatment landscape (1/2)</vt:lpstr>
      <vt:lpstr>Four ITC packages generate evidence to position BGB-58067 within the evolving 1L / 2L+ NSCLC treatment landscape (2/2)</vt:lpstr>
      <vt:lpstr>Six RWE studies establish unmet need in MTAP-del NSCLC and contextualize real-world clinical benefit of BGB-58067 (1/3)</vt:lpstr>
      <vt:lpstr>Six RWE studies establish unmet need in MTAP-del NSCLC and contextualize real-world clinical benefit of BGB-58067 (2/3)</vt:lpstr>
      <vt:lpstr>Six RWE studies establish unmet need in MTAP-del NSCLC and contextualize real-world clinical benefit of BGB-58067 (3/3)</vt:lpstr>
      <vt:lpstr>Fourteen IIT programs expand evidence generation beyond the registrational program (1/5)</vt:lpstr>
      <vt:lpstr>Fourteen IIT programs expand evidence generation beyond the registrational program (2/5)</vt:lpstr>
      <vt:lpstr>Fourteen IIT programs expand evidence generation beyond the registrational program (3/5)</vt:lpstr>
      <vt:lpstr>Fourteen IIT programs expand evidence generation beyond the registrational program (4/5)</vt:lpstr>
      <vt:lpstr>Fourteen IIT programs expand evidence generation beyond the registrational program (5/5)</vt:lpstr>
      <vt:lpstr>Two specific patient and HCP / caregiver surveys will capture stakeholder perspectives to support the evidence package</vt:lpstr>
      <vt:lpstr>Gated Gaps</vt:lpstr>
      <vt:lpstr>Overview of Gated Gaps deprioritized for tactical development (1/5)</vt:lpstr>
      <vt:lpstr>Overview of Gated Gaps deprioritized for tactical development (2/5)</vt:lpstr>
      <vt:lpstr>Overview of Gated Gaps deprioritized for tactical development (3/5)</vt:lpstr>
      <vt:lpstr>Overview of Gated Gaps deprioritized for tactical development (4/5)</vt:lpstr>
      <vt:lpstr>Overview of Gated Gaps deprioritized for tactical development (5/5)</vt:lpstr>
      <vt:lpstr>Addressed Gaps and Planned / Ongoing Evidence Generation Tactics</vt:lpstr>
      <vt:lpstr>List of planned/addressed tactics with downstream publication  relevance (1/4)</vt:lpstr>
      <vt:lpstr>List of planned/addressed tactics with downstream publication  relevance (2/4)</vt:lpstr>
      <vt:lpstr>List of planned/addressed tactics with downstream publication  relevance (3/4)</vt:lpstr>
      <vt:lpstr>List of planned/addressed tactics with downstream publication  relevance (4/4)</vt:lpstr>
      <vt:lpstr>Thank you to those that have contributed to this IEP!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Hanna Wurdack</dc:creator>
  <cp:revision>2</cp:revision>
  <dcterms:created xsi:type="dcterms:W3CDTF">2026-07-31T20:07:30Z</dcterms:created>
  <dcterms:modified xsi:type="dcterms:W3CDTF">2026-09-23T10:04:59Z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_dlc_DocIdItemGuid">
    <vt:lpwstr>dc5d5869-d862-41c8-b1a4-b0c7e7c50df8</vt:lpwstr>
  </property>
  <property fmtid="{D5CDD505-2E9C-101B-9397-08002B2CF9AE}" pid="4" name="ContentTypeId">
    <vt:lpwstr>0x010100E557EFF436FC4140AD8F0359F505F031</vt:lpwstr>
  </property>
</Properties>
</file>